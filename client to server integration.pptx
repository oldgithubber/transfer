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1902" r:id="rId2"/>
    <p:sldId id="1903" r:id="rId3"/>
    <p:sldId id="421" r:id="rId4"/>
    <p:sldId id="799" r:id="rId5"/>
    <p:sldId id="445" r:id="rId6"/>
    <p:sldId id="1838" r:id="rId7"/>
    <p:sldId id="1905" r:id="rId8"/>
    <p:sldId id="301" r:id="rId9"/>
    <p:sldId id="1841" r:id="rId10"/>
    <p:sldId id="1134" r:id="rId11"/>
    <p:sldId id="1135" r:id="rId12"/>
    <p:sldId id="1891" r:id="rId13"/>
    <p:sldId id="1906" r:id="rId14"/>
    <p:sldId id="297" r:id="rId15"/>
    <p:sldId id="304" r:id="rId16"/>
    <p:sldId id="440" r:id="rId17"/>
    <p:sldId id="75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1" d="100"/>
          <a:sy n="101"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ED65C5-3553-437A-A71F-1658E30CD142}" type="datetimeFigureOut">
              <a:rPr lang="en-GB" smtClean="0"/>
              <a:t>14/04/2026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8FF2BD-0797-419E-ACE6-D7D433B79AC8}" type="slidenum">
              <a:rPr lang="en-GB" smtClean="0"/>
              <a:t>‹#›</a:t>
            </a:fld>
            <a:endParaRPr lang="en-GB"/>
          </a:p>
        </p:txBody>
      </p:sp>
    </p:spTree>
    <p:extLst>
      <p:ext uri="{BB962C8B-B14F-4D97-AF65-F5344CB8AC3E}">
        <p14:creationId xmlns:p14="http://schemas.microsoft.com/office/powerpoint/2010/main" val="476524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Promis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Blank text is used to indicate white space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583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HTML renders content</a:t>
            </a:r>
          </a:p>
          <a:p>
            <a:r>
              <a:rPr lang="en-GB"/>
              <a:t>CSS styles the content</a:t>
            </a:r>
          </a:p>
          <a:p>
            <a:r>
              <a:rPr lang="en-GB"/>
              <a:t>JavaScript makes the content interactive</a:t>
            </a:r>
          </a:p>
          <a:p>
            <a:r>
              <a:rPr lang="en-GB"/>
              <a:t>So keep in separate files - separation of concerns</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945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Exercise: /labs/4html_css_js</a:t>
            </a:r>
          </a:p>
          <a:p>
            <a:r>
              <a:rPr lang="en-GB" dirty="0"/>
              <a:t>Use as a starter for research then review the concepts again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2772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Time to place a wet towel over your head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0890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6813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Secret could be an API key in a </a:t>
            </a:r>
            <a:r>
              <a:rPr lang="en-GB" dirty="0" err="1"/>
              <a:t>jwt</a:t>
            </a:r>
            <a:r>
              <a:rPr lang="en-GB" dirty="0"/>
              <a:t> or an </a:t>
            </a:r>
            <a:r>
              <a:rPr lang="en-GB" dirty="0" err="1"/>
              <a:t>openid</a:t>
            </a:r>
            <a:r>
              <a:rPr lang="en-GB" dirty="0"/>
              <a:t> connect </a:t>
            </a:r>
            <a:r>
              <a:rPr lang="en-GB" dirty="0" err="1"/>
              <a:t>jwt</a:t>
            </a:r>
            <a:r>
              <a:rPr lang="en-GB" dirty="0"/>
              <a:t> or whatever</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0935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83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4672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GB"/>
              <a:t>Graphical sequence of promise 1 on next slide</a:t>
            </a:r>
          </a:p>
          <a:p>
            <a:pPr defTabSz="942289">
              <a:defRPr/>
            </a:pPr>
            <a:r>
              <a:rPr lang="en-GB"/>
              <a:t>The promise methods are documented here: </a:t>
            </a:r>
            <a:r>
              <a:rPr lang="en-GB">
                <a:hlinkClick r:id="rId3"/>
              </a:rPr>
              <a:t>https://developer.mozilla.org/en-US/docs/Web/JavaScript/Reference/Global_Objects/Promise</a:t>
            </a:r>
            <a:r>
              <a:rPr lang="en-GB"/>
              <a:t> </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4219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31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355075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598367"/>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464567"/>
            <a:ext cx="11163300" cy="421258"/>
          </a:xfrm>
          <a:prstGeom prst="rect">
            <a:avLst/>
          </a:prstGeom>
        </p:spPr>
        <p:txBody>
          <a:bodyPr spcFirstLastPara="1" wrap="square" lIns="0" tIns="0" rIns="0" bIns="0" anchor="ctr" anchorCtr="0">
            <a:noAutofit/>
          </a:bodyPr>
          <a:lstStyle>
            <a:lvl1pPr lvl="0">
              <a:spcBef>
                <a:spcPts val="0"/>
              </a:spcBef>
              <a:spcAft>
                <a:spcPts val="0"/>
              </a:spcAft>
              <a:buSzPts val="48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26" name="Google Shape;26;p5"/>
          <p:cNvSpPr txBox="1">
            <a:spLocks noGrp="1"/>
          </p:cNvSpPr>
          <p:nvPr>
            <p:ph type="body" idx="1"/>
          </p:nvPr>
        </p:nvSpPr>
        <p:spPr>
          <a:xfrm>
            <a:off x="609600" y="1089368"/>
            <a:ext cx="11163300" cy="5387632"/>
          </a:xfrm>
          <a:prstGeom prst="rect">
            <a:avLst/>
          </a:prstGeom>
        </p:spPr>
        <p:txBody>
          <a:bodyPr spcFirstLastPara="1" wrap="square" lIns="0" tIns="0" rIns="0" bIns="0" anchor="t" anchorCtr="0">
            <a:noAutofit/>
          </a:bodyPr>
          <a:lstStyle>
            <a:lvl1pPr marL="609585" lvl="0" indent="-457189">
              <a:spcBef>
                <a:spcPts val="800"/>
              </a:spcBef>
              <a:spcAft>
                <a:spcPts val="0"/>
              </a:spcAft>
              <a:buClr>
                <a:schemeClr val="tx2"/>
              </a:buClr>
              <a:buSzPts val="1800"/>
              <a:buChar char="▸"/>
              <a:defRPr sz="1800">
                <a:solidFill>
                  <a:schemeClr val="tx1">
                    <a:lumMod val="20000"/>
                    <a:lumOff val="80000"/>
                  </a:schemeClr>
                </a:solidFill>
              </a:defRPr>
            </a:lvl1pPr>
            <a:lvl2pPr marL="1219170" lvl="1" indent="-457189">
              <a:spcBef>
                <a:spcPts val="800"/>
              </a:spcBef>
              <a:spcAft>
                <a:spcPts val="0"/>
              </a:spcAft>
              <a:buClr>
                <a:schemeClr val="bg2">
                  <a:lumMod val="20000"/>
                  <a:lumOff val="80000"/>
                </a:schemeClr>
              </a:buClr>
              <a:buSzPts val="1800"/>
              <a:buChar char="▹"/>
              <a:defRPr sz="1600">
                <a:solidFill>
                  <a:schemeClr val="tx1">
                    <a:lumMod val="20000"/>
                    <a:lumOff val="80000"/>
                  </a:schemeClr>
                </a:solidFill>
              </a:defRPr>
            </a:lvl2pPr>
            <a:lvl3pPr marL="1828754" lvl="2" indent="-457189">
              <a:spcBef>
                <a:spcPts val="800"/>
              </a:spcBef>
              <a:spcAft>
                <a:spcPts val="0"/>
              </a:spcAft>
              <a:buClr>
                <a:schemeClr val="tx2">
                  <a:lumMod val="90000"/>
                </a:schemeClr>
              </a:buClr>
              <a:buSzPts val="1800"/>
              <a:buChar char="▹"/>
              <a:defRPr sz="1400">
                <a:solidFill>
                  <a:schemeClr val="tx1">
                    <a:lumMod val="20000"/>
                    <a:lumOff val="80000"/>
                  </a:schemeClr>
                </a:solidFill>
              </a:defRPr>
            </a:lvl3pPr>
            <a:lvl4pPr marL="2438339" lvl="3" indent="-474121">
              <a:spcBef>
                <a:spcPts val="800"/>
              </a:spcBef>
              <a:spcAft>
                <a:spcPts val="0"/>
              </a:spcAft>
              <a:buClr>
                <a:schemeClr val="tx2">
                  <a:lumMod val="90000"/>
                </a:schemeClr>
              </a:buClr>
              <a:buSzPts val="2000"/>
              <a:buChar char="▹"/>
              <a:defRPr sz="1200">
                <a:solidFill>
                  <a:schemeClr val="tx1">
                    <a:lumMod val="20000"/>
                    <a:lumOff val="80000"/>
                  </a:schemeClr>
                </a:solidFill>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dirty="0"/>
              <a:t>Click to edit Master text styles</a:t>
            </a:r>
          </a:p>
          <a:p>
            <a:pPr lvl="1"/>
            <a:r>
              <a:rPr lang="en-US" dirty="0"/>
              <a:t>Level 2</a:t>
            </a:r>
          </a:p>
          <a:p>
            <a:pPr lvl="2"/>
            <a:r>
              <a:rPr lang="en-US" dirty="0"/>
              <a:t>Level 3</a:t>
            </a:r>
          </a:p>
          <a:p>
            <a:pPr lvl="3"/>
            <a:r>
              <a:rPr lang="en-US" dirty="0"/>
              <a:t>Level 4</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pPr/>
              <a:t>‹#›</a:t>
            </a:fld>
            <a:endParaRPr lang="en-GB"/>
          </a:p>
        </p:txBody>
      </p:sp>
    </p:spTree>
    <p:extLst>
      <p:ext uri="{BB962C8B-B14F-4D97-AF65-F5344CB8AC3E}">
        <p14:creationId xmlns:p14="http://schemas.microsoft.com/office/powerpoint/2010/main" val="33221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6">
                                            <p:txEl>
                                              <p:pRg st="0" end="0"/>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26">
                                            <p:txEl>
                                              <p:pRg st="1" end="1"/>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26">
                                            <p:txEl>
                                              <p:pRg st="2" end="2"/>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26">
                                            <p:txEl>
                                              <p:pRg st="3" end="3"/>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tmplLst>
          <p:tmpl lvl="1">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2">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3">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4">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1000111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dark">
  <p:cSld name="Blank dark">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1604905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304924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E0E0192-C642-4D4F-AE82-A0D0DC02E26B}" type="slidenum">
              <a:rPr lang="en-US" smtClean="0"/>
              <a:pPr/>
              <a:t>‹#›</a:t>
            </a:fld>
            <a:endParaRPr lang="en-US"/>
          </a:p>
        </p:txBody>
      </p:sp>
    </p:spTree>
    <p:extLst>
      <p:ext uri="{BB962C8B-B14F-4D97-AF65-F5344CB8AC3E}">
        <p14:creationId xmlns:p14="http://schemas.microsoft.com/office/powerpoint/2010/main" val="9680918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2" name="Slide Number Placeholder 1">
            <a:extLst>
              <a:ext uri="{FF2B5EF4-FFF2-40B4-BE49-F238E27FC236}">
                <a16:creationId xmlns:a16="http://schemas.microsoft.com/office/drawing/2014/main" id="{D2E12C27-DB2B-AA97-3BBD-0CF8EAE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9C93A-B808-4F92-9D9D-4CEB4D584F4F}" type="slidenum">
              <a:rPr lang="en-GB" smtClean="0"/>
              <a:t>‹#›</a:t>
            </a:fld>
            <a:endParaRPr lang="en-GB"/>
          </a:p>
        </p:txBody>
      </p:sp>
    </p:spTree>
    <p:extLst>
      <p:ext uri="{BB962C8B-B14F-4D97-AF65-F5344CB8AC3E}">
        <p14:creationId xmlns:p14="http://schemas.microsoft.com/office/powerpoint/2010/main" val="105492219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200" b="0" i="0" u="none" strike="noStrike" cap="none">
          <a:solidFill>
            <a:srgbClr val="0000FF"/>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00" b="0" i="0" u="none" strike="noStrike" cap="none" baseline="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hyperlink" Target="https://pixabay.com/en/computer-notebook-laptop-technology-304146/" TargetMode="External"/><Relationship Id="rId5" Type="http://schemas.openxmlformats.org/officeDocument/2006/relationships/image" Target="../media/image5.png"/><Relationship Id="rId4" Type="http://schemas.openxmlformats.org/officeDocument/2006/relationships/hyperlink" Target="https://pixabay.com/pt/nuvem-branco-condi%C3%A7%C3%B5es-nublado-29672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hyperlink" Target="https://pixabay.com/en/computer-notebook-laptop-technology-304146/" TargetMode="External"/><Relationship Id="rId5" Type="http://schemas.openxmlformats.org/officeDocument/2006/relationships/image" Target="../media/image5.png"/><Relationship Id="rId4" Type="http://schemas.openxmlformats.org/officeDocument/2006/relationships/hyperlink" Target="https://pixabay.com/pt/nuvem-branco-condi%C3%A7%C3%B5es-nublado-29672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hyperlink" Target="https://pixabay.com/en/computer-notebook-laptop-technology-30414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pixabay.com/pt/nuvem-branco-condi%C3%A7%C3%B5es-nublado-296722/"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6722B-5A2B-E1D2-36F3-3EE5FD2DB4A1}"/>
              </a:ext>
            </a:extLst>
          </p:cNvPr>
          <p:cNvSpPr>
            <a:spLocks noGrp="1"/>
          </p:cNvSpPr>
          <p:nvPr>
            <p:ph type="title"/>
          </p:nvPr>
        </p:nvSpPr>
        <p:spPr/>
        <p:txBody>
          <a:bodyPr/>
          <a:lstStyle/>
          <a:p>
            <a:r>
              <a:rPr lang="en-GB" dirty="0"/>
              <a:t>Document Object Model</a:t>
            </a:r>
          </a:p>
        </p:txBody>
      </p:sp>
      <p:sp>
        <p:nvSpPr>
          <p:cNvPr id="3" name="Text Placeholder 2">
            <a:extLst>
              <a:ext uri="{FF2B5EF4-FFF2-40B4-BE49-F238E27FC236}">
                <a16:creationId xmlns:a16="http://schemas.microsoft.com/office/drawing/2014/main" id="{D09EDFCF-4452-8411-9634-A394AEF3F932}"/>
              </a:ext>
            </a:extLst>
          </p:cNvPr>
          <p:cNvSpPr>
            <a:spLocks noGrp="1"/>
          </p:cNvSpPr>
          <p:nvPr>
            <p:ph type="body" idx="1"/>
          </p:nvPr>
        </p:nvSpPr>
        <p:spPr/>
        <p:txBody>
          <a:bodyPr/>
          <a:lstStyle/>
          <a:p>
            <a:r>
              <a:rPr lang="en-GB" dirty="0"/>
              <a:t>The DOM is an in-memory representation of a web page</a:t>
            </a:r>
          </a:p>
          <a:p>
            <a:r>
              <a:rPr lang="en-GB" dirty="0"/>
              <a:t>It's a tree of objects the browser creates from interpreting the html</a:t>
            </a:r>
          </a:p>
          <a:p>
            <a:pPr lvl="1"/>
            <a:r>
              <a:rPr lang="en-US" dirty="0"/>
              <a:t>each element becomes an Element node</a:t>
            </a:r>
          </a:p>
          <a:p>
            <a:pPr lvl="1"/>
            <a:r>
              <a:rPr lang="en-US" dirty="0"/>
              <a:t>each piece of text becomes a Text node</a:t>
            </a:r>
          </a:p>
          <a:p>
            <a:pPr lvl="1"/>
            <a:r>
              <a:rPr lang="en-US" dirty="0"/>
              <a:t>attributes become Attribute nodes</a:t>
            </a:r>
          </a:p>
          <a:p>
            <a:pPr lvl="1"/>
            <a:r>
              <a:rPr lang="en-US" dirty="0"/>
              <a:t>the whole thing becomes a Document object</a:t>
            </a:r>
          </a:p>
          <a:p>
            <a:r>
              <a:rPr lang="en-US" dirty="0"/>
              <a:t>The tree is what JavaScript manipulates, not the raw HTML</a:t>
            </a:r>
          </a:p>
          <a:p>
            <a:endParaRPr lang="en-US" dirty="0"/>
          </a:p>
          <a:p>
            <a:endParaRPr lang="en-GB" dirty="0"/>
          </a:p>
        </p:txBody>
      </p:sp>
      <p:sp>
        <p:nvSpPr>
          <p:cNvPr id="4" name="Slide Number Placeholder 3">
            <a:extLst>
              <a:ext uri="{FF2B5EF4-FFF2-40B4-BE49-F238E27FC236}">
                <a16:creationId xmlns:a16="http://schemas.microsoft.com/office/drawing/2014/main" id="{6748A356-7262-64AB-A933-15F58B25C63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208682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2D43-2609-5F6E-C0DC-0AFB6A055FA2}"/>
              </a:ext>
            </a:extLst>
          </p:cNvPr>
          <p:cNvSpPr>
            <a:spLocks noGrp="1"/>
          </p:cNvSpPr>
          <p:nvPr>
            <p:ph type="title"/>
          </p:nvPr>
        </p:nvSpPr>
        <p:spPr>
          <a:xfrm>
            <a:off x="514350" y="172241"/>
            <a:ext cx="11163300" cy="128932"/>
          </a:xfrm>
        </p:spPr>
        <p:txBody>
          <a:bodyPr/>
          <a:lstStyle/>
          <a:p>
            <a:endParaRPr lang="en-GB"/>
          </a:p>
        </p:txBody>
      </p:sp>
      <p:sp>
        <p:nvSpPr>
          <p:cNvPr id="3" name="Text Placeholder 2">
            <a:extLst>
              <a:ext uri="{FF2B5EF4-FFF2-40B4-BE49-F238E27FC236}">
                <a16:creationId xmlns:a16="http://schemas.microsoft.com/office/drawing/2014/main" id="{F0C0B552-CD21-2013-5457-F64C267488B7}"/>
              </a:ext>
            </a:extLst>
          </p:cNvPr>
          <p:cNvSpPr>
            <a:spLocks noGrp="1"/>
          </p:cNvSpPr>
          <p:nvPr>
            <p:ph type="body" idx="1"/>
          </p:nvPr>
        </p:nvSpPr>
        <p:spPr>
          <a:xfrm>
            <a:off x="609600" y="6055742"/>
            <a:ext cx="11163300" cy="421258"/>
          </a:xfrm>
        </p:spPr>
        <p:txBody>
          <a:bodyPr/>
          <a:lstStyle/>
          <a:p>
            <a:endParaRPr lang="en-GB" dirty="0"/>
          </a:p>
        </p:txBody>
      </p:sp>
      <p:sp>
        <p:nvSpPr>
          <p:cNvPr id="4" name="Slide Number Placeholder 3">
            <a:extLst>
              <a:ext uri="{FF2B5EF4-FFF2-40B4-BE49-F238E27FC236}">
                <a16:creationId xmlns:a16="http://schemas.microsoft.com/office/drawing/2014/main" id="{4F767766-37C2-9652-F26A-04D2847AC637}"/>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pic>
        <p:nvPicPr>
          <p:cNvPr id="6" name="Picture 5">
            <a:extLst>
              <a:ext uri="{FF2B5EF4-FFF2-40B4-BE49-F238E27FC236}">
                <a16:creationId xmlns:a16="http://schemas.microsoft.com/office/drawing/2014/main" id="{6C50CBC4-5C7C-446B-854A-171607F91F72}"/>
              </a:ext>
            </a:extLst>
          </p:cNvPr>
          <p:cNvPicPr>
            <a:picLocks noChangeAspect="1"/>
          </p:cNvPicPr>
          <p:nvPr/>
        </p:nvPicPr>
        <p:blipFill>
          <a:blip r:embed="rId3"/>
          <a:stretch>
            <a:fillRect/>
          </a:stretch>
        </p:blipFill>
        <p:spPr>
          <a:xfrm>
            <a:off x="294042" y="1214128"/>
            <a:ext cx="4866042" cy="4429743"/>
          </a:xfrm>
          <a:prstGeom prst="rect">
            <a:avLst/>
          </a:prstGeom>
        </p:spPr>
      </p:pic>
      <p:pic>
        <p:nvPicPr>
          <p:cNvPr id="1026" name="Picture 2" descr="Tree structure representation of Document Object Model: The top node is the doctype and HTML element. Child nodes of the HTML include head and body. Each child element is a branch. All text, even white space, is shown as well.">
            <a:extLst>
              <a:ext uri="{FF2B5EF4-FFF2-40B4-BE49-F238E27FC236}">
                <a16:creationId xmlns:a16="http://schemas.microsoft.com/office/drawing/2014/main" id="{BFF1FFCA-431C-5DB7-7535-3D84412F19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7913" y="1214128"/>
            <a:ext cx="6309137" cy="43475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D39292D-EF2E-4299-20D6-370D976F9C33}"/>
              </a:ext>
            </a:extLst>
          </p:cNvPr>
          <p:cNvSpPr txBox="1"/>
          <p:nvPr/>
        </p:nvSpPr>
        <p:spPr>
          <a:xfrm>
            <a:off x="2441986" y="699329"/>
            <a:ext cx="81304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HTML</a:t>
            </a:r>
          </a:p>
        </p:txBody>
      </p:sp>
      <p:sp>
        <p:nvSpPr>
          <p:cNvPr id="8" name="TextBox 7">
            <a:extLst>
              <a:ext uri="{FF2B5EF4-FFF2-40B4-BE49-F238E27FC236}">
                <a16:creationId xmlns:a16="http://schemas.microsoft.com/office/drawing/2014/main" id="{E5F3A746-92D2-0F3E-2980-578B6038B0F9}"/>
              </a:ext>
            </a:extLst>
          </p:cNvPr>
          <p:cNvSpPr txBox="1"/>
          <p:nvPr/>
        </p:nvSpPr>
        <p:spPr>
          <a:xfrm>
            <a:off x="8220635" y="699329"/>
            <a:ext cx="72327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DOM</a:t>
            </a:r>
          </a:p>
        </p:txBody>
      </p:sp>
      <p:sp>
        <p:nvSpPr>
          <p:cNvPr id="9" name="Arrow: Right 8">
            <a:extLst>
              <a:ext uri="{FF2B5EF4-FFF2-40B4-BE49-F238E27FC236}">
                <a16:creationId xmlns:a16="http://schemas.microsoft.com/office/drawing/2014/main" id="{82250AAB-A4DB-3C09-B9A1-B7777C09B872}"/>
              </a:ext>
            </a:extLst>
          </p:cNvPr>
          <p:cNvSpPr/>
          <p:nvPr/>
        </p:nvSpPr>
        <p:spPr>
          <a:xfrm>
            <a:off x="5325035" y="699329"/>
            <a:ext cx="723275"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91134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B8A9DB-35D9-0AB1-406C-4D522AB3E47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8A90B61-3B24-B516-C333-7A52F630EE03}"/>
              </a:ext>
            </a:extLst>
          </p:cNvPr>
          <p:cNvSpPr>
            <a:spLocks noGrp="1"/>
          </p:cNvSpPr>
          <p:nvPr>
            <p:ph type="title"/>
          </p:nvPr>
        </p:nvSpPr>
        <p:spPr/>
        <p:txBody>
          <a:bodyPr/>
          <a:lstStyle/>
          <a:p>
            <a:r>
              <a:rPr lang="en-GB" noProof="0" dirty="0"/>
              <a:t>JavaScript interaction with HTML</a:t>
            </a:r>
          </a:p>
        </p:txBody>
      </p:sp>
      <p:sp>
        <p:nvSpPr>
          <p:cNvPr id="3" name="Text Placeholder 2">
            <a:extLst>
              <a:ext uri="{FF2B5EF4-FFF2-40B4-BE49-F238E27FC236}">
                <a16:creationId xmlns:a16="http://schemas.microsoft.com/office/drawing/2014/main" id="{ACC024D7-CA88-659F-B2C9-A97143B266EE}"/>
              </a:ext>
            </a:extLst>
          </p:cNvPr>
          <p:cNvSpPr>
            <a:spLocks noGrp="1"/>
          </p:cNvSpPr>
          <p:nvPr>
            <p:ph type="body" idx="1"/>
          </p:nvPr>
        </p:nvSpPr>
        <p:spPr/>
        <p:txBody>
          <a:bodyPr/>
          <a:lstStyle/>
          <a:p>
            <a:pPr lvl="0"/>
            <a:r>
              <a:rPr lang="en-GB" noProof="0" dirty="0"/>
              <a:t>JavaScript can be used for front-end and backend programming; we'll start with the front-end</a:t>
            </a:r>
          </a:p>
          <a:p>
            <a:pPr lvl="0"/>
            <a:r>
              <a:rPr lang="en-GB" noProof="0" dirty="0"/>
              <a:t>JavaScript is event driven so you write functions that respond to events. For example, the onclick event of a button press triggers an event handler in JavaScript</a:t>
            </a:r>
          </a:p>
          <a:p>
            <a:pPr lvl="0"/>
            <a:r>
              <a:rPr lang="en-GB" noProof="0" dirty="0"/>
              <a:t>To create a button in html, you can use: </a:t>
            </a:r>
            <a:r>
              <a:rPr lang="en-GB" sz="1400" noProof="0" dirty="0">
                <a:latin typeface="Courier New" panose="02070309020205020404" pitchFamily="49" charset="0"/>
                <a:cs typeface="Courier New" panose="02070309020205020404" pitchFamily="49" charset="0"/>
              </a:rPr>
              <a:t>&lt;button type="button" onclick="</a:t>
            </a:r>
            <a:r>
              <a:rPr lang="en-GB" sz="1400" noProof="0" dirty="0" err="1">
                <a:latin typeface="Courier New" panose="02070309020205020404" pitchFamily="49" charset="0"/>
                <a:cs typeface="Courier New" panose="02070309020205020404" pitchFamily="49" charset="0"/>
              </a:rPr>
              <a:t>functionName</a:t>
            </a:r>
            <a:r>
              <a:rPr lang="en-GB" sz="1400" noProof="0" dirty="0">
                <a:latin typeface="Courier New" panose="02070309020205020404" pitchFamily="49" charset="0"/>
                <a:cs typeface="Courier New" panose="02070309020205020404" pitchFamily="49" charset="0"/>
              </a:rPr>
              <a:t>()"&gt;Press me&lt;/button&gt;. </a:t>
            </a:r>
            <a:r>
              <a:rPr lang="en-GB" noProof="0" dirty="0"/>
              <a:t>When clicked, this will call the named function in the JavaScript file you have linked to your html. The text on the button in this case is “Press me”</a:t>
            </a:r>
          </a:p>
          <a:p>
            <a:pPr lvl="0"/>
            <a:r>
              <a:rPr lang="en-GB" noProof="0" dirty="0"/>
              <a:t>You will see this in examples but it's considered bad practice as you tightly couple the html and JS. The preferred approach is to register an event handler to respond to events generated by html controls such as </a:t>
            </a:r>
            <a:r>
              <a:rPr lang="en-GB" noProof="0" dirty="0" err="1"/>
              <a:t>onClick</a:t>
            </a:r>
            <a:r>
              <a:rPr lang="en-GB" noProof="0" dirty="0"/>
              <a:t>, mouseover etc. All controls will generate all sorts of events</a:t>
            </a:r>
          </a:p>
          <a:p>
            <a:pPr lvl="0"/>
            <a:r>
              <a:rPr lang="en-GB" noProof="0" dirty="0"/>
              <a:t>IDs in HTML are used to identify elements on the page you want JavaScript to interact with. A key JavaScript Function is </a:t>
            </a:r>
            <a:r>
              <a:rPr lang="en-GB" noProof="0" dirty="0" err="1"/>
              <a:t>document.getElementById</a:t>
            </a:r>
            <a:r>
              <a:rPr lang="en-GB" noProof="0" dirty="0"/>
              <a:t>(“element”) which returns the named html element so you can interact with it and change its properties</a:t>
            </a:r>
          </a:p>
          <a:p>
            <a:pPr lvl="0"/>
            <a:r>
              <a:rPr lang="en-GB" noProof="0" dirty="0"/>
              <a:t>For example, if you have a paragraph of text with an id of “para” or whatever, you can read the content of the paragraph into a JavaScript variable using the .</a:t>
            </a:r>
            <a:r>
              <a:rPr lang="en-GB" noProof="0" dirty="0" err="1"/>
              <a:t>innerText</a:t>
            </a:r>
            <a:r>
              <a:rPr lang="en-GB" noProof="0" dirty="0"/>
              <a:t> function</a:t>
            </a:r>
          </a:p>
          <a:p>
            <a:pPr lvl="0"/>
            <a:r>
              <a:rPr lang="en-GB" noProof="0" dirty="0"/>
              <a:t>JavaScript can also be used to add html to the page using .</a:t>
            </a:r>
            <a:r>
              <a:rPr lang="en-GB" noProof="0" dirty="0" err="1"/>
              <a:t>innerHTML</a:t>
            </a:r>
            <a:endParaRPr lang="en-GB" noProof="0" dirty="0"/>
          </a:p>
        </p:txBody>
      </p:sp>
      <p:sp>
        <p:nvSpPr>
          <p:cNvPr id="4" name="Slide Number Placeholder 3">
            <a:extLst>
              <a:ext uri="{FF2B5EF4-FFF2-40B4-BE49-F238E27FC236}">
                <a16:creationId xmlns:a16="http://schemas.microsoft.com/office/drawing/2014/main" id="{E53727DA-411F-7FE7-FBD8-622427A234D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69B7E0B-47C3-448D-A3A6-FC1A383EA70F}"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09B24565-B0E7-BBEA-DFA0-BCFC174C6DB4}"/>
              </a:ext>
            </a:extLst>
          </p:cNvPr>
          <p:cNvSpPr txBox="1"/>
          <p:nvPr/>
        </p:nvSpPr>
        <p:spPr>
          <a:xfrm>
            <a:off x="9595821" y="6200001"/>
            <a:ext cx="198657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demos/html/html-js1.html</a:t>
            </a:r>
          </a:p>
        </p:txBody>
      </p:sp>
    </p:spTree>
    <p:extLst>
      <p:ext uri="{BB962C8B-B14F-4D97-AF65-F5344CB8AC3E}">
        <p14:creationId xmlns:p14="http://schemas.microsoft.com/office/powerpoint/2010/main" val="1511447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A3AF4-2074-4CC3-5022-13C9BC2BE0A9}"/>
              </a:ext>
            </a:extLst>
          </p:cNvPr>
          <p:cNvSpPr>
            <a:spLocks noGrp="1"/>
          </p:cNvSpPr>
          <p:nvPr>
            <p:ph type="title"/>
          </p:nvPr>
        </p:nvSpPr>
        <p:spPr/>
        <p:txBody>
          <a:bodyPr/>
          <a:lstStyle/>
          <a:p>
            <a:r>
              <a:rPr lang="en-GB" noProof="0" dirty="0"/>
              <a:t>Generating html</a:t>
            </a:r>
          </a:p>
        </p:txBody>
      </p:sp>
      <p:sp>
        <p:nvSpPr>
          <p:cNvPr id="3" name="Text Placeholder 2">
            <a:extLst>
              <a:ext uri="{FF2B5EF4-FFF2-40B4-BE49-F238E27FC236}">
                <a16:creationId xmlns:a16="http://schemas.microsoft.com/office/drawing/2014/main" id="{A29E8851-AFC1-E349-E39C-CA81F9D5257D}"/>
              </a:ext>
            </a:extLst>
          </p:cNvPr>
          <p:cNvSpPr>
            <a:spLocks noGrp="1"/>
          </p:cNvSpPr>
          <p:nvPr>
            <p:ph type="body" idx="1"/>
          </p:nvPr>
        </p:nvSpPr>
        <p:spPr/>
        <p:txBody>
          <a:bodyPr/>
          <a:lstStyle/>
          <a:p>
            <a:r>
              <a:rPr lang="en-GB" noProof="0" dirty="0"/>
              <a:t>When a web page is requested from a server, it's likely that the server needs to create that page, especially if it contains up to date data read from a database</a:t>
            </a:r>
          </a:p>
          <a:p>
            <a:r>
              <a:rPr lang="en-GB" noProof="0" dirty="0"/>
              <a:t>You may for example, change your order from one to two items and the price is updated. Using the "old" approach, the server would need to modify the web page and send you the whole page with the updated price. If there are thousands of users, this is a load on the server and requires the bandwidth to send all the html for the page</a:t>
            </a:r>
          </a:p>
          <a:p>
            <a:r>
              <a:rPr lang="en-GB" noProof="0" dirty="0"/>
              <a:t>This approach can still be used but another approach is for the browser to request only the data then modify the page at the front end. The compute load is moved to the client and the bandwidth is reduced</a:t>
            </a:r>
          </a:p>
          <a:p>
            <a:r>
              <a:rPr lang="en-GB" noProof="0" dirty="0"/>
              <a:t>We will emulate data returned from a server it has retrieved from a database and create the output</a:t>
            </a:r>
          </a:p>
          <a:p>
            <a:r>
              <a:rPr lang="en-GB" noProof="0" dirty="0"/>
              <a:t>We can pretend we have asked for a price list from the web server, it has pulled the data from the database and just sent the data to us - not a web page containing the data</a:t>
            </a:r>
          </a:p>
          <a:p>
            <a:r>
              <a:rPr lang="en-GB" noProof="0" dirty="0"/>
              <a:t>We will display the pricelist in a table</a:t>
            </a:r>
          </a:p>
        </p:txBody>
      </p:sp>
      <p:sp>
        <p:nvSpPr>
          <p:cNvPr id="4" name="Slide Number Placeholder 3">
            <a:extLst>
              <a:ext uri="{FF2B5EF4-FFF2-40B4-BE49-F238E27FC236}">
                <a16:creationId xmlns:a16="http://schemas.microsoft.com/office/drawing/2014/main" id="{E01CCF65-FD0D-D106-4A25-1EC45553EC8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397C4143-71FD-63AD-9D50-73C90C2D4600}"/>
              </a:ext>
            </a:extLst>
          </p:cNvPr>
          <p:cNvSpPr txBox="1"/>
          <p:nvPr/>
        </p:nvSpPr>
        <p:spPr>
          <a:xfrm>
            <a:off x="9055648" y="5529034"/>
            <a:ext cx="2780985"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/demos/html/priceList.html</a:t>
            </a:r>
          </a:p>
        </p:txBody>
      </p:sp>
    </p:spTree>
    <p:extLst>
      <p:ext uri="{BB962C8B-B14F-4D97-AF65-F5344CB8AC3E}">
        <p14:creationId xmlns:p14="http://schemas.microsoft.com/office/powerpoint/2010/main" val="1083985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3B1D04D-3D67-16CD-49AD-6FBCFDE9A8C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09A1D86-6D50-47E1-B10D-18BA2BF92C48}"/>
              </a:ext>
            </a:extLst>
          </p:cNvPr>
          <p:cNvSpPr>
            <a:spLocks noGrp="1"/>
          </p:cNvSpPr>
          <p:nvPr>
            <p:ph type="ctrTitle"/>
          </p:nvPr>
        </p:nvSpPr>
        <p:spPr>
          <a:xfrm>
            <a:off x="1435100" y="2484800"/>
            <a:ext cx="8135620" cy="1888400"/>
          </a:xfrm>
        </p:spPr>
        <p:txBody>
          <a:bodyPr/>
          <a:lstStyle/>
          <a:p>
            <a:r>
              <a:rPr lang="en-GB" noProof="0" dirty="0" err="1"/>
              <a:t>Asynchronicity</a:t>
            </a:r>
            <a:r>
              <a:rPr lang="en-GB" noProof="0" dirty="0"/>
              <a:t> in JavaScript</a:t>
            </a:r>
          </a:p>
        </p:txBody>
      </p:sp>
    </p:spTree>
    <p:extLst>
      <p:ext uri="{BB962C8B-B14F-4D97-AF65-F5344CB8AC3E}">
        <p14:creationId xmlns:p14="http://schemas.microsoft.com/office/powerpoint/2010/main" val="3366569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B5ED-619A-ADCE-41CD-D07EF4DEF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047A1-FB19-9020-725F-6171051351EF}"/>
              </a:ext>
            </a:extLst>
          </p:cNvPr>
          <p:cNvSpPr>
            <a:spLocks noGrp="1"/>
          </p:cNvSpPr>
          <p:nvPr>
            <p:ph type="title"/>
          </p:nvPr>
        </p:nvSpPr>
        <p:spPr/>
        <p:txBody>
          <a:bodyPr/>
          <a:lstStyle/>
          <a:p>
            <a:r>
              <a:rPr lang="en-GB" noProof="0" dirty="0"/>
              <a:t>Learning objectives</a:t>
            </a:r>
          </a:p>
        </p:txBody>
      </p:sp>
      <p:sp>
        <p:nvSpPr>
          <p:cNvPr id="3" name="Text Placeholder 2">
            <a:extLst>
              <a:ext uri="{FF2B5EF4-FFF2-40B4-BE49-F238E27FC236}">
                <a16:creationId xmlns:a16="http://schemas.microsoft.com/office/drawing/2014/main" id="{15EC674E-8395-2F4E-0A60-AD4CA4A9F887}"/>
              </a:ext>
            </a:extLst>
          </p:cNvPr>
          <p:cNvSpPr>
            <a:spLocks noGrp="1"/>
          </p:cNvSpPr>
          <p:nvPr>
            <p:ph type="body" idx="1"/>
          </p:nvPr>
        </p:nvSpPr>
        <p:spPr/>
        <p:txBody>
          <a:bodyPr/>
          <a:lstStyle/>
          <a:p>
            <a:r>
              <a:rPr lang="en-GB" noProof="0" dirty="0"/>
              <a:t>Upon successfully completing this section, you will be able to:</a:t>
            </a:r>
          </a:p>
          <a:p>
            <a:pPr lvl="1">
              <a:buFont typeface="+mj-lt"/>
              <a:buAutoNum type="arabicPeriod"/>
            </a:pPr>
            <a:r>
              <a:rPr lang="en-GB" noProof="0" dirty="0"/>
              <a:t>Explain the difference between synchronous and asynchronous operations</a:t>
            </a:r>
          </a:p>
          <a:p>
            <a:pPr lvl="1">
              <a:buFont typeface="+mj-lt"/>
              <a:buAutoNum type="arabicPeriod"/>
            </a:pPr>
            <a:r>
              <a:rPr lang="en-GB" noProof="0" dirty="0"/>
              <a:t>Explain how JavaScript handles asynchronous operations</a:t>
            </a:r>
          </a:p>
          <a:p>
            <a:pPr lvl="1">
              <a:buFont typeface="+mj-lt"/>
              <a:buAutoNum type="arabicPeriod"/>
            </a:pPr>
            <a:r>
              <a:rPr lang="en-GB" noProof="0" dirty="0"/>
              <a:t>Explain the purpose and operation of JavaScript callbacks and promises</a:t>
            </a:r>
          </a:p>
          <a:p>
            <a:pPr lvl="1">
              <a:buFont typeface="+mj-lt"/>
              <a:buAutoNum type="arabicPeriod"/>
            </a:pPr>
            <a:r>
              <a:rPr lang="en-GB" noProof="0" dirty="0"/>
              <a:t>Use promises in your code for asynchronous operations</a:t>
            </a:r>
          </a:p>
          <a:p>
            <a:pPr lvl="1">
              <a:buFont typeface="+mj-lt"/>
              <a:buAutoNum type="arabicPeriod"/>
            </a:pPr>
            <a:r>
              <a:rPr lang="en-GB" noProof="0" dirty="0"/>
              <a:t>Explain the concept of middleware and use it in your solutions</a:t>
            </a:r>
          </a:p>
          <a:p>
            <a:pPr lvl="1">
              <a:buFont typeface="+mj-lt"/>
              <a:buAutoNum type="arabicPeriod"/>
            </a:pPr>
            <a:r>
              <a:rPr lang="en-GB" noProof="0" dirty="0"/>
              <a:t>Explain and use same origin requests</a:t>
            </a:r>
          </a:p>
          <a:p>
            <a:pPr lvl="1">
              <a:buFont typeface="+mj-lt"/>
              <a:buAutoNum type="arabicPeriod"/>
            </a:pPr>
            <a:r>
              <a:rPr lang="en-GB" noProof="0" dirty="0"/>
              <a:t>Create a front-end that displays API data retrieved from your application and web server</a:t>
            </a:r>
          </a:p>
        </p:txBody>
      </p:sp>
      <p:sp>
        <p:nvSpPr>
          <p:cNvPr id="4" name="Slide Number Placeholder 3">
            <a:extLst>
              <a:ext uri="{FF2B5EF4-FFF2-40B4-BE49-F238E27FC236}">
                <a16:creationId xmlns:a16="http://schemas.microsoft.com/office/drawing/2014/main" id="{84A109FF-BE52-5969-05BB-807F6279B155}"/>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461640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2E8EA-A62C-23F9-E3BC-D6B8097B9644}"/>
              </a:ext>
            </a:extLst>
          </p:cNvPr>
          <p:cNvSpPr>
            <a:spLocks noGrp="1"/>
          </p:cNvSpPr>
          <p:nvPr>
            <p:ph type="title"/>
          </p:nvPr>
        </p:nvSpPr>
        <p:spPr/>
        <p:txBody>
          <a:bodyPr/>
          <a:lstStyle/>
          <a:p>
            <a:r>
              <a:rPr lang="en-GB" dirty="0"/>
              <a:t>A bit more JavaScript</a:t>
            </a:r>
          </a:p>
        </p:txBody>
      </p:sp>
      <p:sp>
        <p:nvSpPr>
          <p:cNvPr id="3" name="Text Placeholder 2">
            <a:extLst>
              <a:ext uri="{FF2B5EF4-FFF2-40B4-BE49-F238E27FC236}">
                <a16:creationId xmlns:a16="http://schemas.microsoft.com/office/drawing/2014/main" id="{73AC2C5B-6009-51DC-74DC-4FCB6E17ADC6}"/>
              </a:ext>
            </a:extLst>
          </p:cNvPr>
          <p:cNvSpPr>
            <a:spLocks noGrp="1"/>
          </p:cNvSpPr>
          <p:nvPr>
            <p:ph type="body" idx="1"/>
          </p:nvPr>
        </p:nvSpPr>
        <p:spPr>
          <a:xfrm>
            <a:off x="609600" y="1089367"/>
            <a:ext cx="11163300" cy="5092965"/>
          </a:xfrm>
        </p:spPr>
        <p:txBody>
          <a:bodyPr/>
          <a:lstStyle/>
          <a:p>
            <a:r>
              <a:rPr lang="en-GB" sz="1600" dirty="0"/>
              <a:t>Chaining and exceptions using demos</a:t>
            </a:r>
          </a:p>
          <a:p>
            <a:r>
              <a:rPr lang="en-GB" sz="1600" dirty="0"/>
              <a:t>Chaining enables an object to call a method which returns an object which can then call a method</a:t>
            </a:r>
          </a:p>
          <a:p>
            <a:r>
              <a:rPr lang="en-GB" sz="1600" dirty="0"/>
              <a:t>Exceptions are used to simplify error conditions especially when the error occurs deep within multiple function calls</a:t>
            </a:r>
          </a:p>
          <a:p>
            <a:r>
              <a:rPr lang="en-GB" sz="1600" dirty="0"/>
              <a:t>An exception can throw the code sequence out of a try block and into a catch block where the issue can be dealt with. There is however, no way back to the sequence of code where the exception occurred</a:t>
            </a:r>
          </a:p>
          <a:p>
            <a:r>
              <a:rPr lang="en-GB" sz="1600" dirty="0"/>
              <a:t>try {</a:t>
            </a:r>
            <a:br>
              <a:rPr lang="en-GB" sz="1600" dirty="0"/>
            </a:br>
            <a:r>
              <a:rPr lang="en-GB" sz="1600" dirty="0"/>
              <a:t>  do something</a:t>
            </a:r>
            <a:br>
              <a:rPr lang="en-GB" sz="1600" dirty="0"/>
            </a:br>
            <a:r>
              <a:rPr lang="en-GB" sz="1600" dirty="0"/>
              <a:t>  do something else if do something didn't error so throw an exception</a:t>
            </a:r>
            <a:br>
              <a:rPr lang="en-GB" sz="1600" dirty="0"/>
            </a:br>
            <a:r>
              <a:rPr lang="en-GB" sz="1600" dirty="0"/>
              <a:t>} </a:t>
            </a:r>
          </a:p>
          <a:p>
            <a:r>
              <a:rPr lang="en-GB" sz="1600" dirty="0"/>
              <a:t>catch (exception </a:t>
            </a:r>
            <a:r>
              <a:rPr lang="en-GB" sz="1600" dirty="0" err="1"/>
              <a:t>obj</a:t>
            </a:r>
            <a:r>
              <a:rPr lang="en-GB" sz="1600" dirty="0"/>
              <a:t>) {</a:t>
            </a:r>
            <a:br>
              <a:rPr lang="en-GB" sz="1600" dirty="0"/>
            </a:br>
            <a:r>
              <a:rPr lang="en-GB" sz="1600" dirty="0"/>
              <a:t>  output a message or try to recover from the error somehow but no way back</a:t>
            </a:r>
            <a:br>
              <a:rPr lang="en-GB" sz="1600" dirty="0"/>
            </a:br>
            <a:r>
              <a:rPr lang="en-GB" sz="1600" dirty="0"/>
              <a:t>}</a:t>
            </a:r>
          </a:p>
          <a:p>
            <a:r>
              <a:rPr lang="en-GB" sz="1600" dirty="0"/>
              <a:t> finally {</a:t>
            </a:r>
            <a:br>
              <a:rPr lang="en-GB" sz="1600" dirty="0"/>
            </a:br>
            <a:r>
              <a:rPr lang="en-GB" sz="1600" dirty="0"/>
              <a:t>   optionally execute in either case. Used to clean up such as closing files.</a:t>
            </a:r>
            <a:br>
              <a:rPr lang="en-GB" sz="1600" dirty="0"/>
            </a:br>
            <a:r>
              <a:rPr lang="en-GB" sz="1600" dirty="0"/>
              <a:t>}</a:t>
            </a:r>
          </a:p>
          <a:p>
            <a:pPr marL="152396" indent="0">
              <a:buNone/>
            </a:pPr>
            <a:endParaRPr lang="en-GB" dirty="0"/>
          </a:p>
          <a:p>
            <a:endParaRPr lang="en-GB" dirty="0"/>
          </a:p>
        </p:txBody>
      </p:sp>
      <p:sp>
        <p:nvSpPr>
          <p:cNvPr id="4" name="Slide Number Placeholder 3">
            <a:extLst>
              <a:ext uri="{FF2B5EF4-FFF2-40B4-BE49-F238E27FC236}">
                <a16:creationId xmlns:a16="http://schemas.microsoft.com/office/drawing/2014/main" id="{C34E3348-F222-1D4B-BBB7-24A3477A75AB}"/>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7BB8E69C-FD06-B84F-2F8B-623258A68122}"/>
              </a:ext>
            </a:extLst>
          </p:cNvPr>
          <p:cNvSpPr txBox="1"/>
          <p:nvPr/>
        </p:nvSpPr>
        <p:spPr>
          <a:xfrm>
            <a:off x="9128284" y="5713214"/>
            <a:ext cx="2021681"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demos/async/chaining.js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demos/async/except1.js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758128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608BAE5-7D41-1652-8224-456410636CEC}"/>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73D164-C9A7-B715-A929-8C09B7B89C13}"/>
              </a:ext>
            </a:extLst>
          </p:cNvPr>
          <p:cNvSpPr>
            <a:spLocks noGrp="1"/>
          </p:cNvSpPr>
          <p:nvPr>
            <p:ph type="title"/>
          </p:nvPr>
        </p:nvSpPr>
        <p:spPr>
          <a:xfrm>
            <a:off x="609600" y="232284"/>
            <a:ext cx="11163300" cy="421258"/>
          </a:xfrm>
        </p:spPr>
        <p:txBody>
          <a:bodyPr/>
          <a:lstStyle/>
          <a:p>
            <a:r>
              <a:rPr lang="en-GB" noProof="0" dirty="0"/>
              <a:t>Sync and Async</a:t>
            </a:r>
          </a:p>
        </p:txBody>
      </p:sp>
      <p:sp>
        <p:nvSpPr>
          <p:cNvPr id="3" name="Text Placeholder 2">
            <a:extLst>
              <a:ext uri="{FF2B5EF4-FFF2-40B4-BE49-F238E27FC236}">
                <a16:creationId xmlns:a16="http://schemas.microsoft.com/office/drawing/2014/main" id="{E598AB5A-2769-8F79-46DA-18F2BFA68406}"/>
              </a:ext>
            </a:extLst>
          </p:cNvPr>
          <p:cNvSpPr>
            <a:spLocks noGrp="1"/>
          </p:cNvSpPr>
          <p:nvPr>
            <p:ph type="body" idx="1"/>
          </p:nvPr>
        </p:nvSpPr>
        <p:spPr>
          <a:xfrm>
            <a:off x="609600" y="653543"/>
            <a:ext cx="11163300" cy="5823458"/>
          </a:xfrm>
        </p:spPr>
        <p:txBody>
          <a:bodyPr/>
          <a:lstStyle/>
          <a:p>
            <a:r>
              <a:rPr lang="en-GB" sz="1600" noProof="0" dirty="0"/>
              <a:t>Synchronous operations are those which take place sequentially. For example, you get to the head of the queue at a sandwich bar at a train station. You place your order for a toastie with the assistant. They go off and do their thing and make the sandwich – maybe chatting to someone or staring into space whilst the sandwich is toasting. Eventually they come back to you and ask “Is there anything else?” You order a coffee. They go off and do their thing – maybe stare into space whilst the milk boils then returns with your coffees. “Anything else?” By now you are getting disapproving looks from others in the queue so say no. You are asked for payment. You pay cash so they go off to the till and cash the money but they don’t have change so have to go into the office to get some change. They eventually complete the payment and you can be on your way whilst half of the queue have given up and gone for their train. Synchronous operations are simple but block execution whilst waiting </a:t>
            </a:r>
          </a:p>
          <a:p>
            <a:r>
              <a:rPr lang="en-GB" sz="1600" noProof="0" dirty="0"/>
              <a:t>Ok, you could employ 3 people with 3 tills and 3 toasters etc. This is clearly more efficient but also more expensive. This is parallel processing and now has 3 people (CPUs) staring into space at various times.</a:t>
            </a:r>
          </a:p>
          <a:p>
            <a:r>
              <a:rPr lang="en-GB" sz="1600" noProof="0" dirty="0"/>
              <a:t>A different approach could be to employ an asynchronous process. An attendant takes your order but whilst the sandwich is in the toaster, they take your next order – maybe that’s for coffee, but if not they can take an order from  the next person. So whilst the toaster is still toasting and the milk is still boiling, they can take another order. At some point, the milk is boiling – maybe the toaster is still toasting.  The assistant can stop taking orders and finish the coffee – which started after the toaster so is out of order. During finishing the coffee, the toaster finishes so once the coffee order is complete, they can go to the toaster and finish the toastie order. The key point here is that a long process can be kicked-off but this doesn’t block the assistant. They can do other things whilst waiting. This is more efficient but more complex as the orders may be completed out of order and the person needs to remember which order is for whom.  Java uses multithreading for parallelism, JavaScript is single threaded so relies on asynchronous function calls to avoid blocking the single application thread</a:t>
            </a:r>
          </a:p>
        </p:txBody>
      </p:sp>
      <p:sp>
        <p:nvSpPr>
          <p:cNvPr id="4" name="Slide Number Placeholder 3">
            <a:extLst>
              <a:ext uri="{FF2B5EF4-FFF2-40B4-BE49-F238E27FC236}">
                <a16:creationId xmlns:a16="http://schemas.microsoft.com/office/drawing/2014/main" id="{6C42D8CE-4205-6C79-0D57-8B43BD02175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5931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59551-B949-23DA-11EE-97A9370896C2}"/>
              </a:ext>
            </a:extLst>
          </p:cNvPr>
          <p:cNvSpPr>
            <a:spLocks noGrp="1"/>
          </p:cNvSpPr>
          <p:nvPr>
            <p:ph type="title"/>
          </p:nvPr>
        </p:nvSpPr>
        <p:spPr/>
        <p:txBody>
          <a:bodyPr/>
          <a:lstStyle/>
          <a:p>
            <a:r>
              <a:rPr lang="en-GB" noProof="0" dirty="0"/>
              <a:t>Calling an API from the frontend</a:t>
            </a:r>
          </a:p>
        </p:txBody>
      </p:sp>
      <p:sp>
        <p:nvSpPr>
          <p:cNvPr id="3" name="Text Placeholder 2">
            <a:extLst>
              <a:ext uri="{FF2B5EF4-FFF2-40B4-BE49-F238E27FC236}">
                <a16:creationId xmlns:a16="http://schemas.microsoft.com/office/drawing/2014/main" id="{4F2AABF4-B373-4597-55E5-504EF64733E8}"/>
              </a:ext>
            </a:extLst>
          </p:cNvPr>
          <p:cNvSpPr>
            <a:spLocks noGrp="1"/>
          </p:cNvSpPr>
          <p:nvPr>
            <p:ph type="body" idx="1"/>
          </p:nvPr>
        </p:nvSpPr>
        <p:spPr/>
        <p:txBody>
          <a:bodyPr/>
          <a:lstStyle/>
          <a:p>
            <a:r>
              <a:rPr lang="en-GB" noProof="0" dirty="0"/>
              <a:t>Response from the app server may be slow so waiting for a response will block the single thread</a:t>
            </a:r>
          </a:p>
          <a:p>
            <a:pPr lvl="1"/>
            <a:r>
              <a:rPr lang="en-GB" noProof="0" dirty="0"/>
              <a:t>The UI becomes unresponsive whilst waiting - this is synchronous</a:t>
            </a:r>
          </a:p>
          <a:p>
            <a:r>
              <a:rPr lang="en-GB" noProof="0" dirty="0"/>
              <a:t>A JavaScript function, fetch, will make the API call but asynchronously</a:t>
            </a:r>
          </a:p>
          <a:p>
            <a:pPr lvl="1"/>
            <a:r>
              <a:rPr lang="en-GB" noProof="0" dirty="0"/>
              <a:t>The call is made but we don't wait for the response</a:t>
            </a:r>
          </a:p>
          <a:p>
            <a:r>
              <a:rPr lang="en-GB" noProof="0" dirty="0"/>
              <a:t>The UI remains responsive whilst fetch is waiting for a response in the background</a:t>
            </a:r>
          </a:p>
          <a:p>
            <a:pPr lvl="1"/>
            <a:r>
              <a:rPr lang="en-GB" noProof="0" dirty="0"/>
              <a:t>effectively running in a separate thread (discussed later)</a:t>
            </a:r>
          </a:p>
          <a:p>
            <a:r>
              <a:rPr lang="en-GB" noProof="0" dirty="0"/>
              <a:t>We also need to consider not blocking the server thread if it needs to do something lengthy</a:t>
            </a:r>
          </a:p>
          <a:p>
            <a:pPr lvl="1"/>
            <a:r>
              <a:rPr lang="en-GB" noProof="0" dirty="0"/>
              <a:t>e.g. search for data in a database. Make this server call asynchronous too</a:t>
            </a:r>
          </a:p>
          <a:p>
            <a:r>
              <a:rPr lang="en-GB" noProof="0" dirty="0"/>
              <a:t>When the response is received from the app server, it is somehow dealt with in the main thread</a:t>
            </a:r>
          </a:p>
          <a:p>
            <a:r>
              <a:rPr lang="en-GB" noProof="0" dirty="0"/>
              <a:t>A couple of quick examples to illustrate this so you can do your practical exercise</a:t>
            </a:r>
          </a:p>
          <a:p>
            <a:r>
              <a:rPr lang="en-GB" noProof="0" dirty="0"/>
              <a:t>Detail of how it all works follows</a:t>
            </a:r>
          </a:p>
        </p:txBody>
      </p:sp>
      <p:sp>
        <p:nvSpPr>
          <p:cNvPr id="4" name="Slide Number Placeholder 3">
            <a:extLst>
              <a:ext uri="{FF2B5EF4-FFF2-40B4-BE49-F238E27FC236}">
                <a16:creationId xmlns:a16="http://schemas.microsoft.com/office/drawing/2014/main" id="{1B89C66B-3F9D-B835-7AE5-87C28AEFD8F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724BA97E-3D84-7F28-E069-8F86D9BEC5D7}"/>
              </a:ext>
            </a:extLst>
          </p:cNvPr>
          <p:cNvSpPr txBox="1"/>
          <p:nvPr/>
        </p:nvSpPr>
        <p:spPr>
          <a:xfrm>
            <a:off x="8778240" y="5768632"/>
            <a:ext cx="2076577"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demos/API/basic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demos/</a:t>
            </a:r>
            <a:r>
              <a:rPr kumimoji="0" lang="en-GB" sz="1200" b="0" i="0" u="none" strike="noStrike" kern="1200" cap="none" spc="0" normalizeH="0" baseline="0" noProof="0" dirty="0" err="1">
                <a:ln>
                  <a:noFill/>
                </a:ln>
                <a:solidFill>
                  <a:srgbClr val="FF0000"/>
                </a:solidFill>
                <a:effectLst/>
                <a:uLnTx/>
                <a:uFillTx/>
                <a:latin typeface="Arial"/>
                <a:ea typeface="+mn-ea"/>
                <a:cs typeface="+mn-cs"/>
              </a:rPr>
              <a:t>api</a:t>
            </a:r>
            <a:r>
              <a:rPr kumimoji="0" lang="en-GB" sz="1200" b="0" i="0" u="none" strike="noStrike" kern="1200" cap="none" spc="0" normalizeH="0" baseline="0" noProof="0" dirty="0">
                <a:ln>
                  <a:noFill/>
                </a:ln>
                <a:solidFill>
                  <a:srgbClr val="FF0000"/>
                </a:solidFill>
                <a:effectLst/>
                <a:uLnTx/>
                <a:uFillTx/>
                <a:latin typeface="Arial"/>
                <a:ea typeface="+mn-ea"/>
                <a:cs typeface="+mn-cs"/>
              </a:rPr>
              <a:t>/</a:t>
            </a:r>
            <a:r>
              <a:rPr kumimoji="0" lang="en-GB" sz="1200" b="0" i="0" u="none" strike="noStrike" kern="1200" cap="none" spc="0" normalizeH="0" baseline="0" noProof="0" dirty="0" err="1">
                <a:ln>
                  <a:noFill/>
                </a:ln>
                <a:solidFill>
                  <a:srgbClr val="FF0000"/>
                </a:solidFill>
                <a:effectLst/>
                <a:uLnTx/>
                <a:uFillTx/>
                <a:latin typeface="Arial"/>
                <a:ea typeface="+mn-ea"/>
                <a:cs typeface="+mn-cs"/>
              </a:rPr>
              <a:t>simpleAPIstatic</a:t>
            </a: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4285591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1F79-2001-F4A1-CDB2-E42626A44F4F}"/>
              </a:ext>
            </a:extLst>
          </p:cNvPr>
          <p:cNvSpPr>
            <a:spLocks noGrp="1"/>
          </p:cNvSpPr>
          <p:nvPr>
            <p:ph type="title"/>
          </p:nvPr>
        </p:nvSpPr>
        <p:spPr/>
        <p:txBody>
          <a:bodyPr/>
          <a:lstStyle/>
          <a:p>
            <a:r>
              <a:rPr lang="en-GB" noProof="0" dirty="0"/>
              <a:t>Origins and Cross Origin Resource Sharing (CORS)</a:t>
            </a:r>
          </a:p>
        </p:txBody>
      </p:sp>
      <p:sp>
        <p:nvSpPr>
          <p:cNvPr id="3" name="Text Placeholder 2">
            <a:extLst>
              <a:ext uri="{FF2B5EF4-FFF2-40B4-BE49-F238E27FC236}">
                <a16:creationId xmlns:a16="http://schemas.microsoft.com/office/drawing/2014/main" id="{31268AB4-426A-FAF4-F43A-782887451D68}"/>
              </a:ext>
            </a:extLst>
          </p:cNvPr>
          <p:cNvSpPr>
            <a:spLocks noGrp="1"/>
          </p:cNvSpPr>
          <p:nvPr>
            <p:ph type="body" idx="1"/>
          </p:nvPr>
        </p:nvSpPr>
        <p:spPr>
          <a:xfrm>
            <a:off x="609600" y="1089367"/>
            <a:ext cx="7898918" cy="5304065"/>
          </a:xfrm>
        </p:spPr>
        <p:txBody>
          <a:bodyPr/>
          <a:lstStyle/>
          <a:p>
            <a:r>
              <a:rPr lang="en-GB" sz="1600" noProof="0" dirty="0"/>
              <a:t>We work with same origin or cross origin</a:t>
            </a:r>
          </a:p>
          <a:p>
            <a:r>
              <a:rPr lang="en-GB" sz="1600" noProof="0" dirty="0"/>
              <a:t>Origin is </a:t>
            </a:r>
            <a:r>
              <a:rPr lang="en-GB" sz="1600" b="1" noProof="0" dirty="0"/>
              <a:t>scheme://domain:port</a:t>
            </a:r>
          </a:p>
          <a:p>
            <a:pPr lvl="1"/>
            <a:r>
              <a:rPr lang="en-GB" sz="1400" noProof="0" dirty="0"/>
              <a:t>e.g. </a:t>
            </a:r>
            <a:r>
              <a:rPr lang="en-GB" sz="1400" b="1" noProof="0" dirty="0"/>
              <a:t>http://tonynicol.com:3000 </a:t>
            </a:r>
            <a:r>
              <a:rPr lang="en-GB" sz="1400" noProof="0" dirty="0"/>
              <a:t>or </a:t>
            </a:r>
            <a:r>
              <a:rPr lang="en-GB" sz="1400" b="1" noProof="0" dirty="0"/>
              <a:t>http://20.234.12.254:3000</a:t>
            </a:r>
          </a:p>
          <a:p>
            <a:pPr lvl="1"/>
            <a:endParaRPr lang="en-GB" sz="1400" b="1" noProof="0" dirty="0"/>
          </a:p>
          <a:p>
            <a:pPr marL="152396" indent="0">
              <a:buNone/>
            </a:pPr>
            <a:r>
              <a:rPr lang="en-GB" sz="1600" b="1" noProof="0" dirty="0"/>
              <a:t>Same origin</a:t>
            </a:r>
          </a:p>
          <a:p>
            <a:r>
              <a:rPr lang="en-GB" sz="1600" noProof="0" dirty="0"/>
              <a:t>The user makes a request to say </a:t>
            </a:r>
            <a:r>
              <a:rPr lang="en-GB" sz="1600" b="1" noProof="0" dirty="0"/>
              <a:t>http://20.234.12.254:3000</a:t>
            </a:r>
            <a:r>
              <a:rPr lang="en-GB" sz="1600" noProof="0" dirty="0"/>
              <a:t>/jokes.html</a:t>
            </a:r>
          </a:p>
          <a:p>
            <a:r>
              <a:rPr lang="en-GB" sz="1600" noProof="0" dirty="0" err="1"/>
              <a:t>express.static</a:t>
            </a:r>
            <a:r>
              <a:rPr lang="en-GB" sz="1600" noProof="0" dirty="0"/>
              <a:t> will return the web page</a:t>
            </a:r>
          </a:p>
          <a:p>
            <a:r>
              <a:rPr lang="en-GB" sz="1600" noProof="0" dirty="0"/>
              <a:t>the page requests </a:t>
            </a:r>
            <a:r>
              <a:rPr lang="en-GB" sz="1600" noProof="0" dirty="0" err="1"/>
              <a:t>css</a:t>
            </a:r>
            <a:r>
              <a:rPr lang="en-GB" sz="1600" noProof="0" dirty="0"/>
              <a:t> with </a:t>
            </a:r>
            <a:r>
              <a:rPr lang="en-GB" sz="1600" noProof="0" dirty="0" err="1"/>
              <a:t>href</a:t>
            </a:r>
            <a:r>
              <a:rPr lang="en-GB" sz="1600" noProof="0" dirty="0"/>
              <a:t>="jokes.css". No need for origin as browser will assume </a:t>
            </a:r>
            <a:r>
              <a:rPr lang="en-GB" sz="1600" b="1" noProof="0" dirty="0"/>
              <a:t>same origin</a:t>
            </a:r>
            <a:r>
              <a:rPr lang="en-GB" sz="1600" noProof="0" dirty="0"/>
              <a:t> and add the </a:t>
            </a:r>
            <a:r>
              <a:rPr lang="en-GB" sz="1600" b="1" noProof="0" dirty="0"/>
              <a:t>http://20.234.12.254:3000</a:t>
            </a:r>
            <a:r>
              <a:rPr lang="en-GB" sz="1600" noProof="0" dirty="0"/>
              <a:t>/jokes.css</a:t>
            </a:r>
          </a:p>
          <a:p>
            <a:r>
              <a:rPr lang="en-GB" sz="1600" noProof="0" dirty="0"/>
              <a:t>page requests </a:t>
            </a:r>
            <a:r>
              <a:rPr lang="en-GB" sz="1600" noProof="0" dirty="0" err="1"/>
              <a:t>javascript</a:t>
            </a:r>
            <a:r>
              <a:rPr lang="en-GB" sz="1600" noProof="0" dirty="0"/>
              <a:t> with </a:t>
            </a:r>
            <a:r>
              <a:rPr lang="en-GB" sz="1600" noProof="0" dirty="0" err="1"/>
              <a:t>src</a:t>
            </a:r>
            <a:r>
              <a:rPr lang="en-GB" sz="1600" noProof="0" dirty="0"/>
              <a:t>="jokes.js" using same assumption</a:t>
            </a:r>
          </a:p>
          <a:p>
            <a:r>
              <a:rPr lang="en-GB" sz="1600" noProof="0" dirty="0"/>
              <a:t>With page displayed and  formatted, press a button to invoke fetch()</a:t>
            </a:r>
          </a:p>
          <a:p>
            <a:r>
              <a:rPr lang="en-GB" sz="1600" noProof="0" dirty="0"/>
              <a:t>fetch will also assume </a:t>
            </a:r>
            <a:r>
              <a:rPr lang="en-GB" sz="1600" b="1" noProof="0" dirty="0"/>
              <a:t>same origin</a:t>
            </a:r>
            <a:r>
              <a:rPr lang="en-GB" sz="1600" noProof="0" dirty="0"/>
              <a:t> so we only need fetch('/jokes/general')</a:t>
            </a:r>
          </a:p>
          <a:p>
            <a:r>
              <a:rPr lang="en-GB" sz="1600" noProof="0" dirty="0"/>
              <a:t>You can write fetch('http://20.234.12.254:3000/jokes/general') if you want to</a:t>
            </a:r>
          </a:p>
          <a:p>
            <a:pPr lvl="1"/>
            <a:r>
              <a:rPr lang="en-GB" sz="1400" noProof="0" dirty="0"/>
              <a:t>As long as the origin is the same as the web page it's fine</a:t>
            </a:r>
          </a:p>
          <a:p>
            <a:r>
              <a:rPr lang="en-GB" sz="1600" noProof="0" dirty="0"/>
              <a:t>fetch() from a different origin is a security issue and is blocked by default</a:t>
            </a:r>
          </a:p>
          <a:p>
            <a:pPr lvl="1"/>
            <a:r>
              <a:rPr lang="en-GB" sz="1400" noProof="0" dirty="0"/>
              <a:t>page may be infected to point to a different origin to send information from your page</a:t>
            </a:r>
          </a:p>
          <a:p>
            <a:pPr marL="152396" indent="0">
              <a:buNone/>
            </a:pPr>
            <a:endParaRPr lang="en-GB" sz="1600" noProof="0" dirty="0"/>
          </a:p>
          <a:p>
            <a:endParaRPr lang="en-GB" sz="1600" noProof="0" dirty="0"/>
          </a:p>
          <a:p>
            <a:endParaRPr lang="en-GB" sz="1600" noProof="0" dirty="0"/>
          </a:p>
          <a:p>
            <a:endParaRPr lang="en-GB" noProof="0" dirty="0"/>
          </a:p>
        </p:txBody>
      </p:sp>
      <p:sp>
        <p:nvSpPr>
          <p:cNvPr id="4" name="Slide Number Placeholder 3">
            <a:extLst>
              <a:ext uri="{FF2B5EF4-FFF2-40B4-BE49-F238E27FC236}">
                <a16:creationId xmlns:a16="http://schemas.microsoft.com/office/drawing/2014/main" id="{8D78D41D-8336-F0EF-B39A-EA7472DFF75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9" name="Group 28">
            <a:extLst>
              <a:ext uri="{FF2B5EF4-FFF2-40B4-BE49-F238E27FC236}">
                <a16:creationId xmlns:a16="http://schemas.microsoft.com/office/drawing/2014/main" id="{BC31C626-44AA-F9B0-8E38-64BEEC9B3EC3}"/>
              </a:ext>
            </a:extLst>
          </p:cNvPr>
          <p:cNvGrpSpPr/>
          <p:nvPr/>
        </p:nvGrpSpPr>
        <p:grpSpPr>
          <a:xfrm>
            <a:off x="8514563" y="1623375"/>
            <a:ext cx="3135342" cy="3464639"/>
            <a:chOff x="8514563" y="1623375"/>
            <a:chExt cx="3135342" cy="3464639"/>
          </a:xfrm>
        </p:grpSpPr>
        <p:sp>
          <p:nvSpPr>
            <p:cNvPr id="5" name="Rectangle 4">
              <a:extLst>
                <a:ext uri="{FF2B5EF4-FFF2-40B4-BE49-F238E27FC236}">
                  <a16:creationId xmlns:a16="http://schemas.microsoft.com/office/drawing/2014/main" id="{08223096-E23C-AEEB-CD73-652C7C5A5CBF}"/>
                </a:ext>
              </a:extLst>
            </p:cNvPr>
            <p:cNvSpPr/>
            <p:nvPr/>
          </p:nvSpPr>
          <p:spPr>
            <a:xfrm>
              <a:off x="9944458" y="3792541"/>
              <a:ext cx="989359"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Database server</a:t>
              </a:r>
            </a:p>
          </p:txBody>
        </p:sp>
        <p:grpSp>
          <p:nvGrpSpPr>
            <p:cNvPr id="6" name="Group 5">
              <a:extLst>
                <a:ext uri="{FF2B5EF4-FFF2-40B4-BE49-F238E27FC236}">
                  <a16:creationId xmlns:a16="http://schemas.microsoft.com/office/drawing/2014/main" id="{CBBE7866-E224-3AA0-7F66-090DCC23394E}"/>
                </a:ext>
              </a:extLst>
            </p:cNvPr>
            <p:cNvGrpSpPr/>
            <p:nvPr/>
          </p:nvGrpSpPr>
          <p:grpSpPr>
            <a:xfrm>
              <a:off x="11027654" y="3969438"/>
              <a:ext cx="622251" cy="510463"/>
              <a:chOff x="6121030" y="4300725"/>
              <a:chExt cx="729757" cy="621027"/>
            </a:xfrm>
          </p:grpSpPr>
          <p:sp>
            <p:nvSpPr>
              <p:cNvPr id="7" name="TextBox 6">
                <a:extLst>
                  <a:ext uri="{FF2B5EF4-FFF2-40B4-BE49-F238E27FC236}">
                    <a16:creationId xmlns:a16="http://schemas.microsoft.com/office/drawing/2014/main" id="{8CE2D6EA-BE6C-0F12-1D29-F169C4A6ED18}"/>
                  </a:ext>
                </a:extLst>
              </p:cNvPr>
              <p:cNvSpPr txBox="1"/>
              <p:nvPr/>
            </p:nvSpPr>
            <p:spPr>
              <a:xfrm>
                <a:off x="6121030" y="4675531"/>
                <a:ext cx="729757"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err="1">
                    <a:ln>
                      <a:noFill/>
                    </a:ln>
                    <a:solidFill>
                      <a:srgbClr val="3A3F50"/>
                    </a:solidFill>
                    <a:effectLst/>
                    <a:uLnTx/>
                    <a:uFillTx/>
                    <a:latin typeface="Arial"/>
                    <a:ea typeface="+mn-ea"/>
                    <a:cs typeface="+mn-cs"/>
                  </a:rPr>
                  <a:t>MySql</a:t>
                </a:r>
                <a:endParaRPr kumimoji="0" lang="en-GB" sz="1000" b="0" i="0" u="none" strike="noStrike" kern="1200" cap="none" spc="0" normalizeH="0" baseline="0" noProof="0" dirty="0">
                  <a:ln>
                    <a:noFill/>
                  </a:ln>
                  <a:solidFill>
                    <a:srgbClr val="3A3F50"/>
                  </a:solidFill>
                  <a:effectLst/>
                  <a:uLnTx/>
                  <a:uFillTx/>
                  <a:latin typeface="Arial"/>
                  <a:ea typeface="+mn-ea"/>
                  <a:cs typeface="+mn-cs"/>
                </a:endParaRPr>
              </a:p>
            </p:txBody>
          </p:sp>
          <p:pic>
            <p:nvPicPr>
              <p:cNvPr id="8" name="Graphic 7" descr="Database with solid fill">
                <a:extLst>
                  <a:ext uri="{FF2B5EF4-FFF2-40B4-BE49-F238E27FC236}">
                    <a16:creationId xmlns:a16="http://schemas.microsoft.com/office/drawing/2014/main" id="{C3F3C591-FF92-7AA2-24C0-C713C6E7DC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48004" y="4300725"/>
                <a:ext cx="475811" cy="475811"/>
              </a:xfrm>
              <a:prstGeom prst="rect">
                <a:avLst/>
              </a:prstGeom>
            </p:spPr>
          </p:pic>
        </p:grpSp>
        <p:cxnSp>
          <p:nvCxnSpPr>
            <p:cNvPr id="10" name="Straight Arrow Connector 9">
              <a:extLst>
                <a:ext uri="{FF2B5EF4-FFF2-40B4-BE49-F238E27FC236}">
                  <a16:creationId xmlns:a16="http://schemas.microsoft.com/office/drawing/2014/main" id="{1FDC329B-24A3-24FF-81D2-4B077ABD4674}"/>
                </a:ext>
              </a:extLst>
            </p:cNvPr>
            <p:cNvCxnSpPr>
              <a:cxnSpLocks/>
            </p:cNvCxnSpPr>
            <p:nvPr/>
          </p:nvCxnSpPr>
          <p:spPr>
            <a:xfrm flipV="1">
              <a:off x="10960025" y="4164989"/>
              <a:ext cx="202105" cy="408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9ECD19B-316D-37E7-E830-133808E23894}"/>
                </a:ext>
              </a:extLst>
            </p:cNvPr>
            <p:cNvCxnSpPr>
              <a:stCxn id="12" idx="2"/>
              <a:endCxn id="5" idx="0"/>
            </p:cNvCxnSpPr>
            <p:nvPr/>
          </p:nvCxnSpPr>
          <p:spPr>
            <a:xfrm>
              <a:off x="10439137" y="3477138"/>
              <a:ext cx="1" cy="315403"/>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BA476BF-D142-F09C-FD39-7A16E07CF969}"/>
                </a:ext>
              </a:extLst>
            </p:cNvPr>
            <p:cNvSpPr/>
            <p:nvPr/>
          </p:nvSpPr>
          <p:spPr>
            <a:xfrm>
              <a:off x="9944458" y="2724081"/>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Node app server &amp; express static</a:t>
              </a:r>
            </a:p>
          </p:txBody>
        </p:sp>
        <p:pic>
          <p:nvPicPr>
            <p:cNvPr id="15" name="Picture 14" descr="A white cloud with blue border&#10;&#10;Description automatically generated">
              <a:extLst>
                <a:ext uri="{FF2B5EF4-FFF2-40B4-BE49-F238E27FC236}">
                  <a16:creationId xmlns:a16="http://schemas.microsoft.com/office/drawing/2014/main" id="{876CE17A-7811-01AA-68BC-2E5F2491F1AD}"/>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998822" y="1803719"/>
              <a:ext cx="890814" cy="480737"/>
            </a:xfrm>
            <a:prstGeom prst="rect">
              <a:avLst/>
            </a:prstGeom>
          </p:spPr>
        </p:pic>
        <p:pic>
          <p:nvPicPr>
            <p:cNvPr id="16" name="Picture 15" descr="A white cloud with blue border&#10;&#10;Description automatically generated">
              <a:extLst>
                <a:ext uri="{FF2B5EF4-FFF2-40B4-BE49-F238E27FC236}">
                  <a16:creationId xmlns:a16="http://schemas.microsoft.com/office/drawing/2014/main" id="{E013E63B-A011-2AE7-F4C1-903D90D15A8E}"/>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993968" y="1806207"/>
              <a:ext cx="890814" cy="480737"/>
            </a:xfrm>
            <a:prstGeom prst="rect">
              <a:avLst/>
            </a:prstGeom>
          </p:spPr>
        </p:pic>
        <p:cxnSp>
          <p:nvCxnSpPr>
            <p:cNvPr id="18" name="Straight Arrow Connector 17">
              <a:extLst>
                <a:ext uri="{FF2B5EF4-FFF2-40B4-BE49-F238E27FC236}">
                  <a16:creationId xmlns:a16="http://schemas.microsoft.com/office/drawing/2014/main" id="{E047F317-0AEE-3E7E-C3C5-1A3245E57F1A}"/>
                </a:ext>
              </a:extLst>
            </p:cNvPr>
            <p:cNvCxnSpPr>
              <a:cxnSpLocks/>
              <a:stCxn id="16" idx="2"/>
              <a:endCxn id="12" idx="0"/>
            </p:cNvCxnSpPr>
            <p:nvPr/>
          </p:nvCxnSpPr>
          <p:spPr>
            <a:xfrm flipH="1">
              <a:off x="10439137" y="2286944"/>
              <a:ext cx="238" cy="437137"/>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1" name="Picture 20" descr="A computer with a blue screen&#10;&#10;Description automatically generated">
              <a:extLst>
                <a:ext uri="{FF2B5EF4-FFF2-40B4-BE49-F238E27FC236}">
                  <a16:creationId xmlns:a16="http://schemas.microsoft.com/office/drawing/2014/main" id="{A11F9B49-EAD6-3958-3E42-B9C6192E217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514563" y="1623375"/>
              <a:ext cx="989818" cy="833401"/>
            </a:xfrm>
            <a:prstGeom prst="rect">
              <a:avLst/>
            </a:prstGeom>
          </p:spPr>
        </p:pic>
        <p:cxnSp>
          <p:nvCxnSpPr>
            <p:cNvPr id="22" name="Straight Arrow Connector 21">
              <a:extLst>
                <a:ext uri="{FF2B5EF4-FFF2-40B4-BE49-F238E27FC236}">
                  <a16:creationId xmlns:a16="http://schemas.microsoft.com/office/drawing/2014/main" id="{B3C450A4-FBD5-F310-28A5-2B6D41601381}"/>
                </a:ext>
              </a:extLst>
            </p:cNvPr>
            <p:cNvCxnSpPr>
              <a:cxnSpLocks/>
              <a:stCxn id="16" idx="1"/>
            </p:cNvCxnSpPr>
            <p:nvPr/>
          </p:nvCxnSpPr>
          <p:spPr>
            <a:xfrm flipH="1" flipV="1">
              <a:off x="9597358" y="2040076"/>
              <a:ext cx="396611" cy="6500"/>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409D4F8-E483-4F8D-B36E-2F9280DA0A47}"/>
                </a:ext>
              </a:extLst>
            </p:cNvPr>
            <p:cNvSpPr/>
            <p:nvPr/>
          </p:nvSpPr>
          <p:spPr>
            <a:xfrm>
              <a:off x="9836192" y="2456776"/>
              <a:ext cx="1813713" cy="2631238"/>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FE9E431E-6475-FA23-C9B1-A5A46DD69969}"/>
                </a:ext>
              </a:extLst>
            </p:cNvPr>
            <p:cNvSpPr txBox="1"/>
            <p:nvPr/>
          </p:nvSpPr>
          <p:spPr>
            <a:xfrm>
              <a:off x="10160997" y="4750061"/>
              <a:ext cx="116410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20.234.12.254</a:t>
              </a:r>
            </a:p>
          </p:txBody>
        </p:sp>
      </p:grpSp>
    </p:spTree>
    <p:extLst>
      <p:ext uri="{BB962C8B-B14F-4D97-AF65-F5344CB8AC3E}">
        <p14:creationId xmlns:p14="http://schemas.microsoft.com/office/powerpoint/2010/main" val="3608588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5B52F71-4D83-C81E-4C2A-18C0EF8D3AD9}"/>
              </a:ext>
            </a:extLst>
          </p:cNvPr>
          <p:cNvSpPr>
            <a:spLocks noGrp="1"/>
          </p:cNvSpPr>
          <p:nvPr>
            <p:ph type="body" idx="1"/>
          </p:nvPr>
        </p:nvSpPr>
        <p:spPr>
          <a:xfrm>
            <a:off x="581802" y="137913"/>
            <a:ext cx="11163300" cy="2415382"/>
          </a:xfrm>
        </p:spPr>
        <p:txBody>
          <a:bodyPr/>
          <a:lstStyle/>
          <a:p>
            <a:pPr marL="152396" indent="0">
              <a:buNone/>
            </a:pPr>
            <a:r>
              <a:rPr lang="en-GB" sz="1600" b="1" noProof="0" dirty="0"/>
              <a:t>Cross origin</a:t>
            </a:r>
          </a:p>
          <a:p>
            <a:r>
              <a:rPr lang="en-GB" sz="1600" noProof="0" dirty="0"/>
              <a:t>When we develop APIs, we don't usually provide a front-end</a:t>
            </a:r>
          </a:p>
          <a:p>
            <a:pPr lvl="1"/>
            <a:r>
              <a:rPr lang="en-GB" noProof="0" dirty="0"/>
              <a:t>APIs are for use by many different users to get or change data</a:t>
            </a:r>
          </a:p>
          <a:p>
            <a:pPr lvl="1"/>
            <a:r>
              <a:rPr lang="en-GB" noProof="0" dirty="0"/>
              <a:t>They provide their own web front-end</a:t>
            </a:r>
          </a:p>
          <a:p>
            <a:r>
              <a:rPr lang="en-GB" noProof="0" dirty="0"/>
              <a:t>The front-end files are requested from their own web server - API call is cross origin</a:t>
            </a:r>
          </a:p>
          <a:p>
            <a:pPr lvl="1"/>
            <a:r>
              <a:rPr lang="en-GB" noProof="0" dirty="0"/>
              <a:t>API call is to a different (cross) origin. Blocked by default. Server needs to enable CORS policy</a:t>
            </a:r>
          </a:p>
          <a:p>
            <a:pPr lvl="1"/>
            <a:r>
              <a:rPr lang="en-GB" noProof="0" dirty="0"/>
              <a:t>Server CORS Policy can include list of origins, http method and various other conditions </a:t>
            </a:r>
          </a:p>
          <a:p>
            <a:endParaRPr lang="en-GB" noProof="0" dirty="0"/>
          </a:p>
          <a:p>
            <a:endParaRPr lang="en-GB" noProof="0" dirty="0"/>
          </a:p>
        </p:txBody>
      </p:sp>
      <p:sp>
        <p:nvSpPr>
          <p:cNvPr id="4" name="Slide Number Placeholder 3">
            <a:extLst>
              <a:ext uri="{FF2B5EF4-FFF2-40B4-BE49-F238E27FC236}">
                <a16:creationId xmlns:a16="http://schemas.microsoft.com/office/drawing/2014/main" id="{191F873C-2AC3-5428-74CC-F14E8508DCB7}"/>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73" name="Group 72">
            <a:extLst>
              <a:ext uri="{FF2B5EF4-FFF2-40B4-BE49-F238E27FC236}">
                <a16:creationId xmlns:a16="http://schemas.microsoft.com/office/drawing/2014/main" id="{A2039EDF-97C5-5F17-0635-461E47201021}"/>
              </a:ext>
            </a:extLst>
          </p:cNvPr>
          <p:cNvGrpSpPr/>
          <p:nvPr/>
        </p:nvGrpSpPr>
        <p:grpSpPr>
          <a:xfrm>
            <a:off x="1670255" y="2696980"/>
            <a:ext cx="9115959" cy="4090627"/>
            <a:chOff x="1670255" y="2558668"/>
            <a:chExt cx="9115959" cy="4090627"/>
          </a:xfrm>
        </p:grpSpPr>
        <p:sp>
          <p:nvSpPr>
            <p:cNvPr id="69" name="TextBox 68">
              <a:extLst>
                <a:ext uri="{FF2B5EF4-FFF2-40B4-BE49-F238E27FC236}">
                  <a16:creationId xmlns:a16="http://schemas.microsoft.com/office/drawing/2014/main" id="{8B41F6BD-7FC1-617F-0EB4-41E4DBD5418E}"/>
                </a:ext>
              </a:extLst>
            </p:cNvPr>
            <p:cNvSpPr txBox="1"/>
            <p:nvPr/>
          </p:nvSpPr>
          <p:spPr>
            <a:xfrm>
              <a:off x="5524259" y="6372296"/>
              <a:ext cx="1413721"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Joke server Azure</a:t>
              </a:r>
            </a:p>
          </p:txBody>
        </p:sp>
        <p:grpSp>
          <p:nvGrpSpPr>
            <p:cNvPr id="72" name="Group 71">
              <a:extLst>
                <a:ext uri="{FF2B5EF4-FFF2-40B4-BE49-F238E27FC236}">
                  <a16:creationId xmlns:a16="http://schemas.microsoft.com/office/drawing/2014/main" id="{529479BD-CBD1-A050-34BB-C063982975D1}"/>
                </a:ext>
              </a:extLst>
            </p:cNvPr>
            <p:cNvGrpSpPr/>
            <p:nvPr/>
          </p:nvGrpSpPr>
          <p:grpSpPr>
            <a:xfrm>
              <a:off x="1670255" y="2558668"/>
              <a:ext cx="9115959" cy="3790468"/>
              <a:chOff x="1670255" y="2558668"/>
              <a:chExt cx="9115959" cy="3790468"/>
            </a:xfrm>
          </p:grpSpPr>
          <p:sp>
            <p:nvSpPr>
              <p:cNvPr id="6" name="Rectangle 5">
                <a:extLst>
                  <a:ext uri="{FF2B5EF4-FFF2-40B4-BE49-F238E27FC236}">
                    <a16:creationId xmlns:a16="http://schemas.microsoft.com/office/drawing/2014/main" id="{A0D02AAA-F692-7B8B-555F-2F0745269B2C}"/>
                  </a:ext>
                </a:extLst>
              </p:cNvPr>
              <p:cNvSpPr/>
              <p:nvPr/>
            </p:nvSpPr>
            <p:spPr>
              <a:xfrm>
                <a:off x="5441614" y="5208865"/>
                <a:ext cx="989359"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Database server</a:t>
                </a:r>
              </a:p>
            </p:txBody>
          </p:sp>
          <p:grpSp>
            <p:nvGrpSpPr>
              <p:cNvPr id="7" name="Group 6">
                <a:extLst>
                  <a:ext uri="{FF2B5EF4-FFF2-40B4-BE49-F238E27FC236}">
                    <a16:creationId xmlns:a16="http://schemas.microsoft.com/office/drawing/2014/main" id="{63AA14A7-806E-A3BC-BF00-FDEABDC16CE7}"/>
                  </a:ext>
                </a:extLst>
              </p:cNvPr>
              <p:cNvGrpSpPr/>
              <p:nvPr/>
            </p:nvGrpSpPr>
            <p:grpSpPr>
              <a:xfrm>
                <a:off x="6524810" y="5385762"/>
                <a:ext cx="622251" cy="510463"/>
                <a:chOff x="6121030" y="4300725"/>
                <a:chExt cx="729757" cy="621027"/>
              </a:xfrm>
            </p:grpSpPr>
            <p:sp>
              <p:nvSpPr>
                <p:cNvPr id="18" name="TextBox 17">
                  <a:extLst>
                    <a:ext uri="{FF2B5EF4-FFF2-40B4-BE49-F238E27FC236}">
                      <a16:creationId xmlns:a16="http://schemas.microsoft.com/office/drawing/2014/main" id="{185232B2-395F-7592-A10F-8C5F0FAC7DA6}"/>
                    </a:ext>
                  </a:extLst>
                </p:cNvPr>
                <p:cNvSpPr txBox="1"/>
                <p:nvPr/>
              </p:nvSpPr>
              <p:spPr>
                <a:xfrm>
                  <a:off x="6121030" y="4675531"/>
                  <a:ext cx="729757"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err="1">
                      <a:ln>
                        <a:noFill/>
                      </a:ln>
                      <a:solidFill>
                        <a:srgbClr val="3A3F50"/>
                      </a:solidFill>
                      <a:effectLst/>
                      <a:uLnTx/>
                      <a:uFillTx/>
                      <a:latin typeface="Arial"/>
                      <a:ea typeface="+mn-ea"/>
                      <a:cs typeface="+mn-cs"/>
                    </a:rPr>
                    <a:t>MySql</a:t>
                  </a:r>
                  <a:endParaRPr kumimoji="0" lang="en-GB" sz="1000" b="0" i="0" u="none" strike="noStrike" kern="1200" cap="none" spc="0" normalizeH="0" baseline="0" noProof="0" dirty="0">
                    <a:ln>
                      <a:noFill/>
                    </a:ln>
                    <a:solidFill>
                      <a:srgbClr val="3A3F50"/>
                    </a:solidFill>
                    <a:effectLst/>
                    <a:uLnTx/>
                    <a:uFillTx/>
                    <a:latin typeface="Arial"/>
                    <a:ea typeface="+mn-ea"/>
                    <a:cs typeface="+mn-cs"/>
                  </a:endParaRPr>
                </a:p>
              </p:txBody>
            </p:sp>
            <p:pic>
              <p:nvPicPr>
                <p:cNvPr id="19" name="Graphic 18" descr="Database with solid fill">
                  <a:extLst>
                    <a:ext uri="{FF2B5EF4-FFF2-40B4-BE49-F238E27FC236}">
                      <a16:creationId xmlns:a16="http://schemas.microsoft.com/office/drawing/2014/main" id="{34210E7A-279C-6840-D03C-9FBE6BD9AD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48004" y="4300725"/>
                  <a:ext cx="475811" cy="475811"/>
                </a:xfrm>
                <a:prstGeom prst="rect">
                  <a:avLst/>
                </a:prstGeom>
              </p:spPr>
            </p:pic>
          </p:grpSp>
          <p:cxnSp>
            <p:nvCxnSpPr>
              <p:cNvPr id="8" name="Straight Arrow Connector 7">
                <a:extLst>
                  <a:ext uri="{FF2B5EF4-FFF2-40B4-BE49-F238E27FC236}">
                    <a16:creationId xmlns:a16="http://schemas.microsoft.com/office/drawing/2014/main" id="{4C15FDA0-B7F4-4963-B4D3-877F6451557F}"/>
                  </a:ext>
                </a:extLst>
              </p:cNvPr>
              <p:cNvCxnSpPr>
                <a:cxnSpLocks/>
              </p:cNvCxnSpPr>
              <p:nvPr/>
            </p:nvCxnSpPr>
            <p:spPr>
              <a:xfrm flipV="1">
                <a:off x="6457181" y="5581313"/>
                <a:ext cx="202105" cy="408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3A0F0C2-1620-4105-625D-CDD7A9392461}"/>
                  </a:ext>
                </a:extLst>
              </p:cNvPr>
              <p:cNvCxnSpPr>
                <a:stCxn id="10" idx="2"/>
                <a:endCxn id="6" idx="0"/>
              </p:cNvCxnSpPr>
              <p:nvPr/>
            </p:nvCxnSpPr>
            <p:spPr>
              <a:xfrm>
                <a:off x="5936293" y="4893462"/>
                <a:ext cx="1" cy="315403"/>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E17F2E1-1CB3-DD7B-A874-598D5D565A05}"/>
                  </a:ext>
                </a:extLst>
              </p:cNvPr>
              <p:cNvSpPr/>
              <p:nvPr/>
            </p:nvSpPr>
            <p:spPr>
              <a:xfrm>
                <a:off x="5441614" y="4140405"/>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Node app server (API)</a:t>
                </a:r>
              </a:p>
            </p:txBody>
          </p:sp>
          <p:grpSp>
            <p:nvGrpSpPr>
              <p:cNvPr id="37" name="Group 36">
                <a:extLst>
                  <a:ext uri="{FF2B5EF4-FFF2-40B4-BE49-F238E27FC236}">
                    <a16:creationId xmlns:a16="http://schemas.microsoft.com/office/drawing/2014/main" id="{940DF563-32E5-0FF5-A90D-BB9E32390B96}"/>
                  </a:ext>
                </a:extLst>
              </p:cNvPr>
              <p:cNvGrpSpPr/>
              <p:nvPr/>
            </p:nvGrpSpPr>
            <p:grpSpPr>
              <a:xfrm>
                <a:off x="5488459" y="2675095"/>
                <a:ext cx="895668" cy="483225"/>
                <a:chOff x="5491124" y="3220043"/>
                <a:chExt cx="895668" cy="483225"/>
              </a:xfrm>
            </p:grpSpPr>
            <p:pic>
              <p:nvPicPr>
                <p:cNvPr id="11" name="Picture 10" descr="A white cloud with blue border&#10;&#10;Description automatically generated">
                  <a:extLst>
                    <a:ext uri="{FF2B5EF4-FFF2-40B4-BE49-F238E27FC236}">
                      <a16:creationId xmlns:a16="http://schemas.microsoft.com/office/drawing/2014/main" id="{A2F2D717-30E8-9E6E-4BE6-14851157B2EE}"/>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495978" y="3220043"/>
                  <a:ext cx="890814" cy="480737"/>
                </a:xfrm>
                <a:prstGeom prst="rect">
                  <a:avLst/>
                </a:prstGeom>
              </p:spPr>
            </p:pic>
            <p:pic>
              <p:nvPicPr>
                <p:cNvPr id="12" name="Picture 11" descr="A white cloud with blue border&#10;&#10;Description automatically generated">
                  <a:extLst>
                    <a:ext uri="{FF2B5EF4-FFF2-40B4-BE49-F238E27FC236}">
                      <a16:creationId xmlns:a16="http://schemas.microsoft.com/office/drawing/2014/main" id="{6CEC9324-0CD9-100F-FCBB-106059CF8ECF}"/>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491124" y="3222531"/>
                  <a:ext cx="890814" cy="480737"/>
                </a:xfrm>
                <a:prstGeom prst="rect">
                  <a:avLst/>
                </a:prstGeom>
              </p:spPr>
            </p:pic>
          </p:grpSp>
          <p:pic>
            <p:nvPicPr>
              <p:cNvPr id="14" name="Picture 13" descr="A computer with a blue screen&#10;&#10;Description automatically generated">
                <a:extLst>
                  <a:ext uri="{FF2B5EF4-FFF2-40B4-BE49-F238E27FC236}">
                    <a16:creationId xmlns:a16="http://schemas.microsoft.com/office/drawing/2014/main" id="{C0AA7C80-4106-D7E1-D829-1E529348D3C7}"/>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flipH="1">
                <a:off x="1670255" y="2739131"/>
                <a:ext cx="989818" cy="833401"/>
              </a:xfrm>
              <a:prstGeom prst="rect">
                <a:avLst/>
              </a:prstGeom>
            </p:spPr>
          </p:pic>
          <p:cxnSp>
            <p:nvCxnSpPr>
              <p:cNvPr id="15" name="Straight Arrow Connector 14">
                <a:extLst>
                  <a:ext uri="{FF2B5EF4-FFF2-40B4-BE49-F238E27FC236}">
                    <a16:creationId xmlns:a16="http://schemas.microsoft.com/office/drawing/2014/main" id="{6B47F0C6-EC4F-5142-21B3-9DC704FD7DCA}"/>
                  </a:ext>
                </a:extLst>
              </p:cNvPr>
              <p:cNvCxnSpPr>
                <a:cxnSpLocks/>
              </p:cNvCxnSpPr>
              <p:nvPr/>
            </p:nvCxnSpPr>
            <p:spPr>
              <a:xfrm flipH="1">
                <a:off x="2671599" y="2994792"/>
                <a:ext cx="2793808" cy="1918"/>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CC29079-F969-BE5B-6AD9-20652F7CCF85}"/>
                  </a:ext>
                </a:extLst>
              </p:cNvPr>
              <p:cNvSpPr/>
              <p:nvPr/>
            </p:nvSpPr>
            <p:spPr>
              <a:xfrm>
                <a:off x="5333348" y="3873100"/>
                <a:ext cx="1813713" cy="2474118"/>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7" name="TextBox 16">
                <a:extLst>
                  <a:ext uri="{FF2B5EF4-FFF2-40B4-BE49-F238E27FC236}">
                    <a16:creationId xmlns:a16="http://schemas.microsoft.com/office/drawing/2014/main" id="{46479FA7-BC41-CB3A-FC53-5DEAE48D8BB0}"/>
                  </a:ext>
                </a:extLst>
              </p:cNvPr>
              <p:cNvSpPr txBox="1"/>
              <p:nvPr/>
            </p:nvSpPr>
            <p:spPr>
              <a:xfrm>
                <a:off x="5658151" y="6072137"/>
                <a:ext cx="116410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20.234.12.254</a:t>
                </a:r>
              </a:p>
            </p:txBody>
          </p:sp>
          <p:grpSp>
            <p:nvGrpSpPr>
              <p:cNvPr id="24" name="Group 23">
                <a:extLst>
                  <a:ext uri="{FF2B5EF4-FFF2-40B4-BE49-F238E27FC236}">
                    <a16:creationId xmlns:a16="http://schemas.microsoft.com/office/drawing/2014/main" id="{0939F754-0EE5-0A42-6A0F-35C47618E9C1}"/>
                  </a:ext>
                </a:extLst>
              </p:cNvPr>
              <p:cNvGrpSpPr/>
              <p:nvPr/>
            </p:nvGrpSpPr>
            <p:grpSpPr>
              <a:xfrm>
                <a:off x="7437866" y="3700780"/>
                <a:ext cx="1225805" cy="1737028"/>
                <a:chOff x="7525833" y="3703268"/>
                <a:chExt cx="1225805" cy="1737028"/>
              </a:xfrm>
            </p:grpSpPr>
            <p:sp>
              <p:nvSpPr>
                <p:cNvPr id="20" name="Rectangle 19">
                  <a:extLst>
                    <a:ext uri="{FF2B5EF4-FFF2-40B4-BE49-F238E27FC236}">
                      <a16:creationId xmlns:a16="http://schemas.microsoft.com/office/drawing/2014/main" id="{7A6FFB79-3676-933E-B797-149067ACC9B4}"/>
                    </a:ext>
                  </a:extLst>
                </p:cNvPr>
                <p:cNvSpPr/>
                <p:nvPr/>
              </p:nvSpPr>
              <p:spPr>
                <a:xfrm>
                  <a:off x="7634099" y="4140405"/>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Apache HTTP server</a:t>
                  </a:r>
                </a:p>
              </p:txBody>
            </p:sp>
            <p:sp>
              <p:nvSpPr>
                <p:cNvPr id="22" name="Rectangle 21">
                  <a:extLst>
                    <a:ext uri="{FF2B5EF4-FFF2-40B4-BE49-F238E27FC236}">
                      <a16:creationId xmlns:a16="http://schemas.microsoft.com/office/drawing/2014/main" id="{B99B7F47-06A6-FE9D-AD13-0951E9DECF63}"/>
                    </a:ext>
                  </a:extLst>
                </p:cNvPr>
                <p:cNvSpPr/>
                <p:nvPr/>
              </p:nvSpPr>
              <p:spPr>
                <a:xfrm>
                  <a:off x="7525833" y="3873100"/>
                  <a:ext cx="1225805" cy="156719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3" name="TextBox 22">
                  <a:extLst>
                    <a:ext uri="{FF2B5EF4-FFF2-40B4-BE49-F238E27FC236}">
                      <a16:creationId xmlns:a16="http://schemas.microsoft.com/office/drawing/2014/main" id="{A566516D-294E-12B0-3ABA-D1DC0B050A9B}"/>
                    </a:ext>
                  </a:extLst>
                </p:cNvPr>
                <p:cNvSpPr txBox="1"/>
                <p:nvPr/>
              </p:nvSpPr>
              <p:spPr>
                <a:xfrm>
                  <a:off x="7589207" y="5050219"/>
                  <a:ext cx="107914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230.144.12.4</a:t>
                  </a:r>
                </a:p>
              </p:txBody>
            </p:sp>
            <p:cxnSp>
              <p:nvCxnSpPr>
                <p:cNvPr id="21" name="Straight Arrow Connector 20">
                  <a:extLst>
                    <a:ext uri="{FF2B5EF4-FFF2-40B4-BE49-F238E27FC236}">
                      <a16:creationId xmlns:a16="http://schemas.microsoft.com/office/drawing/2014/main" id="{ED545F69-A627-502A-4055-A6CC34BE57DD}"/>
                    </a:ext>
                  </a:extLst>
                </p:cNvPr>
                <p:cNvCxnSpPr>
                  <a:cxnSpLocks/>
                  <a:endCxn id="20" idx="0"/>
                </p:cNvCxnSpPr>
                <p:nvPr/>
              </p:nvCxnSpPr>
              <p:spPr>
                <a:xfrm flipH="1">
                  <a:off x="8128778" y="3703268"/>
                  <a:ext cx="238" cy="437137"/>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D1CB52AC-0366-4B94-DF28-0F851F8C4BC7}"/>
                  </a:ext>
                </a:extLst>
              </p:cNvPr>
              <p:cNvGrpSpPr/>
              <p:nvPr/>
            </p:nvGrpSpPr>
            <p:grpSpPr>
              <a:xfrm>
                <a:off x="3783042" y="3700780"/>
                <a:ext cx="1225805" cy="1737028"/>
                <a:chOff x="7525833" y="3703268"/>
                <a:chExt cx="1225805" cy="1737028"/>
              </a:xfrm>
            </p:grpSpPr>
            <p:sp>
              <p:nvSpPr>
                <p:cNvPr id="26" name="Rectangle 25">
                  <a:extLst>
                    <a:ext uri="{FF2B5EF4-FFF2-40B4-BE49-F238E27FC236}">
                      <a16:creationId xmlns:a16="http://schemas.microsoft.com/office/drawing/2014/main" id="{121BA179-2234-64B3-98A0-D0628E7AA260}"/>
                    </a:ext>
                  </a:extLst>
                </p:cNvPr>
                <p:cNvSpPr/>
                <p:nvPr/>
              </p:nvSpPr>
              <p:spPr>
                <a:xfrm>
                  <a:off x="7634099" y="4140405"/>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Nginx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web server</a:t>
                  </a:r>
                </a:p>
              </p:txBody>
            </p:sp>
            <p:sp>
              <p:nvSpPr>
                <p:cNvPr id="28" name="Rectangle 27">
                  <a:extLst>
                    <a:ext uri="{FF2B5EF4-FFF2-40B4-BE49-F238E27FC236}">
                      <a16:creationId xmlns:a16="http://schemas.microsoft.com/office/drawing/2014/main" id="{84844911-3053-E5D2-CC10-14A16183B63A}"/>
                    </a:ext>
                  </a:extLst>
                </p:cNvPr>
                <p:cNvSpPr/>
                <p:nvPr/>
              </p:nvSpPr>
              <p:spPr>
                <a:xfrm>
                  <a:off x="7525833" y="3873100"/>
                  <a:ext cx="1225805" cy="156719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46EFA4A8-5250-A9C4-7119-FF71033CC1CA}"/>
                    </a:ext>
                  </a:extLst>
                </p:cNvPr>
                <p:cNvSpPr txBox="1"/>
                <p:nvPr/>
              </p:nvSpPr>
              <p:spPr>
                <a:xfrm>
                  <a:off x="7589207" y="5050219"/>
                  <a:ext cx="107914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30.14.120.42</a:t>
                  </a:r>
                </a:p>
              </p:txBody>
            </p:sp>
            <p:cxnSp>
              <p:nvCxnSpPr>
                <p:cNvPr id="27" name="Straight Arrow Connector 26">
                  <a:extLst>
                    <a:ext uri="{FF2B5EF4-FFF2-40B4-BE49-F238E27FC236}">
                      <a16:creationId xmlns:a16="http://schemas.microsoft.com/office/drawing/2014/main" id="{96987D36-DDF6-391D-512D-BB06F3646C07}"/>
                    </a:ext>
                  </a:extLst>
                </p:cNvPr>
                <p:cNvCxnSpPr>
                  <a:cxnSpLocks/>
                  <a:endCxn id="26" idx="0"/>
                </p:cNvCxnSpPr>
                <p:nvPr/>
              </p:nvCxnSpPr>
              <p:spPr>
                <a:xfrm flipH="1">
                  <a:off x="8128778" y="3703268"/>
                  <a:ext cx="238" cy="437137"/>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32" name="Picture 31" descr="A white cloud with blue border&#10;&#10;Description automatically generated">
                <a:extLst>
                  <a:ext uri="{FF2B5EF4-FFF2-40B4-BE49-F238E27FC236}">
                    <a16:creationId xmlns:a16="http://schemas.microsoft.com/office/drawing/2014/main" id="{0AE49DE7-973D-54E6-8896-5F51986CA785}"/>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938662" y="3215888"/>
                <a:ext cx="890814" cy="480737"/>
              </a:xfrm>
              <a:prstGeom prst="rect">
                <a:avLst/>
              </a:prstGeom>
            </p:spPr>
          </p:pic>
          <p:pic>
            <p:nvPicPr>
              <p:cNvPr id="33" name="Picture 32" descr="A white cloud with blue border&#10;&#10;Description automatically generated">
                <a:extLst>
                  <a:ext uri="{FF2B5EF4-FFF2-40B4-BE49-F238E27FC236}">
                    <a16:creationId xmlns:a16="http://schemas.microsoft.com/office/drawing/2014/main" id="{F7323939-6CB1-302A-C5B7-9EC4016D07D8}"/>
                  </a:ext>
                </a:extLst>
              </p:cNvPr>
              <p:cNvPicPr>
                <a:picLocks noChangeAspect="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546132" y="3215887"/>
                <a:ext cx="890814" cy="480737"/>
              </a:xfrm>
              <a:prstGeom prst="rect">
                <a:avLst/>
              </a:prstGeom>
            </p:spPr>
          </p:pic>
          <p:cxnSp>
            <p:nvCxnSpPr>
              <p:cNvPr id="39" name="Straight Arrow Connector 38">
                <a:extLst>
                  <a:ext uri="{FF2B5EF4-FFF2-40B4-BE49-F238E27FC236}">
                    <a16:creationId xmlns:a16="http://schemas.microsoft.com/office/drawing/2014/main" id="{F42078DC-B1F8-765F-551A-DA7183B28A13}"/>
                  </a:ext>
                </a:extLst>
              </p:cNvPr>
              <p:cNvCxnSpPr>
                <a:cxnSpLocks/>
                <a:stCxn id="32" idx="1"/>
              </p:cNvCxnSpPr>
              <p:nvPr/>
            </p:nvCxnSpPr>
            <p:spPr>
              <a:xfrm flipH="1" flipV="1">
                <a:off x="2542585" y="3367102"/>
                <a:ext cx="1396077" cy="89155"/>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2" name="Picture 41" descr="A computer with a blue screen&#10;&#10;Description automatically generated">
                <a:extLst>
                  <a:ext uri="{FF2B5EF4-FFF2-40B4-BE49-F238E27FC236}">
                    <a16:creationId xmlns:a16="http://schemas.microsoft.com/office/drawing/2014/main" id="{FC678045-0B5C-3B64-18D6-A7AD2A8ED58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796396" y="2558668"/>
                <a:ext cx="989818" cy="833401"/>
              </a:xfrm>
              <a:prstGeom prst="rect">
                <a:avLst/>
              </a:prstGeom>
            </p:spPr>
          </p:pic>
          <p:cxnSp>
            <p:nvCxnSpPr>
              <p:cNvPr id="43" name="Straight Arrow Connector 42">
                <a:extLst>
                  <a:ext uri="{FF2B5EF4-FFF2-40B4-BE49-F238E27FC236}">
                    <a16:creationId xmlns:a16="http://schemas.microsoft.com/office/drawing/2014/main" id="{ACF1F03A-0D8E-B3CF-7E4C-427E058019F4}"/>
                  </a:ext>
                </a:extLst>
              </p:cNvPr>
              <p:cNvCxnSpPr>
                <a:cxnSpLocks/>
              </p:cNvCxnSpPr>
              <p:nvPr/>
            </p:nvCxnSpPr>
            <p:spPr>
              <a:xfrm flipH="1">
                <a:off x="6388981" y="2953883"/>
                <a:ext cx="3407415" cy="26968"/>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6C4E272-4992-0FB0-D773-D98C1C615B26}"/>
                  </a:ext>
                </a:extLst>
              </p:cNvPr>
              <p:cNvCxnSpPr>
                <a:cxnSpLocks/>
                <a:stCxn id="33" idx="3"/>
              </p:cNvCxnSpPr>
              <p:nvPr/>
            </p:nvCxnSpPr>
            <p:spPr>
              <a:xfrm flipV="1">
                <a:off x="8436946" y="3203670"/>
                <a:ext cx="1521562" cy="252586"/>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925334F-8C44-C030-3A4E-4AFEF1256789}"/>
                  </a:ext>
                </a:extLst>
              </p:cNvPr>
              <p:cNvSpPr txBox="1"/>
              <p:nvPr/>
            </p:nvSpPr>
            <p:spPr>
              <a:xfrm rot="239080">
                <a:off x="2480064" y="3169994"/>
                <a:ext cx="1588897"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http://30.14.120.42</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/index.html</a:t>
                </a:r>
              </a:p>
            </p:txBody>
          </p:sp>
          <p:sp>
            <p:nvSpPr>
              <p:cNvPr id="54" name="TextBox 53">
                <a:extLst>
                  <a:ext uri="{FF2B5EF4-FFF2-40B4-BE49-F238E27FC236}">
                    <a16:creationId xmlns:a16="http://schemas.microsoft.com/office/drawing/2014/main" id="{D19280FE-B4D6-FAF9-E139-697D4F625E07}"/>
                  </a:ext>
                </a:extLst>
              </p:cNvPr>
              <p:cNvSpPr txBox="1"/>
              <p:nvPr/>
            </p:nvSpPr>
            <p:spPr>
              <a:xfrm rot="21032909">
                <a:off x="8317738" y="3080560"/>
                <a:ext cx="1588897"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http://230.144.12.4</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/index.html</a:t>
                </a:r>
              </a:p>
            </p:txBody>
          </p:sp>
          <p:sp>
            <p:nvSpPr>
              <p:cNvPr id="60" name="TextBox 59">
                <a:extLst>
                  <a:ext uri="{FF2B5EF4-FFF2-40B4-BE49-F238E27FC236}">
                    <a16:creationId xmlns:a16="http://schemas.microsoft.com/office/drawing/2014/main" id="{AE354645-2088-52EC-460D-7A4091EE88EA}"/>
                  </a:ext>
                </a:extLst>
              </p:cNvPr>
              <p:cNvSpPr txBox="1"/>
              <p:nvPr/>
            </p:nvSpPr>
            <p:spPr>
              <a:xfrm>
                <a:off x="2945685" y="2770688"/>
                <a:ext cx="189224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http://20.234.12.254:3000</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/jokes/dad</a:t>
                </a:r>
              </a:p>
            </p:txBody>
          </p:sp>
          <p:sp>
            <p:nvSpPr>
              <p:cNvPr id="63" name="TextBox 62">
                <a:extLst>
                  <a:ext uri="{FF2B5EF4-FFF2-40B4-BE49-F238E27FC236}">
                    <a16:creationId xmlns:a16="http://schemas.microsoft.com/office/drawing/2014/main" id="{6EC6FAB8-379D-02E9-F3E2-0DC12EF886D5}"/>
                  </a:ext>
                </a:extLst>
              </p:cNvPr>
              <p:cNvSpPr txBox="1"/>
              <p:nvPr/>
            </p:nvSpPr>
            <p:spPr>
              <a:xfrm>
                <a:off x="6720195" y="2729773"/>
                <a:ext cx="280020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http://20.234.12.254:3000</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/jokes/programming?count=20</a:t>
                </a:r>
              </a:p>
            </p:txBody>
          </p:sp>
          <p:sp>
            <p:nvSpPr>
              <p:cNvPr id="70" name="TextBox 69">
                <a:extLst>
                  <a:ext uri="{FF2B5EF4-FFF2-40B4-BE49-F238E27FC236}">
                    <a16:creationId xmlns:a16="http://schemas.microsoft.com/office/drawing/2014/main" id="{49BF65DE-4AA3-78A1-56A9-FFAB4C503166}"/>
                  </a:ext>
                </a:extLst>
              </p:cNvPr>
              <p:cNvSpPr txBox="1"/>
              <p:nvPr/>
            </p:nvSpPr>
            <p:spPr>
              <a:xfrm>
                <a:off x="7359955" y="5518033"/>
                <a:ext cx="1465466"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Christmas cracker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print app</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AWS</a:t>
                </a:r>
              </a:p>
            </p:txBody>
          </p:sp>
          <p:sp>
            <p:nvSpPr>
              <p:cNvPr id="71" name="TextBox 70">
                <a:extLst>
                  <a:ext uri="{FF2B5EF4-FFF2-40B4-BE49-F238E27FC236}">
                    <a16:creationId xmlns:a16="http://schemas.microsoft.com/office/drawing/2014/main" id="{D4BC74D5-1A7A-8D98-E6E1-4F04F5390DB9}"/>
                  </a:ext>
                </a:extLst>
              </p:cNvPr>
              <p:cNvSpPr txBox="1"/>
              <p:nvPr/>
            </p:nvSpPr>
            <p:spPr>
              <a:xfrm>
                <a:off x="3710990" y="5518033"/>
                <a:ext cx="1454244"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Company app with</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Joke of the day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Google cloud</a:t>
                </a:r>
              </a:p>
            </p:txBody>
          </p:sp>
          <p:cxnSp>
            <p:nvCxnSpPr>
              <p:cNvPr id="13" name="Straight Arrow Connector 12">
                <a:extLst>
                  <a:ext uri="{FF2B5EF4-FFF2-40B4-BE49-F238E27FC236}">
                    <a16:creationId xmlns:a16="http://schemas.microsoft.com/office/drawing/2014/main" id="{04D9A158-5EBB-5254-D712-1C696817E15C}"/>
                  </a:ext>
                </a:extLst>
              </p:cNvPr>
              <p:cNvCxnSpPr>
                <a:cxnSpLocks/>
                <a:stCxn id="12" idx="2"/>
                <a:endCxn id="10" idx="0"/>
              </p:cNvCxnSpPr>
              <p:nvPr/>
            </p:nvCxnSpPr>
            <p:spPr>
              <a:xfrm>
                <a:off x="5933866" y="3158320"/>
                <a:ext cx="2427" cy="982085"/>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1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5509-8A30-687B-1E60-0A73AD609A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AD98095-246C-8CF8-EAA8-EDC09444D06B}"/>
              </a:ext>
            </a:extLst>
          </p:cNvPr>
          <p:cNvSpPr>
            <a:spLocks noGrp="1"/>
          </p:cNvSpPr>
          <p:nvPr>
            <p:ph type="body" idx="1"/>
          </p:nvPr>
        </p:nvSpPr>
        <p:spPr>
          <a:xfrm>
            <a:off x="581802" y="757765"/>
            <a:ext cx="11163300" cy="1795529"/>
          </a:xfrm>
        </p:spPr>
        <p:txBody>
          <a:bodyPr/>
          <a:lstStyle/>
          <a:p>
            <a:pPr marL="152396" indent="0">
              <a:buNone/>
            </a:pPr>
            <a:r>
              <a:rPr lang="en-GB" sz="1600" b="1" noProof="0" dirty="0"/>
              <a:t>Cross origin</a:t>
            </a:r>
          </a:p>
          <a:p>
            <a:r>
              <a:rPr lang="en-GB" sz="1600" noProof="0" dirty="0"/>
              <a:t>A better approach is for the communication to go from server to server</a:t>
            </a:r>
          </a:p>
          <a:p>
            <a:r>
              <a:rPr lang="en-GB" sz="1600" noProof="0" dirty="0"/>
              <a:t>Use https and send a pre-agreed bearer token such as an API key in a JWT or </a:t>
            </a:r>
            <a:r>
              <a:rPr lang="en-GB" sz="1600" noProof="0" dirty="0" err="1"/>
              <a:t>Oauth</a:t>
            </a:r>
            <a:r>
              <a:rPr lang="en-GB" sz="1600" noProof="0" dirty="0"/>
              <a:t> token for authorisation</a:t>
            </a:r>
          </a:p>
          <a:p>
            <a:r>
              <a:rPr lang="en-GB" sz="1600" noProof="0" dirty="0"/>
              <a:t>As the browser is not involved, there is no CORS issue or risk</a:t>
            </a:r>
            <a:endParaRPr lang="en-GB" noProof="0" dirty="0"/>
          </a:p>
          <a:p>
            <a:endParaRPr lang="en-GB" noProof="0" dirty="0"/>
          </a:p>
          <a:p>
            <a:endParaRPr lang="en-GB" noProof="0" dirty="0"/>
          </a:p>
        </p:txBody>
      </p:sp>
      <p:sp>
        <p:nvSpPr>
          <p:cNvPr id="4" name="Slide Number Placeholder 3">
            <a:extLst>
              <a:ext uri="{FF2B5EF4-FFF2-40B4-BE49-F238E27FC236}">
                <a16:creationId xmlns:a16="http://schemas.microsoft.com/office/drawing/2014/main" id="{DDB6E88B-C155-F975-552D-DF1C0C47EB06}"/>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69" name="TextBox 68">
            <a:extLst>
              <a:ext uri="{FF2B5EF4-FFF2-40B4-BE49-F238E27FC236}">
                <a16:creationId xmlns:a16="http://schemas.microsoft.com/office/drawing/2014/main" id="{33046CD7-DE2C-5E96-1D49-9431CB6ED700}"/>
              </a:ext>
            </a:extLst>
          </p:cNvPr>
          <p:cNvSpPr txBox="1"/>
          <p:nvPr/>
        </p:nvSpPr>
        <p:spPr>
          <a:xfrm>
            <a:off x="5524259" y="6510608"/>
            <a:ext cx="1413721"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Joke server Azure</a:t>
            </a:r>
          </a:p>
        </p:txBody>
      </p:sp>
      <p:sp>
        <p:nvSpPr>
          <p:cNvPr id="6" name="Rectangle 5">
            <a:extLst>
              <a:ext uri="{FF2B5EF4-FFF2-40B4-BE49-F238E27FC236}">
                <a16:creationId xmlns:a16="http://schemas.microsoft.com/office/drawing/2014/main" id="{AC8FD73B-C082-EAA4-D160-C1D6CB6CB29C}"/>
              </a:ext>
            </a:extLst>
          </p:cNvPr>
          <p:cNvSpPr/>
          <p:nvPr/>
        </p:nvSpPr>
        <p:spPr>
          <a:xfrm>
            <a:off x="5441614" y="5347177"/>
            <a:ext cx="989359"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Database server</a:t>
            </a:r>
          </a:p>
        </p:txBody>
      </p:sp>
      <p:grpSp>
        <p:nvGrpSpPr>
          <p:cNvPr id="7" name="Group 6">
            <a:extLst>
              <a:ext uri="{FF2B5EF4-FFF2-40B4-BE49-F238E27FC236}">
                <a16:creationId xmlns:a16="http://schemas.microsoft.com/office/drawing/2014/main" id="{4A8355CE-C9A1-A9B4-74AE-44C78A0D56E4}"/>
              </a:ext>
            </a:extLst>
          </p:cNvPr>
          <p:cNvGrpSpPr/>
          <p:nvPr/>
        </p:nvGrpSpPr>
        <p:grpSpPr>
          <a:xfrm>
            <a:off x="6524810" y="5524074"/>
            <a:ext cx="622251" cy="510463"/>
            <a:chOff x="6121030" y="4300725"/>
            <a:chExt cx="729757" cy="621027"/>
          </a:xfrm>
        </p:grpSpPr>
        <p:sp>
          <p:nvSpPr>
            <p:cNvPr id="18" name="TextBox 17">
              <a:extLst>
                <a:ext uri="{FF2B5EF4-FFF2-40B4-BE49-F238E27FC236}">
                  <a16:creationId xmlns:a16="http://schemas.microsoft.com/office/drawing/2014/main" id="{9D127726-F0B8-DAFC-5805-A4AD2CB696D9}"/>
                </a:ext>
              </a:extLst>
            </p:cNvPr>
            <p:cNvSpPr txBox="1"/>
            <p:nvPr/>
          </p:nvSpPr>
          <p:spPr>
            <a:xfrm>
              <a:off x="6121030" y="4675531"/>
              <a:ext cx="729757"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err="1">
                  <a:ln>
                    <a:noFill/>
                  </a:ln>
                  <a:solidFill>
                    <a:srgbClr val="3A3F50"/>
                  </a:solidFill>
                  <a:effectLst/>
                  <a:uLnTx/>
                  <a:uFillTx/>
                  <a:latin typeface="Arial"/>
                  <a:ea typeface="+mn-ea"/>
                  <a:cs typeface="+mn-cs"/>
                </a:rPr>
                <a:t>MySql</a:t>
              </a:r>
              <a:endParaRPr kumimoji="0" lang="en-GB" sz="1000" b="0" i="0" u="none" strike="noStrike" kern="1200" cap="none" spc="0" normalizeH="0" baseline="0" noProof="0" dirty="0">
                <a:ln>
                  <a:noFill/>
                </a:ln>
                <a:solidFill>
                  <a:srgbClr val="3A3F50"/>
                </a:solidFill>
                <a:effectLst/>
                <a:uLnTx/>
                <a:uFillTx/>
                <a:latin typeface="Arial"/>
                <a:ea typeface="+mn-ea"/>
                <a:cs typeface="+mn-cs"/>
              </a:endParaRPr>
            </a:p>
          </p:txBody>
        </p:sp>
        <p:pic>
          <p:nvPicPr>
            <p:cNvPr id="19" name="Graphic 18" descr="Database with solid fill">
              <a:extLst>
                <a:ext uri="{FF2B5EF4-FFF2-40B4-BE49-F238E27FC236}">
                  <a16:creationId xmlns:a16="http://schemas.microsoft.com/office/drawing/2014/main" id="{3F0712D7-8C34-7248-4DE5-295634BD9D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8004" y="4300725"/>
              <a:ext cx="475811" cy="475811"/>
            </a:xfrm>
            <a:prstGeom prst="rect">
              <a:avLst/>
            </a:prstGeom>
          </p:spPr>
        </p:pic>
      </p:grpSp>
      <p:cxnSp>
        <p:nvCxnSpPr>
          <p:cNvPr id="8" name="Straight Arrow Connector 7">
            <a:extLst>
              <a:ext uri="{FF2B5EF4-FFF2-40B4-BE49-F238E27FC236}">
                <a16:creationId xmlns:a16="http://schemas.microsoft.com/office/drawing/2014/main" id="{17F8B45A-B510-C4E9-932D-208FD6C8FF74}"/>
              </a:ext>
            </a:extLst>
          </p:cNvPr>
          <p:cNvCxnSpPr>
            <a:cxnSpLocks/>
          </p:cNvCxnSpPr>
          <p:nvPr/>
        </p:nvCxnSpPr>
        <p:spPr>
          <a:xfrm flipV="1">
            <a:off x="6457181" y="5719625"/>
            <a:ext cx="202105" cy="408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7B2247B-1B2C-CDCD-794C-2380E4C04AA1}"/>
              </a:ext>
            </a:extLst>
          </p:cNvPr>
          <p:cNvCxnSpPr>
            <a:stCxn id="10" idx="2"/>
            <a:endCxn id="6" idx="0"/>
          </p:cNvCxnSpPr>
          <p:nvPr/>
        </p:nvCxnSpPr>
        <p:spPr>
          <a:xfrm>
            <a:off x="5936293" y="5031774"/>
            <a:ext cx="1" cy="315403"/>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435C22D-6B8F-7279-C1E0-0C2CE46A81B4}"/>
              </a:ext>
            </a:extLst>
          </p:cNvPr>
          <p:cNvSpPr/>
          <p:nvPr/>
        </p:nvSpPr>
        <p:spPr>
          <a:xfrm>
            <a:off x="5441614" y="4278717"/>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Node app server (API)</a:t>
            </a:r>
          </a:p>
        </p:txBody>
      </p:sp>
      <p:grpSp>
        <p:nvGrpSpPr>
          <p:cNvPr id="37" name="Group 36">
            <a:extLst>
              <a:ext uri="{FF2B5EF4-FFF2-40B4-BE49-F238E27FC236}">
                <a16:creationId xmlns:a16="http://schemas.microsoft.com/office/drawing/2014/main" id="{94940368-BA0A-E20F-BA20-2C8B84C9AAF2}"/>
              </a:ext>
            </a:extLst>
          </p:cNvPr>
          <p:cNvGrpSpPr/>
          <p:nvPr/>
        </p:nvGrpSpPr>
        <p:grpSpPr>
          <a:xfrm>
            <a:off x="5488459" y="2813407"/>
            <a:ext cx="895668" cy="483225"/>
            <a:chOff x="5491124" y="3220043"/>
            <a:chExt cx="895668" cy="483225"/>
          </a:xfrm>
        </p:grpSpPr>
        <p:pic>
          <p:nvPicPr>
            <p:cNvPr id="11" name="Picture 10" descr="A white cloud with blue border&#10;&#10;Description automatically generated">
              <a:extLst>
                <a:ext uri="{FF2B5EF4-FFF2-40B4-BE49-F238E27FC236}">
                  <a16:creationId xmlns:a16="http://schemas.microsoft.com/office/drawing/2014/main" id="{A940F02D-5365-5218-E5F9-3EF835B40A84}"/>
                </a:ext>
              </a:extLst>
            </p:cNvPr>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495978" y="3220043"/>
              <a:ext cx="890814" cy="480737"/>
            </a:xfrm>
            <a:prstGeom prst="rect">
              <a:avLst/>
            </a:prstGeom>
          </p:spPr>
        </p:pic>
        <p:pic>
          <p:nvPicPr>
            <p:cNvPr id="12" name="Picture 11" descr="A white cloud with blue border&#10;&#10;Description automatically generated">
              <a:extLst>
                <a:ext uri="{FF2B5EF4-FFF2-40B4-BE49-F238E27FC236}">
                  <a16:creationId xmlns:a16="http://schemas.microsoft.com/office/drawing/2014/main" id="{468F67C9-03AD-CCEC-8101-FC66CA4E6E79}"/>
                </a:ext>
              </a:extLst>
            </p:cNvPr>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491124" y="3222531"/>
              <a:ext cx="890814" cy="480737"/>
            </a:xfrm>
            <a:prstGeom prst="rect">
              <a:avLst/>
            </a:prstGeom>
          </p:spPr>
        </p:pic>
      </p:grpSp>
      <p:pic>
        <p:nvPicPr>
          <p:cNvPr id="14" name="Picture 13" descr="A computer with a blue screen&#10;&#10;Description automatically generated">
            <a:extLst>
              <a:ext uri="{FF2B5EF4-FFF2-40B4-BE49-F238E27FC236}">
                <a16:creationId xmlns:a16="http://schemas.microsoft.com/office/drawing/2014/main" id="{19745DA4-A419-2007-73E4-5EB4831FFA5A}"/>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flipH="1">
            <a:off x="1670255" y="2877443"/>
            <a:ext cx="989818" cy="833401"/>
          </a:xfrm>
          <a:prstGeom prst="rect">
            <a:avLst/>
          </a:prstGeom>
        </p:spPr>
      </p:pic>
      <p:cxnSp>
        <p:nvCxnSpPr>
          <p:cNvPr id="15" name="Straight Arrow Connector 14">
            <a:extLst>
              <a:ext uri="{FF2B5EF4-FFF2-40B4-BE49-F238E27FC236}">
                <a16:creationId xmlns:a16="http://schemas.microsoft.com/office/drawing/2014/main" id="{BD47E47A-F150-C8D4-DD12-9CC5AA69CAED}"/>
              </a:ext>
            </a:extLst>
          </p:cNvPr>
          <p:cNvCxnSpPr>
            <a:cxnSpLocks/>
            <a:endCxn id="26" idx="3"/>
          </p:cNvCxnSpPr>
          <p:nvPr/>
        </p:nvCxnSpPr>
        <p:spPr>
          <a:xfrm flipH="1">
            <a:off x="3177580" y="3208475"/>
            <a:ext cx="2346679" cy="1825113"/>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DDD585B-116D-A0DE-9800-0336A6A2062F}"/>
              </a:ext>
            </a:extLst>
          </p:cNvPr>
          <p:cNvSpPr/>
          <p:nvPr/>
        </p:nvSpPr>
        <p:spPr>
          <a:xfrm>
            <a:off x="5333348" y="4011412"/>
            <a:ext cx="1813713" cy="2474118"/>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7" name="TextBox 16">
            <a:extLst>
              <a:ext uri="{FF2B5EF4-FFF2-40B4-BE49-F238E27FC236}">
                <a16:creationId xmlns:a16="http://schemas.microsoft.com/office/drawing/2014/main" id="{BC24959F-3F07-19B7-F859-B0ACC71827EF}"/>
              </a:ext>
            </a:extLst>
          </p:cNvPr>
          <p:cNvSpPr txBox="1"/>
          <p:nvPr/>
        </p:nvSpPr>
        <p:spPr>
          <a:xfrm>
            <a:off x="5658151" y="6210449"/>
            <a:ext cx="116410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20.234.12.254</a:t>
            </a:r>
          </a:p>
        </p:txBody>
      </p:sp>
      <p:grpSp>
        <p:nvGrpSpPr>
          <p:cNvPr id="24" name="Group 23">
            <a:extLst>
              <a:ext uri="{FF2B5EF4-FFF2-40B4-BE49-F238E27FC236}">
                <a16:creationId xmlns:a16="http://schemas.microsoft.com/office/drawing/2014/main" id="{2512D4AA-3066-CE5F-9177-767DB884D9FF}"/>
              </a:ext>
            </a:extLst>
          </p:cNvPr>
          <p:cNvGrpSpPr/>
          <p:nvPr/>
        </p:nvGrpSpPr>
        <p:grpSpPr>
          <a:xfrm>
            <a:off x="9917443" y="4178146"/>
            <a:ext cx="1225805" cy="1737028"/>
            <a:chOff x="7525833" y="3703268"/>
            <a:chExt cx="1225805" cy="1737028"/>
          </a:xfrm>
        </p:grpSpPr>
        <p:sp>
          <p:nvSpPr>
            <p:cNvPr id="20" name="Rectangle 19">
              <a:extLst>
                <a:ext uri="{FF2B5EF4-FFF2-40B4-BE49-F238E27FC236}">
                  <a16:creationId xmlns:a16="http://schemas.microsoft.com/office/drawing/2014/main" id="{4DF4BCB1-BDE5-407F-69CA-505B81745C79}"/>
                </a:ext>
              </a:extLst>
            </p:cNvPr>
            <p:cNvSpPr/>
            <p:nvPr/>
          </p:nvSpPr>
          <p:spPr>
            <a:xfrm>
              <a:off x="7634099" y="4140405"/>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Apache HTTP server</a:t>
              </a:r>
            </a:p>
          </p:txBody>
        </p:sp>
        <p:sp>
          <p:nvSpPr>
            <p:cNvPr id="22" name="Rectangle 21">
              <a:extLst>
                <a:ext uri="{FF2B5EF4-FFF2-40B4-BE49-F238E27FC236}">
                  <a16:creationId xmlns:a16="http://schemas.microsoft.com/office/drawing/2014/main" id="{3F4C14A4-C9D1-6F6A-EA5C-5EAEED0F611F}"/>
                </a:ext>
              </a:extLst>
            </p:cNvPr>
            <p:cNvSpPr/>
            <p:nvPr/>
          </p:nvSpPr>
          <p:spPr>
            <a:xfrm>
              <a:off x="7525833" y="3873100"/>
              <a:ext cx="1225805" cy="156719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3" name="TextBox 22">
              <a:extLst>
                <a:ext uri="{FF2B5EF4-FFF2-40B4-BE49-F238E27FC236}">
                  <a16:creationId xmlns:a16="http://schemas.microsoft.com/office/drawing/2014/main" id="{CDF32206-398E-2D7A-070D-9B061A18E8C9}"/>
                </a:ext>
              </a:extLst>
            </p:cNvPr>
            <p:cNvSpPr txBox="1"/>
            <p:nvPr/>
          </p:nvSpPr>
          <p:spPr>
            <a:xfrm>
              <a:off x="7589207" y="5050219"/>
              <a:ext cx="107914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230.144.12.4</a:t>
              </a:r>
            </a:p>
          </p:txBody>
        </p:sp>
        <p:cxnSp>
          <p:nvCxnSpPr>
            <p:cNvPr id="21" name="Straight Arrow Connector 20">
              <a:extLst>
                <a:ext uri="{FF2B5EF4-FFF2-40B4-BE49-F238E27FC236}">
                  <a16:creationId xmlns:a16="http://schemas.microsoft.com/office/drawing/2014/main" id="{8A8A945C-89DC-BC84-33CC-FD24D32499F9}"/>
                </a:ext>
              </a:extLst>
            </p:cNvPr>
            <p:cNvCxnSpPr>
              <a:cxnSpLocks/>
              <a:endCxn id="20" idx="0"/>
            </p:cNvCxnSpPr>
            <p:nvPr/>
          </p:nvCxnSpPr>
          <p:spPr>
            <a:xfrm flipH="1">
              <a:off x="8128778" y="3703268"/>
              <a:ext cx="238" cy="437137"/>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87FD20DE-622B-D6B6-8C00-2A81CAFBC057}"/>
              </a:ext>
            </a:extLst>
          </p:cNvPr>
          <p:cNvGrpSpPr/>
          <p:nvPr/>
        </p:nvGrpSpPr>
        <p:grpSpPr>
          <a:xfrm>
            <a:off x="2079956" y="4219922"/>
            <a:ext cx="1225805" cy="1737028"/>
            <a:chOff x="7525833" y="3703268"/>
            <a:chExt cx="1225805" cy="1737028"/>
          </a:xfrm>
        </p:grpSpPr>
        <p:sp>
          <p:nvSpPr>
            <p:cNvPr id="26" name="Rectangle 25">
              <a:extLst>
                <a:ext uri="{FF2B5EF4-FFF2-40B4-BE49-F238E27FC236}">
                  <a16:creationId xmlns:a16="http://schemas.microsoft.com/office/drawing/2014/main" id="{3A7C6738-BE42-183E-A9DA-43615635330A}"/>
                </a:ext>
              </a:extLst>
            </p:cNvPr>
            <p:cNvSpPr/>
            <p:nvPr/>
          </p:nvSpPr>
          <p:spPr>
            <a:xfrm>
              <a:off x="7634099" y="4140405"/>
              <a:ext cx="989358" cy="753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Nginx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web server</a:t>
              </a:r>
            </a:p>
          </p:txBody>
        </p:sp>
        <p:sp>
          <p:nvSpPr>
            <p:cNvPr id="28" name="Rectangle 27">
              <a:extLst>
                <a:ext uri="{FF2B5EF4-FFF2-40B4-BE49-F238E27FC236}">
                  <a16:creationId xmlns:a16="http://schemas.microsoft.com/office/drawing/2014/main" id="{B0735B4B-B083-97A1-9A26-92F54974B528}"/>
                </a:ext>
              </a:extLst>
            </p:cNvPr>
            <p:cNvSpPr/>
            <p:nvPr/>
          </p:nvSpPr>
          <p:spPr>
            <a:xfrm>
              <a:off x="7525833" y="3873100"/>
              <a:ext cx="1225805" cy="156719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7BF7B437-1F29-AB02-9320-B44B949E2D95}"/>
                </a:ext>
              </a:extLst>
            </p:cNvPr>
            <p:cNvSpPr txBox="1"/>
            <p:nvPr/>
          </p:nvSpPr>
          <p:spPr>
            <a:xfrm>
              <a:off x="7589207" y="5050219"/>
              <a:ext cx="107914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30.14.120.42</a:t>
              </a:r>
            </a:p>
          </p:txBody>
        </p:sp>
        <p:cxnSp>
          <p:nvCxnSpPr>
            <p:cNvPr id="27" name="Straight Arrow Connector 26">
              <a:extLst>
                <a:ext uri="{FF2B5EF4-FFF2-40B4-BE49-F238E27FC236}">
                  <a16:creationId xmlns:a16="http://schemas.microsoft.com/office/drawing/2014/main" id="{B500EE8C-5E4C-D202-9DD3-2298B1CCE528}"/>
                </a:ext>
              </a:extLst>
            </p:cNvPr>
            <p:cNvCxnSpPr>
              <a:cxnSpLocks/>
              <a:endCxn id="26" idx="0"/>
            </p:cNvCxnSpPr>
            <p:nvPr/>
          </p:nvCxnSpPr>
          <p:spPr>
            <a:xfrm flipH="1">
              <a:off x="8128778" y="3703268"/>
              <a:ext cx="238" cy="437137"/>
            </a:xfrm>
            <a:prstGeom prst="straightConnector1">
              <a:avLst/>
            </a:prstGeom>
            <a:ln w="190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32" name="Picture 31" descr="A white cloud with blue border&#10;&#10;Description automatically generated">
            <a:extLst>
              <a:ext uri="{FF2B5EF4-FFF2-40B4-BE49-F238E27FC236}">
                <a16:creationId xmlns:a16="http://schemas.microsoft.com/office/drawing/2014/main" id="{BF63F97D-0947-0EB7-0154-1A2E5AAF5C08}"/>
              </a:ext>
            </a:extLst>
          </p:cNvPr>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235576" y="3735030"/>
            <a:ext cx="890814" cy="480737"/>
          </a:xfrm>
          <a:prstGeom prst="rect">
            <a:avLst/>
          </a:prstGeom>
        </p:spPr>
      </p:pic>
      <p:cxnSp>
        <p:nvCxnSpPr>
          <p:cNvPr id="39" name="Straight Arrow Connector 38">
            <a:extLst>
              <a:ext uri="{FF2B5EF4-FFF2-40B4-BE49-F238E27FC236}">
                <a16:creationId xmlns:a16="http://schemas.microsoft.com/office/drawing/2014/main" id="{D5903894-F745-9817-423E-C405C2AAFEF3}"/>
              </a:ext>
            </a:extLst>
          </p:cNvPr>
          <p:cNvCxnSpPr>
            <a:cxnSpLocks/>
          </p:cNvCxnSpPr>
          <p:nvPr/>
        </p:nvCxnSpPr>
        <p:spPr>
          <a:xfrm flipH="1" flipV="1">
            <a:off x="2316254" y="3599220"/>
            <a:ext cx="157175" cy="20980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2" name="Picture 41" descr="A computer with a blue screen&#10;&#10;Description automatically generated">
            <a:extLst>
              <a:ext uri="{FF2B5EF4-FFF2-40B4-BE49-F238E27FC236}">
                <a16:creationId xmlns:a16="http://schemas.microsoft.com/office/drawing/2014/main" id="{538225CC-B41F-43C8-0B81-229775C0B706}"/>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9796396" y="2696980"/>
            <a:ext cx="989818" cy="833401"/>
          </a:xfrm>
          <a:prstGeom prst="rect">
            <a:avLst/>
          </a:prstGeom>
        </p:spPr>
      </p:pic>
      <p:cxnSp>
        <p:nvCxnSpPr>
          <p:cNvPr id="43" name="Straight Arrow Connector 42">
            <a:extLst>
              <a:ext uri="{FF2B5EF4-FFF2-40B4-BE49-F238E27FC236}">
                <a16:creationId xmlns:a16="http://schemas.microsoft.com/office/drawing/2014/main" id="{ED2CB760-F9ED-AE4E-707D-E8E855623669}"/>
              </a:ext>
            </a:extLst>
          </p:cNvPr>
          <p:cNvCxnSpPr>
            <a:cxnSpLocks/>
          </p:cNvCxnSpPr>
          <p:nvPr/>
        </p:nvCxnSpPr>
        <p:spPr>
          <a:xfrm flipH="1" flipV="1">
            <a:off x="6348328" y="3188571"/>
            <a:ext cx="3623248" cy="1854472"/>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C6BB95A-D8F9-9753-53D6-FEC273761778}"/>
              </a:ext>
            </a:extLst>
          </p:cNvPr>
          <p:cNvCxnSpPr>
            <a:cxnSpLocks/>
          </p:cNvCxnSpPr>
          <p:nvPr/>
        </p:nvCxnSpPr>
        <p:spPr>
          <a:xfrm flipH="1" flipV="1">
            <a:off x="10530345" y="3442166"/>
            <a:ext cx="132617" cy="345508"/>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46B7E91-4DC6-9B7F-1949-E1C70F7FBCCA}"/>
              </a:ext>
            </a:extLst>
          </p:cNvPr>
          <p:cNvSpPr txBox="1"/>
          <p:nvPr/>
        </p:nvSpPr>
        <p:spPr>
          <a:xfrm>
            <a:off x="850865" y="3712704"/>
            <a:ext cx="1588897"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http://30.14.120.42</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/index.html</a:t>
            </a:r>
          </a:p>
        </p:txBody>
      </p:sp>
      <p:sp>
        <p:nvSpPr>
          <p:cNvPr id="54" name="TextBox 53">
            <a:extLst>
              <a:ext uri="{FF2B5EF4-FFF2-40B4-BE49-F238E27FC236}">
                <a16:creationId xmlns:a16="http://schemas.microsoft.com/office/drawing/2014/main" id="{9422DEDA-CF01-9D6A-D22F-DC97EB6677A5}"/>
              </a:ext>
            </a:extLst>
          </p:cNvPr>
          <p:cNvSpPr txBox="1"/>
          <p:nvPr/>
        </p:nvSpPr>
        <p:spPr>
          <a:xfrm>
            <a:off x="8789998" y="3552087"/>
            <a:ext cx="1588897"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http://230.144.12.4</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/index.html</a:t>
            </a:r>
          </a:p>
        </p:txBody>
      </p:sp>
      <p:sp>
        <p:nvSpPr>
          <p:cNvPr id="60" name="TextBox 59">
            <a:extLst>
              <a:ext uri="{FF2B5EF4-FFF2-40B4-BE49-F238E27FC236}">
                <a16:creationId xmlns:a16="http://schemas.microsoft.com/office/drawing/2014/main" id="{6A003B50-5A76-6338-5352-682AC9AE2A9E}"/>
              </a:ext>
            </a:extLst>
          </p:cNvPr>
          <p:cNvSpPr txBox="1"/>
          <p:nvPr/>
        </p:nvSpPr>
        <p:spPr>
          <a:xfrm rot="19268179">
            <a:off x="3234085" y="3941042"/>
            <a:ext cx="1947239"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https://20.234.12.254:3000</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/jokes/dad</a:t>
            </a:r>
          </a:p>
        </p:txBody>
      </p:sp>
      <p:sp>
        <p:nvSpPr>
          <p:cNvPr id="63" name="TextBox 62">
            <a:extLst>
              <a:ext uri="{FF2B5EF4-FFF2-40B4-BE49-F238E27FC236}">
                <a16:creationId xmlns:a16="http://schemas.microsoft.com/office/drawing/2014/main" id="{28D2A641-B9B8-E155-3938-EB848D62EC5A}"/>
              </a:ext>
            </a:extLst>
          </p:cNvPr>
          <p:cNvSpPr txBox="1"/>
          <p:nvPr/>
        </p:nvSpPr>
        <p:spPr>
          <a:xfrm rot="1637242">
            <a:off x="7263909" y="4041646"/>
            <a:ext cx="280020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http://20.234.12.254:3000</a:t>
            </a:r>
            <a:r>
              <a:rPr kumimoji="0" lang="en-GB" sz="1000" b="0" i="0" u="none" strike="noStrike" kern="1200" cap="none" spc="0" normalizeH="0" baseline="0" noProof="0" dirty="0">
                <a:ln>
                  <a:noFill/>
                </a:ln>
                <a:solidFill>
                  <a:srgbClr val="3A3F50"/>
                </a:solidFill>
                <a:effectLst/>
                <a:uLnTx/>
                <a:uFillTx/>
                <a:latin typeface="Arial Narrow" panose="020B0606020202030204" pitchFamily="34" charset="0"/>
                <a:ea typeface="+mn-ea"/>
                <a:cs typeface="+mn-cs"/>
              </a:rPr>
              <a:t>/jokes/programming?count=20</a:t>
            </a:r>
          </a:p>
        </p:txBody>
      </p:sp>
      <p:sp>
        <p:nvSpPr>
          <p:cNvPr id="70" name="TextBox 69">
            <a:extLst>
              <a:ext uri="{FF2B5EF4-FFF2-40B4-BE49-F238E27FC236}">
                <a16:creationId xmlns:a16="http://schemas.microsoft.com/office/drawing/2014/main" id="{89A9E319-85B4-5E4B-1D4B-30824CB95592}"/>
              </a:ext>
            </a:extLst>
          </p:cNvPr>
          <p:cNvSpPr txBox="1"/>
          <p:nvPr/>
        </p:nvSpPr>
        <p:spPr>
          <a:xfrm>
            <a:off x="9839532" y="5995399"/>
            <a:ext cx="1465466"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Christmas cracker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print app</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AWS</a:t>
            </a:r>
          </a:p>
        </p:txBody>
      </p:sp>
      <p:sp>
        <p:nvSpPr>
          <p:cNvPr id="71" name="TextBox 70">
            <a:extLst>
              <a:ext uri="{FF2B5EF4-FFF2-40B4-BE49-F238E27FC236}">
                <a16:creationId xmlns:a16="http://schemas.microsoft.com/office/drawing/2014/main" id="{B05511CA-1610-D9ED-D8E2-A9540CD17E77}"/>
              </a:ext>
            </a:extLst>
          </p:cNvPr>
          <p:cNvSpPr txBox="1"/>
          <p:nvPr/>
        </p:nvSpPr>
        <p:spPr>
          <a:xfrm>
            <a:off x="2007904" y="6037175"/>
            <a:ext cx="1454244"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Company app with</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Joke of the day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Google cloud</a:t>
            </a:r>
          </a:p>
        </p:txBody>
      </p:sp>
      <p:cxnSp>
        <p:nvCxnSpPr>
          <p:cNvPr id="13" name="Straight Arrow Connector 12">
            <a:extLst>
              <a:ext uri="{FF2B5EF4-FFF2-40B4-BE49-F238E27FC236}">
                <a16:creationId xmlns:a16="http://schemas.microsoft.com/office/drawing/2014/main" id="{FBF0F757-059C-E1CA-1D52-D6DF087209BD}"/>
              </a:ext>
            </a:extLst>
          </p:cNvPr>
          <p:cNvCxnSpPr>
            <a:cxnSpLocks/>
            <a:stCxn id="12" idx="2"/>
            <a:endCxn id="10" idx="0"/>
          </p:cNvCxnSpPr>
          <p:nvPr/>
        </p:nvCxnSpPr>
        <p:spPr>
          <a:xfrm>
            <a:off x="5933866" y="3296632"/>
            <a:ext cx="2427" cy="982085"/>
          </a:xfrm>
          <a:prstGeom prst="straightConnector1">
            <a:avLst/>
          </a:prstGeom>
          <a:ln w="190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A6A0652-129E-B7AE-D7CA-C86698632F0D}"/>
              </a:ext>
            </a:extLst>
          </p:cNvPr>
          <p:cNvSpPr txBox="1"/>
          <p:nvPr/>
        </p:nvSpPr>
        <p:spPr>
          <a:xfrm rot="19327461">
            <a:off x="3474236" y="4170247"/>
            <a:ext cx="176547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Authorization: Bearer &lt;secret&gt;</a:t>
            </a:r>
          </a:p>
        </p:txBody>
      </p:sp>
      <p:pic>
        <p:nvPicPr>
          <p:cNvPr id="33" name="Picture 32" descr="A white cloud with blue border&#10;&#10;Description automatically generated">
            <a:extLst>
              <a:ext uri="{FF2B5EF4-FFF2-40B4-BE49-F238E27FC236}">
                <a16:creationId xmlns:a16="http://schemas.microsoft.com/office/drawing/2014/main" id="{0EAABEB7-5B83-C73E-45B6-62D1D434F0DA}"/>
              </a:ext>
            </a:extLst>
          </p:cNvPr>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025709" y="3693253"/>
            <a:ext cx="890814" cy="480737"/>
          </a:xfrm>
          <a:prstGeom prst="rect">
            <a:avLst/>
          </a:prstGeom>
        </p:spPr>
      </p:pic>
      <p:sp>
        <p:nvSpPr>
          <p:cNvPr id="51" name="TextBox 50">
            <a:extLst>
              <a:ext uri="{FF2B5EF4-FFF2-40B4-BE49-F238E27FC236}">
                <a16:creationId xmlns:a16="http://schemas.microsoft.com/office/drawing/2014/main" id="{047B7A58-F683-E2C4-3D39-F171DF6D2801}"/>
              </a:ext>
            </a:extLst>
          </p:cNvPr>
          <p:cNvSpPr txBox="1"/>
          <p:nvPr/>
        </p:nvSpPr>
        <p:spPr>
          <a:xfrm rot="1560058">
            <a:off x="7523721" y="4278436"/>
            <a:ext cx="176547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00FF"/>
                </a:solidFill>
                <a:effectLst/>
                <a:uLnTx/>
                <a:uFillTx/>
                <a:latin typeface="Arial Narrow" panose="020B0606020202030204" pitchFamily="34" charset="0"/>
                <a:ea typeface="+mn-ea"/>
                <a:cs typeface="+mn-cs"/>
              </a:rPr>
              <a:t>Authorization: Bearer &lt;secret&gt;</a:t>
            </a:r>
          </a:p>
        </p:txBody>
      </p:sp>
    </p:spTree>
    <p:extLst>
      <p:ext uri="{BB962C8B-B14F-4D97-AF65-F5344CB8AC3E}">
        <p14:creationId xmlns:p14="http://schemas.microsoft.com/office/powerpoint/2010/main" val="1554208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CB1B-B584-B61B-A1C0-9A1071AEB566}"/>
              </a:ext>
            </a:extLst>
          </p:cNvPr>
          <p:cNvSpPr>
            <a:spLocks noGrp="1"/>
          </p:cNvSpPr>
          <p:nvPr>
            <p:ph type="title"/>
          </p:nvPr>
        </p:nvSpPr>
        <p:spPr/>
        <p:txBody>
          <a:bodyPr/>
          <a:lstStyle/>
          <a:p>
            <a:r>
              <a:rPr lang="en-GB" dirty="0"/>
              <a:t>JavaScript Message Handling</a:t>
            </a:r>
          </a:p>
        </p:txBody>
      </p:sp>
      <p:sp>
        <p:nvSpPr>
          <p:cNvPr id="3" name="Text Placeholder 2">
            <a:extLst>
              <a:ext uri="{FF2B5EF4-FFF2-40B4-BE49-F238E27FC236}">
                <a16:creationId xmlns:a16="http://schemas.microsoft.com/office/drawing/2014/main" id="{3AF7D2B5-73FA-5576-30C7-6A3F5EEF3A1A}"/>
              </a:ext>
            </a:extLst>
          </p:cNvPr>
          <p:cNvSpPr>
            <a:spLocks noGrp="1"/>
          </p:cNvSpPr>
          <p:nvPr>
            <p:ph type="body" idx="1"/>
          </p:nvPr>
        </p:nvSpPr>
        <p:spPr/>
        <p:txBody>
          <a:bodyPr/>
          <a:lstStyle/>
          <a:p>
            <a:r>
              <a:rPr lang="en-GB" dirty="0"/>
              <a:t>Due to the single thread, executing a lengthy function will freeze the UI</a:t>
            </a:r>
          </a:p>
          <a:p>
            <a:r>
              <a:rPr lang="en-GB" dirty="0"/>
              <a:t>To avoid this, we can use asynchronous functions to sort of multi-thread</a:t>
            </a:r>
          </a:p>
          <a:p>
            <a:pPr lvl="1"/>
            <a:r>
              <a:rPr lang="en-GB" dirty="0"/>
              <a:t>The asynchronous function is suspended so the main thread can continue</a:t>
            </a:r>
          </a:p>
          <a:p>
            <a:pPr lvl="1"/>
            <a:r>
              <a:rPr lang="en-GB" dirty="0"/>
              <a:t>The asynchronous functionality in the background runs in C on threads within C, not JavaScript</a:t>
            </a:r>
          </a:p>
          <a:p>
            <a:pPr lvl="1"/>
            <a:r>
              <a:rPr lang="en-GB" dirty="0"/>
              <a:t>Once complete, the asynchronous function adds a callback to the event queue</a:t>
            </a:r>
          </a:p>
          <a:p>
            <a:pPr lvl="1"/>
            <a:r>
              <a:rPr lang="en-GB" dirty="0"/>
              <a:t>We need a diagram for this …</a:t>
            </a:r>
          </a:p>
          <a:p>
            <a:endParaRPr lang="en-GB" dirty="0"/>
          </a:p>
        </p:txBody>
      </p:sp>
      <p:sp>
        <p:nvSpPr>
          <p:cNvPr id="4" name="Slide Number Placeholder 3">
            <a:extLst>
              <a:ext uri="{FF2B5EF4-FFF2-40B4-BE49-F238E27FC236}">
                <a16:creationId xmlns:a16="http://schemas.microsoft.com/office/drawing/2014/main" id="{E9DDAD75-B7A1-6A17-D053-B4916D30E23F}"/>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3012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C6FC278-0D14-363E-5DDE-79EC64BD1C0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1EE0BB7-D426-A010-BF61-2443C024E014}"/>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0E0192-C642-4D4F-AE82-A0D0DC02E26B}" type="slidenum">
              <a:rPr kumimoji="0" lang="en-GB" sz="1200" b="0" i="0" u="none" strike="noStrike" kern="1200" cap="none" spc="0" normalizeH="0" baseline="0" noProof="0" smtClean="0">
                <a:ln>
                  <a:noFill/>
                </a:ln>
                <a:solidFill>
                  <a:srgbClr val="3A3F50">
                    <a:tint val="75000"/>
                  </a:srgbClr>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srgbClr val="3A3F50">
                  <a:tint val="75000"/>
                </a:srgbClr>
              </a:solidFill>
              <a:effectLst/>
              <a:uLnTx/>
              <a:uFillTx/>
              <a:latin typeface="Arial"/>
              <a:ea typeface="+mn-ea"/>
              <a:cs typeface="+mn-cs"/>
            </a:endParaRPr>
          </a:p>
        </p:txBody>
      </p:sp>
      <p:pic>
        <p:nvPicPr>
          <p:cNvPr id="6" name="Picture 5">
            <a:extLst>
              <a:ext uri="{FF2B5EF4-FFF2-40B4-BE49-F238E27FC236}">
                <a16:creationId xmlns:a16="http://schemas.microsoft.com/office/drawing/2014/main" id="{ED7F3F8E-CBDC-9B79-56AC-CAF58E77D9DC}"/>
              </a:ext>
            </a:extLst>
          </p:cNvPr>
          <p:cNvPicPr>
            <a:picLocks noChangeAspect="1"/>
          </p:cNvPicPr>
          <p:nvPr/>
        </p:nvPicPr>
        <p:blipFill>
          <a:blip r:embed="rId3"/>
          <a:stretch>
            <a:fillRect/>
          </a:stretch>
        </p:blipFill>
        <p:spPr>
          <a:xfrm>
            <a:off x="290209" y="333089"/>
            <a:ext cx="3573752" cy="3362611"/>
          </a:xfrm>
          <a:prstGeom prst="rect">
            <a:avLst/>
          </a:prstGeom>
          <a:ln>
            <a:solidFill>
              <a:schemeClr val="accent1"/>
            </a:solidFill>
          </a:ln>
        </p:spPr>
      </p:pic>
      <p:sp>
        <p:nvSpPr>
          <p:cNvPr id="7" name="Rectangle 6">
            <a:extLst>
              <a:ext uri="{FF2B5EF4-FFF2-40B4-BE49-F238E27FC236}">
                <a16:creationId xmlns:a16="http://schemas.microsoft.com/office/drawing/2014/main" id="{0497E964-8463-3315-2411-98252BCBDE2B}"/>
              </a:ext>
            </a:extLst>
          </p:cNvPr>
          <p:cNvSpPr/>
          <p:nvPr/>
        </p:nvSpPr>
        <p:spPr>
          <a:xfrm>
            <a:off x="4476749" y="962025"/>
            <a:ext cx="3343275" cy="2733675"/>
          </a:xfrm>
          <a:prstGeom prst="rect">
            <a:avLst/>
          </a:prstGeom>
          <a:solidFill>
            <a:schemeClr val="bg1"/>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5DD"/>
              </a:solidFill>
              <a:effectLst/>
              <a:uLnTx/>
              <a:uFillTx/>
              <a:latin typeface="Arial"/>
              <a:ea typeface="+mn-ea"/>
              <a:cs typeface="+mn-cs"/>
            </a:endParaRPr>
          </a:p>
        </p:txBody>
      </p:sp>
      <p:pic>
        <p:nvPicPr>
          <p:cNvPr id="9" name="lbLevel1">
            <a:extLst>
              <a:ext uri="{FF2B5EF4-FFF2-40B4-BE49-F238E27FC236}">
                <a16:creationId xmlns:a16="http://schemas.microsoft.com/office/drawing/2014/main" id="{D91181FE-8E52-F28A-F536-A4DB90BAB671}"/>
              </a:ext>
            </a:extLst>
          </p:cNvPr>
          <p:cNvPicPr>
            <a:picLocks noChangeAspect="1"/>
          </p:cNvPicPr>
          <p:nvPr/>
        </p:nvPicPr>
        <p:blipFill rotWithShape="1">
          <a:blip r:embed="rId4"/>
          <a:srcRect l="6970" t="27586" b="18984"/>
          <a:stretch/>
        </p:blipFill>
        <p:spPr>
          <a:xfrm>
            <a:off x="299834" y="3471889"/>
            <a:ext cx="921685" cy="147608"/>
          </a:xfrm>
          <a:prstGeom prst="rect">
            <a:avLst/>
          </a:prstGeom>
        </p:spPr>
      </p:pic>
      <p:pic>
        <p:nvPicPr>
          <p:cNvPr id="11" name="lbLevel2">
            <a:extLst>
              <a:ext uri="{FF2B5EF4-FFF2-40B4-BE49-F238E27FC236}">
                <a16:creationId xmlns:a16="http://schemas.microsoft.com/office/drawing/2014/main" id="{35E1371F-03E8-5236-DAEE-EDE08A6FE7F3}"/>
              </a:ext>
            </a:extLst>
          </p:cNvPr>
          <p:cNvPicPr>
            <a:picLocks noChangeAspect="1"/>
          </p:cNvPicPr>
          <p:nvPr/>
        </p:nvPicPr>
        <p:blipFill>
          <a:blip r:embed="rId5"/>
          <a:stretch>
            <a:fillRect/>
          </a:stretch>
        </p:blipFill>
        <p:spPr>
          <a:xfrm>
            <a:off x="466729" y="528580"/>
            <a:ext cx="990738" cy="257211"/>
          </a:xfrm>
          <a:prstGeom prst="rect">
            <a:avLst/>
          </a:prstGeom>
        </p:spPr>
      </p:pic>
      <p:pic>
        <p:nvPicPr>
          <p:cNvPr id="13" name="lbLevel3">
            <a:extLst>
              <a:ext uri="{FF2B5EF4-FFF2-40B4-BE49-F238E27FC236}">
                <a16:creationId xmlns:a16="http://schemas.microsoft.com/office/drawing/2014/main" id="{E6C464F6-CA64-1E62-3A3F-466E582D2A02}"/>
              </a:ext>
            </a:extLst>
          </p:cNvPr>
          <p:cNvPicPr>
            <a:picLocks noChangeAspect="1"/>
          </p:cNvPicPr>
          <p:nvPr/>
        </p:nvPicPr>
        <p:blipFill>
          <a:blip r:embed="rId6"/>
          <a:stretch>
            <a:fillRect/>
          </a:stretch>
        </p:blipFill>
        <p:spPr>
          <a:xfrm>
            <a:off x="476255" y="1266530"/>
            <a:ext cx="971686" cy="247685"/>
          </a:xfrm>
          <a:prstGeom prst="rect">
            <a:avLst/>
          </a:prstGeom>
        </p:spPr>
      </p:pic>
      <p:sp>
        <p:nvSpPr>
          <p:cNvPr id="16" name="Rectangle 15">
            <a:extLst>
              <a:ext uri="{FF2B5EF4-FFF2-40B4-BE49-F238E27FC236}">
                <a16:creationId xmlns:a16="http://schemas.microsoft.com/office/drawing/2014/main" id="{7F79FA64-8BAE-5623-A55F-7711DA48ED4E}"/>
              </a:ext>
            </a:extLst>
          </p:cNvPr>
          <p:cNvSpPr/>
          <p:nvPr/>
        </p:nvSpPr>
        <p:spPr>
          <a:xfrm>
            <a:off x="8064933" y="962025"/>
            <a:ext cx="3343274" cy="1666875"/>
          </a:xfrm>
          <a:prstGeom prst="rect">
            <a:avLst/>
          </a:prstGeom>
          <a:solidFill>
            <a:schemeClr val="bg1"/>
          </a:solidFill>
          <a:ln w="9525"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B5DD"/>
              </a:solidFill>
              <a:effectLst/>
              <a:uLnTx/>
              <a:uFillTx/>
              <a:latin typeface="Arial"/>
              <a:ea typeface="+mn-ea"/>
              <a:cs typeface="+mn-cs"/>
            </a:endParaRPr>
          </a:p>
        </p:txBody>
      </p:sp>
      <p:pic>
        <p:nvPicPr>
          <p:cNvPr id="22" name="lbTimeout">
            <a:extLst>
              <a:ext uri="{FF2B5EF4-FFF2-40B4-BE49-F238E27FC236}">
                <a16:creationId xmlns:a16="http://schemas.microsoft.com/office/drawing/2014/main" id="{766E683E-0D86-02D2-2859-EEA93D66B2C5}"/>
              </a:ext>
            </a:extLst>
          </p:cNvPr>
          <p:cNvPicPr>
            <a:picLocks noChangeAspect="1"/>
          </p:cNvPicPr>
          <p:nvPr/>
        </p:nvPicPr>
        <p:blipFill>
          <a:blip r:embed="rId7"/>
          <a:stretch>
            <a:fillRect/>
          </a:stretch>
        </p:blipFill>
        <p:spPr>
          <a:xfrm>
            <a:off x="476661" y="2014394"/>
            <a:ext cx="3200847" cy="200053"/>
          </a:xfrm>
          <a:prstGeom prst="rect">
            <a:avLst/>
          </a:prstGeom>
        </p:spPr>
      </p:pic>
      <p:pic>
        <p:nvPicPr>
          <p:cNvPr id="23" name="fnSetTime">
            <a:extLst>
              <a:ext uri="{FF2B5EF4-FFF2-40B4-BE49-F238E27FC236}">
                <a16:creationId xmlns:a16="http://schemas.microsoft.com/office/drawing/2014/main" id="{772C0F1A-8094-FAF4-4D4D-74D4D2F1E021}"/>
              </a:ext>
            </a:extLst>
          </p:cNvPr>
          <p:cNvPicPr>
            <a:picLocks noChangeAspect="1"/>
          </p:cNvPicPr>
          <p:nvPr/>
        </p:nvPicPr>
        <p:blipFill>
          <a:blip r:embed="rId7"/>
          <a:stretch>
            <a:fillRect/>
          </a:stretch>
        </p:blipFill>
        <p:spPr>
          <a:xfrm>
            <a:off x="8102586" y="1085635"/>
            <a:ext cx="3200847" cy="200053"/>
          </a:xfrm>
          <a:prstGeom prst="rect">
            <a:avLst/>
          </a:prstGeom>
        </p:spPr>
      </p:pic>
      <p:sp>
        <p:nvSpPr>
          <p:cNvPr id="24" name="TextBox 23">
            <a:extLst>
              <a:ext uri="{FF2B5EF4-FFF2-40B4-BE49-F238E27FC236}">
                <a16:creationId xmlns:a16="http://schemas.microsoft.com/office/drawing/2014/main" id="{81937614-3101-359E-A844-B121C323C126}"/>
              </a:ext>
            </a:extLst>
          </p:cNvPr>
          <p:cNvSpPr txBox="1"/>
          <p:nvPr/>
        </p:nvSpPr>
        <p:spPr>
          <a:xfrm>
            <a:off x="8064933" y="1285688"/>
            <a:ext cx="3200847"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Fetch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err="1">
                <a:ln>
                  <a:noFill/>
                </a:ln>
                <a:solidFill>
                  <a:srgbClr val="3A3F50"/>
                </a:solidFill>
                <a:effectLst/>
                <a:uLnTx/>
                <a:uFillTx/>
                <a:latin typeface="Courier New" panose="02070309020205020404" pitchFamily="49" charset="0"/>
                <a:ea typeface="+mn-ea"/>
                <a:cs typeface="Courier New" panose="02070309020205020404" pitchFamily="49" charset="0"/>
              </a:rPr>
              <a:t>AudioData</a:t>
            </a:r>
            <a:endPar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console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crypto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3A3F50"/>
                </a:solidFill>
                <a:effectLst/>
                <a:uLnTx/>
                <a:uFillTx/>
                <a:latin typeface="Courier New" panose="02070309020205020404" pitchFamily="49" charset="0"/>
                <a:ea typeface="+mn-ea"/>
                <a:cs typeface="Courier New" panose="02070309020205020404" pitchFamily="49" charset="0"/>
              </a:rPr>
              <a:t>+ hundreds more</a:t>
            </a:r>
          </a:p>
        </p:txBody>
      </p:sp>
      <p:sp>
        <p:nvSpPr>
          <p:cNvPr id="25" name="Rectangle 24">
            <a:extLst>
              <a:ext uri="{FF2B5EF4-FFF2-40B4-BE49-F238E27FC236}">
                <a16:creationId xmlns:a16="http://schemas.microsoft.com/office/drawing/2014/main" id="{B7F9E0FE-4920-1B4C-B216-170E6597612F}"/>
              </a:ext>
            </a:extLst>
          </p:cNvPr>
          <p:cNvSpPr/>
          <p:nvPr/>
        </p:nvSpPr>
        <p:spPr>
          <a:xfrm>
            <a:off x="4476749" y="523875"/>
            <a:ext cx="3343274" cy="43815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Call Stack (LIFO)</a:t>
            </a:r>
          </a:p>
        </p:txBody>
      </p:sp>
      <p:sp>
        <p:nvSpPr>
          <p:cNvPr id="26" name="Rectangle 25">
            <a:extLst>
              <a:ext uri="{FF2B5EF4-FFF2-40B4-BE49-F238E27FC236}">
                <a16:creationId xmlns:a16="http://schemas.microsoft.com/office/drawing/2014/main" id="{F0249001-4C25-D4B3-64BE-1C4141151E6A}"/>
              </a:ext>
            </a:extLst>
          </p:cNvPr>
          <p:cNvSpPr/>
          <p:nvPr/>
        </p:nvSpPr>
        <p:spPr>
          <a:xfrm>
            <a:off x="8064933" y="514350"/>
            <a:ext cx="3343274" cy="43815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APIs</a:t>
            </a:r>
          </a:p>
        </p:txBody>
      </p:sp>
      <p:sp>
        <p:nvSpPr>
          <p:cNvPr id="27" name="argsHidden">
            <a:extLst>
              <a:ext uri="{FF2B5EF4-FFF2-40B4-BE49-F238E27FC236}">
                <a16:creationId xmlns:a16="http://schemas.microsoft.com/office/drawing/2014/main" id="{B9200B8F-E6E0-3BFD-8771-EEA69EDCF585}"/>
              </a:ext>
            </a:extLst>
          </p:cNvPr>
          <p:cNvSpPr/>
          <p:nvPr/>
        </p:nvSpPr>
        <p:spPr>
          <a:xfrm>
            <a:off x="9258100" y="1085635"/>
            <a:ext cx="1809750" cy="180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7D1C0FC7-2EA2-D74B-9630-89F1766A74F3}"/>
              </a:ext>
            </a:extLst>
          </p:cNvPr>
          <p:cNvSpPr/>
          <p:nvPr/>
        </p:nvSpPr>
        <p:spPr>
          <a:xfrm>
            <a:off x="4476749" y="4752975"/>
            <a:ext cx="7055284" cy="17811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0" name="event1">
            <a:extLst>
              <a:ext uri="{FF2B5EF4-FFF2-40B4-BE49-F238E27FC236}">
                <a16:creationId xmlns:a16="http://schemas.microsoft.com/office/drawing/2014/main" id="{4039C7D6-AD18-4A9D-86B4-F1F965379B03}"/>
              </a:ext>
            </a:extLst>
          </p:cNvPr>
          <p:cNvSpPr/>
          <p:nvPr/>
        </p:nvSpPr>
        <p:spPr>
          <a:xfrm rot="16200000">
            <a:off x="3933825" y="5421406"/>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CheckboxClick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31" name="event2">
            <a:extLst>
              <a:ext uri="{FF2B5EF4-FFF2-40B4-BE49-F238E27FC236}">
                <a16:creationId xmlns:a16="http://schemas.microsoft.com/office/drawing/2014/main" id="{BFB1F313-A587-888A-A109-B35438B3BA54}"/>
              </a:ext>
            </a:extLst>
          </p:cNvPr>
          <p:cNvSpPr/>
          <p:nvPr/>
        </p:nvSpPr>
        <p:spPr>
          <a:xfrm rot="16200000">
            <a:off x="4456019" y="5421405"/>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ButtonClick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32" name="Arrow: Curved Right 31">
            <a:extLst>
              <a:ext uri="{FF2B5EF4-FFF2-40B4-BE49-F238E27FC236}">
                <a16:creationId xmlns:a16="http://schemas.microsoft.com/office/drawing/2014/main" id="{3ECBA05B-16C1-34FC-6909-621DF18CEBBA}"/>
              </a:ext>
            </a:extLst>
          </p:cNvPr>
          <p:cNvSpPr/>
          <p:nvPr/>
        </p:nvSpPr>
        <p:spPr>
          <a:xfrm>
            <a:off x="4162425" y="3914775"/>
            <a:ext cx="314324" cy="5652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3" name="Arrow: Curved Right 32">
            <a:extLst>
              <a:ext uri="{FF2B5EF4-FFF2-40B4-BE49-F238E27FC236}">
                <a16:creationId xmlns:a16="http://schemas.microsoft.com/office/drawing/2014/main" id="{B82AB74C-8F95-667D-31F0-AF1CAE9092AA}"/>
              </a:ext>
            </a:extLst>
          </p:cNvPr>
          <p:cNvSpPr/>
          <p:nvPr/>
        </p:nvSpPr>
        <p:spPr>
          <a:xfrm flipH="1" flipV="1">
            <a:off x="4484592" y="3881436"/>
            <a:ext cx="314324" cy="5652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01E7C0D2-10BA-E977-F5E5-A1C290F89CEB}"/>
              </a:ext>
            </a:extLst>
          </p:cNvPr>
          <p:cNvSpPr/>
          <p:nvPr/>
        </p:nvSpPr>
        <p:spPr>
          <a:xfrm>
            <a:off x="2876550" y="3887820"/>
            <a:ext cx="1190625" cy="5652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Message Handler</a:t>
            </a:r>
          </a:p>
        </p:txBody>
      </p:sp>
      <p:sp>
        <p:nvSpPr>
          <p:cNvPr id="35" name="eventcb">
            <a:extLst>
              <a:ext uri="{FF2B5EF4-FFF2-40B4-BE49-F238E27FC236}">
                <a16:creationId xmlns:a16="http://schemas.microsoft.com/office/drawing/2014/main" id="{325C4C4D-8605-1BAF-1984-B662604B75C1}"/>
              </a:ext>
            </a:extLst>
          </p:cNvPr>
          <p:cNvSpPr/>
          <p:nvPr/>
        </p:nvSpPr>
        <p:spPr>
          <a:xfrm rot="16200000">
            <a:off x="4978213" y="5429615"/>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callbackDemo</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37" name="Straight Arrow Connector 36">
            <a:extLst>
              <a:ext uri="{FF2B5EF4-FFF2-40B4-BE49-F238E27FC236}">
                <a16:creationId xmlns:a16="http://schemas.microsoft.com/office/drawing/2014/main" id="{88B78276-4C97-D991-2520-A35F6ED0A742}"/>
              </a:ext>
            </a:extLst>
          </p:cNvPr>
          <p:cNvCxnSpPr>
            <a:cxnSpLocks/>
          </p:cNvCxnSpPr>
          <p:nvPr/>
        </p:nvCxnSpPr>
        <p:spPr>
          <a:xfrm flipV="1">
            <a:off x="6756935" y="1266530"/>
            <a:ext cx="2810577" cy="639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0CE53C2-5374-D9FD-48CC-68E3B39C8422}"/>
              </a:ext>
            </a:extLst>
          </p:cNvPr>
          <p:cNvCxnSpPr>
            <a:cxnSpLocks/>
            <a:stCxn id="24" idx="0"/>
          </p:cNvCxnSpPr>
          <p:nvPr/>
        </p:nvCxnSpPr>
        <p:spPr>
          <a:xfrm flipH="1">
            <a:off x="5804034" y="1285688"/>
            <a:ext cx="3861323" cy="3467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event1b">
            <a:extLst>
              <a:ext uri="{FF2B5EF4-FFF2-40B4-BE49-F238E27FC236}">
                <a16:creationId xmlns:a16="http://schemas.microsoft.com/office/drawing/2014/main" id="{79E90819-7639-93D3-9485-60F1F0DAA344}"/>
              </a:ext>
            </a:extLst>
          </p:cNvPr>
          <p:cNvSpPr/>
          <p:nvPr/>
        </p:nvSpPr>
        <p:spPr>
          <a:xfrm>
            <a:off x="4527769" y="1044374"/>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CheckboxClick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45" name="Straight Arrow Connector 44">
            <a:extLst>
              <a:ext uri="{FF2B5EF4-FFF2-40B4-BE49-F238E27FC236}">
                <a16:creationId xmlns:a16="http://schemas.microsoft.com/office/drawing/2014/main" id="{C688AEC9-5617-A126-6DA6-5B28E465ED26}"/>
              </a:ext>
            </a:extLst>
          </p:cNvPr>
          <p:cNvCxnSpPr>
            <a:cxnSpLocks/>
            <a:endCxn id="44" idx="2"/>
          </p:cNvCxnSpPr>
          <p:nvPr/>
        </p:nvCxnSpPr>
        <p:spPr>
          <a:xfrm flipV="1">
            <a:off x="4743097" y="1488685"/>
            <a:ext cx="627635" cy="3208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event2b">
            <a:extLst>
              <a:ext uri="{FF2B5EF4-FFF2-40B4-BE49-F238E27FC236}">
                <a16:creationId xmlns:a16="http://schemas.microsoft.com/office/drawing/2014/main" id="{A90C4706-8BF3-C5EA-A521-BC2FA8D8CA8C}"/>
              </a:ext>
            </a:extLst>
          </p:cNvPr>
          <p:cNvSpPr/>
          <p:nvPr/>
        </p:nvSpPr>
        <p:spPr>
          <a:xfrm>
            <a:off x="4516912" y="1053907"/>
            <a:ext cx="1700402"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ButtonClick</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cxnSp>
        <p:nvCxnSpPr>
          <p:cNvPr id="48" name="Straight Arrow Connector 47">
            <a:extLst>
              <a:ext uri="{FF2B5EF4-FFF2-40B4-BE49-F238E27FC236}">
                <a16:creationId xmlns:a16="http://schemas.microsoft.com/office/drawing/2014/main" id="{30B2C2C6-EDE5-34F4-718E-9F40B094D34D}"/>
              </a:ext>
            </a:extLst>
          </p:cNvPr>
          <p:cNvCxnSpPr>
            <a:cxnSpLocks/>
          </p:cNvCxnSpPr>
          <p:nvPr/>
        </p:nvCxnSpPr>
        <p:spPr>
          <a:xfrm flipV="1">
            <a:off x="5329587" y="1514215"/>
            <a:ext cx="26298" cy="3182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95DA9455-6A22-055C-F7A6-3F77947C8970}"/>
              </a:ext>
            </a:extLst>
          </p:cNvPr>
          <p:cNvCxnSpPr>
            <a:cxnSpLocks/>
          </p:cNvCxnSpPr>
          <p:nvPr/>
        </p:nvCxnSpPr>
        <p:spPr>
          <a:xfrm flipH="1" flipV="1">
            <a:off x="5370732" y="1514215"/>
            <a:ext cx="433302" cy="3182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eventcbb">
            <a:extLst>
              <a:ext uri="{FF2B5EF4-FFF2-40B4-BE49-F238E27FC236}">
                <a16:creationId xmlns:a16="http://schemas.microsoft.com/office/drawing/2014/main" id="{A8282733-053A-6399-D5CF-7C263A4A5D18}"/>
              </a:ext>
            </a:extLst>
          </p:cNvPr>
          <p:cNvSpPr/>
          <p:nvPr/>
        </p:nvSpPr>
        <p:spPr>
          <a:xfrm>
            <a:off x="4524150" y="1049140"/>
            <a:ext cx="1685925" cy="44431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callbackDemo</a:t>
            </a:r>
            <a:endParaRPr kumimoji="0" lang="en-GB" sz="1600" b="0" i="0" u="none" strike="noStrike" kern="1200" cap="none" spc="0" normalizeH="0" baseline="0" noProof="0" dirty="0">
              <a:ln>
                <a:noFill/>
              </a:ln>
              <a:solidFill>
                <a:srgbClr val="3A3F50"/>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AF1E147F-21C7-4E71-7565-C813A601A3F9}"/>
              </a:ext>
            </a:extLst>
          </p:cNvPr>
          <p:cNvSpPr/>
          <p:nvPr/>
        </p:nvSpPr>
        <p:spPr>
          <a:xfrm>
            <a:off x="6505171" y="4305200"/>
            <a:ext cx="3456975" cy="43815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Event queue (FIFO)</a:t>
            </a:r>
          </a:p>
        </p:txBody>
      </p:sp>
    </p:spTree>
    <p:extLst>
      <p:ext uri="{BB962C8B-B14F-4D97-AF65-F5344CB8AC3E}">
        <p14:creationId xmlns:p14="http://schemas.microsoft.com/office/powerpoint/2010/main" val="245970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469 0.00694 L 0.34922 -0.34352 " pathEditMode="relative" rAng="0" ptsTypes="AA">
                                      <p:cBhvr>
                                        <p:cTn id="6" dur="2000" fill="hold"/>
                                        <p:tgtEl>
                                          <p:spTgt spid="9"/>
                                        </p:tgtEl>
                                        <p:attrNameLst>
                                          <p:attrName>ppt_x</p:attrName>
                                          <p:attrName>ppt_y</p:attrName>
                                        </p:attrNameLst>
                                      </p:cBhvr>
                                      <p:rCtr x="17227" y="-17523"/>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3.75E-6 -3.33333E-6 L 0.33112 0.11459 " pathEditMode="relative" rAng="0" ptsTypes="AA">
                                      <p:cBhvr>
                                        <p:cTn id="10" dur="2000" fill="hold"/>
                                        <p:tgtEl>
                                          <p:spTgt spid="11"/>
                                        </p:tgtEl>
                                        <p:attrNameLst>
                                          <p:attrName>ppt_x</p:attrName>
                                          <p:attrName>ppt_y</p:attrName>
                                        </p:attrNameLst>
                                      </p:cBhvr>
                                      <p:rCtr x="16549" y="571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3.75E-6 2.22222E-6 L 0.33112 0.04514 " pathEditMode="relative" rAng="0" ptsTypes="AA">
                                      <p:cBhvr>
                                        <p:cTn id="14" dur="2000" fill="hold"/>
                                        <p:tgtEl>
                                          <p:spTgt spid="13"/>
                                        </p:tgtEl>
                                        <p:attrNameLst>
                                          <p:attrName>ppt_x</p:attrName>
                                          <p:attrName>ppt_y</p:attrName>
                                        </p:attrNameLst>
                                      </p:cBhvr>
                                      <p:rCtr x="16549" y="2245"/>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2.5E-6 -3.33333E-6 L 0.32969 -0.02037 " pathEditMode="relative" rAng="0" ptsTypes="AA">
                                      <p:cBhvr>
                                        <p:cTn id="18" dur="2000" fill="hold"/>
                                        <p:tgtEl>
                                          <p:spTgt spid="22"/>
                                        </p:tgtEl>
                                        <p:attrNameLst>
                                          <p:attrName>ppt_x</p:attrName>
                                          <p:attrName>ppt_y</p:attrName>
                                        </p:attrNameLst>
                                      </p:cBhvr>
                                      <p:rCtr x="16484" y="-1019"/>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500"/>
                            </p:stCondLst>
                            <p:childTnLst>
                              <p:par>
                                <p:cTn id="25" presetID="10" presetClass="exit" presetSubtype="0" fill="hold" grpId="0" nodeType="afterEffect">
                                  <p:stCondLst>
                                    <p:cond delay="0"/>
                                  </p:stCondLst>
                                  <p:childTnLst>
                                    <p:animEffect transition="out" filter="fade">
                                      <p:cBhvr>
                                        <p:cTn id="26" dur="500"/>
                                        <p:tgtEl>
                                          <p:spTgt spid="27"/>
                                        </p:tgtEl>
                                      </p:cBhvr>
                                    </p:animEffect>
                                    <p:set>
                                      <p:cBhvr>
                                        <p:cTn id="27" dur="1" fill="hold">
                                          <p:stCondLst>
                                            <p:cond delay="499"/>
                                          </p:stCondLst>
                                        </p:cTn>
                                        <p:tgtEl>
                                          <p:spTgt spid="27"/>
                                        </p:tgtEl>
                                        <p:attrNameLst>
                                          <p:attrName>style.visibility</p:attrName>
                                        </p:attrNameLst>
                                      </p:cBhvr>
                                      <p:to>
                                        <p:strVal val="hidden"/>
                                      </p:to>
                                    </p:set>
                                  </p:childTnLst>
                                </p:cTn>
                              </p:par>
                            </p:childTnLst>
                          </p:cTn>
                        </p:par>
                        <p:par>
                          <p:cTn id="28" fill="hold">
                            <p:stCondLst>
                              <p:cond delay="1000"/>
                            </p:stCondLst>
                            <p:childTnLst>
                              <p:par>
                                <p:cTn id="29" presetID="10" presetClass="exit" presetSubtype="0" fill="hold" nodeType="afterEffect">
                                  <p:stCondLst>
                                    <p:cond delay="0"/>
                                  </p:stCondLst>
                                  <p:childTnLst>
                                    <p:animEffect transition="out" filter="fade">
                                      <p:cBhvr>
                                        <p:cTn id="30" dur="500"/>
                                        <p:tgtEl>
                                          <p:spTgt spid="37"/>
                                        </p:tgtEl>
                                      </p:cBhvr>
                                    </p:animEffect>
                                    <p:set>
                                      <p:cBhvr>
                                        <p:cTn id="31" dur="1" fill="hold">
                                          <p:stCondLst>
                                            <p:cond delay="499"/>
                                          </p:stCondLst>
                                        </p:cTn>
                                        <p:tgtEl>
                                          <p:spTgt spid="3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nodeType="clickEffect">
                                  <p:stCondLst>
                                    <p:cond delay="0"/>
                                  </p:stCondLst>
                                  <p:childTnLst>
                                    <p:animEffect transition="out" filter="fade">
                                      <p:cBhvr>
                                        <p:cTn id="35" dur="500" tmFilter="0, 0; .2, .5; .8, .5; 1, 0"/>
                                        <p:tgtEl>
                                          <p:spTgt spid="23"/>
                                        </p:tgtEl>
                                      </p:cBhvr>
                                    </p:animEffect>
                                    <p:animScale>
                                      <p:cBhvr>
                                        <p:cTn id="36" dur="250" autoRev="1" fill="hold"/>
                                        <p:tgtEl>
                                          <p:spTgt spid="23"/>
                                        </p:tgtEl>
                                      </p:cBhvr>
                                      <p:by x="105000" y="105000"/>
                                    </p:animScale>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nodeType="clickEffect">
                                  <p:stCondLst>
                                    <p:cond delay="0"/>
                                  </p:stCondLst>
                                  <p:childTnLst>
                                    <p:animEffect transition="out" filter="fade">
                                      <p:cBhvr>
                                        <p:cTn id="55" dur="500"/>
                                        <p:tgtEl>
                                          <p:spTgt spid="11"/>
                                        </p:tgtEl>
                                      </p:cBhvr>
                                    </p:animEffect>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500"/>
                                        <p:tgtEl>
                                          <p:spTgt spid="40"/>
                                        </p:tgtEl>
                                      </p:cBhvr>
                                    </p:animEffect>
                                  </p:childTnLst>
                                </p:cTn>
                              </p:par>
                            </p:childTnLst>
                          </p:cTn>
                        </p:par>
                        <p:par>
                          <p:cTn id="67" fill="hold">
                            <p:stCondLst>
                              <p:cond delay="500"/>
                            </p:stCondLst>
                            <p:childTnLst>
                              <p:par>
                                <p:cTn id="68" presetID="10" presetClass="exit" presetSubtype="0" fill="hold" nodeType="afterEffect">
                                  <p:stCondLst>
                                    <p:cond delay="1000"/>
                                  </p:stCondLst>
                                  <p:childTnLst>
                                    <p:animEffect transition="out" filter="fade">
                                      <p:cBhvr>
                                        <p:cTn id="69" dur="500"/>
                                        <p:tgtEl>
                                          <p:spTgt spid="40"/>
                                        </p:tgtEl>
                                      </p:cBhvr>
                                    </p:animEffect>
                                    <p:set>
                                      <p:cBhvr>
                                        <p:cTn id="70" dur="1" fill="hold">
                                          <p:stCondLst>
                                            <p:cond delay="499"/>
                                          </p:stCondLst>
                                        </p:cTn>
                                        <p:tgtEl>
                                          <p:spTgt spid="40"/>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9"/>
                                        </p:tgtEl>
                                      </p:cBhvr>
                                    </p:animEffect>
                                    <p:set>
                                      <p:cBhvr>
                                        <p:cTn id="77" dur="1" fill="hold">
                                          <p:stCondLst>
                                            <p:cond delay="499"/>
                                          </p:stCondLst>
                                        </p:cTn>
                                        <p:tgtEl>
                                          <p:spTgt spid="9"/>
                                        </p:tgtEl>
                                        <p:attrNameLst>
                                          <p:attrName>style.visibility</p:attrName>
                                        </p:attrNameLst>
                                      </p:cBhvr>
                                      <p:to>
                                        <p:strVal val="hidden"/>
                                      </p:to>
                                    </p:set>
                                  </p:childTnLst>
                                </p:cTn>
                              </p:par>
                            </p:childTnLst>
                          </p:cTn>
                        </p:par>
                        <p:par>
                          <p:cTn id="78" fill="hold">
                            <p:stCondLst>
                              <p:cond delay="500"/>
                            </p:stCondLst>
                            <p:childTnLst>
                              <p:par>
                                <p:cTn id="79" presetID="10" presetClass="entr" presetSubtype="0" fill="hold" nodeType="after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500"/>
                                        <p:tgtEl>
                                          <p:spTgt spid="45"/>
                                        </p:tgtEl>
                                      </p:cBhvr>
                                    </p:animEffect>
                                  </p:childTnLst>
                                </p:cTn>
                              </p:par>
                            </p:childTnLst>
                          </p:cTn>
                        </p:par>
                        <p:par>
                          <p:cTn id="82" fill="hold">
                            <p:stCondLst>
                              <p:cond delay="1000"/>
                            </p:stCondLst>
                            <p:childTnLst>
                              <p:par>
                                <p:cTn id="83" presetID="10" presetClass="exit" presetSubtype="0" fill="hold" nodeType="afterEffect">
                                  <p:stCondLst>
                                    <p:cond delay="0"/>
                                  </p:stCondLst>
                                  <p:childTnLst>
                                    <p:animEffect transition="out" filter="fade">
                                      <p:cBhvr>
                                        <p:cTn id="84" dur="1000"/>
                                        <p:tgtEl>
                                          <p:spTgt spid="45"/>
                                        </p:tgtEl>
                                      </p:cBhvr>
                                    </p:animEffect>
                                    <p:set>
                                      <p:cBhvr>
                                        <p:cTn id="85" dur="1" fill="hold">
                                          <p:stCondLst>
                                            <p:cond delay="999"/>
                                          </p:stCondLst>
                                        </p:cTn>
                                        <p:tgtEl>
                                          <p:spTgt spid="45"/>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30"/>
                                        </p:tgtEl>
                                      </p:cBhvr>
                                    </p:animEffect>
                                    <p:set>
                                      <p:cBhvr>
                                        <p:cTn id="88" dur="1" fill="hold">
                                          <p:stCondLst>
                                            <p:cond delay="499"/>
                                          </p:stCondLst>
                                        </p:cTn>
                                        <p:tgtEl>
                                          <p:spTgt spid="30"/>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childTnLst>
                                </p:cTn>
                              </p:par>
                            </p:childTnLst>
                          </p:cTn>
                        </p:par>
                      </p:childTnLst>
                    </p:cTn>
                  </p:par>
                  <p:par>
                    <p:cTn id="92" fill="hold">
                      <p:stCondLst>
                        <p:cond delay="indefinite"/>
                      </p:stCondLst>
                      <p:childTnLst>
                        <p:par>
                          <p:cTn id="93" fill="hold">
                            <p:stCondLst>
                              <p:cond delay="0"/>
                            </p:stCondLst>
                            <p:childTnLst>
                              <p:par>
                                <p:cTn id="94" presetID="26" presetClass="emph" presetSubtype="0" fill="hold" grpId="1" nodeType="clickEffect">
                                  <p:stCondLst>
                                    <p:cond delay="0"/>
                                  </p:stCondLst>
                                  <p:childTnLst>
                                    <p:animEffect transition="out" filter="fade">
                                      <p:cBhvr>
                                        <p:cTn id="95" dur="500" tmFilter="0, 0; .2, .5; .8, .5; 1, 0"/>
                                        <p:tgtEl>
                                          <p:spTgt spid="44"/>
                                        </p:tgtEl>
                                      </p:cBhvr>
                                    </p:animEffect>
                                    <p:animScale>
                                      <p:cBhvr>
                                        <p:cTn id="96" dur="250" autoRev="1" fill="hold"/>
                                        <p:tgtEl>
                                          <p:spTgt spid="44"/>
                                        </p:tgtEl>
                                      </p:cBhvr>
                                      <p:by x="105000" y="105000"/>
                                    </p:animScale>
                                  </p:childTnLst>
                                </p:cTn>
                              </p:par>
                            </p:childTnLst>
                          </p:cTn>
                        </p:par>
                        <p:par>
                          <p:cTn id="97" fill="hold">
                            <p:stCondLst>
                              <p:cond delay="500"/>
                            </p:stCondLst>
                            <p:childTnLst>
                              <p:par>
                                <p:cTn id="98" presetID="10" presetClass="exit" presetSubtype="0" fill="hold" grpId="2" nodeType="afterEffect">
                                  <p:stCondLst>
                                    <p:cond delay="0"/>
                                  </p:stCondLst>
                                  <p:childTnLst>
                                    <p:animEffect transition="out" filter="fade">
                                      <p:cBhvr>
                                        <p:cTn id="99" dur="500"/>
                                        <p:tgtEl>
                                          <p:spTgt spid="44"/>
                                        </p:tgtEl>
                                      </p:cBhvr>
                                    </p:animEffect>
                                    <p:set>
                                      <p:cBhvr>
                                        <p:cTn id="100" dur="1" fill="hold">
                                          <p:stCondLst>
                                            <p:cond delay="499"/>
                                          </p:stCondLst>
                                        </p:cTn>
                                        <p:tgtEl>
                                          <p:spTgt spid="44"/>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500"/>
                                        <p:tgtEl>
                                          <p:spTgt spid="48"/>
                                        </p:tgtEl>
                                      </p:cBhvr>
                                    </p:animEffect>
                                  </p:childTnLst>
                                </p:cTn>
                              </p:par>
                            </p:childTnLst>
                          </p:cTn>
                        </p:par>
                        <p:par>
                          <p:cTn id="106" fill="hold">
                            <p:stCondLst>
                              <p:cond delay="500"/>
                            </p:stCondLst>
                            <p:childTnLst>
                              <p:par>
                                <p:cTn id="107" presetID="10" presetClass="exit" presetSubtype="0" fill="hold" grpId="1" nodeType="afterEffect">
                                  <p:stCondLst>
                                    <p:cond delay="0"/>
                                  </p:stCondLst>
                                  <p:childTnLst>
                                    <p:animEffect transition="out" filter="fade">
                                      <p:cBhvr>
                                        <p:cTn id="108" dur="500"/>
                                        <p:tgtEl>
                                          <p:spTgt spid="31"/>
                                        </p:tgtEl>
                                      </p:cBhvr>
                                    </p:animEffect>
                                    <p:set>
                                      <p:cBhvr>
                                        <p:cTn id="109" dur="1" fill="hold">
                                          <p:stCondLst>
                                            <p:cond delay="499"/>
                                          </p:stCondLst>
                                        </p:cTn>
                                        <p:tgtEl>
                                          <p:spTgt spid="31"/>
                                        </p:tgtEl>
                                        <p:attrNameLst>
                                          <p:attrName>style.visibility</p:attrName>
                                        </p:attrNameLst>
                                      </p:cBhvr>
                                      <p:to>
                                        <p:strVal val="hidden"/>
                                      </p:to>
                                    </p:set>
                                  </p:childTnLst>
                                </p:cTn>
                              </p:par>
                            </p:childTnLst>
                          </p:cTn>
                        </p:par>
                        <p:par>
                          <p:cTn id="110" fill="hold">
                            <p:stCondLst>
                              <p:cond delay="1000"/>
                            </p:stCondLst>
                            <p:childTnLst>
                              <p:par>
                                <p:cTn id="111" presetID="10" presetClass="entr" presetSubtype="0" fill="hold" grpId="0" nodeType="after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childTnLst>
                          </p:cTn>
                        </p:par>
                        <p:par>
                          <p:cTn id="114" fill="hold">
                            <p:stCondLst>
                              <p:cond delay="1500"/>
                            </p:stCondLst>
                            <p:childTnLst>
                              <p:par>
                                <p:cTn id="115" presetID="10" presetClass="exit" presetSubtype="0" fill="hold" nodeType="afterEffect">
                                  <p:stCondLst>
                                    <p:cond delay="0"/>
                                  </p:stCondLst>
                                  <p:childTnLst>
                                    <p:animEffect transition="out" filter="fade">
                                      <p:cBhvr>
                                        <p:cTn id="116" dur="1000"/>
                                        <p:tgtEl>
                                          <p:spTgt spid="48"/>
                                        </p:tgtEl>
                                      </p:cBhvr>
                                    </p:animEffect>
                                    <p:set>
                                      <p:cBhvr>
                                        <p:cTn id="117" dur="1" fill="hold">
                                          <p:stCondLst>
                                            <p:cond delay="999"/>
                                          </p:stCondLst>
                                        </p:cTn>
                                        <p:tgtEl>
                                          <p:spTgt spid="48"/>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26" presetClass="emph" presetSubtype="0" fill="hold" grpId="1" nodeType="clickEffect">
                                  <p:stCondLst>
                                    <p:cond delay="0"/>
                                  </p:stCondLst>
                                  <p:childTnLst>
                                    <p:animEffect transition="out" filter="fade">
                                      <p:cBhvr>
                                        <p:cTn id="121" dur="500" tmFilter="0, 0; .2, .5; .8, .5; 1, 0"/>
                                        <p:tgtEl>
                                          <p:spTgt spid="47"/>
                                        </p:tgtEl>
                                      </p:cBhvr>
                                    </p:animEffect>
                                    <p:animScale>
                                      <p:cBhvr>
                                        <p:cTn id="122" dur="250" autoRev="1" fill="hold"/>
                                        <p:tgtEl>
                                          <p:spTgt spid="47"/>
                                        </p:tgtEl>
                                      </p:cBhvr>
                                      <p:by x="105000" y="105000"/>
                                    </p:animScale>
                                  </p:childTnLst>
                                </p:cTn>
                              </p:par>
                            </p:childTnLst>
                          </p:cTn>
                        </p:par>
                        <p:par>
                          <p:cTn id="123" fill="hold">
                            <p:stCondLst>
                              <p:cond delay="500"/>
                            </p:stCondLst>
                            <p:childTnLst>
                              <p:par>
                                <p:cTn id="124" presetID="10" presetClass="exit" presetSubtype="0" fill="hold" grpId="2" nodeType="afterEffect">
                                  <p:stCondLst>
                                    <p:cond delay="0"/>
                                  </p:stCondLst>
                                  <p:childTnLst>
                                    <p:animEffect transition="out" filter="fade">
                                      <p:cBhvr>
                                        <p:cTn id="125" dur="500"/>
                                        <p:tgtEl>
                                          <p:spTgt spid="47"/>
                                        </p:tgtEl>
                                      </p:cBhvr>
                                    </p:animEffect>
                                    <p:set>
                                      <p:cBhvr>
                                        <p:cTn id="126" dur="1" fill="hold">
                                          <p:stCondLst>
                                            <p:cond delay="499"/>
                                          </p:stCondLst>
                                        </p:cTn>
                                        <p:tgtEl>
                                          <p:spTgt spid="47"/>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500"/>
                                        <p:tgtEl>
                                          <p:spTgt spid="51"/>
                                        </p:tgtEl>
                                      </p:cBhvr>
                                    </p:animEffect>
                                  </p:childTnLst>
                                </p:cTn>
                              </p:par>
                            </p:childTnLst>
                          </p:cTn>
                        </p:par>
                        <p:par>
                          <p:cTn id="132" fill="hold">
                            <p:stCondLst>
                              <p:cond delay="500"/>
                            </p:stCondLst>
                            <p:childTnLst>
                              <p:par>
                                <p:cTn id="133" presetID="1" presetClass="entr" presetSubtype="0" fill="hold" grpId="0" nodeType="after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childTnLst>
                          </p:cTn>
                        </p:par>
                        <p:par>
                          <p:cTn id="135" fill="hold">
                            <p:stCondLst>
                              <p:cond delay="500"/>
                            </p:stCondLst>
                            <p:childTnLst>
                              <p:par>
                                <p:cTn id="136" presetID="10" presetClass="exit" presetSubtype="0" fill="hold" grpId="1" nodeType="afterEffect">
                                  <p:stCondLst>
                                    <p:cond delay="0"/>
                                  </p:stCondLst>
                                  <p:childTnLst>
                                    <p:animEffect transition="out" filter="fade">
                                      <p:cBhvr>
                                        <p:cTn id="137" dur="500"/>
                                        <p:tgtEl>
                                          <p:spTgt spid="35"/>
                                        </p:tgtEl>
                                      </p:cBhvr>
                                    </p:animEffect>
                                    <p:set>
                                      <p:cBhvr>
                                        <p:cTn id="138" dur="1" fill="hold">
                                          <p:stCondLst>
                                            <p:cond delay="499"/>
                                          </p:stCondLst>
                                        </p:cTn>
                                        <p:tgtEl>
                                          <p:spTgt spid="35"/>
                                        </p:tgtEl>
                                        <p:attrNameLst>
                                          <p:attrName>style.visibility</p:attrName>
                                        </p:attrNameLst>
                                      </p:cBhvr>
                                      <p:to>
                                        <p:strVal val="hidden"/>
                                      </p:to>
                                    </p:set>
                                  </p:childTnLst>
                                </p:cTn>
                              </p:par>
                            </p:childTnLst>
                          </p:cTn>
                        </p:par>
                        <p:par>
                          <p:cTn id="139" fill="hold">
                            <p:stCondLst>
                              <p:cond delay="1000"/>
                            </p:stCondLst>
                            <p:childTnLst>
                              <p:par>
                                <p:cTn id="140" presetID="10" presetClass="exit" presetSubtype="0" fill="hold" nodeType="afterEffect">
                                  <p:stCondLst>
                                    <p:cond delay="0"/>
                                  </p:stCondLst>
                                  <p:childTnLst>
                                    <p:animEffect transition="out" filter="fade">
                                      <p:cBhvr>
                                        <p:cTn id="141" dur="1000"/>
                                        <p:tgtEl>
                                          <p:spTgt spid="51"/>
                                        </p:tgtEl>
                                      </p:cBhvr>
                                    </p:animEffect>
                                    <p:set>
                                      <p:cBhvr>
                                        <p:cTn id="142" dur="1" fill="hold">
                                          <p:stCondLst>
                                            <p:cond delay="999"/>
                                          </p:stCondLst>
                                        </p:cTn>
                                        <p:tgtEl>
                                          <p:spTgt spid="51"/>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26" presetClass="emph" presetSubtype="0" fill="hold" grpId="2" nodeType="clickEffect">
                                  <p:stCondLst>
                                    <p:cond delay="0"/>
                                  </p:stCondLst>
                                  <p:childTnLst>
                                    <p:animEffect transition="out" filter="fade">
                                      <p:cBhvr>
                                        <p:cTn id="146" dur="500" tmFilter="0, 0; .2, .5; .8, .5; 1, 0"/>
                                        <p:tgtEl>
                                          <p:spTgt spid="54"/>
                                        </p:tgtEl>
                                      </p:cBhvr>
                                    </p:animEffect>
                                    <p:animScale>
                                      <p:cBhvr>
                                        <p:cTn id="147" dur="250" autoRev="1" fill="hold"/>
                                        <p:tgtEl>
                                          <p:spTgt spid="54"/>
                                        </p:tgtEl>
                                      </p:cBhvr>
                                      <p:by x="105000" y="105000"/>
                                    </p:animScale>
                                  </p:childTnLst>
                                </p:cTn>
                              </p:par>
                            </p:childTnLst>
                          </p:cTn>
                        </p:par>
                        <p:par>
                          <p:cTn id="148" fill="hold">
                            <p:stCondLst>
                              <p:cond delay="500"/>
                            </p:stCondLst>
                            <p:childTnLst>
                              <p:par>
                                <p:cTn id="149" presetID="10" presetClass="exit" presetSubtype="0" fill="hold" grpId="1" nodeType="afterEffect">
                                  <p:stCondLst>
                                    <p:cond delay="0"/>
                                  </p:stCondLst>
                                  <p:childTnLst>
                                    <p:animEffect transition="out" filter="fade">
                                      <p:cBhvr>
                                        <p:cTn id="150" dur="1000"/>
                                        <p:tgtEl>
                                          <p:spTgt spid="54"/>
                                        </p:tgtEl>
                                      </p:cBhvr>
                                    </p:animEffect>
                                    <p:set>
                                      <p:cBhvr>
                                        <p:cTn id="151" dur="1" fill="hold">
                                          <p:stCondLst>
                                            <p:cond delay="999"/>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0" grpId="1" animBg="1"/>
      <p:bldP spid="31" grpId="0" animBg="1"/>
      <p:bldP spid="31" grpId="1" animBg="1"/>
      <p:bldP spid="35" grpId="0" animBg="1"/>
      <p:bldP spid="35" grpId="1" animBg="1"/>
      <p:bldP spid="44" grpId="0" animBg="1"/>
      <p:bldP spid="44" grpId="1" animBg="1"/>
      <p:bldP spid="44" grpId="2" animBg="1"/>
      <p:bldP spid="47" grpId="0" animBg="1"/>
      <p:bldP spid="47" grpId="1" animBg="1"/>
      <p:bldP spid="47" grpId="2" animBg="1"/>
      <p:bldP spid="54" grpId="0" animBg="1"/>
      <p:bldP spid="54" grpId="1" animBg="1"/>
      <p:bldP spid="54"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BBEEE79-587E-4DC6-67F6-34CD1935C3C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E9D53B7-7C68-8E8A-DDE0-9D8D3AA088ED}"/>
              </a:ext>
            </a:extLst>
          </p:cNvPr>
          <p:cNvSpPr>
            <a:spLocks noGrp="1"/>
          </p:cNvSpPr>
          <p:nvPr>
            <p:ph type="title"/>
          </p:nvPr>
        </p:nvSpPr>
        <p:spPr/>
        <p:txBody>
          <a:bodyPr/>
          <a:lstStyle/>
          <a:p>
            <a:r>
              <a:rPr lang="en-GB" noProof="0" dirty="0"/>
              <a:t>Asynchronous approaches</a:t>
            </a:r>
          </a:p>
        </p:txBody>
      </p:sp>
      <p:sp>
        <p:nvSpPr>
          <p:cNvPr id="3" name="Text Placeholder 2">
            <a:extLst>
              <a:ext uri="{FF2B5EF4-FFF2-40B4-BE49-F238E27FC236}">
                <a16:creationId xmlns:a16="http://schemas.microsoft.com/office/drawing/2014/main" id="{C8A42ED6-F3D7-00DD-DFA4-AE6BD05E6CF4}"/>
              </a:ext>
            </a:extLst>
          </p:cNvPr>
          <p:cNvSpPr>
            <a:spLocks noGrp="1"/>
          </p:cNvSpPr>
          <p:nvPr>
            <p:ph type="body" idx="1"/>
          </p:nvPr>
        </p:nvSpPr>
        <p:spPr/>
        <p:txBody>
          <a:bodyPr/>
          <a:lstStyle/>
          <a:p>
            <a:r>
              <a:rPr lang="en-GB" noProof="0" dirty="0"/>
              <a:t>We've seen how callback functions like </a:t>
            </a:r>
            <a:r>
              <a:rPr lang="en-GB" noProof="0" dirty="0" err="1"/>
              <a:t>setTimeout</a:t>
            </a:r>
            <a:r>
              <a:rPr lang="en-GB" noProof="0" dirty="0"/>
              <a:t> work in JavaScript to make an async call</a:t>
            </a:r>
          </a:p>
          <a:p>
            <a:r>
              <a:rPr lang="en-GB" noProof="0" dirty="0"/>
              <a:t>But, multiple callbacks within callbacks can get quite complex, especially in error conditions, so the concept of a </a:t>
            </a:r>
            <a:r>
              <a:rPr lang="en-GB" b="1" noProof="0" dirty="0"/>
              <a:t>promise</a:t>
            </a:r>
            <a:r>
              <a:rPr lang="en-GB" noProof="0" dirty="0"/>
              <a:t>, was added to the language. Callbacks are still used</a:t>
            </a:r>
          </a:p>
          <a:p>
            <a:r>
              <a:rPr lang="en-GB" noProof="0" dirty="0"/>
              <a:t>A further addition to the language is </a:t>
            </a:r>
            <a:r>
              <a:rPr lang="en-GB" b="1" noProof="0" dirty="0"/>
              <a:t>async</a:t>
            </a:r>
            <a:r>
              <a:rPr lang="en-GB" noProof="0" dirty="0"/>
              <a:t> and </a:t>
            </a:r>
            <a:r>
              <a:rPr lang="en-GB" b="1" noProof="0" dirty="0"/>
              <a:t>await</a:t>
            </a:r>
            <a:r>
              <a:rPr lang="en-GB" noProof="0" dirty="0"/>
              <a:t>. These further simplify the coding of asynchronous operations using promises</a:t>
            </a:r>
          </a:p>
          <a:p>
            <a:r>
              <a:rPr lang="en-GB" noProof="0" dirty="0"/>
              <a:t>Callback, promise and async / await are a little tricky to get your head around at first and are areas that interviewers often ask about to differentiate basic JavaScript programmers from those with an understanding of asynchronous operations handled by these JavaScript language features</a:t>
            </a:r>
          </a:p>
          <a:p>
            <a:r>
              <a:rPr lang="en-GB" noProof="0" dirty="0"/>
              <a:t>To reiterate: a callback is a function which is passed to another function as an argument. The function "registers" the callback. i.e. it notes the function's execution address. If the function is asynchronous, when the main function, e.g. fetch or </a:t>
            </a:r>
            <a:r>
              <a:rPr lang="en-GB" noProof="0" dirty="0" err="1"/>
              <a:t>setTimeout</a:t>
            </a:r>
            <a:r>
              <a:rPr lang="en-GB" noProof="0" dirty="0"/>
              <a:t>, is ready, e.g., reading data from a file or database or whatever it is that's likely to take time, it will pass the registered callback function to the event queue to be executed when the thread is available. Using a promise is just a syntactically better way of achieving the same result</a:t>
            </a:r>
          </a:p>
          <a:p>
            <a:r>
              <a:rPr lang="en-GB" noProof="0" dirty="0"/>
              <a:t>If the callback is not asynchronous, when the parent function is ready, it will execute the callback synchronously</a:t>
            </a:r>
          </a:p>
        </p:txBody>
      </p:sp>
      <p:sp>
        <p:nvSpPr>
          <p:cNvPr id="4" name="Slide Number Placeholder 3">
            <a:extLst>
              <a:ext uri="{FF2B5EF4-FFF2-40B4-BE49-F238E27FC236}">
                <a16:creationId xmlns:a16="http://schemas.microsoft.com/office/drawing/2014/main" id="{10E00341-5BAE-2FBB-03AC-5EB99FA07CD9}"/>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13280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5242B05-DD5E-A622-E5B1-93DE3086245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92AC43-00FC-412F-955C-607A3EB3E9EA}"/>
              </a:ext>
            </a:extLst>
          </p:cNvPr>
          <p:cNvSpPr>
            <a:spLocks noGrp="1"/>
          </p:cNvSpPr>
          <p:nvPr>
            <p:ph type="title"/>
          </p:nvPr>
        </p:nvSpPr>
        <p:spPr/>
        <p:txBody>
          <a:bodyPr/>
          <a:lstStyle/>
          <a:p>
            <a:r>
              <a:rPr lang="en-GB" noProof="0" dirty="0"/>
              <a:t>Promises</a:t>
            </a:r>
          </a:p>
        </p:txBody>
      </p:sp>
      <p:sp>
        <p:nvSpPr>
          <p:cNvPr id="3" name="Text Placeholder 2">
            <a:extLst>
              <a:ext uri="{FF2B5EF4-FFF2-40B4-BE49-F238E27FC236}">
                <a16:creationId xmlns:a16="http://schemas.microsoft.com/office/drawing/2014/main" id="{613465AB-5664-4AB1-AE0B-83766DBDEC46}"/>
              </a:ext>
            </a:extLst>
          </p:cNvPr>
          <p:cNvSpPr>
            <a:spLocks noGrp="1"/>
          </p:cNvSpPr>
          <p:nvPr>
            <p:ph type="body" idx="1"/>
          </p:nvPr>
        </p:nvSpPr>
        <p:spPr/>
        <p:txBody>
          <a:bodyPr/>
          <a:lstStyle/>
          <a:p>
            <a:r>
              <a:rPr lang="en-GB" noProof="0" dirty="0"/>
              <a:t>A promise is called that because it is a promise, agreed now, but to do something later. A promise is an </a:t>
            </a:r>
            <a:r>
              <a:rPr lang="en-GB" b="1" noProof="0" dirty="0"/>
              <a:t>object</a:t>
            </a:r>
            <a:r>
              <a:rPr lang="en-GB" noProof="0" dirty="0"/>
              <a:t> with two key properties: state and result. It has three states: pending, fulfilled or rejected. Whilst it waits for an asynchronous event to complete, it has a status of “pending”. This is just a newer way of implementing asynchronous operations instead of callbacks</a:t>
            </a:r>
          </a:p>
          <a:p>
            <a:r>
              <a:rPr lang="en-GB" noProof="0" dirty="0"/>
              <a:t>We can create promise-based code and we use promise-based code from others</a:t>
            </a:r>
          </a:p>
          <a:p>
            <a:endParaRPr lang="en-GB" noProof="0" dirty="0"/>
          </a:p>
          <a:p>
            <a:endParaRPr lang="en-GB" noProof="0" dirty="0"/>
          </a:p>
          <a:p>
            <a:endParaRPr lang="en-GB" noProof="0" dirty="0"/>
          </a:p>
          <a:p>
            <a:endParaRPr lang="en-GB" noProof="0" dirty="0"/>
          </a:p>
          <a:p>
            <a:endParaRPr lang="en-GB" noProof="0" dirty="0"/>
          </a:p>
          <a:p>
            <a:pPr marL="152396" indent="0">
              <a:buNone/>
            </a:pPr>
            <a:endParaRPr lang="en-GB" noProof="0" dirty="0"/>
          </a:p>
          <a:p>
            <a:endParaRPr lang="en-GB" noProof="0" dirty="0"/>
          </a:p>
          <a:p>
            <a:endParaRPr lang="en-GB" noProof="0" dirty="0"/>
          </a:p>
        </p:txBody>
      </p:sp>
      <p:sp>
        <p:nvSpPr>
          <p:cNvPr id="4" name="Slide Number Placeholder 3">
            <a:extLst>
              <a:ext uri="{FF2B5EF4-FFF2-40B4-BE49-F238E27FC236}">
                <a16:creationId xmlns:a16="http://schemas.microsoft.com/office/drawing/2014/main" id="{10817709-7E1D-4350-94B6-D3A711AF0C5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69EC5CC5-FD4D-4F7B-89A0-95A69F957491}"/>
              </a:ext>
            </a:extLst>
          </p:cNvPr>
          <p:cNvPicPr/>
          <p:nvPr/>
        </p:nvPicPr>
        <p:blipFill>
          <a:blip r:embed="rId3"/>
          <a:stretch>
            <a:fillRect/>
          </a:stretch>
        </p:blipFill>
        <p:spPr>
          <a:xfrm>
            <a:off x="3283438" y="3133819"/>
            <a:ext cx="4501319" cy="2338832"/>
          </a:xfrm>
          <a:prstGeom prst="rect">
            <a:avLst/>
          </a:prstGeom>
        </p:spPr>
      </p:pic>
    </p:spTree>
    <p:extLst>
      <p:ext uri="{BB962C8B-B14F-4D97-AF65-F5344CB8AC3E}">
        <p14:creationId xmlns:p14="http://schemas.microsoft.com/office/powerpoint/2010/main" val="755335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83212B-7460-1F53-426F-1CFC3E0CB5F4}"/>
              </a:ext>
            </a:extLst>
          </p:cNvPr>
          <p:cNvPicPr/>
          <p:nvPr/>
        </p:nvPicPr>
        <p:blipFill>
          <a:blip r:embed="rId3"/>
          <a:stretch>
            <a:fillRect/>
          </a:stretch>
        </p:blipFill>
        <p:spPr>
          <a:xfrm>
            <a:off x="4741894" y="4622303"/>
            <a:ext cx="2959996" cy="2043651"/>
          </a:xfrm>
          <a:prstGeom prst="rect">
            <a:avLst/>
          </a:prstGeom>
        </p:spPr>
      </p:pic>
      <p:pic>
        <p:nvPicPr>
          <p:cNvPr id="5" name="Picture 4">
            <a:extLst>
              <a:ext uri="{FF2B5EF4-FFF2-40B4-BE49-F238E27FC236}">
                <a16:creationId xmlns:a16="http://schemas.microsoft.com/office/drawing/2014/main" id="{E622EF09-1EC3-294F-1AC3-9F13A240BA2D}"/>
              </a:ext>
            </a:extLst>
          </p:cNvPr>
          <p:cNvPicPr>
            <a:picLocks noChangeAspect="1"/>
          </p:cNvPicPr>
          <p:nvPr/>
        </p:nvPicPr>
        <p:blipFill>
          <a:blip r:embed="rId4"/>
          <a:stretch>
            <a:fillRect/>
          </a:stretch>
        </p:blipFill>
        <p:spPr>
          <a:xfrm>
            <a:off x="7672439" y="584212"/>
            <a:ext cx="4207884" cy="1558476"/>
          </a:xfrm>
          <a:prstGeom prst="rect">
            <a:avLst/>
          </a:prstGeom>
        </p:spPr>
      </p:pic>
      <p:pic>
        <p:nvPicPr>
          <p:cNvPr id="78" name="Picture 77">
            <a:extLst>
              <a:ext uri="{FF2B5EF4-FFF2-40B4-BE49-F238E27FC236}">
                <a16:creationId xmlns:a16="http://schemas.microsoft.com/office/drawing/2014/main" id="{4C12B3E4-F6DB-835E-87C4-E3B896F58179}"/>
              </a:ext>
            </a:extLst>
          </p:cNvPr>
          <p:cNvPicPr>
            <a:picLocks noChangeAspect="1"/>
          </p:cNvPicPr>
          <p:nvPr/>
        </p:nvPicPr>
        <p:blipFill>
          <a:blip r:embed="rId5"/>
          <a:stretch>
            <a:fillRect/>
          </a:stretch>
        </p:blipFill>
        <p:spPr>
          <a:xfrm>
            <a:off x="76520" y="1430370"/>
            <a:ext cx="5458587" cy="1428949"/>
          </a:xfrm>
          <a:prstGeom prst="rect">
            <a:avLst/>
          </a:prstGeom>
        </p:spPr>
      </p:pic>
      <p:sp>
        <p:nvSpPr>
          <p:cNvPr id="3" name="Text Placeholder 2">
            <a:extLst>
              <a:ext uri="{FF2B5EF4-FFF2-40B4-BE49-F238E27FC236}">
                <a16:creationId xmlns:a16="http://schemas.microsoft.com/office/drawing/2014/main" id="{9C83429A-9C50-E6F5-7FF3-8F17C34092F0}"/>
              </a:ext>
            </a:extLst>
          </p:cNvPr>
          <p:cNvSpPr>
            <a:spLocks noGrp="1"/>
          </p:cNvSpPr>
          <p:nvPr>
            <p:ph type="body" idx="1"/>
          </p:nvPr>
        </p:nvSpPr>
        <p:spPr>
          <a:xfrm>
            <a:off x="95555" y="4415246"/>
            <a:ext cx="5524660" cy="2063932"/>
          </a:xfrm>
        </p:spPr>
        <p:txBody>
          <a:bodyPr/>
          <a:lstStyle/>
          <a:p>
            <a:r>
              <a:rPr lang="en-GB" noProof="0" dirty="0"/>
              <a:t>Written using full functions to illustrate sequence</a:t>
            </a:r>
          </a:p>
          <a:p>
            <a:r>
              <a:rPr lang="en-GB" noProof="0" dirty="0"/>
              <a:t>Typically use arrow functions</a:t>
            </a:r>
          </a:p>
          <a:p>
            <a:r>
              <a:rPr lang="en-GB" noProof="0" dirty="0"/>
              <a:t>Typically create promise in a function</a:t>
            </a:r>
          </a:p>
        </p:txBody>
      </p:sp>
      <p:sp>
        <p:nvSpPr>
          <p:cNvPr id="4" name="Slide Number Placeholder 3">
            <a:extLst>
              <a:ext uri="{FF2B5EF4-FFF2-40B4-BE49-F238E27FC236}">
                <a16:creationId xmlns:a16="http://schemas.microsoft.com/office/drawing/2014/main" id="{6E9028BC-0117-E31D-9804-6E9CE96001D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8" name="Picture 7">
            <a:extLst>
              <a:ext uri="{FF2B5EF4-FFF2-40B4-BE49-F238E27FC236}">
                <a16:creationId xmlns:a16="http://schemas.microsoft.com/office/drawing/2014/main" id="{BD452933-6500-8A64-2077-3C0F25F969BC}"/>
              </a:ext>
            </a:extLst>
          </p:cNvPr>
          <p:cNvPicPr>
            <a:picLocks noChangeAspect="1"/>
          </p:cNvPicPr>
          <p:nvPr/>
        </p:nvPicPr>
        <p:blipFill>
          <a:blip r:embed="rId6"/>
          <a:stretch>
            <a:fillRect/>
          </a:stretch>
        </p:blipFill>
        <p:spPr>
          <a:xfrm>
            <a:off x="7961331" y="2312180"/>
            <a:ext cx="3317445" cy="1045223"/>
          </a:xfrm>
          <a:prstGeom prst="rect">
            <a:avLst/>
          </a:prstGeom>
        </p:spPr>
      </p:pic>
      <p:pic>
        <p:nvPicPr>
          <p:cNvPr id="10" name="Picture 9">
            <a:extLst>
              <a:ext uri="{FF2B5EF4-FFF2-40B4-BE49-F238E27FC236}">
                <a16:creationId xmlns:a16="http://schemas.microsoft.com/office/drawing/2014/main" id="{4EC175B8-915B-FF79-711C-62FBDDD62295}"/>
              </a:ext>
            </a:extLst>
          </p:cNvPr>
          <p:cNvPicPr>
            <a:picLocks noChangeAspect="1"/>
          </p:cNvPicPr>
          <p:nvPr/>
        </p:nvPicPr>
        <p:blipFill>
          <a:blip r:embed="rId7"/>
          <a:stretch>
            <a:fillRect/>
          </a:stretch>
        </p:blipFill>
        <p:spPr>
          <a:xfrm>
            <a:off x="7974723" y="3503364"/>
            <a:ext cx="3341772" cy="1045223"/>
          </a:xfrm>
          <a:prstGeom prst="rect">
            <a:avLst/>
          </a:prstGeom>
        </p:spPr>
      </p:pic>
      <p:pic>
        <p:nvPicPr>
          <p:cNvPr id="12" name="Picture 11">
            <a:extLst>
              <a:ext uri="{FF2B5EF4-FFF2-40B4-BE49-F238E27FC236}">
                <a16:creationId xmlns:a16="http://schemas.microsoft.com/office/drawing/2014/main" id="{B4CE18FB-12BD-5937-72F1-EEC5F3D5D562}"/>
              </a:ext>
            </a:extLst>
          </p:cNvPr>
          <p:cNvPicPr>
            <a:picLocks noChangeAspect="1"/>
          </p:cNvPicPr>
          <p:nvPr/>
        </p:nvPicPr>
        <p:blipFill>
          <a:blip r:embed="rId8"/>
          <a:stretch>
            <a:fillRect/>
          </a:stretch>
        </p:blipFill>
        <p:spPr>
          <a:xfrm>
            <a:off x="7952207" y="4787971"/>
            <a:ext cx="4019018" cy="929568"/>
          </a:xfrm>
          <a:prstGeom prst="rect">
            <a:avLst/>
          </a:prstGeom>
        </p:spPr>
      </p:pic>
      <p:sp>
        <p:nvSpPr>
          <p:cNvPr id="42" name="Arc 41">
            <a:extLst>
              <a:ext uri="{FF2B5EF4-FFF2-40B4-BE49-F238E27FC236}">
                <a16:creationId xmlns:a16="http://schemas.microsoft.com/office/drawing/2014/main" id="{013DE6C6-64FE-C2F1-EF56-27F809417A82}"/>
              </a:ext>
            </a:extLst>
          </p:cNvPr>
          <p:cNvSpPr/>
          <p:nvPr/>
        </p:nvSpPr>
        <p:spPr>
          <a:xfrm>
            <a:off x="4600280" y="2065885"/>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nvGrpSpPr>
          <p:cNvPr id="73" name="Group 72">
            <a:extLst>
              <a:ext uri="{FF2B5EF4-FFF2-40B4-BE49-F238E27FC236}">
                <a16:creationId xmlns:a16="http://schemas.microsoft.com/office/drawing/2014/main" id="{A44D0F4C-752A-7247-3989-374672C94C3C}"/>
              </a:ext>
            </a:extLst>
          </p:cNvPr>
          <p:cNvGrpSpPr/>
          <p:nvPr/>
        </p:nvGrpSpPr>
        <p:grpSpPr>
          <a:xfrm>
            <a:off x="1444588" y="73573"/>
            <a:ext cx="7069997" cy="1877092"/>
            <a:chOff x="1457213" y="75084"/>
            <a:chExt cx="7374368" cy="1877092"/>
          </a:xfrm>
        </p:grpSpPr>
        <p:sp>
          <p:nvSpPr>
            <p:cNvPr id="47" name="Rectangle 46">
              <a:extLst>
                <a:ext uri="{FF2B5EF4-FFF2-40B4-BE49-F238E27FC236}">
                  <a16:creationId xmlns:a16="http://schemas.microsoft.com/office/drawing/2014/main" id="{1190ECD4-0FA9-7A38-A175-35BB840D3AD6}"/>
                </a:ext>
              </a:extLst>
            </p:cNvPr>
            <p:cNvSpPr/>
            <p:nvPr/>
          </p:nvSpPr>
          <p:spPr>
            <a:xfrm>
              <a:off x="1457213" y="1695000"/>
              <a:ext cx="1000237"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46" name="Freeform: Shape 45">
              <a:extLst>
                <a:ext uri="{FF2B5EF4-FFF2-40B4-BE49-F238E27FC236}">
                  <a16:creationId xmlns:a16="http://schemas.microsoft.com/office/drawing/2014/main" id="{3E0C9432-4306-9D45-2264-BD7CBC5A5593}"/>
                </a:ext>
              </a:extLst>
            </p:cNvPr>
            <p:cNvSpPr/>
            <p:nvPr/>
          </p:nvSpPr>
          <p:spPr>
            <a:xfrm>
              <a:off x="1810929" y="75084"/>
              <a:ext cx="7020652" cy="1629002"/>
            </a:xfrm>
            <a:custGeom>
              <a:avLst/>
              <a:gdLst>
                <a:gd name="connsiteX0" fmla="*/ 0 w 5467546"/>
                <a:gd name="connsiteY0" fmla="*/ 1880956 h 1880956"/>
                <a:gd name="connsiteX1" fmla="*/ 2960016 w 5467546"/>
                <a:gd name="connsiteY1" fmla="*/ 23875 h 1880956"/>
                <a:gd name="connsiteX2" fmla="*/ 5467546 w 5467546"/>
                <a:gd name="connsiteY2" fmla="*/ 778019 h 1880956"/>
                <a:gd name="connsiteX3" fmla="*/ 5467546 w 5467546"/>
                <a:gd name="connsiteY3" fmla="*/ 778019 h 1880956"/>
              </a:gdLst>
              <a:ahLst/>
              <a:cxnLst>
                <a:cxn ang="0">
                  <a:pos x="connsiteX0" y="connsiteY0"/>
                </a:cxn>
                <a:cxn ang="0">
                  <a:pos x="connsiteX1" y="connsiteY1"/>
                </a:cxn>
                <a:cxn ang="0">
                  <a:pos x="connsiteX2" y="connsiteY2"/>
                </a:cxn>
                <a:cxn ang="0">
                  <a:pos x="connsiteX3" y="connsiteY3"/>
                </a:cxn>
              </a:cxnLst>
              <a:rect l="l" t="t" r="r" b="b"/>
              <a:pathLst>
                <a:path w="5467546" h="1880956">
                  <a:moveTo>
                    <a:pt x="0" y="1880956"/>
                  </a:moveTo>
                  <a:cubicBezTo>
                    <a:pt x="1024379" y="1044327"/>
                    <a:pt x="2048758" y="207698"/>
                    <a:pt x="2960016" y="23875"/>
                  </a:cubicBezTo>
                  <a:cubicBezTo>
                    <a:pt x="3871274" y="-159948"/>
                    <a:pt x="5467546" y="778019"/>
                    <a:pt x="5467546" y="778019"/>
                  </a:cubicBezTo>
                  <a:lnTo>
                    <a:pt x="5467546" y="778019"/>
                  </a:ln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grpSp>
        <p:nvGrpSpPr>
          <p:cNvPr id="74" name="Group 73">
            <a:extLst>
              <a:ext uri="{FF2B5EF4-FFF2-40B4-BE49-F238E27FC236}">
                <a16:creationId xmlns:a16="http://schemas.microsoft.com/office/drawing/2014/main" id="{90D09E14-E37D-0286-4FD4-D16262D7CCF0}"/>
              </a:ext>
            </a:extLst>
          </p:cNvPr>
          <p:cNvGrpSpPr/>
          <p:nvPr/>
        </p:nvGrpSpPr>
        <p:grpSpPr>
          <a:xfrm>
            <a:off x="874067" y="1213871"/>
            <a:ext cx="8727798" cy="1185411"/>
            <a:chOff x="879400" y="1213506"/>
            <a:chExt cx="8727798" cy="1185411"/>
          </a:xfrm>
        </p:grpSpPr>
        <p:sp>
          <p:nvSpPr>
            <p:cNvPr id="58" name="Rectangle 57">
              <a:extLst>
                <a:ext uri="{FF2B5EF4-FFF2-40B4-BE49-F238E27FC236}">
                  <a16:creationId xmlns:a16="http://schemas.microsoft.com/office/drawing/2014/main" id="{1E12F940-81CC-2530-5AC8-25CE70F22891}"/>
                </a:ext>
              </a:extLst>
            </p:cNvPr>
            <p:cNvSpPr/>
            <p:nvPr/>
          </p:nvSpPr>
          <p:spPr>
            <a:xfrm>
              <a:off x="879400" y="1992828"/>
              <a:ext cx="825576"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D55E099A-8E76-0D91-38C8-143BEB6D6236}"/>
                </a:ext>
              </a:extLst>
            </p:cNvPr>
            <p:cNvSpPr/>
            <p:nvPr/>
          </p:nvSpPr>
          <p:spPr>
            <a:xfrm>
              <a:off x="1719488" y="1213506"/>
              <a:ext cx="7887710" cy="1185411"/>
            </a:xfrm>
            <a:custGeom>
              <a:avLst/>
              <a:gdLst>
                <a:gd name="connsiteX0" fmla="*/ 0 w 8067675"/>
                <a:gd name="connsiteY0" fmla="*/ 900271 h 1252696"/>
                <a:gd name="connsiteX1" fmla="*/ 5010150 w 8067675"/>
                <a:gd name="connsiteY1" fmla="*/ 4921 h 1252696"/>
                <a:gd name="connsiteX2" fmla="*/ 8067675 w 8067675"/>
                <a:gd name="connsiteY2" fmla="*/ 1252696 h 1252696"/>
                <a:gd name="connsiteX3" fmla="*/ 8067675 w 8067675"/>
                <a:gd name="connsiteY3" fmla="*/ 1252696 h 1252696"/>
              </a:gdLst>
              <a:ahLst/>
              <a:cxnLst>
                <a:cxn ang="0">
                  <a:pos x="connsiteX0" y="connsiteY0"/>
                </a:cxn>
                <a:cxn ang="0">
                  <a:pos x="connsiteX1" y="connsiteY1"/>
                </a:cxn>
                <a:cxn ang="0">
                  <a:pos x="connsiteX2" y="connsiteY2"/>
                </a:cxn>
                <a:cxn ang="0">
                  <a:pos x="connsiteX3" y="connsiteY3"/>
                </a:cxn>
              </a:cxnLst>
              <a:rect l="l" t="t" r="r" b="b"/>
              <a:pathLst>
                <a:path w="8067675" h="1252696">
                  <a:moveTo>
                    <a:pt x="0" y="900271"/>
                  </a:moveTo>
                  <a:cubicBezTo>
                    <a:pt x="1832769" y="423227"/>
                    <a:pt x="3665538" y="-53816"/>
                    <a:pt x="5010150" y="4921"/>
                  </a:cubicBezTo>
                  <a:cubicBezTo>
                    <a:pt x="6354762" y="63658"/>
                    <a:pt x="8067675" y="1252696"/>
                    <a:pt x="8067675" y="1252696"/>
                  </a:cubicBezTo>
                  <a:lnTo>
                    <a:pt x="8067675" y="1252696"/>
                  </a:ln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75" name="Group 74">
            <a:extLst>
              <a:ext uri="{FF2B5EF4-FFF2-40B4-BE49-F238E27FC236}">
                <a16:creationId xmlns:a16="http://schemas.microsoft.com/office/drawing/2014/main" id="{6F5AE27B-1227-5CCF-1098-542670B41D0A}"/>
              </a:ext>
            </a:extLst>
          </p:cNvPr>
          <p:cNvGrpSpPr/>
          <p:nvPr/>
        </p:nvGrpSpPr>
        <p:grpSpPr>
          <a:xfrm>
            <a:off x="1031800" y="2230953"/>
            <a:ext cx="8655125" cy="1398072"/>
            <a:chOff x="1031800" y="2230953"/>
            <a:chExt cx="8655125" cy="1398072"/>
          </a:xfrm>
        </p:grpSpPr>
        <p:sp>
          <p:nvSpPr>
            <p:cNvPr id="61" name="Rectangle 60">
              <a:extLst>
                <a:ext uri="{FF2B5EF4-FFF2-40B4-BE49-F238E27FC236}">
                  <a16:creationId xmlns:a16="http://schemas.microsoft.com/office/drawing/2014/main" id="{F04B3177-D389-A8DC-B725-650E4FC94607}"/>
                </a:ext>
              </a:extLst>
            </p:cNvPr>
            <p:cNvSpPr/>
            <p:nvPr/>
          </p:nvSpPr>
          <p:spPr>
            <a:xfrm>
              <a:off x="1031800" y="2230953"/>
              <a:ext cx="825576"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E986C3AB-23A1-011D-0288-8063F8C98AF2}"/>
                </a:ext>
              </a:extLst>
            </p:cNvPr>
            <p:cNvSpPr/>
            <p:nvPr/>
          </p:nvSpPr>
          <p:spPr>
            <a:xfrm>
              <a:off x="1838325" y="2257425"/>
              <a:ext cx="7848600" cy="1371600"/>
            </a:xfrm>
            <a:custGeom>
              <a:avLst/>
              <a:gdLst>
                <a:gd name="connsiteX0" fmla="*/ 0 w 7848600"/>
                <a:gd name="connsiteY0" fmla="*/ 0 h 1371600"/>
                <a:gd name="connsiteX1" fmla="*/ 5924550 w 7848600"/>
                <a:gd name="connsiteY1" fmla="*/ 342900 h 1371600"/>
                <a:gd name="connsiteX2" fmla="*/ 7848600 w 7848600"/>
                <a:gd name="connsiteY2" fmla="*/ 1371600 h 1371600"/>
              </a:gdLst>
              <a:ahLst/>
              <a:cxnLst>
                <a:cxn ang="0">
                  <a:pos x="connsiteX0" y="connsiteY0"/>
                </a:cxn>
                <a:cxn ang="0">
                  <a:pos x="connsiteX1" y="connsiteY1"/>
                </a:cxn>
                <a:cxn ang="0">
                  <a:pos x="connsiteX2" y="connsiteY2"/>
                </a:cxn>
              </a:cxnLst>
              <a:rect l="l" t="t" r="r" b="b"/>
              <a:pathLst>
                <a:path w="7848600" h="1371600">
                  <a:moveTo>
                    <a:pt x="0" y="0"/>
                  </a:moveTo>
                  <a:cubicBezTo>
                    <a:pt x="2308225" y="57150"/>
                    <a:pt x="4616450" y="114300"/>
                    <a:pt x="5924550" y="342900"/>
                  </a:cubicBezTo>
                  <a:cubicBezTo>
                    <a:pt x="7232650" y="571500"/>
                    <a:pt x="7537450" y="1206500"/>
                    <a:pt x="7848600" y="1371600"/>
                  </a:cubicBez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76" name="Group 75">
            <a:extLst>
              <a:ext uri="{FF2B5EF4-FFF2-40B4-BE49-F238E27FC236}">
                <a16:creationId xmlns:a16="http://schemas.microsoft.com/office/drawing/2014/main" id="{C8E8108E-C31D-3862-CE4A-2D13C85D6AAE}"/>
              </a:ext>
            </a:extLst>
          </p:cNvPr>
          <p:cNvGrpSpPr/>
          <p:nvPr/>
        </p:nvGrpSpPr>
        <p:grpSpPr>
          <a:xfrm>
            <a:off x="1252222" y="2498551"/>
            <a:ext cx="7946029" cy="2332760"/>
            <a:chOff x="1252222" y="2498551"/>
            <a:chExt cx="7946029" cy="2332760"/>
          </a:xfrm>
        </p:grpSpPr>
        <p:sp>
          <p:nvSpPr>
            <p:cNvPr id="60" name="Rectangle 59">
              <a:extLst>
                <a:ext uri="{FF2B5EF4-FFF2-40B4-BE49-F238E27FC236}">
                  <a16:creationId xmlns:a16="http://schemas.microsoft.com/office/drawing/2014/main" id="{CCE05586-BE80-4F4C-CDB3-C71955F12619}"/>
                </a:ext>
              </a:extLst>
            </p:cNvPr>
            <p:cNvSpPr/>
            <p:nvPr/>
          </p:nvSpPr>
          <p:spPr>
            <a:xfrm>
              <a:off x="1252222" y="2498551"/>
              <a:ext cx="1033778"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3" name="Freeform: Shape 62">
              <a:extLst>
                <a:ext uri="{FF2B5EF4-FFF2-40B4-BE49-F238E27FC236}">
                  <a16:creationId xmlns:a16="http://schemas.microsoft.com/office/drawing/2014/main" id="{6B71021B-1445-9922-BEAB-024E963FAF12}"/>
                </a:ext>
              </a:extLst>
            </p:cNvPr>
            <p:cNvSpPr/>
            <p:nvPr/>
          </p:nvSpPr>
          <p:spPr>
            <a:xfrm>
              <a:off x="2286000" y="2638301"/>
              <a:ext cx="6912251" cy="2193010"/>
            </a:xfrm>
            <a:custGeom>
              <a:avLst/>
              <a:gdLst>
                <a:gd name="connsiteX0" fmla="*/ 0 w 7848600"/>
                <a:gd name="connsiteY0" fmla="*/ 0 h 1371600"/>
                <a:gd name="connsiteX1" fmla="*/ 5924550 w 7848600"/>
                <a:gd name="connsiteY1" fmla="*/ 342900 h 1371600"/>
                <a:gd name="connsiteX2" fmla="*/ 7848600 w 7848600"/>
                <a:gd name="connsiteY2" fmla="*/ 1371600 h 1371600"/>
              </a:gdLst>
              <a:ahLst/>
              <a:cxnLst>
                <a:cxn ang="0">
                  <a:pos x="connsiteX0" y="connsiteY0"/>
                </a:cxn>
                <a:cxn ang="0">
                  <a:pos x="connsiteX1" y="connsiteY1"/>
                </a:cxn>
                <a:cxn ang="0">
                  <a:pos x="connsiteX2" y="connsiteY2"/>
                </a:cxn>
              </a:cxnLst>
              <a:rect l="l" t="t" r="r" b="b"/>
              <a:pathLst>
                <a:path w="7848600" h="1371600">
                  <a:moveTo>
                    <a:pt x="0" y="0"/>
                  </a:moveTo>
                  <a:cubicBezTo>
                    <a:pt x="2308225" y="57150"/>
                    <a:pt x="4616450" y="114300"/>
                    <a:pt x="5924550" y="342900"/>
                  </a:cubicBezTo>
                  <a:cubicBezTo>
                    <a:pt x="7232650" y="571500"/>
                    <a:pt x="7537450" y="1206500"/>
                    <a:pt x="7848600" y="1371600"/>
                  </a:cubicBezTo>
                </a:path>
              </a:pathLst>
            </a:cu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pSp>
      <p:grpSp>
        <p:nvGrpSpPr>
          <p:cNvPr id="86" name="Group 85">
            <a:extLst>
              <a:ext uri="{FF2B5EF4-FFF2-40B4-BE49-F238E27FC236}">
                <a16:creationId xmlns:a16="http://schemas.microsoft.com/office/drawing/2014/main" id="{3E7B578D-9377-5FB0-72CE-400684531E92}"/>
              </a:ext>
            </a:extLst>
          </p:cNvPr>
          <p:cNvGrpSpPr/>
          <p:nvPr/>
        </p:nvGrpSpPr>
        <p:grpSpPr>
          <a:xfrm>
            <a:off x="9964392" y="1137644"/>
            <a:ext cx="1895921" cy="1228240"/>
            <a:chOff x="10136267" y="1137644"/>
            <a:chExt cx="1895921" cy="1228240"/>
          </a:xfrm>
        </p:grpSpPr>
        <p:sp>
          <p:nvSpPr>
            <p:cNvPr id="64" name="Rectangle 63">
              <a:extLst>
                <a:ext uri="{FF2B5EF4-FFF2-40B4-BE49-F238E27FC236}">
                  <a16:creationId xmlns:a16="http://schemas.microsoft.com/office/drawing/2014/main" id="{E45D97FF-1989-FC4B-0B0B-2D029E1BA9D5}"/>
                </a:ext>
              </a:extLst>
            </p:cNvPr>
            <p:cNvSpPr/>
            <p:nvPr/>
          </p:nvSpPr>
          <p:spPr>
            <a:xfrm>
              <a:off x="10136267" y="1137644"/>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14" name="Straight Arrow Connector 13">
              <a:extLst>
                <a:ext uri="{FF2B5EF4-FFF2-40B4-BE49-F238E27FC236}">
                  <a16:creationId xmlns:a16="http://schemas.microsoft.com/office/drawing/2014/main" id="{59A731D5-ECDB-F8D4-51B4-2D2579D0D1A1}"/>
                </a:ext>
              </a:extLst>
            </p:cNvPr>
            <p:cNvCxnSpPr>
              <a:cxnSpLocks/>
            </p:cNvCxnSpPr>
            <p:nvPr/>
          </p:nvCxnSpPr>
          <p:spPr>
            <a:xfrm flipH="1">
              <a:off x="10947803" y="1412952"/>
              <a:ext cx="609960" cy="952932"/>
            </a:xfrm>
            <a:prstGeom prst="straightConnector1">
              <a:avLst/>
            </a:prstGeom>
            <a:ln w="38100">
              <a:tailEnd type="triangle"/>
            </a:ln>
          </p:spPr>
          <p:style>
            <a:lnRef idx="2">
              <a:schemeClr val="accent4"/>
            </a:lnRef>
            <a:fillRef idx="0">
              <a:schemeClr val="accent4"/>
            </a:fillRef>
            <a:effectRef idx="1">
              <a:schemeClr val="accent4"/>
            </a:effectRef>
            <a:fontRef idx="minor">
              <a:schemeClr val="tx1"/>
            </a:fontRef>
          </p:style>
        </p:cxnSp>
      </p:grpSp>
      <p:grpSp>
        <p:nvGrpSpPr>
          <p:cNvPr id="88" name="Group 87">
            <a:extLst>
              <a:ext uri="{FF2B5EF4-FFF2-40B4-BE49-F238E27FC236}">
                <a16:creationId xmlns:a16="http://schemas.microsoft.com/office/drawing/2014/main" id="{E42F6A00-730D-2ABC-D39C-7FEE3448F48C}"/>
              </a:ext>
            </a:extLst>
          </p:cNvPr>
          <p:cNvGrpSpPr/>
          <p:nvPr/>
        </p:nvGrpSpPr>
        <p:grpSpPr>
          <a:xfrm>
            <a:off x="8764671" y="1647620"/>
            <a:ext cx="2126116" cy="1964981"/>
            <a:chOff x="8764671" y="1647620"/>
            <a:chExt cx="2126116" cy="1964981"/>
          </a:xfrm>
        </p:grpSpPr>
        <p:sp>
          <p:nvSpPr>
            <p:cNvPr id="65" name="Rectangle 64">
              <a:extLst>
                <a:ext uri="{FF2B5EF4-FFF2-40B4-BE49-F238E27FC236}">
                  <a16:creationId xmlns:a16="http://schemas.microsoft.com/office/drawing/2014/main" id="{76E6A5A4-E242-ABF7-B46D-1AA18F9C1116}"/>
                </a:ext>
              </a:extLst>
            </p:cNvPr>
            <p:cNvSpPr/>
            <p:nvPr/>
          </p:nvSpPr>
          <p:spPr>
            <a:xfrm>
              <a:off x="8764671" y="1647620"/>
              <a:ext cx="2126116"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68" name="Straight Arrow Connector 67">
              <a:extLst>
                <a:ext uri="{FF2B5EF4-FFF2-40B4-BE49-F238E27FC236}">
                  <a16:creationId xmlns:a16="http://schemas.microsoft.com/office/drawing/2014/main" id="{B441DBD0-A242-177A-9534-E458EADE7D6D}"/>
                </a:ext>
              </a:extLst>
            </p:cNvPr>
            <p:cNvCxnSpPr>
              <a:cxnSpLocks/>
            </p:cNvCxnSpPr>
            <p:nvPr/>
          </p:nvCxnSpPr>
          <p:spPr>
            <a:xfrm>
              <a:off x="10220070" y="1915829"/>
              <a:ext cx="0" cy="1696772"/>
            </a:xfrm>
            <a:prstGeom prst="straightConnector1">
              <a:avLst/>
            </a:prstGeom>
            <a:ln w="38100">
              <a:tailEnd type="triangle"/>
            </a:ln>
          </p:spPr>
          <p:style>
            <a:lnRef idx="2">
              <a:schemeClr val="accent4"/>
            </a:lnRef>
            <a:fillRef idx="0">
              <a:schemeClr val="accent4"/>
            </a:fillRef>
            <a:effectRef idx="1">
              <a:schemeClr val="accent4"/>
            </a:effectRef>
            <a:fontRef idx="minor">
              <a:schemeClr val="tx1"/>
            </a:fontRef>
          </p:style>
        </p:cxnSp>
      </p:grpSp>
      <p:pic>
        <p:nvPicPr>
          <p:cNvPr id="71" name="Picture 70">
            <a:extLst>
              <a:ext uri="{FF2B5EF4-FFF2-40B4-BE49-F238E27FC236}">
                <a16:creationId xmlns:a16="http://schemas.microsoft.com/office/drawing/2014/main" id="{915E196F-30F9-5BB8-9CD1-33304215A73E}"/>
              </a:ext>
            </a:extLst>
          </p:cNvPr>
          <p:cNvPicPr>
            <a:picLocks noChangeAspect="1"/>
          </p:cNvPicPr>
          <p:nvPr/>
        </p:nvPicPr>
        <p:blipFill>
          <a:blip r:embed="rId9"/>
          <a:stretch>
            <a:fillRect/>
          </a:stretch>
        </p:blipFill>
        <p:spPr>
          <a:xfrm>
            <a:off x="95555" y="3331259"/>
            <a:ext cx="2133898" cy="390580"/>
          </a:xfrm>
          <a:prstGeom prst="rect">
            <a:avLst/>
          </a:prstGeom>
        </p:spPr>
      </p:pic>
      <p:sp>
        <p:nvSpPr>
          <p:cNvPr id="72" name="Rectangle 71">
            <a:extLst>
              <a:ext uri="{FF2B5EF4-FFF2-40B4-BE49-F238E27FC236}">
                <a16:creationId xmlns:a16="http://schemas.microsoft.com/office/drawing/2014/main" id="{8021A5CE-FE58-094E-A12F-9BA41B45E3BD}"/>
              </a:ext>
            </a:extLst>
          </p:cNvPr>
          <p:cNvSpPr/>
          <p:nvPr/>
        </p:nvSpPr>
        <p:spPr>
          <a:xfrm>
            <a:off x="143417" y="3380590"/>
            <a:ext cx="2038045"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3" name="Rectangle 82">
            <a:extLst>
              <a:ext uri="{FF2B5EF4-FFF2-40B4-BE49-F238E27FC236}">
                <a16:creationId xmlns:a16="http://schemas.microsoft.com/office/drawing/2014/main" id="{4D1E487F-FB0A-5146-12EF-5E9CB9CA7CDA}"/>
              </a:ext>
            </a:extLst>
          </p:cNvPr>
          <p:cNvSpPr/>
          <p:nvPr/>
        </p:nvSpPr>
        <p:spPr>
          <a:xfrm>
            <a:off x="9104210" y="2363951"/>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4" name="Rectangle 83">
            <a:extLst>
              <a:ext uri="{FF2B5EF4-FFF2-40B4-BE49-F238E27FC236}">
                <a16:creationId xmlns:a16="http://schemas.microsoft.com/office/drawing/2014/main" id="{D1DAC760-F051-2A56-2395-1B2BB18E4D62}"/>
              </a:ext>
            </a:extLst>
          </p:cNvPr>
          <p:cNvSpPr/>
          <p:nvPr/>
        </p:nvSpPr>
        <p:spPr>
          <a:xfrm>
            <a:off x="9104209" y="3612601"/>
            <a:ext cx="1895921"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7B56456C-744B-3164-0A9D-40F5AC0C047D}"/>
              </a:ext>
            </a:extLst>
          </p:cNvPr>
          <p:cNvSpPr/>
          <p:nvPr/>
        </p:nvSpPr>
        <p:spPr>
          <a:xfrm>
            <a:off x="8994866" y="4813154"/>
            <a:ext cx="1316083" cy="2571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9" name="Rectangle 88">
            <a:extLst>
              <a:ext uri="{FF2B5EF4-FFF2-40B4-BE49-F238E27FC236}">
                <a16:creationId xmlns:a16="http://schemas.microsoft.com/office/drawing/2014/main" id="{3B16EF5E-58E9-0729-1903-443CE042EE37}"/>
              </a:ext>
            </a:extLst>
          </p:cNvPr>
          <p:cNvSpPr/>
          <p:nvPr/>
        </p:nvSpPr>
        <p:spPr>
          <a:xfrm>
            <a:off x="8541634" y="624876"/>
            <a:ext cx="1060232" cy="2455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9CF0D468-E401-A9D0-0A24-91E02807B190}"/>
              </a:ext>
            </a:extLst>
          </p:cNvPr>
          <p:cNvSpPr txBox="1"/>
          <p:nvPr/>
        </p:nvSpPr>
        <p:spPr>
          <a:xfrm>
            <a:off x="8854328" y="5909958"/>
            <a:ext cx="214580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 demos/async/promise1.js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 demos/async/promise1b.js</a:t>
            </a:r>
          </a:p>
        </p:txBody>
      </p:sp>
    </p:spTree>
    <p:extLst>
      <p:ext uri="{BB962C8B-B14F-4D97-AF65-F5344CB8AC3E}">
        <p14:creationId xmlns:p14="http://schemas.microsoft.com/office/powerpoint/2010/main" val="296665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3"/>
                                        </p:tgtEl>
                                      </p:cBhvr>
                                    </p:animEffect>
                                    <p:set>
                                      <p:cBhvr>
                                        <p:cTn id="12" dur="1" fill="hold">
                                          <p:stCondLst>
                                            <p:cond delay="499"/>
                                          </p:stCondLst>
                                        </p:cTn>
                                        <p:tgtEl>
                                          <p:spTgt spid="73"/>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fade">
                                      <p:cBhvr>
                                        <p:cTn id="16" dur="500"/>
                                        <p:tgtEl>
                                          <p:spTgt spid="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74"/>
                                        </p:tgtEl>
                                      </p:cBhvr>
                                    </p:animEffect>
                                    <p:set>
                                      <p:cBhvr>
                                        <p:cTn id="21" dur="1" fill="hold">
                                          <p:stCondLst>
                                            <p:cond delay="499"/>
                                          </p:stCondLst>
                                        </p:cTn>
                                        <p:tgtEl>
                                          <p:spTgt spid="74"/>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75"/>
                                        </p:tgtEl>
                                      </p:cBhvr>
                                    </p:animEffect>
                                    <p:set>
                                      <p:cBhvr>
                                        <p:cTn id="30" dur="1" fill="hold">
                                          <p:stCondLst>
                                            <p:cond delay="499"/>
                                          </p:stCondLst>
                                        </p:cTn>
                                        <p:tgtEl>
                                          <p:spTgt spid="75"/>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500"/>
                                        <p:tgtEl>
                                          <p:spTgt spid="7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76"/>
                                        </p:tgtEl>
                                      </p:cBhvr>
                                    </p:animEffect>
                                    <p:set>
                                      <p:cBhvr>
                                        <p:cTn id="39" dur="1" fill="hold">
                                          <p:stCondLst>
                                            <p:cond delay="499"/>
                                          </p:stCondLst>
                                        </p:cTn>
                                        <p:tgtEl>
                                          <p:spTgt spid="76"/>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72"/>
                                        </p:tgtEl>
                                      </p:cBhvr>
                                    </p:animEffect>
                                    <p:set>
                                      <p:cBhvr>
                                        <p:cTn id="48" dur="1" fill="hold">
                                          <p:stCondLst>
                                            <p:cond delay="499"/>
                                          </p:stCondLst>
                                        </p:cTn>
                                        <p:tgtEl>
                                          <p:spTgt spid="72"/>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fade">
                                      <p:cBhvr>
                                        <p:cTn id="52" dur="500"/>
                                        <p:tgtEl>
                                          <p:spTgt spid="8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fade">
                                      <p:cBhvr>
                                        <p:cTn id="57" dur="500"/>
                                        <p:tgtEl>
                                          <p:spTgt spid="86"/>
                                        </p:tgtEl>
                                      </p:cBhvr>
                                    </p:animEffect>
                                  </p:childTnLst>
                                </p:cTn>
                              </p:par>
                            </p:childTnLst>
                          </p:cTn>
                        </p:par>
                        <p:par>
                          <p:cTn id="58" fill="hold">
                            <p:stCondLst>
                              <p:cond delay="500"/>
                            </p:stCondLst>
                            <p:childTnLst>
                              <p:par>
                                <p:cTn id="59" presetID="10" presetClass="exit" presetSubtype="0" fill="hold" grpId="1" nodeType="afterEffect">
                                  <p:stCondLst>
                                    <p:cond delay="0"/>
                                  </p:stCondLst>
                                  <p:childTnLst>
                                    <p:animEffect transition="out" filter="fade">
                                      <p:cBhvr>
                                        <p:cTn id="60" dur="500"/>
                                        <p:tgtEl>
                                          <p:spTgt spid="89"/>
                                        </p:tgtEl>
                                      </p:cBhvr>
                                    </p:animEffect>
                                    <p:set>
                                      <p:cBhvr>
                                        <p:cTn id="61" dur="1" fill="hold">
                                          <p:stCondLst>
                                            <p:cond delay="499"/>
                                          </p:stCondLst>
                                        </p:cTn>
                                        <p:tgtEl>
                                          <p:spTgt spid="89"/>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fade">
                                      <p:cBhvr>
                                        <p:cTn id="66" dur="500"/>
                                        <p:tgtEl>
                                          <p:spTgt spid="83"/>
                                        </p:tgtEl>
                                      </p:cBhvr>
                                    </p:animEffect>
                                  </p:childTnLst>
                                </p:cTn>
                              </p:par>
                            </p:childTnLst>
                          </p:cTn>
                        </p:par>
                        <p:par>
                          <p:cTn id="67" fill="hold">
                            <p:stCondLst>
                              <p:cond delay="500"/>
                            </p:stCondLst>
                            <p:childTnLst>
                              <p:par>
                                <p:cTn id="68" presetID="10" presetClass="exit" presetSubtype="0" fill="hold" nodeType="afterEffect">
                                  <p:stCondLst>
                                    <p:cond delay="0"/>
                                  </p:stCondLst>
                                  <p:childTnLst>
                                    <p:animEffect transition="out" filter="fade">
                                      <p:cBhvr>
                                        <p:cTn id="69" dur="500"/>
                                        <p:tgtEl>
                                          <p:spTgt spid="86"/>
                                        </p:tgtEl>
                                      </p:cBhvr>
                                    </p:animEffect>
                                    <p:set>
                                      <p:cBhvr>
                                        <p:cTn id="70" dur="1" fill="hold">
                                          <p:stCondLst>
                                            <p:cond delay="499"/>
                                          </p:stCondLst>
                                        </p:cTn>
                                        <p:tgtEl>
                                          <p:spTgt spid="8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500"/>
                                        <p:tgtEl>
                                          <p:spTgt spid="83"/>
                                        </p:tgtEl>
                                      </p:cBhvr>
                                    </p:animEffect>
                                    <p:set>
                                      <p:cBhvr>
                                        <p:cTn id="75" dur="1" fill="hold">
                                          <p:stCondLst>
                                            <p:cond delay="499"/>
                                          </p:stCondLst>
                                        </p:cTn>
                                        <p:tgtEl>
                                          <p:spTgt spid="83"/>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grpId="0" nodeType="after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fade">
                                      <p:cBhvr>
                                        <p:cTn id="79" dur="500"/>
                                        <p:tgtEl>
                                          <p:spTgt spid="8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grpId="1" nodeType="clickEffect">
                                  <p:stCondLst>
                                    <p:cond delay="0"/>
                                  </p:stCondLst>
                                  <p:childTnLst>
                                    <p:animEffect transition="out" filter="fade">
                                      <p:cBhvr>
                                        <p:cTn id="83" dur="500"/>
                                        <p:tgtEl>
                                          <p:spTgt spid="85"/>
                                        </p:tgtEl>
                                      </p:cBhvr>
                                    </p:animEffect>
                                    <p:set>
                                      <p:cBhvr>
                                        <p:cTn id="84" dur="1" fill="hold">
                                          <p:stCondLst>
                                            <p:cond delay="499"/>
                                          </p:stCondLst>
                                        </p:cTn>
                                        <p:tgtEl>
                                          <p:spTgt spid="85"/>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88"/>
                                        </p:tgtEl>
                                        <p:attrNameLst>
                                          <p:attrName>style.visibility</p:attrName>
                                        </p:attrNameLst>
                                      </p:cBhvr>
                                      <p:to>
                                        <p:strVal val="visible"/>
                                      </p:to>
                                    </p:set>
                                    <p:animEffect transition="in" filter="fade">
                                      <p:cBhvr>
                                        <p:cTn id="89" dur="500"/>
                                        <p:tgtEl>
                                          <p:spTgt spid="88"/>
                                        </p:tgtEl>
                                      </p:cBhvr>
                                    </p:animEffect>
                                  </p:childTnLst>
                                </p:cTn>
                              </p:par>
                            </p:childTnLst>
                          </p:cTn>
                        </p:par>
                        <p:par>
                          <p:cTn id="90" fill="hold">
                            <p:stCondLst>
                              <p:cond delay="500"/>
                            </p:stCondLst>
                            <p:childTnLst>
                              <p:par>
                                <p:cTn id="91" presetID="10" presetClass="entr" presetSubtype="0" fill="hold" grpId="0" nodeType="afterEffect">
                                  <p:stCondLst>
                                    <p:cond delay="0"/>
                                  </p:stCondLst>
                                  <p:childTnLst>
                                    <p:set>
                                      <p:cBhvr>
                                        <p:cTn id="92" dur="1" fill="hold">
                                          <p:stCondLst>
                                            <p:cond delay="0"/>
                                          </p:stCondLst>
                                        </p:cTn>
                                        <p:tgtEl>
                                          <p:spTgt spid="84"/>
                                        </p:tgtEl>
                                        <p:attrNameLst>
                                          <p:attrName>style.visibility</p:attrName>
                                        </p:attrNameLst>
                                      </p:cBhvr>
                                      <p:to>
                                        <p:strVal val="visible"/>
                                      </p:to>
                                    </p:set>
                                    <p:animEffect transition="in" filter="fade">
                                      <p:cBhvr>
                                        <p:cTn id="93" dur="500"/>
                                        <p:tgtEl>
                                          <p:spTgt spid="8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xit" presetSubtype="0" fill="hold" nodeType="clickEffect">
                                  <p:stCondLst>
                                    <p:cond delay="0"/>
                                  </p:stCondLst>
                                  <p:childTnLst>
                                    <p:animEffect transition="out" filter="fade">
                                      <p:cBhvr>
                                        <p:cTn id="97" dur="500"/>
                                        <p:tgtEl>
                                          <p:spTgt spid="88"/>
                                        </p:tgtEl>
                                      </p:cBhvr>
                                    </p:animEffect>
                                    <p:set>
                                      <p:cBhvr>
                                        <p:cTn id="98" dur="1" fill="hold">
                                          <p:stCondLst>
                                            <p:cond delay="499"/>
                                          </p:stCondLst>
                                        </p:cTn>
                                        <p:tgtEl>
                                          <p:spTgt spid="8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500"/>
                                        <p:tgtEl>
                                          <p:spTgt spid="84"/>
                                        </p:tgtEl>
                                      </p:cBhvr>
                                    </p:animEffect>
                                    <p:set>
                                      <p:cBhvr>
                                        <p:cTn id="103" dur="1" fill="hold">
                                          <p:stCondLst>
                                            <p:cond delay="499"/>
                                          </p:stCondLst>
                                        </p:cTn>
                                        <p:tgtEl>
                                          <p:spTgt spid="84"/>
                                        </p:tgtEl>
                                        <p:attrNameLst>
                                          <p:attrName>style.visibility</p:attrName>
                                        </p:attrNameLst>
                                      </p:cBhvr>
                                      <p:to>
                                        <p:strVal val="hidden"/>
                                      </p:to>
                                    </p:set>
                                  </p:childTnLst>
                                </p:cTn>
                              </p:par>
                            </p:childTnLst>
                          </p:cTn>
                        </p:par>
                        <p:par>
                          <p:cTn id="104" fill="hold">
                            <p:stCondLst>
                              <p:cond delay="500"/>
                            </p:stCondLst>
                            <p:childTnLst>
                              <p:par>
                                <p:cTn id="105" presetID="10" presetClass="entr" presetSubtype="0" fill="hold" grpId="2" nodeType="afterEffect">
                                  <p:stCondLst>
                                    <p:cond delay="0"/>
                                  </p:stCondLst>
                                  <p:childTnLst>
                                    <p:set>
                                      <p:cBhvr>
                                        <p:cTn id="106" dur="1" fill="hold">
                                          <p:stCondLst>
                                            <p:cond delay="0"/>
                                          </p:stCondLst>
                                        </p:cTn>
                                        <p:tgtEl>
                                          <p:spTgt spid="85"/>
                                        </p:tgtEl>
                                        <p:attrNameLst>
                                          <p:attrName>style.visibility</p:attrName>
                                        </p:attrNameLst>
                                      </p:cBhvr>
                                      <p:to>
                                        <p:strVal val="visible"/>
                                      </p:to>
                                    </p:set>
                                    <p:animEffect transition="in" filter="fade">
                                      <p:cBhvr>
                                        <p:cTn id="107" dur="500"/>
                                        <p:tgtEl>
                                          <p:spTgt spid="8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3" nodeType="clickEffect">
                                  <p:stCondLst>
                                    <p:cond delay="0"/>
                                  </p:stCondLst>
                                  <p:childTnLst>
                                    <p:animEffect transition="out" filter="fade">
                                      <p:cBhvr>
                                        <p:cTn id="111" dur="500"/>
                                        <p:tgtEl>
                                          <p:spTgt spid="85"/>
                                        </p:tgtEl>
                                      </p:cBhvr>
                                    </p:animEffect>
                                    <p:set>
                                      <p:cBhvr>
                                        <p:cTn id="112" dur="1" fill="hold">
                                          <p:stCondLst>
                                            <p:cond delay="499"/>
                                          </p:stCondLst>
                                        </p:cTn>
                                        <p:tgtEl>
                                          <p:spTgt spid="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2" grpId="1" animBg="1"/>
      <p:bldP spid="83" grpId="0" animBg="1"/>
      <p:bldP spid="83" grpId="1" animBg="1"/>
      <p:bldP spid="84" grpId="0" animBg="1"/>
      <p:bldP spid="84" grpId="1" animBg="1"/>
      <p:bldP spid="85" grpId="0" animBg="1"/>
      <p:bldP spid="85" grpId="1" animBg="1"/>
      <p:bldP spid="85" grpId="2" animBg="1"/>
      <p:bldP spid="85" grpId="3" animBg="1"/>
      <p:bldP spid="89" grpId="0" animBg="1"/>
      <p:bldP spid="89" grpId="1" animBg="1"/>
    </p:bldLst>
  </p:timing>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2521</Words>
  <Application>Microsoft Office PowerPoint</Application>
  <PresentationFormat>Widescreen</PresentationFormat>
  <Paragraphs>221</Paragraphs>
  <Slides>17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Arial Narrow</vt:lpstr>
      <vt:lpstr>Calibri</vt:lpstr>
      <vt:lpstr>Courier New</vt:lpstr>
      <vt:lpstr>Raleway Thin</vt:lpstr>
      <vt:lpstr>Gaoler template</vt:lpstr>
      <vt:lpstr>Document Object Model</vt:lpstr>
      <vt:lpstr>PowerPoint Presentation</vt:lpstr>
      <vt:lpstr>JavaScript interaction with HTML</vt:lpstr>
      <vt:lpstr>Generating html</vt:lpstr>
      <vt:lpstr>Asynchronicity in JavaScript</vt:lpstr>
      <vt:lpstr>Learning objectives</vt:lpstr>
      <vt:lpstr>A bit more JavaScript</vt:lpstr>
      <vt:lpstr>Sync and Async</vt:lpstr>
      <vt:lpstr>Calling an API from the frontend</vt:lpstr>
      <vt:lpstr>Origins and Cross Origin Resource Sharing (CORS)</vt:lpstr>
      <vt:lpstr>PowerPoint Presentation</vt:lpstr>
      <vt:lpstr>PowerPoint Presentation</vt:lpstr>
      <vt:lpstr>JavaScript Message Handling</vt:lpstr>
      <vt:lpstr>PowerPoint Presentation</vt:lpstr>
      <vt:lpstr>Asynchronous approaches</vt:lpstr>
      <vt:lpstr>Promises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Antony John Nicol (School of Engineering and Computing)</dc:creator>
  <cp:lastModifiedBy>Antony John Nicol (School of Engineering and Computing)</cp:lastModifiedBy>
  <cp:revision>1</cp:revision>
  <dcterms:created xsi:type="dcterms:W3CDTF">2026-04-14T19:04:01Z</dcterms:created>
  <dcterms:modified xsi:type="dcterms:W3CDTF">2026-04-14T19:05:38Z</dcterms:modified>
</cp:coreProperties>
</file>