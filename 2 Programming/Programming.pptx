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1866" r:id="rId2"/>
    <p:sldId id="1880" r:id="rId3"/>
    <p:sldId id="1867" r:id="rId4"/>
    <p:sldId id="1868" r:id="rId5"/>
    <p:sldId id="562" r:id="rId6"/>
    <p:sldId id="576" r:id="rId7"/>
    <p:sldId id="809" r:id="rId8"/>
    <p:sldId id="1870" r:id="rId9"/>
    <p:sldId id="269" r:id="rId10"/>
    <p:sldId id="270" r:id="rId11"/>
    <p:sldId id="271" r:id="rId12"/>
    <p:sldId id="272" r:id="rId13"/>
    <p:sldId id="1882" r:id="rId14"/>
    <p:sldId id="414" r:id="rId15"/>
    <p:sldId id="415" r:id="rId16"/>
    <p:sldId id="275" r:id="rId17"/>
    <p:sldId id="276" r:id="rId18"/>
    <p:sldId id="1881" r:id="rId19"/>
    <p:sldId id="1883" r:id="rId20"/>
    <p:sldId id="1884" r:id="rId21"/>
    <p:sldId id="436" r:id="rId22"/>
    <p:sldId id="417" r:id="rId23"/>
    <p:sldId id="418" r:id="rId24"/>
    <p:sldId id="419" r:id="rId25"/>
    <p:sldId id="42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01" d="100"/>
          <a:sy n="101" d="100"/>
        </p:scale>
        <p:origin x="7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7AC585-3EB8-4CFA-A2FD-E50AC0DE3451}" type="datetimeFigureOut">
              <a:rPr lang="en-GB" smtClean="0"/>
              <a:t>09/03/2026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2BED0B-84FC-4258-9A49-F31085640390}" type="slidenum">
              <a:rPr lang="en-GB" smtClean="0"/>
              <a:t>‹#›</a:t>
            </a:fld>
            <a:endParaRPr lang="en-GB"/>
          </a:p>
        </p:txBody>
      </p:sp>
    </p:spTree>
    <p:extLst>
      <p:ext uri="{BB962C8B-B14F-4D97-AF65-F5344CB8AC3E}">
        <p14:creationId xmlns:p14="http://schemas.microsoft.com/office/powerpoint/2010/main" val="1421761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2815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7EDE6-9659-1481-892F-F3078EA6E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9D811-C061-1458-A23C-F5891CAA9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33DAE-51A3-A203-D138-752D27113D5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F8F21D5-4336-7500-92F9-5135C62DA4B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1172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049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0980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Discussed algorithm, source code, interpreter or compiler and machine code</a:t>
            </a:r>
          </a:p>
          <a:p>
            <a:r>
              <a:rPr lang="en-GB" dirty="0"/>
              <a:t>Let's have a demo of these things</a:t>
            </a:r>
          </a:p>
          <a:p>
            <a:endParaRPr lang="en-GB" dirty="0"/>
          </a:p>
          <a:p>
            <a:r>
              <a:rPr lang="en-GB" dirty="0"/>
              <a:t>Show </a:t>
            </a:r>
            <a:r>
              <a:rPr lang="en-GB" dirty="0" err="1"/>
              <a:t>javascript</a:t>
            </a:r>
            <a:r>
              <a:rPr lang="en-GB" dirty="0"/>
              <a:t> loop formatted to more easily see debugging</a:t>
            </a:r>
          </a:p>
          <a:p>
            <a:r>
              <a:rPr lang="en-GB" dirty="0"/>
              <a:t>Show what happens in python if the spacing is wrong</a:t>
            </a:r>
          </a:p>
          <a:p>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4040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Configure git from command line if necessary: </a:t>
            </a:r>
          </a:p>
          <a:p>
            <a:pPr lvl="1"/>
            <a:r>
              <a:rPr lang="en-GB"/>
              <a:t>git config --global user.name your-user-name (--global for all repos)</a:t>
            </a:r>
          </a:p>
          <a:p>
            <a:pPr lvl="1"/>
            <a:r>
              <a:rPr lang="en-GB"/>
              <a:t>git config --global </a:t>
            </a:r>
            <a:r>
              <a:rPr lang="en-GB" err="1"/>
              <a:t>user.email</a:t>
            </a:r>
            <a:r>
              <a:rPr lang="en-GB"/>
              <a:t> your-email-address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1243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Demo in </a:t>
            </a:r>
            <a:r>
              <a:rPr lang="en-GB" dirty="0" err="1"/>
              <a:t>VScode</a:t>
            </a:r>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5347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479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5946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a:t>
            </a:r>
            <a:r>
              <a:rPr lang="en-GB" dirty="0" err="1"/>
              <a:t>gitlab</a:t>
            </a:r>
            <a:r>
              <a:rPr lang="en-GB" dirty="0"/>
              <a:t> unavailable, copy code into teams chat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2147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Imperative programming key constructs are: Sequence, Selection and Iteration</a:t>
            </a:r>
          </a:p>
          <a:p>
            <a:endParaRPr lang="en-GB"/>
          </a:p>
          <a:p>
            <a:r>
              <a:rPr lang="en-GB"/>
              <a:t>Illustrate debugger on statements</a:t>
            </a:r>
          </a:p>
          <a:p>
            <a:endParaRPr lang="en-GB"/>
          </a:p>
          <a:p>
            <a:r>
              <a:rPr lang="en-GB" b="1"/>
              <a:t>Note</a:t>
            </a:r>
            <a:r>
              <a:rPr lang="en-GB"/>
              <a:t>: </a:t>
            </a:r>
            <a:r>
              <a:rPr lang="en-GB">
                <a:solidFill>
                  <a:srgbClr val="FF0000"/>
                </a:solidFill>
              </a:rPr>
              <a:t>numeric 0 evaluates to true and any other number to false so this feature can be used in logical statements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3313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Explain random as it is used in the labs:</a:t>
            </a:r>
          </a:p>
          <a:p>
            <a:endParaRPr lang="en-GB"/>
          </a:p>
          <a:p>
            <a:r>
              <a:rPr lang="en-GB" err="1"/>
              <a:t>Math.random</a:t>
            </a:r>
            <a:r>
              <a:rPr lang="en-GB"/>
              <a:t>() evaluates to a number between 0 and just less than 1. i.e.  0 &lt;= </a:t>
            </a:r>
            <a:r>
              <a:rPr lang="en-GB" err="1"/>
              <a:t>randomNum</a:t>
            </a:r>
            <a:r>
              <a:rPr lang="en-GB"/>
              <a:t> &lt; 1.  e.g. 0, 0.234, 0.977</a:t>
            </a:r>
          </a:p>
          <a:p>
            <a:endParaRPr lang="en-GB"/>
          </a:p>
          <a:p>
            <a:r>
              <a:rPr lang="en-GB"/>
              <a:t>To turn it into an integer (whole number) we need to multiply it up. In this case, multiplying 7 will give us a number between 0 (0 x 7 = 0) and less then 7 (0.99999 x 7 is less than 7 - just)</a:t>
            </a:r>
          </a:p>
          <a:p>
            <a:r>
              <a:rPr lang="en-GB"/>
              <a:t>To turn it into an integer, use floor. This will round the number down to the nearest integer - i.e. gets rid of the fractional part to give us a number from 0 to 6</a:t>
            </a:r>
          </a:p>
          <a:p>
            <a:r>
              <a:rPr lang="en-GB"/>
              <a:t>Adding 1 gives us a number between 1 and 7</a:t>
            </a:r>
          </a:p>
          <a:p>
            <a:endParaRPr lang="en-GB"/>
          </a:p>
          <a:p>
            <a:r>
              <a:rPr lang="en-GB"/>
              <a:t>We will use this approach quite a lot just to generate values to avoid the user entering them as user input into node is not straight forward and is generally unnecessary. We will later use either html, or http</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006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Modify the switch example by wrapping a loop around it of 20 to ensure all days are generated at least once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2973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7741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 lab 1 for half an hour or so</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5832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Stop after each one to discuss what can be improved and why I have done mine as I have</a:t>
            </a:r>
          </a:p>
          <a:p>
            <a:r>
              <a:rPr lang="en-GB" dirty="0"/>
              <a:t>/grad scheme/ hands-on/basics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6479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I'll explain in more detail with examples. I'll call these type 1 - 4</a:t>
            </a:r>
          </a:p>
          <a:p>
            <a:r>
              <a:rPr lang="en-GB"/>
              <a:t>Trace through sequence in debugger</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6494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Go through all of them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41638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More detail here: https://www.digitalocean.com/community/tutorials/understanding-variables-scope-hoisting-in-javascript</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7592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6935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07795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6226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should now know enough JavaScript to get some basic stuff done.</a:t>
            </a:r>
          </a:p>
          <a:p>
            <a:r>
              <a:rPr lang="en-GB"/>
              <a:t>We will do some more later as needed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4054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r>
              <a:rPr lang="en-US"/>
              <a:t>Click to edit Master title style</a:t>
            </a:r>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876479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598367"/>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464567"/>
            <a:ext cx="11163300" cy="421258"/>
          </a:xfrm>
          <a:prstGeom prst="rect">
            <a:avLst/>
          </a:prstGeom>
        </p:spPr>
        <p:txBody>
          <a:bodyPr spcFirstLastPara="1" wrap="square" lIns="0" tIns="0" rIns="0" bIns="0" anchor="ctr" anchorCtr="0">
            <a:noAutofit/>
          </a:bodyPr>
          <a:lstStyle>
            <a:lvl1pPr lvl="0">
              <a:spcBef>
                <a:spcPts val="0"/>
              </a:spcBef>
              <a:spcAft>
                <a:spcPts val="0"/>
              </a:spcAft>
              <a:buSzPts val="4800"/>
              <a:buNone/>
              <a:defRPr sz="3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26" name="Google Shape;26;p5"/>
          <p:cNvSpPr txBox="1">
            <a:spLocks noGrp="1"/>
          </p:cNvSpPr>
          <p:nvPr>
            <p:ph type="body" idx="1"/>
          </p:nvPr>
        </p:nvSpPr>
        <p:spPr>
          <a:xfrm>
            <a:off x="609600" y="1089368"/>
            <a:ext cx="11163300" cy="5387632"/>
          </a:xfrm>
          <a:prstGeom prst="rect">
            <a:avLst/>
          </a:prstGeom>
        </p:spPr>
        <p:txBody>
          <a:bodyPr spcFirstLastPara="1" wrap="square" lIns="0" tIns="0" rIns="0" bIns="0" anchor="t" anchorCtr="0">
            <a:noAutofit/>
          </a:bodyPr>
          <a:lstStyle>
            <a:lvl1pPr marL="609585" lvl="0" indent="-457189">
              <a:spcBef>
                <a:spcPts val="800"/>
              </a:spcBef>
              <a:spcAft>
                <a:spcPts val="0"/>
              </a:spcAft>
              <a:buClr>
                <a:schemeClr val="tx2"/>
              </a:buClr>
              <a:buSzPts val="1800"/>
              <a:buChar char="▸"/>
              <a:defRPr sz="1800">
                <a:solidFill>
                  <a:schemeClr val="tx1">
                    <a:lumMod val="20000"/>
                    <a:lumOff val="80000"/>
                  </a:schemeClr>
                </a:solidFill>
              </a:defRPr>
            </a:lvl1pPr>
            <a:lvl2pPr marL="1219170" lvl="1" indent="-457189">
              <a:spcBef>
                <a:spcPts val="800"/>
              </a:spcBef>
              <a:spcAft>
                <a:spcPts val="0"/>
              </a:spcAft>
              <a:buClr>
                <a:schemeClr val="bg2">
                  <a:lumMod val="20000"/>
                  <a:lumOff val="80000"/>
                </a:schemeClr>
              </a:buClr>
              <a:buSzPts val="1800"/>
              <a:buChar char="▹"/>
              <a:defRPr sz="1600">
                <a:solidFill>
                  <a:schemeClr val="tx1">
                    <a:lumMod val="20000"/>
                    <a:lumOff val="80000"/>
                  </a:schemeClr>
                </a:solidFill>
              </a:defRPr>
            </a:lvl2pPr>
            <a:lvl3pPr marL="1828754" lvl="2" indent="-457189">
              <a:spcBef>
                <a:spcPts val="800"/>
              </a:spcBef>
              <a:spcAft>
                <a:spcPts val="0"/>
              </a:spcAft>
              <a:buClr>
                <a:schemeClr val="tx2">
                  <a:lumMod val="90000"/>
                </a:schemeClr>
              </a:buClr>
              <a:buSzPts val="1800"/>
              <a:buChar char="▹"/>
              <a:defRPr sz="1400">
                <a:solidFill>
                  <a:schemeClr val="tx1">
                    <a:lumMod val="20000"/>
                    <a:lumOff val="80000"/>
                  </a:schemeClr>
                </a:solidFill>
              </a:defRPr>
            </a:lvl3pPr>
            <a:lvl4pPr marL="2438339" lvl="3" indent="-474121">
              <a:spcBef>
                <a:spcPts val="800"/>
              </a:spcBef>
              <a:spcAft>
                <a:spcPts val="0"/>
              </a:spcAft>
              <a:buClr>
                <a:schemeClr val="tx2">
                  <a:lumMod val="90000"/>
                </a:schemeClr>
              </a:buClr>
              <a:buSzPts val="2000"/>
              <a:buChar char="▹"/>
              <a:defRPr sz="1200">
                <a:solidFill>
                  <a:schemeClr val="tx1">
                    <a:lumMod val="20000"/>
                    <a:lumOff val="80000"/>
                  </a:schemeClr>
                </a:solidFill>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dirty="0"/>
              <a:t>Click to edit Master text styles</a:t>
            </a:r>
          </a:p>
          <a:p>
            <a:pPr lvl="1"/>
            <a:r>
              <a:rPr lang="en-US" dirty="0"/>
              <a:t>Level 2</a:t>
            </a:r>
          </a:p>
          <a:p>
            <a:pPr lvl="2"/>
            <a:r>
              <a:rPr lang="en-US" dirty="0"/>
              <a:t>Level 3</a:t>
            </a:r>
          </a:p>
          <a:p>
            <a:pPr lvl="3"/>
            <a:r>
              <a:rPr lang="en-US" dirty="0"/>
              <a:t>Level 4</a:t>
            </a: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bg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pPr/>
              <a:t>‹#›</a:t>
            </a:fld>
            <a:endParaRPr lang="en-GB"/>
          </a:p>
        </p:txBody>
      </p:sp>
    </p:spTree>
    <p:extLst>
      <p:ext uri="{BB962C8B-B14F-4D97-AF65-F5344CB8AC3E}">
        <p14:creationId xmlns:p14="http://schemas.microsoft.com/office/powerpoint/2010/main" val="311119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26">
                                            <p:txEl>
                                              <p:pRg st="0" end="0"/>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26">
                                            <p:txEl>
                                              <p:pRg st="1" end="1"/>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26">
                                            <p:txEl>
                                              <p:pRg st="2" end="2"/>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26">
                                            <p:txEl>
                                              <p:pRg st="3" end="3"/>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3" end="3"/>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p:tmplLst>
          <p:tmpl lvl="1">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2">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3">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4">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pPr lvl="0"/>
            <a:r>
              <a:rPr lang="en-US"/>
              <a:t>Click to edit Master text styles</a:t>
            </a: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933085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dark">
  <p:cSld name="Blank dark">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1391799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9180484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2" name="Slide Number Placeholder 1">
            <a:extLst>
              <a:ext uri="{FF2B5EF4-FFF2-40B4-BE49-F238E27FC236}">
                <a16:creationId xmlns:a16="http://schemas.microsoft.com/office/drawing/2014/main" id="{D2E12C27-DB2B-AA97-3BBD-0CF8EAE7B2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F9C93A-B808-4F92-9D9D-4CEB4D584F4F}" type="slidenum">
              <a:rPr lang="en-GB" smtClean="0"/>
              <a:t>‹#›</a:t>
            </a:fld>
            <a:endParaRPr lang="en-GB"/>
          </a:p>
        </p:txBody>
      </p:sp>
    </p:spTree>
    <p:extLst>
      <p:ext uri="{BB962C8B-B14F-4D97-AF65-F5344CB8AC3E}">
        <p14:creationId xmlns:p14="http://schemas.microsoft.com/office/powerpoint/2010/main" val="606535655"/>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3200" b="0" i="0" u="none" strike="noStrike" cap="none">
          <a:solidFill>
            <a:srgbClr val="0000FF"/>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14300" marR="0" lvl="0" indent="0" algn="l" rtl="0" eaLnBrk="1" hangingPunct="1">
        <a:lnSpc>
          <a:spcPct val="100000"/>
        </a:lnSpc>
        <a:spcBef>
          <a:spcPts val="0"/>
        </a:spcBef>
        <a:spcAft>
          <a:spcPts val="0"/>
        </a:spcAft>
        <a:buClr>
          <a:srgbClr val="000000"/>
        </a:buClr>
        <a:buFont typeface="Arial"/>
        <a:buNone/>
        <a:defRPr sz="1800" b="0" i="0" u="none" strike="noStrike" cap="none" baseline="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0A4087-A31E-6B1B-98DC-9D1FE4023FEC}"/>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17527CE-0D76-DA5E-6BB2-A2EF6689DD8C}"/>
              </a:ext>
            </a:extLst>
          </p:cNvPr>
          <p:cNvSpPr>
            <a:spLocks noGrp="1"/>
          </p:cNvSpPr>
          <p:nvPr>
            <p:ph type="ctrTitle"/>
          </p:nvPr>
        </p:nvSpPr>
        <p:spPr>
          <a:xfrm>
            <a:off x="1435099" y="2484800"/>
            <a:ext cx="8520943" cy="1888400"/>
          </a:xfrm>
        </p:spPr>
        <p:txBody>
          <a:bodyPr/>
          <a:lstStyle/>
          <a:p>
            <a:r>
              <a:rPr lang="en-GB" noProof="0" dirty="0"/>
              <a:t>Programming</a:t>
            </a:r>
            <a:endParaRPr lang="en-GB" sz="1600" noProof="0" dirty="0"/>
          </a:p>
        </p:txBody>
      </p:sp>
      <p:sp>
        <p:nvSpPr>
          <p:cNvPr id="4" name="Subtitle 2">
            <a:extLst>
              <a:ext uri="{FF2B5EF4-FFF2-40B4-BE49-F238E27FC236}">
                <a16:creationId xmlns:a16="http://schemas.microsoft.com/office/drawing/2014/main" id="{F884236E-7C61-54A2-CAE1-A0AC81213860}"/>
              </a:ext>
            </a:extLst>
          </p:cNvPr>
          <p:cNvSpPr txBox="1">
            <a:spLocks/>
          </p:cNvSpPr>
          <p:nvPr/>
        </p:nvSpPr>
        <p:spPr>
          <a:xfrm>
            <a:off x="10259278" y="6066431"/>
            <a:ext cx="1020597" cy="279778"/>
          </a:xfrm>
          <a:prstGeom prst="rect">
            <a:avLst/>
          </a:prstGeom>
        </p:spPr>
        <p:txBody>
          <a:bodyPr/>
          <a:lstStyle>
            <a:defPPr marR="0" lvl="0" algn="l" rtl="0">
              <a:lnSpc>
                <a:spcPct val="100000"/>
              </a:lnSpc>
              <a:spcBef>
                <a:spcPts val="0"/>
              </a:spcBef>
              <a:spcAft>
                <a:spcPts val="0"/>
              </a:spcAft>
            </a:defPPr>
            <a:lvl1pPr marL="114300" marR="0" lvl="0" indent="0" algn="l" rtl="0" eaLnBrk="1" hangingPunct="1">
              <a:lnSpc>
                <a:spcPct val="100000"/>
              </a:lnSpc>
              <a:spcBef>
                <a:spcPts val="0"/>
              </a:spcBef>
              <a:spcAft>
                <a:spcPts val="0"/>
              </a:spcAft>
              <a:buClr>
                <a:srgbClr val="000000"/>
              </a:buClr>
              <a:buFont typeface="Arial"/>
              <a:buNone/>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143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1200" b="0" i="0" u="none" strike="noStrike" kern="0" cap="none" spc="0" normalizeH="0" baseline="0" noProof="0" dirty="0">
                <a:ln>
                  <a:noFill/>
                </a:ln>
                <a:solidFill>
                  <a:srgbClr val="3A3F50">
                    <a:lumMod val="40000"/>
                    <a:lumOff val="60000"/>
                  </a:srgbClr>
                </a:solidFill>
                <a:effectLst/>
                <a:uLnTx/>
                <a:uFillTx/>
                <a:latin typeface="Arial"/>
                <a:cs typeface="Arial"/>
                <a:sym typeface="Arial"/>
              </a:rPr>
              <a:t>Tony Nicol</a:t>
            </a:r>
          </a:p>
        </p:txBody>
      </p:sp>
    </p:spTree>
    <p:extLst>
      <p:ext uri="{BB962C8B-B14F-4D97-AF65-F5344CB8AC3E}">
        <p14:creationId xmlns:p14="http://schemas.microsoft.com/office/powerpoint/2010/main" val="79979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911E4-81EF-9D92-5C89-E2FC7F5F36E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5E5B44B-FEBF-0229-2F13-157CD18C44B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F8DF953-7AFE-9A28-E82A-9A2ABE5A7DEA}"/>
              </a:ext>
            </a:extLst>
          </p:cNvPr>
          <p:cNvSpPr>
            <a:spLocks noGrp="1"/>
          </p:cNvSpPr>
          <p:nvPr>
            <p:ph type="ctrTitle"/>
          </p:nvPr>
        </p:nvSpPr>
        <p:spPr>
          <a:xfrm>
            <a:off x="1435099" y="2484800"/>
            <a:ext cx="8520943" cy="1888400"/>
          </a:xfrm>
        </p:spPr>
        <p:txBody>
          <a:bodyPr/>
          <a:lstStyle/>
          <a:p>
            <a:r>
              <a:rPr lang="en-GB" noProof="0" dirty="0"/>
              <a:t>Programming</a:t>
            </a:r>
            <a:br>
              <a:rPr lang="en-GB" noProof="0" dirty="0"/>
            </a:br>
            <a:r>
              <a:rPr lang="en-GB" sz="1600" noProof="0" dirty="0"/>
              <a:t>An introduction to programming in JavaScript</a:t>
            </a:r>
          </a:p>
        </p:txBody>
      </p:sp>
    </p:spTree>
    <p:extLst>
      <p:ext uri="{BB962C8B-B14F-4D97-AF65-F5344CB8AC3E}">
        <p14:creationId xmlns:p14="http://schemas.microsoft.com/office/powerpoint/2010/main" val="626479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A91B6-BA5C-7F17-2461-8F99995613E4}"/>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8DE39513-0AD9-37E1-5D08-4CD707279367}"/>
              </a:ext>
            </a:extLst>
          </p:cNvPr>
          <p:cNvSpPr>
            <a:spLocks noGrp="1"/>
          </p:cNvSpPr>
          <p:nvPr>
            <p:ph type="body" idx="1"/>
          </p:nvPr>
        </p:nvSpPr>
        <p:spPr/>
        <p:txBody>
          <a:bodyPr/>
          <a:lstStyle/>
          <a:p>
            <a:r>
              <a:rPr lang="en-GB" noProof="0" dirty="0"/>
              <a:t>What is programming?</a:t>
            </a:r>
          </a:p>
          <a:p>
            <a:pPr lvl="1"/>
            <a:r>
              <a:rPr lang="en-GB" noProof="0" dirty="0"/>
              <a:t>Giving a computer a precise, step‑by‑step set of instructions</a:t>
            </a:r>
          </a:p>
          <a:p>
            <a:pPr lvl="1"/>
            <a:r>
              <a:rPr lang="en-GB" noProof="0" dirty="0"/>
              <a:t>Automating tasks that would be slow or impossible for humans</a:t>
            </a:r>
          </a:p>
          <a:p>
            <a:pPr lvl="1"/>
            <a:r>
              <a:rPr lang="en-GB" noProof="0" dirty="0"/>
              <a:t>Turning ideas into repeatable, reliable processes</a:t>
            </a:r>
          </a:p>
          <a:p>
            <a:pPr lvl="1"/>
            <a:r>
              <a:rPr lang="en-GB" noProof="0" dirty="0"/>
              <a:t>Using logic to solve problems systematically</a:t>
            </a:r>
          </a:p>
          <a:p>
            <a:pPr lvl="1"/>
            <a:endParaRPr lang="en-GB" noProof="0" dirty="0"/>
          </a:p>
          <a:p>
            <a:r>
              <a:rPr lang="en-GB" noProof="0" dirty="0"/>
              <a:t>Computational thinking</a:t>
            </a:r>
          </a:p>
          <a:p>
            <a:pPr lvl="1"/>
            <a:r>
              <a:rPr lang="en-GB" noProof="0" dirty="0"/>
              <a:t>Breaking big problems into smaller, manageable parts</a:t>
            </a:r>
          </a:p>
          <a:p>
            <a:pPr lvl="1"/>
            <a:r>
              <a:rPr lang="en-GB" noProof="0" dirty="0"/>
              <a:t>Identifying patterns and repeated steps</a:t>
            </a:r>
          </a:p>
          <a:p>
            <a:pPr lvl="1"/>
            <a:r>
              <a:rPr lang="en-GB" noProof="0" dirty="0"/>
              <a:t>Designing clear, logical sequences of actions</a:t>
            </a:r>
          </a:p>
          <a:p>
            <a:pPr lvl="1"/>
            <a:r>
              <a:rPr lang="en-GB" noProof="0" dirty="0"/>
              <a:t>Thinking in terms of inputs → processing → outputs</a:t>
            </a:r>
          </a:p>
          <a:p>
            <a:pPr lvl="1"/>
            <a:r>
              <a:rPr lang="en-GB" noProof="0" dirty="0"/>
              <a:t>Understanding that computers do </a:t>
            </a:r>
            <a:r>
              <a:rPr lang="en-GB" i="1" noProof="0" dirty="0"/>
              <a:t>exactly</a:t>
            </a:r>
            <a:r>
              <a:rPr lang="en-GB" noProof="0" dirty="0"/>
              <a:t> what you tell them, not what you meant (ignore AI for now)</a:t>
            </a:r>
          </a:p>
          <a:p>
            <a:endParaRPr lang="en-GB" noProof="0" dirty="0"/>
          </a:p>
        </p:txBody>
      </p:sp>
      <p:sp>
        <p:nvSpPr>
          <p:cNvPr id="4" name="Slide Number Placeholder 3">
            <a:extLst>
              <a:ext uri="{FF2B5EF4-FFF2-40B4-BE49-F238E27FC236}">
                <a16:creationId xmlns:a16="http://schemas.microsoft.com/office/drawing/2014/main" id="{889C6767-7833-F0E1-A1A2-AD050555ABD5}"/>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135321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17523-97C7-A578-C867-1CD6041BFF2C}"/>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6C433FD5-321D-FB0C-251C-E27EB7338408}"/>
              </a:ext>
            </a:extLst>
          </p:cNvPr>
          <p:cNvSpPr>
            <a:spLocks noGrp="1"/>
          </p:cNvSpPr>
          <p:nvPr>
            <p:ph type="body" idx="1"/>
          </p:nvPr>
        </p:nvSpPr>
        <p:spPr>
          <a:xfrm>
            <a:off x="500469" y="1062227"/>
            <a:ext cx="5690045" cy="5387632"/>
          </a:xfrm>
        </p:spPr>
        <p:txBody>
          <a:bodyPr/>
          <a:lstStyle/>
          <a:p>
            <a:r>
              <a:rPr lang="en-GB" sz="1600" noProof="0" dirty="0"/>
              <a:t>Algorithms</a:t>
            </a:r>
          </a:p>
          <a:p>
            <a:pPr lvl="1"/>
            <a:r>
              <a:rPr lang="en-GB" sz="1400" noProof="0" dirty="0"/>
              <a:t>A structured set of steps to solve a problem</a:t>
            </a:r>
          </a:p>
          <a:p>
            <a:pPr lvl="1"/>
            <a:r>
              <a:rPr lang="en-GB" sz="1400" noProof="0" dirty="0"/>
              <a:t>Can be written in English, diagrams, or code</a:t>
            </a:r>
          </a:p>
          <a:p>
            <a:pPr lvl="1"/>
            <a:r>
              <a:rPr lang="en-GB" sz="1400" noProof="0" dirty="0"/>
              <a:t>Focus on clarity, efficiency, and correctness. E.g., consider explaining to a child how to make a cup of tea</a:t>
            </a:r>
          </a:p>
          <a:p>
            <a:pPr lvl="1"/>
            <a:r>
              <a:rPr lang="en-GB" sz="1400" noProof="0" dirty="0"/>
              <a:t>Keep it relatively high level. e.g. assume that if you say "fill the kettle with water" a child could do that, but when implementing, even that would need to be addressed as it's not as simple as it sounds</a:t>
            </a:r>
          </a:p>
          <a:p>
            <a:r>
              <a:rPr lang="en-GB" sz="1600" noProof="0" dirty="0">
                <a:solidFill>
                  <a:srgbClr val="FF0000"/>
                </a:solidFill>
              </a:rPr>
              <a:t>Exercise</a:t>
            </a:r>
          </a:p>
          <a:p>
            <a:pPr lvl="1"/>
            <a:r>
              <a:rPr lang="en-GB" sz="1400" noProof="0" dirty="0"/>
              <a:t>5 minutes to create a flow chart or </a:t>
            </a:r>
            <a:r>
              <a:rPr lang="en-GB" sz="1400" noProof="0" dirty="0" err="1"/>
              <a:t>psudo</a:t>
            </a:r>
            <a:r>
              <a:rPr lang="en-GB" sz="1400" noProof="0" dirty="0"/>
              <a:t> code for a times table application. i.e. a multiplier, a multiplicand and the number of results required. e.g. five times table</a:t>
            </a:r>
          </a:p>
          <a:p>
            <a:pPr lvl="1"/>
            <a:r>
              <a:rPr lang="en-GB" sz="1400" noProof="0" dirty="0"/>
              <a:t>Output:</a:t>
            </a:r>
            <a:br>
              <a:rPr lang="en-GB" sz="1400" noProof="0" dirty="0"/>
            </a:br>
            <a:r>
              <a:rPr lang="en-GB" sz="1400" noProof="0" dirty="0"/>
              <a:t>1x5=5</a:t>
            </a:r>
            <a:br>
              <a:rPr lang="en-GB" sz="1400" noProof="0" dirty="0"/>
            </a:br>
            <a:r>
              <a:rPr lang="en-GB" sz="1400" noProof="0" dirty="0"/>
              <a:t>2x5=10</a:t>
            </a:r>
            <a:br>
              <a:rPr lang="en-GB" sz="1400" noProof="0" dirty="0"/>
            </a:br>
            <a:r>
              <a:rPr lang="en-GB" sz="1400" noProof="0" dirty="0"/>
              <a:t>etc for a requested number of outputs</a:t>
            </a:r>
          </a:p>
          <a:p>
            <a:pPr marL="761981" lvl="1" indent="0">
              <a:buNone/>
            </a:pPr>
            <a:r>
              <a:rPr lang="en-GB" sz="1400" noProof="0" dirty="0"/>
              <a:t>This is </a:t>
            </a:r>
            <a:r>
              <a:rPr lang="en-GB" sz="1400" b="1" noProof="0" dirty="0"/>
              <a:t>not</a:t>
            </a:r>
            <a:r>
              <a:rPr lang="en-GB" sz="1400" noProof="0" dirty="0"/>
              <a:t> a program coding exercise - no code required, it is a problem-solving, computational-thinking exercise</a:t>
            </a:r>
            <a:br>
              <a:rPr lang="en-GB" noProof="0" dirty="0"/>
            </a:br>
            <a:endParaRPr lang="en-GB" noProof="0" dirty="0"/>
          </a:p>
          <a:p>
            <a:endParaRPr lang="en-GB" noProof="0" dirty="0"/>
          </a:p>
          <a:p>
            <a:endParaRPr lang="en-GB" noProof="0" dirty="0"/>
          </a:p>
        </p:txBody>
      </p:sp>
      <p:sp>
        <p:nvSpPr>
          <p:cNvPr id="4" name="Slide Number Placeholder 3">
            <a:extLst>
              <a:ext uri="{FF2B5EF4-FFF2-40B4-BE49-F238E27FC236}">
                <a16:creationId xmlns:a16="http://schemas.microsoft.com/office/drawing/2014/main" id="{79B7CE0A-AAF5-062B-4675-AFC4FAEE817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925361C8-C450-D1B8-F2F6-08C9105BD598}"/>
              </a:ext>
            </a:extLst>
          </p:cNvPr>
          <p:cNvGrpSpPr/>
          <p:nvPr/>
        </p:nvGrpSpPr>
        <p:grpSpPr>
          <a:xfrm>
            <a:off x="6191250" y="418573"/>
            <a:ext cx="5500281" cy="6231012"/>
            <a:chOff x="2675472" y="473017"/>
            <a:chExt cx="5500281" cy="6231012"/>
          </a:xfrm>
        </p:grpSpPr>
        <p:cxnSp>
          <p:nvCxnSpPr>
            <p:cNvPr id="6" name="Straight Arrow Connector 5">
              <a:extLst>
                <a:ext uri="{FF2B5EF4-FFF2-40B4-BE49-F238E27FC236}">
                  <a16:creationId xmlns:a16="http://schemas.microsoft.com/office/drawing/2014/main" id="{895FD8D0-1EFD-6873-EB55-F8383D9CC5EA}"/>
                </a:ext>
              </a:extLst>
            </p:cNvPr>
            <p:cNvCxnSpPr>
              <a:cxnSpLocks/>
              <a:stCxn id="24" idx="2"/>
              <a:endCxn id="56" idx="0"/>
            </p:cNvCxnSpPr>
            <p:nvPr/>
          </p:nvCxnSpPr>
          <p:spPr>
            <a:xfrm>
              <a:off x="6819667" y="2389495"/>
              <a:ext cx="1" cy="2307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2E4EECD-712F-71A6-E9F1-3A0E4A59C377}"/>
                </a:ext>
              </a:extLst>
            </p:cNvPr>
            <p:cNvCxnSpPr>
              <a:cxnSpLocks/>
              <a:stCxn id="58" idx="2"/>
              <a:endCxn id="24" idx="0"/>
            </p:cNvCxnSpPr>
            <p:nvPr/>
          </p:nvCxnSpPr>
          <p:spPr>
            <a:xfrm flipH="1">
              <a:off x="6819667" y="1835997"/>
              <a:ext cx="1" cy="2307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E82F7A1-E14A-A5A0-EA03-787B5C6841CA}"/>
                </a:ext>
              </a:extLst>
            </p:cNvPr>
            <p:cNvCxnSpPr>
              <a:cxnSpLocks/>
              <a:stCxn id="16" idx="2"/>
              <a:endCxn id="17" idx="0"/>
            </p:cNvCxnSpPr>
            <p:nvPr/>
          </p:nvCxnSpPr>
          <p:spPr>
            <a:xfrm>
              <a:off x="3897621" y="3497785"/>
              <a:ext cx="0"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C0ADCC6-2250-C904-92A1-8AD0C73C99E7}"/>
                </a:ext>
              </a:extLst>
            </p:cNvPr>
            <p:cNvCxnSpPr>
              <a:cxnSpLocks/>
              <a:stCxn id="17" idx="2"/>
              <a:endCxn id="22" idx="0"/>
            </p:cNvCxnSpPr>
            <p:nvPr/>
          </p:nvCxnSpPr>
          <p:spPr>
            <a:xfrm>
              <a:off x="3897621" y="4049717"/>
              <a:ext cx="0"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E011E84-0C3C-AA62-AF7E-C24DB2DD0179}"/>
                </a:ext>
              </a:extLst>
            </p:cNvPr>
            <p:cNvCxnSpPr>
              <a:cxnSpLocks/>
              <a:stCxn id="22" idx="2"/>
              <a:endCxn id="60" idx="0"/>
            </p:cNvCxnSpPr>
            <p:nvPr/>
          </p:nvCxnSpPr>
          <p:spPr>
            <a:xfrm>
              <a:off x="3897621" y="4601649"/>
              <a:ext cx="1"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AFF90AC-C9E9-7F5A-8E82-5DB213F1E106}"/>
                </a:ext>
              </a:extLst>
            </p:cNvPr>
            <p:cNvCxnSpPr>
              <a:cxnSpLocks/>
              <a:stCxn id="60" idx="2"/>
              <a:endCxn id="30" idx="0"/>
            </p:cNvCxnSpPr>
            <p:nvPr/>
          </p:nvCxnSpPr>
          <p:spPr>
            <a:xfrm flipH="1">
              <a:off x="3897621" y="5647892"/>
              <a:ext cx="1"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7978507F-955E-B1D4-0EC7-3308B0B44DF3}"/>
                </a:ext>
              </a:extLst>
            </p:cNvPr>
            <p:cNvCxnSpPr>
              <a:cxnSpLocks/>
              <a:stCxn id="49" idx="1"/>
            </p:cNvCxnSpPr>
            <p:nvPr/>
          </p:nvCxnSpPr>
          <p:spPr>
            <a:xfrm rot="10800000" flipH="1">
              <a:off x="2978006" y="4695497"/>
              <a:ext cx="918879" cy="1847168"/>
            </a:xfrm>
            <a:prstGeom prst="bentConnector4">
              <a:avLst>
                <a:gd name="adj1" fmla="val -24878"/>
                <a:gd name="adj2" fmla="val 99746"/>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ECB14C7-BEF7-928D-0170-11E98234E04F}"/>
                </a:ext>
              </a:extLst>
            </p:cNvPr>
            <p:cNvCxnSpPr>
              <a:cxnSpLocks/>
              <a:stCxn id="30" idx="2"/>
              <a:endCxn id="49" idx="0"/>
            </p:cNvCxnSpPr>
            <p:nvPr/>
          </p:nvCxnSpPr>
          <p:spPr>
            <a:xfrm flipH="1">
              <a:off x="3896889" y="6199824"/>
              <a:ext cx="732" cy="18147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B92C492-285C-B7AB-6F45-ABC82242179D}"/>
                </a:ext>
              </a:extLst>
            </p:cNvPr>
            <p:cNvCxnSpPr>
              <a:cxnSpLocks/>
              <a:stCxn id="62" idx="2"/>
              <a:endCxn id="16" idx="0"/>
            </p:cNvCxnSpPr>
            <p:nvPr/>
          </p:nvCxnSpPr>
          <p:spPr>
            <a:xfrm flipH="1">
              <a:off x="3897621" y="2945853"/>
              <a:ext cx="1"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B5F60731-9140-121C-9295-B79EE9BE4A79}"/>
                </a:ext>
              </a:extLst>
            </p:cNvPr>
            <p:cNvGrpSpPr/>
            <p:nvPr/>
          </p:nvGrpSpPr>
          <p:grpSpPr>
            <a:xfrm>
              <a:off x="2938398" y="2128813"/>
              <a:ext cx="1918447" cy="817040"/>
              <a:chOff x="2465294" y="3572242"/>
              <a:chExt cx="1918447" cy="1057836"/>
            </a:xfrm>
          </p:grpSpPr>
          <p:sp>
            <p:nvSpPr>
              <p:cNvPr id="62" name="Flowchart: Decision 61">
                <a:extLst>
                  <a:ext uri="{FF2B5EF4-FFF2-40B4-BE49-F238E27FC236}">
                    <a16:creationId xmlns:a16="http://schemas.microsoft.com/office/drawing/2014/main" id="{9FB0A90D-0E03-D147-5C21-CCB02B0BE589}"/>
                  </a:ext>
                </a:extLst>
              </p:cNvPr>
              <p:cNvSpPr/>
              <p:nvPr/>
            </p:nvSpPr>
            <p:spPr>
              <a:xfrm>
                <a:off x="2465294" y="3572242"/>
                <a:ext cx="1918447" cy="105783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63" name="TextBox 62">
                <a:extLst>
                  <a:ext uri="{FF2B5EF4-FFF2-40B4-BE49-F238E27FC236}">
                    <a16:creationId xmlns:a16="http://schemas.microsoft.com/office/drawing/2014/main" id="{B90846BB-EDBE-6C01-2756-2082AB689198}"/>
                  </a:ext>
                </a:extLst>
              </p:cNvPr>
              <p:cNvSpPr txBox="1"/>
              <p:nvPr/>
            </p:nvSpPr>
            <p:spPr>
              <a:xfrm>
                <a:off x="2852045" y="3918103"/>
                <a:ext cx="115839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Water boiling?</a:t>
                </a:r>
              </a:p>
            </p:txBody>
          </p:sp>
        </p:grpSp>
        <p:sp>
          <p:nvSpPr>
            <p:cNvPr id="16" name="Rectangle 15">
              <a:extLst>
                <a:ext uri="{FF2B5EF4-FFF2-40B4-BE49-F238E27FC236}">
                  <a16:creationId xmlns:a16="http://schemas.microsoft.com/office/drawing/2014/main" id="{478042AF-9E8F-9561-1BA3-E5FFE2E4B13A}"/>
                </a:ext>
              </a:extLst>
            </p:cNvPr>
            <p:cNvSpPr/>
            <p:nvPr/>
          </p:nvSpPr>
          <p:spPr>
            <a:xfrm>
              <a:off x="2978739" y="3175056"/>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Put tea bag in cup</a:t>
              </a:r>
            </a:p>
          </p:txBody>
        </p:sp>
        <p:sp>
          <p:nvSpPr>
            <p:cNvPr id="17" name="Rectangle 16">
              <a:extLst>
                <a:ext uri="{FF2B5EF4-FFF2-40B4-BE49-F238E27FC236}">
                  <a16:creationId xmlns:a16="http://schemas.microsoft.com/office/drawing/2014/main" id="{44643C45-B1FF-55E7-5DCE-6305EF6B8370}"/>
                </a:ext>
              </a:extLst>
            </p:cNvPr>
            <p:cNvSpPr/>
            <p:nvPr/>
          </p:nvSpPr>
          <p:spPr>
            <a:xfrm>
              <a:off x="2978739" y="3726988"/>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Add water to cup</a:t>
              </a:r>
            </a:p>
          </p:txBody>
        </p:sp>
        <p:sp>
          <p:nvSpPr>
            <p:cNvPr id="18" name="Flowchart: Terminator 17">
              <a:extLst>
                <a:ext uri="{FF2B5EF4-FFF2-40B4-BE49-F238E27FC236}">
                  <a16:creationId xmlns:a16="http://schemas.microsoft.com/office/drawing/2014/main" id="{2DDF3601-0392-E197-902E-1C749AB36A09}"/>
                </a:ext>
              </a:extLst>
            </p:cNvPr>
            <p:cNvSpPr/>
            <p:nvPr/>
          </p:nvSpPr>
          <p:spPr>
            <a:xfrm>
              <a:off x="6075597" y="5822878"/>
              <a:ext cx="1488140" cy="322729"/>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Finished</a:t>
              </a:r>
            </a:p>
          </p:txBody>
        </p:sp>
        <p:cxnSp>
          <p:nvCxnSpPr>
            <p:cNvPr id="19" name="Straight Arrow Connector 18">
              <a:extLst>
                <a:ext uri="{FF2B5EF4-FFF2-40B4-BE49-F238E27FC236}">
                  <a16:creationId xmlns:a16="http://schemas.microsoft.com/office/drawing/2014/main" id="{FAACE633-2C5D-05AF-5D6C-FF5DD1A5F7E5}"/>
                </a:ext>
              </a:extLst>
            </p:cNvPr>
            <p:cNvCxnSpPr>
              <a:cxnSpLocks/>
              <a:stCxn id="51" idx="2"/>
              <a:endCxn id="52" idx="0"/>
            </p:cNvCxnSpPr>
            <p:nvPr/>
          </p:nvCxnSpPr>
          <p:spPr>
            <a:xfrm>
              <a:off x="3897621" y="795746"/>
              <a:ext cx="0"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8E07E5B-B31A-7C4D-A062-A251B7C6961F}"/>
                </a:ext>
              </a:extLst>
            </p:cNvPr>
            <p:cNvSpPr txBox="1"/>
            <p:nvPr/>
          </p:nvSpPr>
          <p:spPr>
            <a:xfrm>
              <a:off x="2675472" y="2260334"/>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No</a:t>
              </a:r>
            </a:p>
          </p:txBody>
        </p:sp>
        <p:sp>
          <p:nvSpPr>
            <p:cNvPr id="21" name="TextBox 20">
              <a:extLst>
                <a:ext uri="{FF2B5EF4-FFF2-40B4-BE49-F238E27FC236}">
                  <a16:creationId xmlns:a16="http://schemas.microsoft.com/office/drawing/2014/main" id="{F3EDE92F-CAAC-C2D3-47B7-0232F9CFCA98}"/>
                </a:ext>
              </a:extLst>
            </p:cNvPr>
            <p:cNvSpPr txBox="1"/>
            <p:nvPr/>
          </p:nvSpPr>
          <p:spPr>
            <a:xfrm>
              <a:off x="3904346" y="2898057"/>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sp>
          <p:nvSpPr>
            <p:cNvPr id="22" name="Rectangle 21">
              <a:extLst>
                <a:ext uri="{FF2B5EF4-FFF2-40B4-BE49-F238E27FC236}">
                  <a16:creationId xmlns:a16="http://schemas.microsoft.com/office/drawing/2014/main" id="{36C11C37-0081-9864-4BAC-391CCC84660E}"/>
                </a:ext>
              </a:extLst>
            </p:cNvPr>
            <p:cNvSpPr/>
            <p:nvPr/>
          </p:nvSpPr>
          <p:spPr>
            <a:xfrm>
              <a:off x="2978739" y="4278920"/>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maxDunks</a:t>
              </a:r>
              <a:r>
                <a:rPr kumimoji="0" lang="en-GB" sz="1200" b="0" i="0" u="none" strike="noStrike" kern="1200" cap="none" spc="0" normalizeH="0" baseline="0" noProof="0" dirty="0">
                  <a:ln>
                    <a:noFill/>
                  </a:ln>
                  <a:solidFill>
                    <a:srgbClr val="FFFFFF"/>
                  </a:solidFill>
                  <a:effectLst/>
                  <a:uLnTx/>
                  <a:uFillTx/>
                  <a:latin typeface="Arial"/>
                  <a:ea typeface="+mn-ea"/>
                  <a:cs typeface="+mn-cs"/>
                </a:rPr>
                <a:t>=3, dunks = 0</a:t>
              </a:r>
            </a:p>
          </p:txBody>
        </p:sp>
        <p:grpSp>
          <p:nvGrpSpPr>
            <p:cNvPr id="23" name="Group 22">
              <a:extLst>
                <a:ext uri="{FF2B5EF4-FFF2-40B4-BE49-F238E27FC236}">
                  <a16:creationId xmlns:a16="http://schemas.microsoft.com/office/drawing/2014/main" id="{4D88CE5E-EC25-1376-9985-8A7B4609B301}"/>
                </a:ext>
              </a:extLst>
            </p:cNvPr>
            <p:cNvGrpSpPr/>
            <p:nvPr/>
          </p:nvGrpSpPr>
          <p:grpSpPr>
            <a:xfrm>
              <a:off x="2938398" y="4830852"/>
              <a:ext cx="1918447" cy="817040"/>
              <a:chOff x="2465294" y="3572242"/>
              <a:chExt cx="1918447" cy="1057836"/>
            </a:xfrm>
          </p:grpSpPr>
          <p:sp>
            <p:nvSpPr>
              <p:cNvPr id="60" name="Flowchart: Decision 59">
                <a:extLst>
                  <a:ext uri="{FF2B5EF4-FFF2-40B4-BE49-F238E27FC236}">
                    <a16:creationId xmlns:a16="http://schemas.microsoft.com/office/drawing/2014/main" id="{F78C5B1E-282C-53AB-6996-2EF6D73756AB}"/>
                  </a:ext>
                </a:extLst>
              </p:cNvPr>
              <p:cNvSpPr/>
              <p:nvPr/>
            </p:nvSpPr>
            <p:spPr>
              <a:xfrm>
                <a:off x="2465294" y="3572242"/>
                <a:ext cx="1918447" cy="105783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61" name="TextBox 60">
                <a:extLst>
                  <a:ext uri="{FF2B5EF4-FFF2-40B4-BE49-F238E27FC236}">
                    <a16:creationId xmlns:a16="http://schemas.microsoft.com/office/drawing/2014/main" id="{239CC8EC-75DC-8976-245E-1C8DA4A6B476}"/>
                  </a:ext>
                </a:extLst>
              </p:cNvPr>
              <p:cNvSpPr txBox="1"/>
              <p:nvPr/>
            </p:nvSpPr>
            <p:spPr>
              <a:xfrm>
                <a:off x="2670708" y="3914101"/>
                <a:ext cx="1492716" cy="35863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dunks&lt;</a:t>
                </a:r>
                <a:r>
                  <a:rPr kumimoji="0" lang="en-GB" sz="1200" b="0" i="0" u="none" strike="noStrike" kern="1200" cap="none" spc="0" normalizeH="0" baseline="0" noProof="0" dirty="0" err="1">
                    <a:ln>
                      <a:noFill/>
                    </a:ln>
                    <a:solidFill>
                      <a:srgbClr val="FFFFFF"/>
                    </a:solidFill>
                    <a:effectLst/>
                    <a:uLnTx/>
                    <a:uFillTx/>
                    <a:latin typeface="Arial"/>
                    <a:ea typeface="+mn-ea"/>
                    <a:cs typeface="+mn-cs"/>
                  </a:rPr>
                  <a:t>maxDunks</a:t>
                </a:r>
                <a:r>
                  <a:rPr kumimoji="0" lang="en-GB" sz="1200" b="0" i="0" u="none" strike="noStrike" kern="1200" cap="none" spc="0" normalizeH="0" baseline="0" noProof="0" dirty="0">
                    <a:ln>
                      <a:noFill/>
                    </a:ln>
                    <a:solidFill>
                      <a:srgbClr val="FFFFFF"/>
                    </a:solidFill>
                    <a:effectLst/>
                    <a:uLnTx/>
                    <a:uFillTx/>
                    <a:latin typeface="Arial"/>
                    <a:ea typeface="+mn-ea"/>
                    <a:cs typeface="+mn-cs"/>
                  </a:rPr>
                  <a:t>?</a:t>
                </a:r>
              </a:p>
            </p:txBody>
          </p:sp>
        </p:grpSp>
        <p:sp>
          <p:nvSpPr>
            <p:cNvPr id="24" name="Rectangle 23">
              <a:extLst>
                <a:ext uri="{FF2B5EF4-FFF2-40B4-BE49-F238E27FC236}">
                  <a16:creationId xmlns:a16="http://schemas.microsoft.com/office/drawing/2014/main" id="{8AB28456-57BF-9A2B-2CB0-1DBC16AAD653}"/>
                </a:ext>
              </a:extLst>
            </p:cNvPr>
            <p:cNvSpPr/>
            <p:nvPr/>
          </p:nvSpPr>
          <p:spPr>
            <a:xfrm>
              <a:off x="5900785" y="2066766"/>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Add milk</a:t>
              </a:r>
            </a:p>
          </p:txBody>
        </p:sp>
        <p:grpSp>
          <p:nvGrpSpPr>
            <p:cNvPr id="25" name="Group 24">
              <a:extLst>
                <a:ext uri="{FF2B5EF4-FFF2-40B4-BE49-F238E27FC236}">
                  <a16:creationId xmlns:a16="http://schemas.microsoft.com/office/drawing/2014/main" id="{876C331F-B335-07F1-6A33-464AF0DD5EA2}"/>
                </a:ext>
              </a:extLst>
            </p:cNvPr>
            <p:cNvGrpSpPr/>
            <p:nvPr/>
          </p:nvGrpSpPr>
          <p:grpSpPr>
            <a:xfrm>
              <a:off x="5860444" y="1018957"/>
              <a:ext cx="1918447" cy="817040"/>
              <a:chOff x="2465294" y="3572242"/>
              <a:chExt cx="1918447" cy="1057836"/>
            </a:xfrm>
          </p:grpSpPr>
          <p:sp>
            <p:nvSpPr>
              <p:cNvPr id="58" name="Flowchart: Decision 57">
                <a:extLst>
                  <a:ext uri="{FF2B5EF4-FFF2-40B4-BE49-F238E27FC236}">
                    <a16:creationId xmlns:a16="http://schemas.microsoft.com/office/drawing/2014/main" id="{028AAC32-FAFC-8BE7-C595-0786F46B10CF}"/>
                  </a:ext>
                </a:extLst>
              </p:cNvPr>
              <p:cNvSpPr/>
              <p:nvPr/>
            </p:nvSpPr>
            <p:spPr>
              <a:xfrm>
                <a:off x="2465294" y="3572242"/>
                <a:ext cx="1918447" cy="105783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9" name="TextBox 58">
                <a:extLst>
                  <a:ext uri="{FF2B5EF4-FFF2-40B4-BE49-F238E27FC236}">
                    <a16:creationId xmlns:a16="http://schemas.microsoft.com/office/drawing/2014/main" id="{FBC45D9A-C613-A743-2AB5-D04E8D81AE30}"/>
                  </a:ext>
                </a:extLst>
              </p:cNvPr>
              <p:cNvSpPr txBox="1"/>
              <p:nvPr/>
            </p:nvSpPr>
            <p:spPr>
              <a:xfrm>
                <a:off x="3153449" y="3902369"/>
                <a:ext cx="542136" cy="35863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Milk?</a:t>
                </a:r>
              </a:p>
            </p:txBody>
          </p:sp>
        </p:grpSp>
        <p:grpSp>
          <p:nvGrpSpPr>
            <p:cNvPr id="26" name="Group 25">
              <a:extLst>
                <a:ext uri="{FF2B5EF4-FFF2-40B4-BE49-F238E27FC236}">
                  <a16:creationId xmlns:a16="http://schemas.microsoft.com/office/drawing/2014/main" id="{8FCEAB09-D732-5998-447D-D4E4D038D14F}"/>
                </a:ext>
              </a:extLst>
            </p:cNvPr>
            <p:cNvGrpSpPr/>
            <p:nvPr/>
          </p:nvGrpSpPr>
          <p:grpSpPr>
            <a:xfrm>
              <a:off x="5860444" y="2620264"/>
              <a:ext cx="1918447" cy="817040"/>
              <a:chOff x="2465294" y="3572242"/>
              <a:chExt cx="1918447" cy="1057836"/>
            </a:xfrm>
          </p:grpSpPr>
          <p:sp>
            <p:nvSpPr>
              <p:cNvPr id="56" name="Flowchart: Decision 55">
                <a:extLst>
                  <a:ext uri="{FF2B5EF4-FFF2-40B4-BE49-F238E27FC236}">
                    <a16:creationId xmlns:a16="http://schemas.microsoft.com/office/drawing/2014/main" id="{34572C8B-8ECB-0AD2-26DF-6E098D798B2E}"/>
                  </a:ext>
                </a:extLst>
              </p:cNvPr>
              <p:cNvSpPr/>
              <p:nvPr/>
            </p:nvSpPr>
            <p:spPr>
              <a:xfrm>
                <a:off x="2465294" y="3572242"/>
                <a:ext cx="1918447" cy="105783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7" name="TextBox 56">
                <a:extLst>
                  <a:ext uri="{FF2B5EF4-FFF2-40B4-BE49-F238E27FC236}">
                    <a16:creationId xmlns:a16="http://schemas.microsoft.com/office/drawing/2014/main" id="{388F0184-A77A-347A-4B72-D33EABC0322D}"/>
                  </a:ext>
                </a:extLst>
              </p:cNvPr>
              <p:cNvSpPr txBox="1"/>
              <p:nvPr/>
            </p:nvSpPr>
            <p:spPr>
              <a:xfrm>
                <a:off x="3153449" y="3902369"/>
                <a:ext cx="678391" cy="35863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Sugar?</a:t>
                </a:r>
              </a:p>
            </p:txBody>
          </p:sp>
        </p:grpSp>
        <p:sp>
          <p:nvSpPr>
            <p:cNvPr id="27" name="Rectangle 26">
              <a:extLst>
                <a:ext uri="{FF2B5EF4-FFF2-40B4-BE49-F238E27FC236}">
                  <a16:creationId xmlns:a16="http://schemas.microsoft.com/office/drawing/2014/main" id="{0A2EE854-86FC-BD54-6C2A-8E64A70D90C4}"/>
                </a:ext>
              </a:extLst>
            </p:cNvPr>
            <p:cNvSpPr/>
            <p:nvPr/>
          </p:nvSpPr>
          <p:spPr>
            <a:xfrm>
              <a:off x="5900785" y="3668073"/>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Add sugar</a:t>
              </a:r>
            </a:p>
          </p:txBody>
        </p:sp>
        <p:sp>
          <p:nvSpPr>
            <p:cNvPr id="28" name="Rectangle 27">
              <a:extLst>
                <a:ext uri="{FF2B5EF4-FFF2-40B4-BE49-F238E27FC236}">
                  <a16:creationId xmlns:a16="http://schemas.microsoft.com/office/drawing/2014/main" id="{A50C881F-624E-E0B0-8128-D3D19E900007}"/>
                </a:ext>
              </a:extLst>
            </p:cNvPr>
            <p:cNvSpPr/>
            <p:nvPr/>
          </p:nvSpPr>
          <p:spPr>
            <a:xfrm>
              <a:off x="5900785" y="4221571"/>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Serve tea</a:t>
              </a:r>
            </a:p>
          </p:txBody>
        </p:sp>
        <p:grpSp>
          <p:nvGrpSpPr>
            <p:cNvPr id="29" name="Group 28">
              <a:extLst>
                <a:ext uri="{FF2B5EF4-FFF2-40B4-BE49-F238E27FC236}">
                  <a16:creationId xmlns:a16="http://schemas.microsoft.com/office/drawing/2014/main" id="{4D47428F-5C14-4E05-7121-BC0D06770353}"/>
                </a:ext>
              </a:extLst>
            </p:cNvPr>
            <p:cNvGrpSpPr/>
            <p:nvPr/>
          </p:nvGrpSpPr>
          <p:grpSpPr>
            <a:xfrm>
              <a:off x="5860444" y="4775069"/>
              <a:ext cx="1918447" cy="817040"/>
              <a:chOff x="2465294" y="3572242"/>
              <a:chExt cx="1918447" cy="1057836"/>
            </a:xfrm>
          </p:grpSpPr>
          <p:sp>
            <p:nvSpPr>
              <p:cNvPr id="54" name="Flowchart: Decision 53">
                <a:extLst>
                  <a:ext uri="{FF2B5EF4-FFF2-40B4-BE49-F238E27FC236}">
                    <a16:creationId xmlns:a16="http://schemas.microsoft.com/office/drawing/2014/main" id="{5DD4EC0B-59EE-7176-FB7F-870C89F36C4F}"/>
                  </a:ext>
                </a:extLst>
              </p:cNvPr>
              <p:cNvSpPr/>
              <p:nvPr/>
            </p:nvSpPr>
            <p:spPr>
              <a:xfrm>
                <a:off x="2465294" y="3572242"/>
                <a:ext cx="1918447" cy="105783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5" name="TextBox 54">
                <a:extLst>
                  <a:ext uri="{FF2B5EF4-FFF2-40B4-BE49-F238E27FC236}">
                    <a16:creationId xmlns:a16="http://schemas.microsoft.com/office/drawing/2014/main" id="{732AAEDF-9BC4-EAED-DB61-CBCFFD5246DD}"/>
                  </a:ext>
                </a:extLst>
              </p:cNvPr>
              <p:cNvSpPr txBox="1"/>
              <p:nvPr/>
            </p:nvSpPr>
            <p:spPr>
              <a:xfrm>
                <a:off x="2924866" y="3875073"/>
                <a:ext cx="1096775" cy="35863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Another cup?</a:t>
                </a:r>
              </a:p>
            </p:txBody>
          </p:sp>
        </p:grpSp>
        <p:sp>
          <p:nvSpPr>
            <p:cNvPr id="30" name="Rectangle 29">
              <a:extLst>
                <a:ext uri="{FF2B5EF4-FFF2-40B4-BE49-F238E27FC236}">
                  <a16:creationId xmlns:a16="http://schemas.microsoft.com/office/drawing/2014/main" id="{B3826919-6AF0-02CA-B552-7AC7EB8D922D}"/>
                </a:ext>
              </a:extLst>
            </p:cNvPr>
            <p:cNvSpPr/>
            <p:nvPr/>
          </p:nvSpPr>
          <p:spPr>
            <a:xfrm>
              <a:off x="2978739" y="5877095"/>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Dunk bag</a:t>
              </a:r>
            </a:p>
          </p:txBody>
        </p:sp>
        <p:cxnSp>
          <p:nvCxnSpPr>
            <p:cNvPr id="31" name="Straight Arrow Connector 30">
              <a:extLst>
                <a:ext uri="{FF2B5EF4-FFF2-40B4-BE49-F238E27FC236}">
                  <a16:creationId xmlns:a16="http://schemas.microsoft.com/office/drawing/2014/main" id="{19B084C1-B695-0718-5ED6-960600A753BF}"/>
                </a:ext>
              </a:extLst>
            </p:cNvPr>
            <p:cNvCxnSpPr>
              <a:cxnSpLocks/>
              <a:stCxn id="52" idx="2"/>
              <a:endCxn id="53" idx="0"/>
            </p:cNvCxnSpPr>
            <p:nvPr/>
          </p:nvCxnSpPr>
          <p:spPr>
            <a:xfrm>
              <a:off x="3897621" y="1347678"/>
              <a:ext cx="0"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290E195-D264-B8F3-A1E6-50CD1C434B9A}"/>
                </a:ext>
              </a:extLst>
            </p:cNvPr>
            <p:cNvCxnSpPr>
              <a:cxnSpLocks/>
              <a:stCxn id="53" idx="2"/>
              <a:endCxn id="62" idx="0"/>
            </p:cNvCxnSpPr>
            <p:nvPr/>
          </p:nvCxnSpPr>
          <p:spPr>
            <a:xfrm>
              <a:off x="3897621" y="1899610"/>
              <a:ext cx="1" cy="2292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C0B74A97-4901-83BD-065E-F1132EC5BD68}"/>
                </a:ext>
              </a:extLst>
            </p:cNvPr>
            <p:cNvCxnSpPr>
              <a:stCxn id="62" idx="1"/>
            </p:cNvCxnSpPr>
            <p:nvPr/>
          </p:nvCxnSpPr>
          <p:spPr>
            <a:xfrm rot="10800000" flipH="1">
              <a:off x="2938398" y="2014211"/>
              <a:ext cx="958494" cy="523122"/>
            </a:xfrm>
            <a:prstGeom prst="bentConnector3">
              <a:avLst>
                <a:gd name="adj1" fmla="val -2385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78788CC0-CA16-D78C-FE44-5F341B1CED62}"/>
                </a:ext>
              </a:extLst>
            </p:cNvPr>
            <p:cNvSpPr txBox="1"/>
            <p:nvPr/>
          </p:nvSpPr>
          <p:spPr>
            <a:xfrm>
              <a:off x="3904346" y="5600096"/>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cxnSp>
          <p:nvCxnSpPr>
            <p:cNvPr id="35" name="Connector: Elbow 34">
              <a:extLst>
                <a:ext uri="{FF2B5EF4-FFF2-40B4-BE49-F238E27FC236}">
                  <a16:creationId xmlns:a16="http://schemas.microsoft.com/office/drawing/2014/main" id="{37528292-67A1-E51F-AF43-11337E23D006}"/>
                </a:ext>
              </a:extLst>
            </p:cNvPr>
            <p:cNvCxnSpPr>
              <a:stCxn id="60" idx="3"/>
              <a:endCxn id="58" idx="1"/>
            </p:cNvCxnSpPr>
            <p:nvPr/>
          </p:nvCxnSpPr>
          <p:spPr>
            <a:xfrm flipV="1">
              <a:off x="4856845" y="1427477"/>
              <a:ext cx="1003599" cy="3811895"/>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2DDDDCC-6D5F-5B6D-9A2D-C1357E638AA2}"/>
                </a:ext>
              </a:extLst>
            </p:cNvPr>
            <p:cNvCxnSpPr>
              <a:cxnSpLocks/>
              <a:stCxn id="56" idx="2"/>
              <a:endCxn id="27" idx="0"/>
            </p:cNvCxnSpPr>
            <p:nvPr/>
          </p:nvCxnSpPr>
          <p:spPr>
            <a:xfrm flipH="1">
              <a:off x="6819667" y="3437304"/>
              <a:ext cx="1" cy="2307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2454CA-0D8F-EE7A-6080-97E8790918CF}"/>
                </a:ext>
              </a:extLst>
            </p:cNvPr>
            <p:cNvCxnSpPr>
              <a:cxnSpLocks/>
              <a:stCxn id="27" idx="2"/>
              <a:endCxn id="28" idx="0"/>
            </p:cNvCxnSpPr>
            <p:nvPr/>
          </p:nvCxnSpPr>
          <p:spPr>
            <a:xfrm>
              <a:off x="6819667" y="3990802"/>
              <a:ext cx="0" cy="2307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0B8ACDB-91A5-CAA0-8C1C-8CF8A2D551FB}"/>
                </a:ext>
              </a:extLst>
            </p:cNvPr>
            <p:cNvCxnSpPr>
              <a:cxnSpLocks/>
              <a:stCxn id="28" idx="2"/>
              <a:endCxn id="54" idx="0"/>
            </p:cNvCxnSpPr>
            <p:nvPr/>
          </p:nvCxnSpPr>
          <p:spPr>
            <a:xfrm>
              <a:off x="6819667" y="4544300"/>
              <a:ext cx="1" cy="2307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1AFA223-5F83-DCC1-0E7E-CF6D15AEC730}"/>
                </a:ext>
              </a:extLst>
            </p:cNvPr>
            <p:cNvCxnSpPr>
              <a:cxnSpLocks/>
              <a:stCxn id="54" idx="2"/>
              <a:endCxn id="18" idx="0"/>
            </p:cNvCxnSpPr>
            <p:nvPr/>
          </p:nvCxnSpPr>
          <p:spPr>
            <a:xfrm flipH="1">
              <a:off x="6819667" y="5592109"/>
              <a:ext cx="1" cy="2307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4CA18F66-C72A-B593-FD5B-81071730F05B}"/>
                </a:ext>
              </a:extLst>
            </p:cNvPr>
            <p:cNvCxnSpPr>
              <a:stCxn id="58" idx="3"/>
            </p:cNvCxnSpPr>
            <p:nvPr/>
          </p:nvCxnSpPr>
          <p:spPr>
            <a:xfrm flipH="1">
              <a:off x="6819667" y="1427477"/>
              <a:ext cx="959224" cy="1075441"/>
            </a:xfrm>
            <a:prstGeom prst="bentConnector4">
              <a:avLst>
                <a:gd name="adj1" fmla="val -23832"/>
                <a:gd name="adj2" fmla="val 9993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1F6FAB1-77D4-4835-BC3B-BBF8C9BE6203}"/>
                </a:ext>
              </a:extLst>
            </p:cNvPr>
            <p:cNvSpPr txBox="1"/>
            <p:nvPr/>
          </p:nvSpPr>
          <p:spPr>
            <a:xfrm>
              <a:off x="6804364" y="1800777"/>
              <a:ext cx="432780"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sp>
          <p:nvSpPr>
            <p:cNvPr id="42" name="TextBox 41">
              <a:extLst>
                <a:ext uri="{FF2B5EF4-FFF2-40B4-BE49-F238E27FC236}">
                  <a16:creationId xmlns:a16="http://schemas.microsoft.com/office/drawing/2014/main" id="{277DF6A5-6AF9-EAF9-FEA3-2B0293D9F531}"/>
                </a:ext>
              </a:extLst>
            </p:cNvPr>
            <p:cNvSpPr txBox="1"/>
            <p:nvPr/>
          </p:nvSpPr>
          <p:spPr>
            <a:xfrm>
              <a:off x="7694279" y="1157581"/>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No</a:t>
              </a:r>
            </a:p>
          </p:txBody>
        </p:sp>
        <p:sp>
          <p:nvSpPr>
            <p:cNvPr id="43" name="TextBox 42">
              <a:extLst>
                <a:ext uri="{FF2B5EF4-FFF2-40B4-BE49-F238E27FC236}">
                  <a16:creationId xmlns:a16="http://schemas.microsoft.com/office/drawing/2014/main" id="{66DAA4A2-683A-31A8-7F35-C50DE5E83E17}"/>
                </a:ext>
              </a:extLst>
            </p:cNvPr>
            <p:cNvSpPr txBox="1"/>
            <p:nvPr/>
          </p:nvSpPr>
          <p:spPr>
            <a:xfrm>
              <a:off x="6792603" y="3403247"/>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cxnSp>
          <p:nvCxnSpPr>
            <p:cNvPr id="44" name="Connector: Elbow 43">
              <a:extLst>
                <a:ext uri="{FF2B5EF4-FFF2-40B4-BE49-F238E27FC236}">
                  <a16:creationId xmlns:a16="http://schemas.microsoft.com/office/drawing/2014/main" id="{2E22A321-2A26-FCE7-E1C9-1C374C17DF7B}"/>
                </a:ext>
              </a:extLst>
            </p:cNvPr>
            <p:cNvCxnSpPr>
              <a:stCxn id="56" idx="3"/>
            </p:cNvCxnSpPr>
            <p:nvPr/>
          </p:nvCxnSpPr>
          <p:spPr>
            <a:xfrm flipH="1">
              <a:off x="6819667" y="3028784"/>
              <a:ext cx="959224" cy="1077402"/>
            </a:xfrm>
            <a:prstGeom prst="bentConnector4">
              <a:avLst>
                <a:gd name="adj1" fmla="val -23832"/>
                <a:gd name="adj2" fmla="val 100078"/>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38DE841-6376-7BA5-0818-7A8117939C97}"/>
                </a:ext>
              </a:extLst>
            </p:cNvPr>
            <p:cNvSpPr txBox="1"/>
            <p:nvPr/>
          </p:nvSpPr>
          <p:spPr>
            <a:xfrm>
              <a:off x="7701015" y="2795016"/>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No</a:t>
              </a:r>
            </a:p>
          </p:txBody>
        </p:sp>
        <p:sp>
          <p:nvSpPr>
            <p:cNvPr id="46" name="TextBox 45">
              <a:extLst>
                <a:ext uri="{FF2B5EF4-FFF2-40B4-BE49-F238E27FC236}">
                  <a16:creationId xmlns:a16="http://schemas.microsoft.com/office/drawing/2014/main" id="{2CA63387-D29C-6F47-6893-61E1D9541408}"/>
                </a:ext>
              </a:extLst>
            </p:cNvPr>
            <p:cNvSpPr txBox="1"/>
            <p:nvPr/>
          </p:nvSpPr>
          <p:spPr>
            <a:xfrm>
              <a:off x="6777864" y="5568993"/>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No</a:t>
              </a:r>
            </a:p>
          </p:txBody>
        </p:sp>
        <p:sp>
          <p:nvSpPr>
            <p:cNvPr id="47" name="TextBox 46">
              <a:extLst>
                <a:ext uri="{FF2B5EF4-FFF2-40B4-BE49-F238E27FC236}">
                  <a16:creationId xmlns:a16="http://schemas.microsoft.com/office/drawing/2014/main" id="{AE21291A-4FFB-6E30-84BE-22F0FCB3E2F8}"/>
                </a:ext>
              </a:extLst>
            </p:cNvPr>
            <p:cNvSpPr txBox="1"/>
            <p:nvPr/>
          </p:nvSpPr>
          <p:spPr>
            <a:xfrm>
              <a:off x="7719451" y="4920113"/>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cxnSp>
          <p:nvCxnSpPr>
            <p:cNvPr id="48" name="Connector: Elbow 47">
              <a:extLst>
                <a:ext uri="{FF2B5EF4-FFF2-40B4-BE49-F238E27FC236}">
                  <a16:creationId xmlns:a16="http://schemas.microsoft.com/office/drawing/2014/main" id="{6BF60E0B-F3FF-EB54-023F-B47EE4F204EB}"/>
                </a:ext>
              </a:extLst>
            </p:cNvPr>
            <p:cNvCxnSpPr>
              <a:stCxn id="54" idx="3"/>
            </p:cNvCxnSpPr>
            <p:nvPr/>
          </p:nvCxnSpPr>
          <p:spPr>
            <a:xfrm flipH="1" flipV="1">
              <a:off x="3896889" y="873033"/>
              <a:ext cx="3882002" cy="4310556"/>
            </a:xfrm>
            <a:prstGeom prst="bentConnector4">
              <a:avLst>
                <a:gd name="adj1" fmla="val -15311"/>
                <a:gd name="adj2" fmla="val 9999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6B19AFFB-865A-3BDA-6B45-77E0C0F03F6A}"/>
                </a:ext>
              </a:extLst>
            </p:cNvPr>
            <p:cNvSpPr/>
            <p:nvPr/>
          </p:nvSpPr>
          <p:spPr>
            <a:xfrm>
              <a:off x="2978007" y="6381300"/>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Increment dunks</a:t>
              </a:r>
            </a:p>
          </p:txBody>
        </p:sp>
        <p:sp>
          <p:nvSpPr>
            <p:cNvPr id="50" name="TextBox 49">
              <a:extLst>
                <a:ext uri="{FF2B5EF4-FFF2-40B4-BE49-F238E27FC236}">
                  <a16:creationId xmlns:a16="http://schemas.microsoft.com/office/drawing/2014/main" id="{6C5E0929-58EE-A753-498D-E88EF797B9BC}"/>
                </a:ext>
              </a:extLst>
            </p:cNvPr>
            <p:cNvSpPr txBox="1"/>
            <p:nvPr/>
          </p:nvSpPr>
          <p:spPr>
            <a:xfrm>
              <a:off x="4793434" y="4997328"/>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No</a:t>
              </a:r>
            </a:p>
          </p:txBody>
        </p:sp>
        <p:sp>
          <p:nvSpPr>
            <p:cNvPr id="51" name="Flowchart: Terminator 50">
              <a:extLst>
                <a:ext uri="{FF2B5EF4-FFF2-40B4-BE49-F238E27FC236}">
                  <a16:creationId xmlns:a16="http://schemas.microsoft.com/office/drawing/2014/main" id="{273624D8-97A6-F054-127D-C1454F0FB4D2}"/>
                </a:ext>
              </a:extLst>
            </p:cNvPr>
            <p:cNvSpPr/>
            <p:nvPr/>
          </p:nvSpPr>
          <p:spPr>
            <a:xfrm>
              <a:off x="3153551" y="473017"/>
              <a:ext cx="1488140" cy="322729"/>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Make Tea</a:t>
              </a:r>
            </a:p>
          </p:txBody>
        </p:sp>
        <p:sp>
          <p:nvSpPr>
            <p:cNvPr id="52" name="Rectangle 51">
              <a:extLst>
                <a:ext uri="{FF2B5EF4-FFF2-40B4-BE49-F238E27FC236}">
                  <a16:creationId xmlns:a16="http://schemas.microsoft.com/office/drawing/2014/main" id="{9AA9F754-C5E3-C642-67EA-E3DF365E0A15}"/>
                </a:ext>
              </a:extLst>
            </p:cNvPr>
            <p:cNvSpPr/>
            <p:nvPr/>
          </p:nvSpPr>
          <p:spPr>
            <a:xfrm>
              <a:off x="2978739" y="1024949"/>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Fill kettle with water</a:t>
              </a:r>
            </a:p>
          </p:txBody>
        </p:sp>
        <p:sp>
          <p:nvSpPr>
            <p:cNvPr id="53" name="Rectangle 52">
              <a:extLst>
                <a:ext uri="{FF2B5EF4-FFF2-40B4-BE49-F238E27FC236}">
                  <a16:creationId xmlns:a16="http://schemas.microsoft.com/office/drawing/2014/main" id="{FE22B601-5ACA-752E-D9A3-6CB4AB8CCAB8}"/>
                </a:ext>
              </a:extLst>
            </p:cNvPr>
            <p:cNvSpPr/>
            <p:nvPr/>
          </p:nvSpPr>
          <p:spPr>
            <a:xfrm>
              <a:off x="2978739" y="1576881"/>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Switch kettle on</a:t>
              </a:r>
            </a:p>
          </p:txBody>
        </p:sp>
      </p:grpSp>
    </p:spTree>
    <p:extLst>
      <p:ext uri="{BB962C8B-B14F-4D97-AF65-F5344CB8AC3E}">
        <p14:creationId xmlns:p14="http://schemas.microsoft.com/office/powerpoint/2010/main" val="64999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2C59C-A69C-A0D2-E10E-97C3D9B81E3A}"/>
              </a:ext>
            </a:extLst>
          </p:cNvPr>
          <p:cNvSpPr>
            <a:spLocks noGrp="1"/>
          </p:cNvSpPr>
          <p:nvPr>
            <p:ph type="title"/>
          </p:nvPr>
        </p:nvSpPr>
        <p:spPr/>
        <p:txBody>
          <a:bodyPr/>
          <a:lstStyle/>
          <a:p>
            <a:r>
              <a:rPr lang="en-GB" noProof="0" dirty="0"/>
              <a:t>Simple use case</a:t>
            </a:r>
          </a:p>
        </p:txBody>
      </p:sp>
      <p:sp>
        <p:nvSpPr>
          <p:cNvPr id="3" name="Text Placeholder 2">
            <a:extLst>
              <a:ext uri="{FF2B5EF4-FFF2-40B4-BE49-F238E27FC236}">
                <a16:creationId xmlns:a16="http://schemas.microsoft.com/office/drawing/2014/main" id="{E7C1BE12-EB8E-99E6-CDC0-72A44870E1F1}"/>
              </a:ext>
            </a:extLst>
          </p:cNvPr>
          <p:cNvSpPr>
            <a:spLocks noGrp="1"/>
          </p:cNvSpPr>
          <p:nvPr>
            <p:ph type="body" idx="1"/>
          </p:nvPr>
        </p:nvSpPr>
        <p:spPr>
          <a:xfrm>
            <a:off x="303907" y="1089368"/>
            <a:ext cx="6599947" cy="5387632"/>
          </a:xfrm>
        </p:spPr>
        <p:txBody>
          <a:bodyPr/>
          <a:lstStyle/>
          <a:p>
            <a:r>
              <a:rPr lang="en-GB" sz="1600" noProof="0" dirty="0"/>
              <a:t>Generate a times table of the specified multiplicand (table value), and incrementing multiplier starting at 1</a:t>
            </a:r>
          </a:p>
          <a:p>
            <a:r>
              <a:rPr lang="en-GB" sz="1600" noProof="0" dirty="0"/>
              <a:t>e.g. Output:</a:t>
            </a:r>
          </a:p>
          <a:p>
            <a:pPr lvl="1"/>
            <a:r>
              <a:rPr lang="en-GB" noProof="0" dirty="0"/>
              <a:t>1 x 5 = 5</a:t>
            </a:r>
            <a:br>
              <a:rPr lang="en-GB" noProof="0" dirty="0"/>
            </a:br>
            <a:r>
              <a:rPr lang="en-GB" noProof="0" dirty="0"/>
              <a:t>2 x 5 = 10</a:t>
            </a:r>
            <a:br>
              <a:rPr lang="en-GB" noProof="0" dirty="0"/>
            </a:br>
            <a:r>
              <a:rPr lang="en-GB" noProof="0" dirty="0"/>
              <a:t>…</a:t>
            </a:r>
            <a:br>
              <a:rPr lang="en-GB" noProof="0" dirty="0"/>
            </a:br>
            <a:r>
              <a:rPr lang="en-GB" noProof="0" dirty="0"/>
              <a:t>12 x 5 = 60</a:t>
            </a:r>
            <a:br>
              <a:rPr lang="en-GB" noProof="0" dirty="0"/>
            </a:br>
            <a:br>
              <a:rPr lang="en-GB" dirty="0"/>
            </a:br>
            <a:r>
              <a:rPr lang="en-GB" dirty="0"/>
              <a:t>In this case, the </a:t>
            </a:r>
            <a:r>
              <a:rPr lang="en-GB" noProof="0" dirty="0"/>
              <a:t>multiplicand is 5 and multiplier max is 12</a:t>
            </a:r>
          </a:p>
          <a:p>
            <a:pPr lvl="1"/>
            <a:endParaRPr lang="en-GB" noProof="0" dirty="0"/>
          </a:p>
          <a:p>
            <a:r>
              <a:rPr lang="en-GB" sz="1600" noProof="0" dirty="0"/>
              <a:t>P-code:</a:t>
            </a:r>
            <a:br>
              <a:rPr lang="en-GB" sz="1600" noProof="0" dirty="0"/>
            </a:br>
            <a:r>
              <a:rPr lang="en-GB" sz="1400" noProof="0" dirty="0"/>
              <a:t>Initialise the multiplicand (table value) and the maximum number of outputs.</a:t>
            </a:r>
            <a:br>
              <a:rPr lang="en-GB" sz="1400" noProof="0" dirty="0"/>
            </a:br>
            <a:r>
              <a:rPr lang="en-GB" sz="1400" noProof="0" dirty="0"/>
              <a:t>Start with a multiplier of 1.</a:t>
            </a:r>
            <a:br>
              <a:rPr lang="en-GB" sz="1400" noProof="0" dirty="0"/>
            </a:br>
            <a:r>
              <a:rPr lang="en-GB" sz="1400" noProof="0" dirty="0"/>
              <a:t>From this multiplier up to the maximum number of outputs, repeat:</a:t>
            </a:r>
            <a:br>
              <a:rPr lang="en-GB" sz="1400" noProof="0" dirty="0"/>
            </a:br>
            <a:r>
              <a:rPr lang="en-GB" sz="1400" noProof="0" dirty="0"/>
              <a:t>	Output: </a:t>
            </a:r>
            <a:r>
              <a:rPr lang="en-GB" sz="1400" i="1" noProof="0" dirty="0"/>
              <a:t>multiplier × multiplicand = product</a:t>
            </a:r>
            <a:r>
              <a:rPr lang="en-GB" sz="1400" noProof="0" dirty="0"/>
              <a:t>.</a:t>
            </a:r>
            <a:br>
              <a:rPr lang="en-GB" sz="1400" noProof="0" dirty="0"/>
            </a:br>
            <a:r>
              <a:rPr lang="en-GB" sz="1400" noProof="0" dirty="0"/>
              <a:t>	Move to a new line.</a:t>
            </a:r>
            <a:br>
              <a:rPr lang="en-GB" sz="1400" noProof="0" dirty="0"/>
            </a:br>
            <a:r>
              <a:rPr lang="en-GB" sz="1400" noProof="0" dirty="0"/>
              <a:t>	Increase the multiplier by 1.</a:t>
            </a:r>
            <a:br>
              <a:rPr lang="en-GB" sz="1400" noProof="0" dirty="0"/>
            </a:br>
            <a:r>
              <a:rPr lang="en-GB" sz="1400" noProof="0" dirty="0"/>
              <a:t>Continue until the multiplier is greater than the maximum number of outputs.</a:t>
            </a:r>
          </a:p>
        </p:txBody>
      </p:sp>
      <p:sp>
        <p:nvSpPr>
          <p:cNvPr id="4" name="Slide Number Placeholder 3">
            <a:extLst>
              <a:ext uri="{FF2B5EF4-FFF2-40B4-BE49-F238E27FC236}">
                <a16:creationId xmlns:a16="http://schemas.microsoft.com/office/drawing/2014/main" id="{3C36E7FC-8FAA-BAFE-EF28-AA2781D368D0}"/>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47" name="Group 46">
            <a:extLst>
              <a:ext uri="{FF2B5EF4-FFF2-40B4-BE49-F238E27FC236}">
                <a16:creationId xmlns:a16="http://schemas.microsoft.com/office/drawing/2014/main" id="{AB53FCD3-8871-6F08-4392-03481688B6E0}"/>
              </a:ext>
            </a:extLst>
          </p:cNvPr>
          <p:cNvGrpSpPr/>
          <p:nvPr/>
        </p:nvGrpSpPr>
        <p:grpSpPr>
          <a:xfrm>
            <a:off x="7716069" y="791854"/>
            <a:ext cx="3475705" cy="5274292"/>
            <a:chOff x="2465294" y="1069405"/>
            <a:chExt cx="3475705" cy="5274292"/>
          </a:xfrm>
        </p:grpSpPr>
        <p:sp>
          <p:nvSpPr>
            <p:cNvPr id="8" name="Rectangle 7">
              <a:extLst>
                <a:ext uri="{FF2B5EF4-FFF2-40B4-BE49-F238E27FC236}">
                  <a16:creationId xmlns:a16="http://schemas.microsoft.com/office/drawing/2014/main" id="{5CFF8539-C966-B27D-29C9-D03B3DD7A533}"/>
                </a:ext>
              </a:extLst>
            </p:cNvPr>
            <p:cNvSpPr/>
            <p:nvPr/>
          </p:nvSpPr>
          <p:spPr>
            <a:xfrm>
              <a:off x="2505635" y="1677964"/>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Set table value</a:t>
              </a:r>
            </a:p>
          </p:txBody>
        </p:sp>
        <p:sp>
          <p:nvSpPr>
            <p:cNvPr id="9" name="Rectangle 8">
              <a:extLst>
                <a:ext uri="{FF2B5EF4-FFF2-40B4-BE49-F238E27FC236}">
                  <a16:creationId xmlns:a16="http://schemas.microsoft.com/office/drawing/2014/main" id="{888E7229-E26C-178F-7095-0C4DDE120F79}"/>
                </a:ext>
              </a:extLst>
            </p:cNvPr>
            <p:cNvSpPr/>
            <p:nvPr/>
          </p:nvSpPr>
          <p:spPr>
            <a:xfrm>
              <a:off x="2505635" y="2286523"/>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Set max count</a:t>
              </a:r>
            </a:p>
          </p:txBody>
        </p:sp>
        <p:sp>
          <p:nvSpPr>
            <p:cNvPr id="10" name="Rectangle 9">
              <a:extLst>
                <a:ext uri="{FF2B5EF4-FFF2-40B4-BE49-F238E27FC236}">
                  <a16:creationId xmlns:a16="http://schemas.microsoft.com/office/drawing/2014/main" id="{159CD8A1-35B6-D0D8-E095-455A715510C6}"/>
                </a:ext>
              </a:extLst>
            </p:cNvPr>
            <p:cNvSpPr/>
            <p:nvPr/>
          </p:nvSpPr>
          <p:spPr>
            <a:xfrm>
              <a:off x="2505635" y="2895082"/>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Set count = 1</a:t>
              </a:r>
            </a:p>
          </p:txBody>
        </p:sp>
        <p:grpSp>
          <p:nvGrpSpPr>
            <p:cNvPr id="18" name="Group 17">
              <a:extLst>
                <a:ext uri="{FF2B5EF4-FFF2-40B4-BE49-F238E27FC236}">
                  <a16:creationId xmlns:a16="http://schemas.microsoft.com/office/drawing/2014/main" id="{B3705C38-6151-F56A-4A5A-9307B76F6D2E}"/>
                </a:ext>
              </a:extLst>
            </p:cNvPr>
            <p:cNvGrpSpPr/>
            <p:nvPr/>
          </p:nvGrpSpPr>
          <p:grpSpPr>
            <a:xfrm>
              <a:off x="2465294" y="3503641"/>
              <a:ext cx="1918447" cy="1057836"/>
              <a:chOff x="2465294" y="3572242"/>
              <a:chExt cx="1918447" cy="1057836"/>
            </a:xfrm>
          </p:grpSpPr>
          <p:sp>
            <p:nvSpPr>
              <p:cNvPr id="11" name="Flowchart: Decision 10">
                <a:extLst>
                  <a:ext uri="{FF2B5EF4-FFF2-40B4-BE49-F238E27FC236}">
                    <a16:creationId xmlns:a16="http://schemas.microsoft.com/office/drawing/2014/main" id="{1967CAF0-B741-6308-9D87-491640E14639}"/>
                  </a:ext>
                </a:extLst>
              </p:cNvPr>
              <p:cNvSpPr/>
              <p:nvPr/>
            </p:nvSpPr>
            <p:spPr>
              <a:xfrm>
                <a:off x="2465294" y="3572242"/>
                <a:ext cx="1918447" cy="105783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13" name="TextBox 12">
                <a:extLst>
                  <a:ext uri="{FF2B5EF4-FFF2-40B4-BE49-F238E27FC236}">
                    <a16:creationId xmlns:a16="http://schemas.microsoft.com/office/drawing/2014/main" id="{0471C74F-9349-7198-1D24-005F4008E5BC}"/>
                  </a:ext>
                </a:extLst>
              </p:cNvPr>
              <p:cNvSpPr txBox="1"/>
              <p:nvPr/>
            </p:nvSpPr>
            <p:spPr>
              <a:xfrm>
                <a:off x="2662129" y="3955680"/>
                <a:ext cx="152477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count &lt;= </a:t>
                </a:r>
                <a:r>
                  <a:rPr kumimoji="0" lang="en-GB" sz="1200" b="0" i="0" u="none" strike="noStrike" kern="1200" cap="none" spc="0" normalizeH="0" baseline="0" noProof="0" dirty="0" err="1">
                    <a:ln>
                      <a:noFill/>
                    </a:ln>
                    <a:solidFill>
                      <a:srgbClr val="FFFFFF"/>
                    </a:solidFill>
                    <a:effectLst/>
                    <a:uLnTx/>
                    <a:uFillTx/>
                    <a:latin typeface="Arial"/>
                    <a:ea typeface="+mn-ea"/>
                    <a:cs typeface="+mn-cs"/>
                  </a:rPr>
                  <a:t>maxCount</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14" name="Rectangle 13">
              <a:extLst>
                <a:ext uri="{FF2B5EF4-FFF2-40B4-BE49-F238E27FC236}">
                  <a16:creationId xmlns:a16="http://schemas.microsoft.com/office/drawing/2014/main" id="{7C8A61F8-7ED7-864D-0380-B2757FAE1881}"/>
                </a:ext>
              </a:extLst>
            </p:cNvPr>
            <p:cNvSpPr/>
            <p:nvPr/>
          </p:nvSpPr>
          <p:spPr>
            <a:xfrm>
              <a:off x="2505635" y="4847307"/>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Output count * table</a:t>
              </a:r>
            </a:p>
          </p:txBody>
        </p:sp>
        <p:sp>
          <p:nvSpPr>
            <p:cNvPr id="15" name="Rectangle 14">
              <a:extLst>
                <a:ext uri="{FF2B5EF4-FFF2-40B4-BE49-F238E27FC236}">
                  <a16:creationId xmlns:a16="http://schemas.microsoft.com/office/drawing/2014/main" id="{6B161B63-D9F9-8AE7-02E9-3341886B2E93}"/>
                </a:ext>
              </a:extLst>
            </p:cNvPr>
            <p:cNvSpPr/>
            <p:nvPr/>
          </p:nvSpPr>
          <p:spPr>
            <a:xfrm>
              <a:off x="2505635" y="5455866"/>
              <a:ext cx="1837764" cy="322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Increment count</a:t>
              </a:r>
            </a:p>
          </p:txBody>
        </p:sp>
        <p:sp>
          <p:nvSpPr>
            <p:cNvPr id="16" name="Flowchart: Terminator 15">
              <a:extLst>
                <a:ext uri="{FF2B5EF4-FFF2-40B4-BE49-F238E27FC236}">
                  <a16:creationId xmlns:a16="http://schemas.microsoft.com/office/drawing/2014/main" id="{0F19B7ED-A36A-64A6-3EAB-4B91EAD5CB8D}"/>
                </a:ext>
              </a:extLst>
            </p:cNvPr>
            <p:cNvSpPr/>
            <p:nvPr/>
          </p:nvSpPr>
          <p:spPr>
            <a:xfrm>
              <a:off x="4452859" y="6020968"/>
              <a:ext cx="1488140" cy="322729"/>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Finished</a:t>
              </a:r>
            </a:p>
          </p:txBody>
        </p:sp>
        <p:sp>
          <p:nvSpPr>
            <p:cNvPr id="17" name="Flowchart: Terminator 16">
              <a:extLst>
                <a:ext uri="{FF2B5EF4-FFF2-40B4-BE49-F238E27FC236}">
                  <a16:creationId xmlns:a16="http://schemas.microsoft.com/office/drawing/2014/main" id="{1177DCE8-0BFB-EC84-B19C-0F631A06C89A}"/>
                </a:ext>
              </a:extLst>
            </p:cNvPr>
            <p:cNvSpPr/>
            <p:nvPr/>
          </p:nvSpPr>
          <p:spPr>
            <a:xfrm>
              <a:off x="2680447" y="1069405"/>
              <a:ext cx="1488140" cy="322729"/>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Tables</a:t>
              </a:r>
            </a:p>
          </p:txBody>
        </p:sp>
        <p:cxnSp>
          <p:nvCxnSpPr>
            <p:cNvPr id="20" name="Straight Arrow Connector 19">
              <a:extLst>
                <a:ext uri="{FF2B5EF4-FFF2-40B4-BE49-F238E27FC236}">
                  <a16:creationId xmlns:a16="http://schemas.microsoft.com/office/drawing/2014/main" id="{A93E7E2F-81C9-702E-7AEE-4108D2C958B0}"/>
                </a:ext>
              </a:extLst>
            </p:cNvPr>
            <p:cNvCxnSpPr>
              <a:stCxn id="17" idx="2"/>
              <a:endCxn id="8" idx="0"/>
            </p:cNvCxnSpPr>
            <p:nvPr/>
          </p:nvCxnSpPr>
          <p:spPr>
            <a:xfrm>
              <a:off x="3424517" y="1392134"/>
              <a:ext cx="0" cy="2858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BCD8C5B-A5F9-0D2B-C71F-015E310213F8}"/>
                </a:ext>
              </a:extLst>
            </p:cNvPr>
            <p:cNvCxnSpPr>
              <a:cxnSpLocks/>
              <a:stCxn id="8" idx="2"/>
              <a:endCxn id="9" idx="0"/>
            </p:cNvCxnSpPr>
            <p:nvPr/>
          </p:nvCxnSpPr>
          <p:spPr>
            <a:xfrm>
              <a:off x="3424517" y="2000693"/>
              <a:ext cx="0" cy="2858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28F6CD8-E6F5-BB56-4547-21BD6BB7F459}"/>
                </a:ext>
              </a:extLst>
            </p:cNvPr>
            <p:cNvCxnSpPr>
              <a:cxnSpLocks/>
              <a:stCxn id="9" idx="2"/>
              <a:endCxn id="10" idx="0"/>
            </p:cNvCxnSpPr>
            <p:nvPr/>
          </p:nvCxnSpPr>
          <p:spPr>
            <a:xfrm>
              <a:off x="3424517" y="2609252"/>
              <a:ext cx="0" cy="2858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243DED0-9F5B-214B-3BF2-82801C5AF43F}"/>
                </a:ext>
              </a:extLst>
            </p:cNvPr>
            <p:cNvCxnSpPr>
              <a:cxnSpLocks/>
              <a:stCxn id="10" idx="2"/>
              <a:endCxn id="11" idx="0"/>
            </p:cNvCxnSpPr>
            <p:nvPr/>
          </p:nvCxnSpPr>
          <p:spPr>
            <a:xfrm>
              <a:off x="3424517" y="3217811"/>
              <a:ext cx="1" cy="2858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0788184-DC1F-2875-A6B4-94300FF2E7D8}"/>
                </a:ext>
              </a:extLst>
            </p:cNvPr>
            <p:cNvCxnSpPr>
              <a:cxnSpLocks/>
              <a:stCxn id="11" idx="2"/>
              <a:endCxn id="14" idx="0"/>
            </p:cNvCxnSpPr>
            <p:nvPr/>
          </p:nvCxnSpPr>
          <p:spPr>
            <a:xfrm flipH="1">
              <a:off x="3424517" y="4561477"/>
              <a:ext cx="1" cy="2858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B86BEE9-411F-3D7E-E14A-8AFE3E5E3772}"/>
                </a:ext>
              </a:extLst>
            </p:cNvPr>
            <p:cNvCxnSpPr>
              <a:cxnSpLocks/>
              <a:stCxn id="14" idx="2"/>
              <a:endCxn id="15" idx="0"/>
            </p:cNvCxnSpPr>
            <p:nvPr/>
          </p:nvCxnSpPr>
          <p:spPr>
            <a:xfrm>
              <a:off x="3424517" y="5170036"/>
              <a:ext cx="0" cy="2858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805E58-EDF8-D86B-3D17-992C68E85FA6}"/>
                </a:ext>
              </a:extLst>
            </p:cNvPr>
            <p:cNvCxnSpPr>
              <a:stCxn id="15" idx="1"/>
              <a:endCxn id="11" idx="1"/>
            </p:cNvCxnSpPr>
            <p:nvPr/>
          </p:nvCxnSpPr>
          <p:spPr>
            <a:xfrm rot="10800000">
              <a:off x="2465295" y="4032559"/>
              <a:ext cx="40341" cy="1584672"/>
            </a:xfrm>
            <a:prstGeom prst="bentConnector3">
              <a:avLst>
                <a:gd name="adj1" fmla="val 908448"/>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D9BBB9DD-AD30-2D5C-C63C-8B3D7D8CFAE6}"/>
                </a:ext>
              </a:extLst>
            </p:cNvPr>
            <p:cNvCxnSpPr>
              <a:cxnSpLocks/>
              <a:stCxn id="11" idx="3"/>
              <a:endCxn id="16" idx="0"/>
            </p:cNvCxnSpPr>
            <p:nvPr/>
          </p:nvCxnSpPr>
          <p:spPr>
            <a:xfrm>
              <a:off x="4383741" y="4032559"/>
              <a:ext cx="813188" cy="1988409"/>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48CEF46-E6DC-419A-403F-F05826D2FC6C}"/>
                </a:ext>
              </a:extLst>
            </p:cNvPr>
            <p:cNvSpPr txBox="1"/>
            <p:nvPr/>
          </p:nvSpPr>
          <p:spPr>
            <a:xfrm>
              <a:off x="4343398" y="3709830"/>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No</a:t>
              </a:r>
            </a:p>
          </p:txBody>
        </p:sp>
        <p:sp>
          <p:nvSpPr>
            <p:cNvPr id="44" name="TextBox 43">
              <a:extLst>
                <a:ext uri="{FF2B5EF4-FFF2-40B4-BE49-F238E27FC236}">
                  <a16:creationId xmlns:a16="http://schemas.microsoft.com/office/drawing/2014/main" id="{7CA2284A-1490-4291-F830-11C0AD59AEE0}"/>
                </a:ext>
              </a:extLst>
            </p:cNvPr>
            <p:cNvSpPr txBox="1"/>
            <p:nvPr/>
          </p:nvSpPr>
          <p:spPr>
            <a:xfrm>
              <a:off x="3427656" y="4532885"/>
              <a:ext cx="45630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Yes</a:t>
              </a:r>
            </a:p>
          </p:txBody>
        </p:sp>
      </p:grpSp>
    </p:spTree>
    <p:extLst>
      <p:ext uri="{BB962C8B-B14F-4D97-AF65-F5344CB8AC3E}">
        <p14:creationId xmlns:p14="http://schemas.microsoft.com/office/powerpoint/2010/main" val="2842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12A6B-A222-7189-02F0-5E18ED2078DD}"/>
              </a:ext>
            </a:extLst>
          </p:cNvPr>
          <p:cNvSpPr>
            <a:spLocks noGrp="1"/>
          </p:cNvSpPr>
          <p:nvPr>
            <p:ph type="title"/>
          </p:nvPr>
        </p:nvSpPr>
        <p:spPr/>
        <p:txBody>
          <a:bodyPr/>
          <a:lstStyle/>
          <a:p>
            <a:r>
              <a:rPr lang="en-GB" noProof="0" dirty="0"/>
              <a:t>IDE</a:t>
            </a:r>
          </a:p>
        </p:txBody>
      </p:sp>
      <p:sp>
        <p:nvSpPr>
          <p:cNvPr id="3" name="Text Placeholder 2">
            <a:extLst>
              <a:ext uri="{FF2B5EF4-FFF2-40B4-BE49-F238E27FC236}">
                <a16:creationId xmlns:a16="http://schemas.microsoft.com/office/drawing/2014/main" id="{FFB0BEE2-FF57-F93F-55FA-6720F43DFECF}"/>
              </a:ext>
            </a:extLst>
          </p:cNvPr>
          <p:cNvSpPr>
            <a:spLocks noGrp="1"/>
          </p:cNvSpPr>
          <p:nvPr>
            <p:ph type="body" idx="1"/>
          </p:nvPr>
        </p:nvSpPr>
        <p:spPr>
          <a:xfrm>
            <a:off x="609600" y="824673"/>
            <a:ext cx="11163300" cy="851727"/>
          </a:xfrm>
        </p:spPr>
        <p:txBody>
          <a:bodyPr/>
          <a:lstStyle/>
          <a:p>
            <a:r>
              <a:rPr lang="en-GB" sz="1400" noProof="0" dirty="0"/>
              <a:t>An integrated development environment is a tool to help </a:t>
            </a:r>
            <a:r>
              <a:rPr lang="en-GB" sz="1400" b="1" noProof="0" dirty="0"/>
              <a:t>write</a:t>
            </a:r>
            <a:r>
              <a:rPr lang="en-GB" sz="1400" noProof="0" dirty="0"/>
              <a:t>, </a:t>
            </a:r>
            <a:r>
              <a:rPr lang="en-GB" sz="1400" b="1" noProof="0" dirty="0"/>
              <a:t>debug</a:t>
            </a:r>
            <a:r>
              <a:rPr lang="en-GB" sz="1400" noProof="0" dirty="0"/>
              <a:t> and </a:t>
            </a:r>
            <a:r>
              <a:rPr lang="en-GB" sz="1400" b="1" noProof="0" dirty="0"/>
              <a:t>test</a:t>
            </a:r>
            <a:r>
              <a:rPr lang="en-GB" sz="1400" noProof="0" dirty="0"/>
              <a:t> code in one place</a:t>
            </a:r>
          </a:p>
          <a:p>
            <a:r>
              <a:rPr lang="en-GB" sz="1400" noProof="0" dirty="0"/>
              <a:t>Visual Studio Code</a:t>
            </a:r>
          </a:p>
          <a:p>
            <a:pPr lvl="1"/>
            <a:r>
              <a:rPr lang="en-GB" sz="1400" noProof="0" dirty="0"/>
              <a:t>Supports many different programming languages</a:t>
            </a:r>
          </a:p>
          <a:p>
            <a:pPr lvl="1"/>
            <a:r>
              <a:rPr lang="en-GB" sz="1400" noProof="0" dirty="0"/>
              <a:t>Free general purpose extensible lightweight IDE from Microsoft</a:t>
            </a:r>
          </a:p>
          <a:p>
            <a:pPr lvl="1"/>
            <a:r>
              <a:rPr lang="en-GB" sz="1400" noProof="0" dirty="0"/>
              <a:t>Very popular for JavaScript</a:t>
            </a:r>
          </a:p>
          <a:p>
            <a:r>
              <a:rPr lang="en-GB" sz="1400" noProof="0" dirty="0"/>
              <a:t>PyCharm</a:t>
            </a:r>
          </a:p>
          <a:p>
            <a:pPr lvl="1"/>
            <a:r>
              <a:rPr lang="en-GB" sz="1400" noProof="0" dirty="0"/>
              <a:t>Full featured IDE for Python from JetBrains</a:t>
            </a:r>
          </a:p>
          <a:p>
            <a:pPr lvl="1"/>
            <a:r>
              <a:rPr lang="en-GB" sz="1400" noProof="0" dirty="0"/>
              <a:t>Free community or paid professional versions</a:t>
            </a:r>
          </a:p>
          <a:p>
            <a:r>
              <a:rPr lang="en-GB" sz="1400" noProof="0" dirty="0"/>
              <a:t>Eclipse</a:t>
            </a:r>
          </a:p>
          <a:p>
            <a:pPr lvl="1"/>
            <a:r>
              <a:rPr lang="en-GB" sz="1400" noProof="0" dirty="0"/>
              <a:t>Mainly for Java development, free from the Eclipse foundation</a:t>
            </a:r>
          </a:p>
          <a:p>
            <a:r>
              <a:rPr lang="en-GB" sz="1400" noProof="0" dirty="0" err="1"/>
              <a:t>InteliJ</a:t>
            </a:r>
            <a:endParaRPr lang="en-GB" sz="1400" noProof="0" dirty="0"/>
          </a:p>
          <a:p>
            <a:pPr lvl="1"/>
            <a:r>
              <a:rPr lang="en-GB" sz="1400" noProof="0" dirty="0"/>
              <a:t>Mainly for Java development, free community edition or paid professional from JetBrains</a:t>
            </a:r>
          </a:p>
          <a:p>
            <a:r>
              <a:rPr lang="en-GB" sz="1400" noProof="0" dirty="0" err="1"/>
              <a:t>Netbeans</a:t>
            </a:r>
            <a:endParaRPr lang="en-GB" sz="1400" noProof="0" dirty="0"/>
          </a:p>
          <a:p>
            <a:pPr lvl="1"/>
            <a:r>
              <a:rPr lang="en-GB" sz="1400" noProof="0" dirty="0"/>
              <a:t>Mainly Java and web development, free from the Apache Software Foundation</a:t>
            </a:r>
          </a:p>
          <a:p>
            <a:r>
              <a:rPr lang="en-GB" sz="1400" noProof="0" dirty="0"/>
              <a:t>Visual Studio</a:t>
            </a:r>
          </a:p>
          <a:p>
            <a:pPr lvl="1"/>
            <a:r>
              <a:rPr lang="en-GB" sz="1400" noProof="0" dirty="0"/>
              <a:t>Multiple languages, mainly C, C++, C#, Web apps</a:t>
            </a:r>
          </a:p>
          <a:p>
            <a:pPr lvl="1"/>
            <a:r>
              <a:rPr lang="en-GB" sz="1400" noProof="0" dirty="0"/>
              <a:t>Heavy duty IDE from Microsoft</a:t>
            </a:r>
          </a:p>
          <a:p>
            <a:pPr lvl="1"/>
            <a:r>
              <a:rPr lang="en-GB" sz="1400" noProof="0" dirty="0"/>
              <a:t>Free community and paid professional / enterprise version</a:t>
            </a:r>
          </a:p>
          <a:p>
            <a:endParaRPr lang="en-GB" noProof="0" dirty="0"/>
          </a:p>
        </p:txBody>
      </p:sp>
      <p:sp>
        <p:nvSpPr>
          <p:cNvPr id="4" name="Slide Number Placeholder 3">
            <a:extLst>
              <a:ext uri="{FF2B5EF4-FFF2-40B4-BE49-F238E27FC236}">
                <a16:creationId xmlns:a16="http://schemas.microsoft.com/office/drawing/2014/main" id="{3DAFCB64-EFA3-64AB-F1DE-E521F6B5943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AEAC990D-FABA-BF28-84D4-CF8449ECD1EB}"/>
              </a:ext>
            </a:extLst>
          </p:cNvPr>
          <p:cNvSpPr txBox="1"/>
          <p:nvPr/>
        </p:nvSpPr>
        <p:spPr>
          <a:xfrm>
            <a:off x="9817395" y="6356233"/>
            <a:ext cx="143661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/demos/languages</a:t>
            </a:r>
          </a:p>
        </p:txBody>
      </p:sp>
    </p:spTree>
    <p:extLst>
      <p:ext uri="{BB962C8B-B14F-4D97-AF65-F5344CB8AC3E}">
        <p14:creationId xmlns:p14="http://schemas.microsoft.com/office/powerpoint/2010/main" val="2863433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55D42-3B33-2AB4-2A01-C2887A1309E8}"/>
              </a:ext>
            </a:extLst>
          </p:cNvPr>
          <p:cNvSpPr>
            <a:spLocks noGrp="1"/>
          </p:cNvSpPr>
          <p:nvPr>
            <p:ph type="title"/>
          </p:nvPr>
        </p:nvSpPr>
        <p:spPr/>
        <p:txBody>
          <a:bodyPr/>
          <a:lstStyle/>
          <a:p>
            <a:r>
              <a:rPr lang="en-GB" noProof="0" dirty="0"/>
              <a:t>Pre requisites for JavaScript coding</a:t>
            </a:r>
          </a:p>
        </p:txBody>
      </p:sp>
      <p:sp>
        <p:nvSpPr>
          <p:cNvPr id="3" name="Text Placeholder 2">
            <a:extLst>
              <a:ext uri="{FF2B5EF4-FFF2-40B4-BE49-F238E27FC236}">
                <a16:creationId xmlns:a16="http://schemas.microsoft.com/office/drawing/2014/main" id="{F1AFA5ED-F26E-EEA2-B447-068209DD67EE}"/>
              </a:ext>
            </a:extLst>
          </p:cNvPr>
          <p:cNvSpPr>
            <a:spLocks noGrp="1"/>
          </p:cNvSpPr>
          <p:nvPr>
            <p:ph type="body" idx="1"/>
          </p:nvPr>
        </p:nvSpPr>
        <p:spPr/>
        <p:txBody>
          <a:bodyPr/>
          <a:lstStyle/>
          <a:p>
            <a:r>
              <a:rPr lang="en-GB" noProof="0" dirty="0"/>
              <a:t>From self service</a:t>
            </a:r>
          </a:p>
          <a:p>
            <a:pPr lvl="1"/>
            <a:r>
              <a:rPr lang="en-GB" noProof="0" dirty="0"/>
              <a:t>Install visual studio code</a:t>
            </a:r>
          </a:p>
          <a:p>
            <a:pPr lvl="1"/>
            <a:r>
              <a:rPr lang="en-GB" noProof="0" dirty="0"/>
              <a:t>Install </a:t>
            </a:r>
            <a:r>
              <a:rPr lang="en-GB" noProof="0" dirty="0" err="1"/>
              <a:t>nodejs</a:t>
            </a:r>
            <a:endParaRPr lang="en-GB" noProof="0" dirty="0"/>
          </a:p>
          <a:p>
            <a:r>
              <a:rPr lang="en-GB" noProof="0" dirty="0"/>
              <a:t>Create a git lab account if you don't have one</a:t>
            </a:r>
          </a:p>
          <a:p>
            <a:endParaRPr lang="en-GB" noProof="0" dirty="0"/>
          </a:p>
          <a:p>
            <a:r>
              <a:rPr lang="en-GB" noProof="0" dirty="0"/>
              <a:t>Context</a:t>
            </a:r>
          </a:p>
          <a:p>
            <a:pPr lvl="1"/>
            <a:r>
              <a:rPr lang="en-GB" noProof="0" dirty="0"/>
              <a:t>JavaScript is an interpreted language</a:t>
            </a:r>
          </a:p>
          <a:p>
            <a:pPr lvl="1"/>
            <a:r>
              <a:rPr lang="en-GB" noProof="0" dirty="0"/>
              <a:t>Browser provides a runtime environment</a:t>
            </a:r>
          </a:p>
          <a:p>
            <a:pPr lvl="1"/>
            <a:r>
              <a:rPr lang="en-GB" noProof="0" dirty="0"/>
              <a:t>Node.js is a JavaScript runtime environment outside the browser</a:t>
            </a:r>
          </a:p>
          <a:p>
            <a:pPr lvl="1"/>
            <a:r>
              <a:rPr lang="en-GB" dirty="0"/>
              <a:t>Chromium (from Google) is an open source web browser and runtime. Others build their products on top of it</a:t>
            </a:r>
            <a:endParaRPr lang="en-GB" noProof="0" dirty="0"/>
          </a:p>
          <a:p>
            <a:pPr lvl="1"/>
            <a:r>
              <a:rPr lang="en-GB" dirty="0"/>
              <a:t>Chromium-based browsers and NodeJS use the highly optimised Google V8 runtime engine with JIT compiler</a:t>
            </a:r>
          </a:p>
          <a:p>
            <a:pPr lvl="1"/>
            <a:r>
              <a:rPr lang="en-GB" noProof="0" dirty="0"/>
              <a:t>Chromium-based browsers include: Chrome, Edge, Opera, Brave (not </a:t>
            </a:r>
            <a:r>
              <a:rPr lang="en-GB" noProof="0" dirty="0" err="1"/>
              <a:t>firefox</a:t>
            </a:r>
            <a:r>
              <a:rPr lang="en-GB" noProof="0" dirty="0"/>
              <a:t> or safari)</a:t>
            </a:r>
          </a:p>
          <a:p>
            <a:pPr lvl="1"/>
            <a:endParaRPr lang="en-GB" noProof="0" dirty="0"/>
          </a:p>
          <a:p>
            <a:endParaRPr lang="en-GB" noProof="0" dirty="0"/>
          </a:p>
        </p:txBody>
      </p:sp>
      <p:sp>
        <p:nvSpPr>
          <p:cNvPr id="4" name="Slide Number Placeholder 3">
            <a:extLst>
              <a:ext uri="{FF2B5EF4-FFF2-40B4-BE49-F238E27FC236}">
                <a16:creationId xmlns:a16="http://schemas.microsoft.com/office/drawing/2014/main" id="{2496A317-4550-CF2A-75CA-7D5F982E4410}"/>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604360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971757C-64B5-4357-EC5A-EDBED7A410B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0F8C19F-0DB2-313F-A62D-B995805DBDD7}"/>
              </a:ext>
            </a:extLst>
          </p:cNvPr>
          <p:cNvSpPr>
            <a:spLocks noGrp="1"/>
          </p:cNvSpPr>
          <p:nvPr>
            <p:ph type="title"/>
          </p:nvPr>
        </p:nvSpPr>
        <p:spPr/>
        <p:txBody>
          <a:bodyPr/>
          <a:lstStyle/>
          <a:p>
            <a:r>
              <a:rPr lang="en-GB" noProof="0" dirty="0"/>
              <a:t>JavaScript</a:t>
            </a:r>
          </a:p>
        </p:txBody>
      </p:sp>
      <p:sp>
        <p:nvSpPr>
          <p:cNvPr id="3" name="Text Placeholder 2">
            <a:extLst>
              <a:ext uri="{FF2B5EF4-FFF2-40B4-BE49-F238E27FC236}">
                <a16:creationId xmlns:a16="http://schemas.microsoft.com/office/drawing/2014/main" id="{3E4B7983-F18A-58F1-6BD9-2533A8FEE71E}"/>
              </a:ext>
            </a:extLst>
          </p:cNvPr>
          <p:cNvSpPr>
            <a:spLocks noGrp="1"/>
          </p:cNvSpPr>
          <p:nvPr>
            <p:ph type="body" idx="1"/>
          </p:nvPr>
        </p:nvSpPr>
        <p:spPr>
          <a:xfrm>
            <a:off x="358219" y="1089368"/>
            <a:ext cx="11414681" cy="5387632"/>
          </a:xfrm>
        </p:spPr>
        <p:txBody>
          <a:bodyPr/>
          <a:lstStyle/>
          <a:p>
            <a:r>
              <a:rPr lang="en-GB" sz="1600" noProof="0" dirty="0"/>
              <a:t>Makes web pages responsive – i.e. we can carry out computation and interact with the page to change how it looks</a:t>
            </a:r>
          </a:p>
          <a:p>
            <a:r>
              <a:rPr lang="en-GB" sz="1600" noProof="0" dirty="0"/>
              <a:t>Designed for browsers but available for the back end (server side) application development too</a:t>
            </a:r>
          </a:p>
          <a:p>
            <a:r>
              <a:rPr lang="en-GB" sz="1600" noProof="0" dirty="0"/>
              <a:t>A </a:t>
            </a:r>
            <a:r>
              <a:rPr lang="en-GB" sz="1600" b="1" noProof="0" dirty="0"/>
              <a:t>variable</a:t>
            </a:r>
            <a:r>
              <a:rPr lang="en-GB" sz="1600" noProof="0" dirty="0"/>
              <a:t> is a named memory space that can be assigned data. i.e., a name that refers to a value that can be changed</a:t>
            </a:r>
            <a:br>
              <a:rPr lang="en-GB" sz="1600" noProof="0" dirty="0"/>
            </a:br>
            <a:r>
              <a:rPr lang="en-GB" sz="1600" noProof="0" dirty="0"/>
              <a:t>let </a:t>
            </a:r>
            <a:r>
              <a:rPr lang="en-GB" sz="1600" noProof="0" dirty="0" err="1"/>
              <a:t>variableName</a:t>
            </a:r>
            <a:r>
              <a:rPr lang="en-GB" sz="1600" noProof="0" dirty="0"/>
              <a:t>=3  // camel case - and this is a comment</a:t>
            </a:r>
            <a:br>
              <a:rPr lang="en-GB" sz="1600" noProof="0" dirty="0"/>
            </a:br>
            <a:r>
              <a:rPr lang="en-GB" sz="1600" noProof="0" dirty="0" err="1"/>
              <a:t>variableName</a:t>
            </a:r>
            <a:r>
              <a:rPr lang="en-GB" sz="1600" noProof="0" dirty="0"/>
              <a:t> = </a:t>
            </a:r>
            <a:r>
              <a:rPr lang="en-GB" sz="1600" noProof="0" dirty="0" err="1"/>
              <a:t>variableName</a:t>
            </a:r>
            <a:r>
              <a:rPr lang="en-GB" sz="1600" noProof="0" dirty="0"/>
              <a:t> +5 // The memory location associated with the variable now stores 8</a:t>
            </a:r>
          </a:p>
          <a:p>
            <a:r>
              <a:rPr lang="en-GB" sz="1600" noProof="0" dirty="0"/>
              <a:t>To declare something that cannot be changed, use </a:t>
            </a:r>
            <a:r>
              <a:rPr lang="en-GB" sz="1600" noProof="0" dirty="0" err="1"/>
              <a:t>const</a:t>
            </a:r>
            <a:r>
              <a:rPr lang="en-GB" sz="1600" noProof="0" dirty="0"/>
              <a:t> and </a:t>
            </a:r>
            <a:r>
              <a:rPr lang="en-GB" sz="1600" noProof="0" dirty="0" err="1"/>
              <a:t>snake_case</a:t>
            </a:r>
            <a:r>
              <a:rPr lang="en-GB" sz="1600" noProof="0" dirty="0"/>
              <a:t> &amp; capitals (exceptions discussed later) </a:t>
            </a:r>
            <a:br>
              <a:rPr lang="en-GB" sz="1600" noProof="0" dirty="0"/>
            </a:br>
            <a:r>
              <a:rPr lang="en-GB" sz="1600" noProof="0" dirty="0" err="1"/>
              <a:t>const</a:t>
            </a:r>
            <a:r>
              <a:rPr lang="en-GB" sz="1600" noProof="0" dirty="0"/>
              <a:t> PI=3.14159</a:t>
            </a:r>
            <a:br>
              <a:rPr lang="en-GB" sz="1600" noProof="0" dirty="0"/>
            </a:br>
            <a:r>
              <a:rPr lang="en-GB" sz="1600" noProof="0" dirty="0" err="1"/>
              <a:t>const</a:t>
            </a:r>
            <a:r>
              <a:rPr lang="en-GB" sz="1600" noProof="0" dirty="0"/>
              <a:t> NUM_DAYS_IN_WEEK=7</a:t>
            </a:r>
          </a:p>
          <a:p>
            <a:r>
              <a:rPr lang="en-GB" sz="1600" noProof="0" dirty="0"/>
              <a:t>Trying to later change </a:t>
            </a:r>
            <a:br>
              <a:rPr lang="en-GB" sz="1600" noProof="0" dirty="0"/>
            </a:br>
            <a:r>
              <a:rPr lang="en-GB" sz="1600" noProof="0" dirty="0"/>
              <a:t>NUM_DAYS_IN_WEEK = 6 // will result in an error</a:t>
            </a:r>
          </a:p>
          <a:p>
            <a:r>
              <a:rPr lang="en-GB" sz="1600" noProof="0" dirty="0"/>
              <a:t>Semicolons separate statements but are optional when it is clear to the parser where they would be e.g., </a:t>
            </a:r>
            <a:br>
              <a:rPr lang="en-GB" sz="1600" noProof="0" dirty="0"/>
            </a:br>
            <a:r>
              <a:rPr lang="en-GB" sz="1600" noProof="0" dirty="0"/>
              <a:t>let x=3</a:t>
            </a:r>
            <a:br>
              <a:rPr lang="en-GB" sz="1600" noProof="0" dirty="0"/>
            </a:br>
            <a:r>
              <a:rPr lang="en-GB" sz="1600" noProof="0" dirty="0"/>
              <a:t>x=x+5</a:t>
            </a:r>
            <a:br>
              <a:rPr lang="en-GB" sz="1600" noProof="0" dirty="0"/>
            </a:br>
            <a:r>
              <a:rPr lang="en-GB" sz="1600" noProof="0" dirty="0"/>
              <a:t>or</a:t>
            </a:r>
            <a:br>
              <a:rPr lang="en-GB" sz="1600" noProof="0" dirty="0"/>
            </a:br>
            <a:r>
              <a:rPr lang="en-GB" sz="1600" noProof="0" dirty="0"/>
              <a:t>let x=3;</a:t>
            </a:r>
            <a:br>
              <a:rPr lang="en-GB" sz="1600" noProof="0" dirty="0"/>
            </a:br>
            <a:r>
              <a:rPr lang="en-GB" sz="1600" noProof="0" dirty="0"/>
              <a:t>x=x+5;</a:t>
            </a:r>
          </a:p>
          <a:p>
            <a:r>
              <a:rPr lang="en-GB" sz="1600" noProof="0" dirty="0"/>
              <a:t>let x=3 x=x+5   would be illegal. A semicolon is needed after let x=3. let x=3; x=x+5</a:t>
            </a:r>
          </a:p>
          <a:p>
            <a:r>
              <a:rPr lang="en-GB" sz="1600" noProof="0" dirty="0"/>
              <a:t>You may see var. We don't use that anymore. Use let or </a:t>
            </a:r>
            <a:r>
              <a:rPr lang="en-GB" sz="1600" noProof="0" dirty="0" err="1"/>
              <a:t>const</a:t>
            </a:r>
            <a:r>
              <a:rPr lang="en-GB" sz="1600" noProof="0" dirty="0"/>
              <a:t> </a:t>
            </a:r>
          </a:p>
          <a:p>
            <a:endParaRPr lang="en-GB" noProof="0" dirty="0"/>
          </a:p>
        </p:txBody>
      </p:sp>
      <p:sp>
        <p:nvSpPr>
          <p:cNvPr id="4" name="Slide Number Placeholder 3">
            <a:extLst>
              <a:ext uri="{FF2B5EF4-FFF2-40B4-BE49-F238E27FC236}">
                <a16:creationId xmlns:a16="http://schemas.microsoft.com/office/drawing/2014/main" id="{D222FE53-4645-1DAE-3783-19451C562CE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130220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54B8D51-A7DF-2E5C-5D65-87E620D2CA5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8AAE153-38B4-E1A5-7A30-243C1021FB15}"/>
              </a:ext>
            </a:extLst>
          </p:cNvPr>
          <p:cNvSpPr>
            <a:spLocks noGrp="1"/>
          </p:cNvSpPr>
          <p:nvPr>
            <p:ph type="title"/>
          </p:nvPr>
        </p:nvSpPr>
        <p:spPr/>
        <p:txBody>
          <a:bodyPr/>
          <a:lstStyle/>
          <a:p>
            <a:r>
              <a:rPr lang="en-GB" noProof="0" dirty="0"/>
              <a:t>Types</a:t>
            </a:r>
          </a:p>
        </p:txBody>
      </p:sp>
      <p:sp>
        <p:nvSpPr>
          <p:cNvPr id="3" name="Text Placeholder 2">
            <a:extLst>
              <a:ext uri="{FF2B5EF4-FFF2-40B4-BE49-F238E27FC236}">
                <a16:creationId xmlns:a16="http://schemas.microsoft.com/office/drawing/2014/main" id="{D6F3AFFF-492D-EFC8-A3EB-E3116D574552}"/>
              </a:ext>
            </a:extLst>
          </p:cNvPr>
          <p:cNvSpPr>
            <a:spLocks noGrp="1"/>
          </p:cNvSpPr>
          <p:nvPr>
            <p:ph type="body" idx="1"/>
          </p:nvPr>
        </p:nvSpPr>
        <p:spPr/>
        <p:txBody>
          <a:bodyPr/>
          <a:lstStyle/>
          <a:p>
            <a:r>
              <a:rPr lang="en-GB" sz="1600" noProof="0" dirty="0"/>
              <a:t>There are types, but you don't need to explicitly state what they are when you declare variables and constants</a:t>
            </a:r>
          </a:p>
          <a:p>
            <a:r>
              <a:rPr lang="en-GB" sz="1600" noProof="0" dirty="0"/>
              <a:t>JavaScript is loosely (weakly) typed and dynamically typed. Basically, variable types can change when needed to</a:t>
            </a:r>
          </a:p>
          <a:p>
            <a:r>
              <a:rPr lang="en-GB" sz="1600" b="1" noProof="0" dirty="0"/>
              <a:t>Boolean</a:t>
            </a:r>
            <a:r>
              <a:rPr lang="en-GB" sz="1600" noProof="0" dirty="0"/>
              <a:t>: true or false</a:t>
            </a:r>
          </a:p>
          <a:p>
            <a:r>
              <a:rPr lang="en-GB" sz="1600" b="1" noProof="0" dirty="0"/>
              <a:t>Null</a:t>
            </a:r>
            <a:r>
              <a:rPr lang="en-GB" sz="1600" noProof="0" dirty="0"/>
              <a:t>: can only have one value which is null</a:t>
            </a:r>
          </a:p>
          <a:p>
            <a:r>
              <a:rPr lang="en-GB" sz="1600" b="1" noProof="0" dirty="0"/>
              <a:t>Undefined</a:t>
            </a:r>
            <a:r>
              <a:rPr lang="en-GB" sz="1600" noProof="0" dirty="0"/>
              <a:t>: a variable which has not yet been assigned a value is of type “undefined”. e.g. let x;   Then assign it later</a:t>
            </a:r>
          </a:p>
          <a:p>
            <a:r>
              <a:rPr lang="en-GB" sz="1600" b="1" noProof="0" dirty="0"/>
              <a:t>Number</a:t>
            </a:r>
            <a:r>
              <a:rPr lang="en-GB" sz="1600" noProof="0" dirty="0"/>
              <a:t>: this is a 64 bit floating point number – i.e., for storing real numbers such as 3.5 </a:t>
            </a:r>
          </a:p>
          <a:p>
            <a:r>
              <a:rPr lang="en-GB" sz="1600" noProof="0" dirty="0"/>
              <a:t>There is no integer type in JavaScript but number type will hold integers up to ±(2</a:t>
            </a:r>
            <a:r>
              <a:rPr lang="en-GB" sz="1600" baseline="30000" noProof="0" dirty="0"/>
              <a:t>53</a:t>
            </a:r>
            <a:r>
              <a:rPr lang="en-GB" sz="1600" noProof="0" dirty="0"/>
              <a:t>-1) accurately</a:t>
            </a:r>
          </a:p>
          <a:p>
            <a:r>
              <a:rPr lang="en-GB" sz="1600" b="1" noProof="0" dirty="0" err="1"/>
              <a:t>BigInt</a:t>
            </a:r>
            <a:r>
              <a:rPr lang="en-GB" sz="1600" noProof="0" dirty="0"/>
              <a:t>: this is used for big integers such as those used in security algorithms but generally use number</a:t>
            </a:r>
          </a:p>
          <a:p>
            <a:r>
              <a:rPr lang="en-GB" sz="1600" b="1" noProof="0" dirty="0" err="1"/>
              <a:t>NaN</a:t>
            </a:r>
            <a:r>
              <a:rPr lang="en-GB" sz="1600" noProof="0" dirty="0"/>
              <a:t>: Not a number.  e.g. 6/”hello”</a:t>
            </a:r>
          </a:p>
          <a:p>
            <a:r>
              <a:rPr lang="en-GB" sz="1600" b="1" noProof="0" dirty="0"/>
              <a:t>String</a:t>
            </a:r>
            <a:r>
              <a:rPr lang="en-GB" sz="1600" noProof="0" dirty="0"/>
              <a:t>: this is a collection of characters e.g. 'Jim'. A string is immutable – i.e. once declared it can’t be changed</a:t>
            </a:r>
            <a:br>
              <a:rPr lang="en-GB" sz="1600" noProof="0" dirty="0"/>
            </a:br>
            <a:r>
              <a:rPr lang="en-GB" sz="1600" noProof="0" dirty="0"/>
              <a:t>The first character is at position 0. You can however do things like </a:t>
            </a:r>
            <a:br>
              <a:rPr lang="en-GB" sz="1600" noProof="0" dirty="0"/>
            </a:br>
            <a:r>
              <a:rPr lang="en-GB" sz="1600" noProof="0" dirty="0"/>
              <a:t>	let name='Jim'; name = name + 'smith' will in the background, create a new variable with the whole name</a:t>
            </a:r>
          </a:p>
          <a:p>
            <a:r>
              <a:rPr lang="en-GB" sz="1600" b="1" noProof="0" dirty="0"/>
              <a:t>Object</a:t>
            </a:r>
            <a:r>
              <a:rPr lang="en-GB" sz="1600" noProof="0" dirty="0"/>
              <a:t>: this is a complex type which can contain properties, functions or both</a:t>
            </a:r>
          </a:p>
          <a:p>
            <a:r>
              <a:rPr lang="en-GB" sz="1600" noProof="0" dirty="0"/>
              <a:t>If you really need to know the type of a data item, you only have to ask: the </a:t>
            </a:r>
            <a:r>
              <a:rPr lang="en-GB" sz="1600" b="1" noProof="0" dirty="0" err="1"/>
              <a:t>typeof</a:t>
            </a:r>
            <a:r>
              <a:rPr lang="en-GB" sz="1600" noProof="0" dirty="0"/>
              <a:t> operator will evaluate to the type let x=5; </a:t>
            </a:r>
            <a:r>
              <a:rPr lang="en-GB" sz="1600" noProof="0" dirty="0" err="1"/>
              <a:t>typeof</a:t>
            </a:r>
            <a:r>
              <a:rPr lang="en-GB" sz="1600" noProof="0" dirty="0"/>
              <a:t> x; will evaluate to "number"</a:t>
            </a:r>
          </a:p>
          <a:p>
            <a:endParaRPr lang="en-GB" noProof="0" dirty="0"/>
          </a:p>
        </p:txBody>
      </p:sp>
      <p:sp>
        <p:nvSpPr>
          <p:cNvPr id="4" name="Slide Number Placeholder 3">
            <a:extLst>
              <a:ext uri="{FF2B5EF4-FFF2-40B4-BE49-F238E27FC236}">
                <a16:creationId xmlns:a16="http://schemas.microsoft.com/office/drawing/2014/main" id="{B5A1C126-0C43-9E17-F611-2E8F6184D2F7}"/>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00A1E2DC-F4C2-BE9B-33AE-F9AE0D53518F}"/>
              </a:ext>
            </a:extLst>
          </p:cNvPr>
          <p:cNvSpPr txBox="1"/>
          <p:nvPr/>
        </p:nvSpPr>
        <p:spPr>
          <a:xfrm>
            <a:off x="9886462" y="6254933"/>
            <a:ext cx="1226618"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/basics/types.js</a:t>
            </a:r>
          </a:p>
        </p:txBody>
      </p:sp>
    </p:spTree>
    <p:extLst>
      <p:ext uri="{BB962C8B-B14F-4D97-AF65-F5344CB8AC3E}">
        <p14:creationId xmlns:p14="http://schemas.microsoft.com/office/powerpoint/2010/main" val="333814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874E082-8E7E-CF29-ADB9-D9931EB99E8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179649C-8508-C9FA-29DF-44C74E97730F}"/>
              </a:ext>
            </a:extLst>
          </p:cNvPr>
          <p:cNvSpPr>
            <a:spLocks noGrp="1"/>
          </p:cNvSpPr>
          <p:nvPr>
            <p:ph type="title"/>
          </p:nvPr>
        </p:nvSpPr>
        <p:spPr/>
        <p:txBody>
          <a:bodyPr/>
          <a:lstStyle/>
          <a:p>
            <a:r>
              <a:rPr lang="en-GB" noProof="0" dirty="0"/>
              <a:t>Some operators</a:t>
            </a:r>
          </a:p>
        </p:txBody>
      </p:sp>
      <p:sp>
        <p:nvSpPr>
          <p:cNvPr id="4" name="Slide Number Placeholder 3">
            <a:extLst>
              <a:ext uri="{FF2B5EF4-FFF2-40B4-BE49-F238E27FC236}">
                <a16:creationId xmlns:a16="http://schemas.microsoft.com/office/drawing/2014/main" id="{922F8A1E-7A05-5710-5304-14930C4EC8C6}"/>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15" name="Group 14">
            <a:extLst>
              <a:ext uri="{FF2B5EF4-FFF2-40B4-BE49-F238E27FC236}">
                <a16:creationId xmlns:a16="http://schemas.microsoft.com/office/drawing/2014/main" id="{13FFEBD5-E5FE-9C94-7A0A-F17B19995C46}"/>
              </a:ext>
            </a:extLst>
          </p:cNvPr>
          <p:cNvGrpSpPr/>
          <p:nvPr/>
        </p:nvGrpSpPr>
        <p:grpSpPr>
          <a:xfrm>
            <a:off x="714420" y="992569"/>
            <a:ext cx="10340741" cy="5557830"/>
            <a:chOff x="714420" y="992569"/>
            <a:chExt cx="10340741" cy="5557830"/>
          </a:xfrm>
        </p:grpSpPr>
        <p:grpSp>
          <p:nvGrpSpPr>
            <p:cNvPr id="14" name="Group 13">
              <a:extLst>
                <a:ext uri="{FF2B5EF4-FFF2-40B4-BE49-F238E27FC236}">
                  <a16:creationId xmlns:a16="http://schemas.microsoft.com/office/drawing/2014/main" id="{0F440A1A-DC34-4674-9B3E-A80D59751F1E}"/>
                </a:ext>
              </a:extLst>
            </p:cNvPr>
            <p:cNvGrpSpPr/>
            <p:nvPr/>
          </p:nvGrpSpPr>
          <p:grpSpPr>
            <a:xfrm>
              <a:off x="714420" y="992569"/>
              <a:ext cx="10340741" cy="5557830"/>
              <a:chOff x="714420" y="992569"/>
              <a:chExt cx="10340741" cy="5557830"/>
            </a:xfrm>
          </p:grpSpPr>
          <p:pic>
            <p:nvPicPr>
              <p:cNvPr id="5" name="Content Placeholder 6">
                <a:extLst>
                  <a:ext uri="{FF2B5EF4-FFF2-40B4-BE49-F238E27FC236}">
                    <a16:creationId xmlns:a16="http://schemas.microsoft.com/office/drawing/2014/main" id="{C2DEE799-84AC-885C-FBDD-0FFAE644FE40}"/>
                  </a:ext>
                </a:extLst>
              </p:cNvPr>
              <p:cNvPicPr>
                <a:picLocks noChangeAspect="1"/>
              </p:cNvPicPr>
              <p:nvPr/>
            </p:nvPicPr>
            <p:blipFill rotWithShape="1">
              <a:blip r:embed="rId3"/>
              <a:srcRect l="-1" r="20157"/>
              <a:stretch/>
            </p:blipFill>
            <p:spPr>
              <a:xfrm>
                <a:off x="714420" y="1018604"/>
                <a:ext cx="5297103" cy="2555916"/>
              </a:xfrm>
              <a:prstGeom prst="rect">
                <a:avLst/>
              </a:prstGeom>
            </p:spPr>
          </p:pic>
          <p:pic>
            <p:nvPicPr>
              <p:cNvPr id="6" name="Picture 5">
                <a:extLst>
                  <a:ext uri="{FF2B5EF4-FFF2-40B4-BE49-F238E27FC236}">
                    <a16:creationId xmlns:a16="http://schemas.microsoft.com/office/drawing/2014/main" id="{7F94B98B-5F69-56B3-9C9A-9EBF83DF092E}"/>
                  </a:ext>
                </a:extLst>
              </p:cNvPr>
              <p:cNvPicPr>
                <a:picLocks noChangeAspect="1"/>
              </p:cNvPicPr>
              <p:nvPr/>
            </p:nvPicPr>
            <p:blipFill rotWithShape="1">
              <a:blip r:embed="rId4"/>
              <a:srcRect r="20737"/>
              <a:stretch/>
            </p:blipFill>
            <p:spPr>
              <a:xfrm>
                <a:off x="714421" y="3765746"/>
                <a:ext cx="5297102" cy="2416587"/>
              </a:xfrm>
              <a:prstGeom prst="rect">
                <a:avLst/>
              </a:prstGeom>
            </p:spPr>
          </p:pic>
          <p:pic>
            <p:nvPicPr>
              <p:cNvPr id="7" name="Picture 6">
                <a:extLst>
                  <a:ext uri="{FF2B5EF4-FFF2-40B4-BE49-F238E27FC236}">
                    <a16:creationId xmlns:a16="http://schemas.microsoft.com/office/drawing/2014/main" id="{4E344F18-A434-C3C4-ED57-C6CE7C56B702}"/>
                  </a:ext>
                </a:extLst>
              </p:cNvPr>
              <p:cNvPicPr>
                <a:picLocks noChangeAspect="1"/>
              </p:cNvPicPr>
              <p:nvPr/>
            </p:nvPicPr>
            <p:blipFill rotWithShape="1">
              <a:blip r:embed="rId5"/>
              <a:srcRect r="41141"/>
              <a:stretch/>
            </p:blipFill>
            <p:spPr>
              <a:xfrm>
                <a:off x="6295217" y="992569"/>
                <a:ext cx="4596314" cy="2416587"/>
              </a:xfrm>
              <a:prstGeom prst="rect">
                <a:avLst/>
              </a:prstGeom>
            </p:spPr>
          </p:pic>
          <p:pic>
            <p:nvPicPr>
              <p:cNvPr id="8" name="Picture 7">
                <a:extLst>
                  <a:ext uri="{FF2B5EF4-FFF2-40B4-BE49-F238E27FC236}">
                    <a16:creationId xmlns:a16="http://schemas.microsoft.com/office/drawing/2014/main" id="{C98B0056-2781-F34E-14F4-312ABDA4F776}"/>
                  </a:ext>
                </a:extLst>
              </p:cNvPr>
              <p:cNvPicPr>
                <a:picLocks noChangeAspect="1"/>
              </p:cNvPicPr>
              <p:nvPr/>
            </p:nvPicPr>
            <p:blipFill rotWithShape="1">
              <a:blip r:embed="rId6"/>
              <a:srcRect r="19719"/>
              <a:stretch/>
            </p:blipFill>
            <p:spPr>
              <a:xfrm>
                <a:off x="6295217" y="3765746"/>
                <a:ext cx="4759944" cy="2416587"/>
              </a:xfrm>
              <a:prstGeom prst="rect">
                <a:avLst/>
              </a:prstGeom>
            </p:spPr>
          </p:pic>
          <p:pic>
            <p:nvPicPr>
              <p:cNvPr id="10" name="Picture 9">
                <a:extLst>
                  <a:ext uri="{FF2B5EF4-FFF2-40B4-BE49-F238E27FC236}">
                    <a16:creationId xmlns:a16="http://schemas.microsoft.com/office/drawing/2014/main" id="{BB074FD7-11E2-86F3-D842-DDD8FE26AB62}"/>
                  </a:ext>
                </a:extLst>
              </p:cNvPr>
              <p:cNvPicPr>
                <a:picLocks noChangeAspect="1"/>
              </p:cNvPicPr>
              <p:nvPr/>
            </p:nvPicPr>
            <p:blipFill>
              <a:blip r:embed="rId7"/>
              <a:stretch>
                <a:fillRect/>
              </a:stretch>
            </p:blipFill>
            <p:spPr>
              <a:xfrm>
                <a:off x="714421" y="6163888"/>
                <a:ext cx="5297102" cy="386511"/>
              </a:xfrm>
              <a:prstGeom prst="rect">
                <a:avLst/>
              </a:prstGeom>
            </p:spPr>
          </p:pic>
          <p:sp>
            <p:nvSpPr>
              <p:cNvPr id="11" name="TextBox 10">
                <a:extLst>
                  <a:ext uri="{FF2B5EF4-FFF2-40B4-BE49-F238E27FC236}">
                    <a16:creationId xmlns:a16="http://schemas.microsoft.com/office/drawing/2014/main" id="{E3DA6BEF-A094-9559-72CB-C65A644E775D}"/>
                  </a:ext>
                </a:extLst>
              </p:cNvPr>
              <p:cNvSpPr txBox="1"/>
              <p:nvPr/>
            </p:nvSpPr>
            <p:spPr>
              <a:xfrm>
                <a:off x="2355850" y="4138638"/>
                <a:ext cx="144783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after type coercion</a:t>
                </a:r>
              </a:p>
            </p:txBody>
          </p:sp>
          <p:sp>
            <p:nvSpPr>
              <p:cNvPr id="12" name="TextBox 11">
                <a:extLst>
                  <a:ext uri="{FF2B5EF4-FFF2-40B4-BE49-F238E27FC236}">
                    <a16:creationId xmlns:a16="http://schemas.microsoft.com/office/drawing/2014/main" id="{6C56D432-691B-5971-F42E-1B4766343CF7}"/>
                  </a:ext>
                </a:extLst>
              </p:cNvPr>
              <p:cNvSpPr txBox="1"/>
              <p:nvPr/>
            </p:nvSpPr>
            <p:spPr>
              <a:xfrm>
                <a:off x="2355850" y="6227866"/>
                <a:ext cx="249780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without coercion - checks type too</a:t>
                </a:r>
              </a:p>
            </p:txBody>
          </p:sp>
          <p:sp>
            <p:nvSpPr>
              <p:cNvPr id="13" name="TextBox 12">
                <a:extLst>
                  <a:ext uri="{FF2B5EF4-FFF2-40B4-BE49-F238E27FC236}">
                    <a16:creationId xmlns:a16="http://schemas.microsoft.com/office/drawing/2014/main" id="{B6062D06-EF29-1321-255D-1CBE8705FB9E}"/>
                  </a:ext>
                </a:extLst>
              </p:cNvPr>
              <p:cNvSpPr txBox="1"/>
              <p:nvPr/>
            </p:nvSpPr>
            <p:spPr>
              <a:xfrm>
                <a:off x="895350" y="6234215"/>
                <a:ext cx="279400"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t>
                </a:r>
              </a:p>
            </p:txBody>
          </p:sp>
        </p:grpSp>
        <p:sp>
          <p:nvSpPr>
            <p:cNvPr id="9" name="TextBox 8">
              <a:extLst>
                <a:ext uri="{FF2B5EF4-FFF2-40B4-BE49-F238E27FC236}">
                  <a16:creationId xmlns:a16="http://schemas.microsoft.com/office/drawing/2014/main" id="{9455C42D-4B1C-BB65-0A70-57998FB95E1D}"/>
                </a:ext>
              </a:extLst>
            </p:cNvPr>
            <p:cNvSpPr txBox="1"/>
            <p:nvPr/>
          </p:nvSpPr>
          <p:spPr>
            <a:xfrm>
              <a:off x="5415582" y="6235059"/>
              <a:ext cx="279400"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t>
              </a:r>
            </a:p>
          </p:txBody>
        </p:sp>
      </p:grpSp>
    </p:spTree>
    <p:extLst>
      <p:ext uri="{BB962C8B-B14F-4D97-AF65-F5344CB8AC3E}">
        <p14:creationId xmlns:p14="http://schemas.microsoft.com/office/powerpoint/2010/main" val="207560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7A5DF2D-28C7-4C05-DA99-A390B52887C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5F581A5-5874-A7BF-032C-EEC57E8ECD8A}"/>
              </a:ext>
            </a:extLst>
          </p:cNvPr>
          <p:cNvSpPr>
            <a:spLocks noGrp="1"/>
          </p:cNvSpPr>
          <p:nvPr>
            <p:ph type="title"/>
          </p:nvPr>
        </p:nvSpPr>
        <p:spPr/>
        <p:txBody>
          <a:bodyPr/>
          <a:lstStyle/>
          <a:p>
            <a:r>
              <a:rPr lang="en-GB" noProof="0" dirty="0"/>
              <a:t>Running some examples</a:t>
            </a:r>
          </a:p>
        </p:txBody>
      </p:sp>
      <p:sp>
        <p:nvSpPr>
          <p:cNvPr id="4" name="Slide Number Placeholder 3">
            <a:extLst>
              <a:ext uri="{FF2B5EF4-FFF2-40B4-BE49-F238E27FC236}">
                <a16:creationId xmlns:a16="http://schemas.microsoft.com/office/drawing/2014/main" id="{A8C430D8-A9F9-AD30-76ED-A72DCFD74C8D}"/>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Text Placeholder 8">
            <a:extLst>
              <a:ext uri="{FF2B5EF4-FFF2-40B4-BE49-F238E27FC236}">
                <a16:creationId xmlns:a16="http://schemas.microsoft.com/office/drawing/2014/main" id="{C5B61D9F-FC05-E28B-67F0-4A847F37157B}"/>
              </a:ext>
            </a:extLst>
          </p:cNvPr>
          <p:cNvSpPr>
            <a:spLocks noGrp="1"/>
          </p:cNvSpPr>
          <p:nvPr>
            <p:ph type="body" idx="1"/>
          </p:nvPr>
        </p:nvSpPr>
        <p:spPr>
          <a:xfrm>
            <a:off x="609600" y="1089368"/>
            <a:ext cx="11163300" cy="4943132"/>
          </a:xfrm>
        </p:spPr>
        <p:txBody>
          <a:bodyPr/>
          <a:lstStyle/>
          <a:p>
            <a:r>
              <a:rPr lang="en-GB" noProof="0" dirty="0"/>
              <a:t>The key programming constructs are</a:t>
            </a:r>
          </a:p>
          <a:p>
            <a:pPr lvl="1"/>
            <a:r>
              <a:rPr lang="en-GB" noProof="0" dirty="0"/>
              <a:t>Sequence - one statement follows another</a:t>
            </a:r>
          </a:p>
          <a:p>
            <a:pPr lvl="1"/>
            <a:r>
              <a:rPr lang="en-GB" noProof="0" dirty="0"/>
              <a:t>Selection - different path taken based on the logical outcome of a question. e.g.,</a:t>
            </a:r>
            <a:br>
              <a:rPr lang="en-GB" noProof="0" dirty="0"/>
            </a:br>
            <a:r>
              <a:rPr lang="en-GB" noProof="0" dirty="0"/>
              <a:t>if one value is less than another then execute code x, otherwise execute code y</a:t>
            </a:r>
          </a:p>
          <a:p>
            <a:pPr lvl="1"/>
            <a:r>
              <a:rPr lang="en-GB" noProof="0" dirty="0"/>
              <a:t>Iteration - repeat code execution over and over until a condition is met. e.g.,</a:t>
            </a:r>
            <a:br>
              <a:rPr lang="en-GB" noProof="0" dirty="0"/>
            </a:br>
            <a:r>
              <a:rPr lang="en-GB" noProof="0" dirty="0"/>
              <a:t>execute the following code 10 times</a:t>
            </a:r>
          </a:p>
          <a:p>
            <a:pPr lvl="1"/>
            <a:r>
              <a:rPr lang="en-GB" noProof="0" dirty="0"/>
              <a:t>Functions - if we are duplicating lines of code, put it to one side, give it a name then reference it by name</a:t>
            </a:r>
          </a:p>
          <a:p>
            <a:pPr lvl="2"/>
            <a:r>
              <a:rPr lang="en-GB" dirty="0"/>
              <a:t>Or if you want to modularise and simplify by moving complexity elsewhere</a:t>
            </a:r>
            <a:endParaRPr lang="en-GB" noProof="0" dirty="0"/>
          </a:p>
          <a:p>
            <a:pPr lvl="1"/>
            <a:r>
              <a:rPr lang="en-GB" noProof="0" dirty="0"/>
              <a:t>Input / Output - we won't use input as that will eventually be a web page or API. For now we will just use output to the debug console to see what is happening but eventually output is data returned from the server</a:t>
            </a:r>
          </a:p>
          <a:p>
            <a:pPr lvl="1"/>
            <a:r>
              <a:rPr lang="en-GB" noProof="0" dirty="0"/>
              <a:t>We will use files for input and output at some point</a:t>
            </a:r>
          </a:p>
        </p:txBody>
      </p:sp>
    </p:spTree>
    <p:extLst>
      <p:ext uri="{BB962C8B-B14F-4D97-AF65-F5344CB8AC3E}">
        <p14:creationId xmlns:p14="http://schemas.microsoft.com/office/powerpoint/2010/main" val="2894970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6753BFC-3C6B-4483-4AA1-05C4368DABE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9E3925F-97AE-FAF3-E9A0-3F88BA716D68}"/>
              </a:ext>
            </a:extLst>
          </p:cNvPr>
          <p:cNvSpPr>
            <a:spLocks noGrp="1"/>
          </p:cNvSpPr>
          <p:nvPr>
            <p:ph type="title"/>
          </p:nvPr>
        </p:nvSpPr>
        <p:spPr/>
        <p:txBody>
          <a:bodyPr/>
          <a:lstStyle/>
          <a:p>
            <a:r>
              <a:rPr lang="en-GB" noProof="0" dirty="0"/>
              <a:t>Selection</a:t>
            </a:r>
          </a:p>
        </p:txBody>
      </p:sp>
      <p:sp>
        <p:nvSpPr>
          <p:cNvPr id="4" name="Slide Number Placeholder 3">
            <a:extLst>
              <a:ext uri="{FF2B5EF4-FFF2-40B4-BE49-F238E27FC236}">
                <a16:creationId xmlns:a16="http://schemas.microsoft.com/office/drawing/2014/main" id="{1535D4C8-0721-CB3E-45BB-A1FB6A4F9D2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FA2F47ED-D4AB-2CB7-7193-40518E84150B}"/>
              </a:ext>
            </a:extLst>
          </p:cNvPr>
          <p:cNvSpPr txBox="1">
            <a:spLocks/>
          </p:cNvSpPr>
          <p:nvPr/>
        </p:nvSpPr>
        <p:spPr>
          <a:xfrm>
            <a:off x="838200" y="1010653"/>
            <a:ext cx="5867400" cy="5166310"/>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L="609585" marR="0" lvl="0" indent="-457189" algn="l" rtl="0" eaLnBrk="1" hangingPunct="1">
              <a:lnSpc>
                <a:spcPct val="100000"/>
              </a:lnSpc>
              <a:spcBef>
                <a:spcPts val="800"/>
              </a:spcBef>
              <a:spcAft>
                <a:spcPts val="0"/>
              </a:spcAft>
              <a:buClr>
                <a:srgbClr val="000000"/>
              </a:buClr>
              <a:buSzPts val="1800"/>
              <a:buFont typeface="Arial"/>
              <a:buChar char="▸"/>
              <a:defRPr sz="1800" b="0" i="0" u="none" strike="noStrike" cap="none" baseline="0">
                <a:solidFill>
                  <a:srgbClr val="000000"/>
                </a:solidFill>
                <a:latin typeface="Arial"/>
                <a:ea typeface="Arial"/>
                <a:cs typeface="Arial"/>
                <a:sym typeface="Arial"/>
              </a:defRPr>
            </a:lvl1pPr>
            <a:lvl2pPr marL="1219170" marR="0" lvl="1" indent="-457189" algn="l" rtl="0" eaLnBrk="1" hangingPunct="1">
              <a:lnSpc>
                <a:spcPct val="100000"/>
              </a:lnSpc>
              <a:spcBef>
                <a:spcPts val="800"/>
              </a:spcBef>
              <a:spcAft>
                <a:spcPts val="0"/>
              </a:spcAft>
              <a:buClr>
                <a:srgbClr val="000000"/>
              </a:buClr>
              <a:buSzPts val="1800"/>
              <a:buFont typeface="Arial"/>
              <a:buChar char="▹"/>
              <a:defRPr sz="1800" b="0" i="0" u="none" strike="noStrike" cap="none">
                <a:solidFill>
                  <a:srgbClr val="000000"/>
                </a:solidFill>
                <a:latin typeface="Arial"/>
                <a:ea typeface="Arial"/>
                <a:cs typeface="Arial"/>
                <a:sym typeface="Arial"/>
              </a:defRPr>
            </a:lvl2pPr>
            <a:lvl3pPr marL="1828754" marR="0" lvl="2" indent="-457189" algn="l" rtl="0" eaLnBrk="1" hangingPunct="1">
              <a:lnSpc>
                <a:spcPct val="100000"/>
              </a:lnSpc>
              <a:spcBef>
                <a:spcPts val="800"/>
              </a:spcBef>
              <a:spcAft>
                <a:spcPts val="0"/>
              </a:spcAft>
              <a:buClr>
                <a:srgbClr val="000000"/>
              </a:buClr>
              <a:buSzPts val="1800"/>
              <a:buFont typeface="Arial"/>
              <a:buChar char="▹"/>
              <a:defRPr sz="1800" b="0" i="0" u="none" strike="noStrike" cap="none">
                <a:solidFill>
                  <a:srgbClr val="000000"/>
                </a:solidFill>
                <a:latin typeface="Arial"/>
                <a:ea typeface="Arial"/>
                <a:cs typeface="Arial"/>
                <a:sym typeface="Arial"/>
              </a:defRPr>
            </a:lvl3pPr>
            <a:lvl4pPr marL="2438339" marR="0" lvl="3" indent="-474121" algn="l" rtl="0" eaLnBrk="1" hangingPunct="1">
              <a:lnSpc>
                <a:spcPct val="100000"/>
              </a:lnSpc>
              <a:spcBef>
                <a:spcPts val="800"/>
              </a:spcBef>
              <a:spcAft>
                <a:spcPts val="0"/>
              </a:spcAft>
              <a:buClr>
                <a:srgbClr val="000000"/>
              </a:buClr>
              <a:buSzPts val="2000"/>
              <a:buFont typeface="Arial"/>
              <a:buChar char="▹"/>
              <a:defRPr sz="1800" b="0" i="0" u="none" strike="noStrike" cap="none">
                <a:solidFill>
                  <a:srgbClr val="000000"/>
                </a:solidFill>
                <a:latin typeface="Arial"/>
                <a:ea typeface="Arial"/>
                <a:cs typeface="Arial"/>
                <a:sym typeface="Arial"/>
              </a:defRPr>
            </a:lvl4pPr>
            <a:lvl5pPr marL="3047924" marR="0" lvl="4" indent="-474121" algn="l" rtl="0" eaLnBrk="1" hangingPunct="1">
              <a:lnSpc>
                <a:spcPct val="100000"/>
              </a:lnSpc>
              <a:spcBef>
                <a:spcPts val="800"/>
              </a:spcBef>
              <a:spcAft>
                <a:spcPts val="0"/>
              </a:spcAft>
              <a:buClr>
                <a:srgbClr val="000000"/>
              </a:buClr>
              <a:buSzPts val="2000"/>
              <a:buFont typeface="Arial"/>
              <a:buChar char="▹"/>
              <a:defRPr sz="1800" b="0" i="0" u="none" strike="noStrike" cap="none">
                <a:solidFill>
                  <a:srgbClr val="000000"/>
                </a:solidFill>
                <a:latin typeface="Arial"/>
                <a:ea typeface="Arial"/>
                <a:cs typeface="Arial"/>
                <a:sym typeface="Arial"/>
              </a:defRPr>
            </a:lvl5pPr>
            <a:lvl6pPr marL="3657509" marR="0" lvl="5"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6pPr>
            <a:lvl7pPr marL="4267093" marR="0" lvl="6"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7pPr>
            <a:lvl8pPr marL="4876678" marR="0" lvl="7"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8pPr>
            <a:lvl9pPr marL="5486263" marR="0" lvl="8"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if (expression evaluates to true) execute     </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this statement</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else </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execute this statement</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endPar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endParaRP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if (expression evaluates to true) {</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execute this statement</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and this one</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else {</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execute this one</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and this one</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a:t>
            </a:r>
          </a:p>
          <a:p>
            <a:pPr marL="0"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endPar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endParaRPr>
          </a:p>
        </p:txBody>
      </p:sp>
      <p:sp>
        <p:nvSpPr>
          <p:cNvPr id="7" name="TextBox 6">
            <a:extLst>
              <a:ext uri="{FF2B5EF4-FFF2-40B4-BE49-F238E27FC236}">
                <a16:creationId xmlns:a16="http://schemas.microsoft.com/office/drawing/2014/main" id="{CA7B6A54-06A6-A43E-2300-A60C715CEDEB}"/>
              </a:ext>
            </a:extLst>
          </p:cNvPr>
          <p:cNvSpPr txBox="1"/>
          <p:nvPr/>
        </p:nvSpPr>
        <p:spPr>
          <a:xfrm>
            <a:off x="9889067" y="6116434"/>
            <a:ext cx="1464733"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/demos/basics/if.js</a:t>
            </a:r>
          </a:p>
        </p:txBody>
      </p:sp>
    </p:spTree>
    <p:extLst>
      <p:ext uri="{BB962C8B-B14F-4D97-AF65-F5344CB8AC3E}">
        <p14:creationId xmlns:p14="http://schemas.microsoft.com/office/powerpoint/2010/main" val="97232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721C7-8DC6-62D5-01D7-F3551C29E148}"/>
              </a:ext>
            </a:extLst>
          </p:cNvPr>
          <p:cNvSpPr>
            <a:spLocks noGrp="1"/>
          </p:cNvSpPr>
          <p:nvPr>
            <p:ph type="title"/>
          </p:nvPr>
        </p:nvSpPr>
        <p:spPr/>
        <p:txBody>
          <a:bodyPr/>
          <a:lstStyle/>
          <a:p>
            <a:r>
              <a:rPr lang="en-GB" dirty="0"/>
              <a:t>else if</a:t>
            </a:r>
          </a:p>
        </p:txBody>
      </p:sp>
      <p:sp>
        <p:nvSpPr>
          <p:cNvPr id="3" name="Text Placeholder 2">
            <a:extLst>
              <a:ext uri="{FF2B5EF4-FFF2-40B4-BE49-F238E27FC236}">
                <a16:creationId xmlns:a16="http://schemas.microsoft.com/office/drawing/2014/main" id="{71F628C7-568C-8A28-3DAE-8EB1E5C9F8F5}"/>
              </a:ext>
            </a:extLst>
          </p:cNvPr>
          <p:cNvSpPr>
            <a:spLocks noGrp="1"/>
          </p:cNvSpPr>
          <p:nvPr>
            <p:ph type="body" idx="1"/>
          </p:nvPr>
        </p:nvSpPr>
        <p:spPr/>
        <p:txBody>
          <a:bodyPr/>
          <a:lstStyle/>
          <a:p>
            <a:r>
              <a:rPr lang="en-GB" dirty="0"/>
              <a:t>For more test cases you can use multiple if, else if</a:t>
            </a:r>
          </a:p>
          <a:p>
            <a:pPr marL="609585" lvl="1" indent="0">
              <a:buClr>
                <a:srgbClr val="000000"/>
              </a:buClr>
              <a:buNone/>
              <a:defRPr/>
            </a:pPr>
            <a:endParaRPr lang="en-GB" dirty="0">
              <a:solidFill>
                <a:srgbClr val="000000"/>
              </a:solidFill>
              <a:latin typeface="Courier New" panose="02070309020205020404" pitchFamily="49" charset="0"/>
              <a:cs typeface="Courier New" panose="02070309020205020404" pitchFamily="49" charset="0"/>
            </a:endParaRPr>
          </a:p>
          <a:p>
            <a:pPr marL="609585" lvl="1" indent="0">
              <a:buClr>
                <a:srgbClr val="000000"/>
              </a:buClr>
              <a:buNone/>
              <a:defRPr/>
            </a:pPr>
            <a:r>
              <a:rPr lang="en-GB" dirty="0">
                <a:solidFill>
                  <a:srgbClr val="000000"/>
                </a:solidFill>
                <a:latin typeface="Courier New" panose="02070309020205020404" pitchFamily="49" charset="0"/>
                <a:cs typeface="Courier New" panose="02070309020205020404" pitchFamily="49" charset="0"/>
              </a:rPr>
              <a:t>if (expression evaluates to true) {</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  execute this block</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else if (expression evaluates to true) {</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  execute this one</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else if(expression evaluates to true) {</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  execute this one</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else {</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  this one</a:t>
            </a:r>
            <a:br>
              <a:rPr lang="en-GB" dirty="0">
                <a:solidFill>
                  <a:srgbClr val="000000"/>
                </a:solidFill>
                <a:latin typeface="Courier New" panose="02070309020205020404" pitchFamily="49" charset="0"/>
                <a:cs typeface="Courier New" panose="02070309020205020404" pitchFamily="49" charset="0"/>
              </a:rPr>
            </a:br>
            <a:r>
              <a:rPr lang="en-GB" dirty="0">
                <a:solidFill>
                  <a:srgbClr val="000000"/>
                </a:solidFill>
                <a:latin typeface="Courier New" panose="02070309020205020404" pitchFamily="49" charset="0"/>
                <a:cs typeface="Courier New" panose="02070309020205020404" pitchFamily="49" charset="0"/>
              </a:rPr>
              <a:t>}</a:t>
            </a:r>
          </a:p>
          <a:p>
            <a:pPr marL="0" lvl="0" indent="0">
              <a:buClr>
                <a:srgbClr val="000000"/>
              </a:buClr>
              <a:buNone/>
              <a:defRPr/>
            </a:pPr>
            <a:endParaRPr lang="en-GB" dirty="0">
              <a:solidFill>
                <a:srgbClr val="000000"/>
              </a:solidFill>
              <a:latin typeface="Courier New" panose="02070309020205020404" pitchFamily="49" charset="0"/>
              <a:cs typeface="Courier New" panose="02070309020205020404" pitchFamily="49" charset="0"/>
            </a:endParaRPr>
          </a:p>
          <a:p>
            <a:endParaRPr lang="en-GB" dirty="0"/>
          </a:p>
        </p:txBody>
      </p:sp>
      <p:sp>
        <p:nvSpPr>
          <p:cNvPr id="4" name="Slide Number Placeholder 3">
            <a:extLst>
              <a:ext uri="{FF2B5EF4-FFF2-40B4-BE49-F238E27FC236}">
                <a16:creationId xmlns:a16="http://schemas.microsoft.com/office/drawing/2014/main" id="{60367DAF-219C-0103-4374-B1F8453444E4}"/>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984262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B64848D-4221-97FA-16E5-B1D9AB51096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9AC7AF4-C258-527D-C482-C3E52B2B0ACA}"/>
              </a:ext>
            </a:extLst>
          </p:cNvPr>
          <p:cNvSpPr>
            <a:spLocks noGrp="1"/>
          </p:cNvSpPr>
          <p:nvPr>
            <p:ph type="title"/>
          </p:nvPr>
        </p:nvSpPr>
        <p:spPr/>
        <p:txBody>
          <a:bodyPr/>
          <a:lstStyle/>
          <a:p>
            <a:r>
              <a:rPr lang="en-GB" noProof="0" dirty="0"/>
              <a:t>Switch</a:t>
            </a:r>
          </a:p>
        </p:txBody>
      </p:sp>
      <p:sp>
        <p:nvSpPr>
          <p:cNvPr id="3" name="Text Placeholder 2">
            <a:extLst>
              <a:ext uri="{FF2B5EF4-FFF2-40B4-BE49-F238E27FC236}">
                <a16:creationId xmlns:a16="http://schemas.microsoft.com/office/drawing/2014/main" id="{8EED5E06-80EA-4E03-C85F-6D44F5A85B96}"/>
              </a:ext>
            </a:extLst>
          </p:cNvPr>
          <p:cNvSpPr>
            <a:spLocks noGrp="1"/>
          </p:cNvSpPr>
          <p:nvPr>
            <p:ph type="body" idx="1"/>
          </p:nvPr>
        </p:nvSpPr>
        <p:spPr/>
        <p:txBody>
          <a:bodyPr/>
          <a:lstStyle/>
          <a:p>
            <a:r>
              <a:rPr lang="en-GB" noProof="0" dirty="0"/>
              <a:t>Like multiple if / else but neater in many cases</a:t>
            </a:r>
          </a:p>
          <a:p>
            <a:r>
              <a:rPr lang="en-GB" noProof="0" dirty="0"/>
              <a:t>JavaScript will match on anything - it's just a lookup</a:t>
            </a:r>
          </a:p>
        </p:txBody>
      </p:sp>
      <p:sp>
        <p:nvSpPr>
          <p:cNvPr id="4" name="Slide Number Placeholder 3">
            <a:extLst>
              <a:ext uri="{FF2B5EF4-FFF2-40B4-BE49-F238E27FC236}">
                <a16:creationId xmlns:a16="http://schemas.microsoft.com/office/drawing/2014/main" id="{5E4E5B93-16DA-7884-2EA8-A1CEC1DD8E5F}"/>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60F1D85B-7F0D-1001-629C-3CE2B73939DF}"/>
              </a:ext>
            </a:extLst>
          </p:cNvPr>
          <p:cNvPicPr>
            <a:picLocks noChangeAspect="1"/>
          </p:cNvPicPr>
          <p:nvPr/>
        </p:nvPicPr>
        <p:blipFill>
          <a:blip r:embed="rId3"/>
          <a:stretch>
            <a:fillRect/>
          </a:stretch>
        </p:blipFill>
        <p:spPr>
          <a:xfrm>
            <a:off x="838200" y="2474469"/>
            <a:ext cx="8583223" cy="3105583"/>
          </a:xfrm>
          <a:prstGeom prst="rect">
            <a:avLst/>
          </a:prstGeom>
        </p:spPr>
      </p:pic>
      <p:sp>
        <p:nvSpPr>
          <p:cNvPr id="7" name="TextBox 6">
            <a:extLst>
              <a:ext uri="{FF2B5EF4-FFF2-40B4-BE49-F238E27FC236}">
                <a16:creationId xmlns:a16="http://schemas.microsoft.com/office/drawing/2014/main" id="{B35E28A1-7E55-A21E-8913-AF7BE1B6BF9E}"/>
              </a:ext>
            </a:extLst>
          </p:cNvPr>
          <p:cNvSpPr txBox="1"/>
          <p:nvPr/>
        </p:nvSpPr>
        <p:spPr>
          <a:xfrm>
            <a:off x="9356271" y="6116434"/>
            <a:ext cx="199752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/demos/basics/switch.js</a:t>
            </a:r>
          </a:p>
        </p:txBody>
      </p:sp>
    </p:spTree>
    <p:extLst>
      <p:ext uri="{BB962C8B-B14F-4D97-AF65-F5344CB8AC3E}">
        <p14:creationId xmlns:p14="http://schemas.microsoft.com/office/powerpoint/2010/main" val="2757793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DFB190B-5C8B-18A3-7863-0112F923D26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A344C58-1804-38EA-0332-383679A0C760}"/>
              </a:ext>
            </a:extLst>
          </p:cNvPr>
          <p:cNvSpPr>
            <a:spLocks noGrp="1"/>
          </p:cNvSpPr>
          <p:nvPr>
            <p:ph type="title"/>
          </p:nvPr>
        </p:nvSpPr>
        <p:spPr/>
        <p:txBody>
          <a:bodyPr/>
          <a:lstStyle/>
          <a:p>
            <a:r>
              <a:rPr lang="en-GB" noProof="0" dirty="0"/>
              <a:t>Iteration: for loop</a:t>
            </a:r>
          </a:p>
        </p:txBody>
      </p:sp>
      <p:sp>
        <p:nvSpPr>
          <p:cNvPr id="4" name="Slide Number Placeholder 3">
            <a:extLst>
              <a:ext uri="{FF2B5EF4-FFF2-40B4-BE49-F238E27FC236}">
                <a16:creationId xmlns:a16="http://schemas.microsoft.com/office/drawing/2014/main" id="{56ED54ED-01F3-A0F2-1B38-BEF011DECFCF}"/>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25" name="Content Placeholder 2">
            <a:extLst>
              <a:ext uri="{FF2B5EF4-FFF2-40B4-BE49-F238E27FC236}">
                <a16:creationId xmlns:a16="http://schemas.microsoft.com/office/drawing/2014/main" id="{915EE1BA-382E-6D67-283E-B339E6C90383}"/>
              </a:ext>
            </a:extLst>
          </p:cNvPr>
          <p:cNvSpPr txBox="1">
            <a:spLocks/>
          </p:cNvSpPr>
          <p:nvPr/>
        </p:nvSpPr>
        <p:spPr>
          <a:xfrm>
            <a:off x="838200" y="1010653"/>
            <a:ext cx="6999509" cy="39750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There are 3 basic iterators as there in most languages: for, do and while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 </a:t>
            </a:r>
            <a:r>
              <a:rPr kumimoji="0" lang="en-GB" sz="14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for</a:t>
            </a: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loop is used to repeat statements a specific number of times so use when you know how many times to repeat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ysClr val="windowText" lastClr="000000"/>
                </a:solidFill>
                <a:effectLst/>
                <a:uLnTx/>
                <a:uFillTx/>
                <a:latin typeface="Courier New" panose="02070309020205020404" pitchFamily="49" charset="0"/>
                <a:ea typeface="+mn-ea"/>
                <a:cs typeface="Courier New" panose="02070309020205020404" pitchFamily="49" charset="0"/>
              </a:rPr>
              <a:t>for ([initialization]; [condition]; [statement])statement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ysClr val="windowText" lastClr="000000"/>
              </a:solidFill>
              <a:effectLst/>
              <a:uLnTx/>
              <a:uFillTx/>
              <a:latin typeface="Courier New" panose="02070309020205020404" pitchFamily="49" charset="0"/>
              <a:ea typeface="+mn-ea"/>
              <a:cs typeface="Courier New" panose="02070309020205020404" pitchFamily="49"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The sequence is: </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initialise – e.g. let x=0;  This happens once only</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condition – check if the condition is true and if not, terminate the loop. e.g. x &lt; 5; Otherwise execute the statement or block</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on completion of the statement, or all statements in the block, execute the loop-expression</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GB" sz="14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goto</a:t>
            </a: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43987FE2-844B-4864-C358-71FB4B145877}"/>
              </a:ext>
            </a:extLst>
          </p:cNvPr>
          <p:cNvPicPr>
            <a:picLocks noChangeAspect="1"/>
          </p:cNvPicPr>
          <p:nvPr/>
        </p:nvPicPr>
        <p:blipFill>
          <a:blip r:embed="rId3"/>
          <a:stretch>
            <a:fillRect/>
          </a:stretch>
        </p:blipFill>
        <p:spPr>
          <a:xfrm>
            <a:off x="2283645" y="5056327"/>
            <a:ext cx="4693605" cy="1436527"/>
          </a:xfrm>
          <a:prstGeom prst="rect">
            <a:avLst/>
          </a:prstGeom>
        </p:spPr>
      </p:pic>
      <p:cxnSp>
        <p:nvCxnSpPr>
          <p:cNvPr id="27" name="Straight Arrow Connector 26">
            <a:extLst>
              <a:ext uri="{FF2B5EF4-FFF2-40B4-BE49-F238E27FC236}">
                <a16:creationId xmlns:a16="http://schemas.microsoft.com/office/drawing/2014/main" id="{329BE300-514F-9554-4E7C-01C459A6C2FF}"/>
              </a:ext>
            </a:extLst>
          </p:cNvPr>
          <p:cNvCxnSpPr>
            <a:cxnSpLocks/>
          </p:cNvCxnSpPr>
          <p:nvPr/>
        </p:nvCxnSpPr>
        <p:spPr>
          <a:xfrm flipH="1">
            <a:off x="5141865" y="2987440"/>
            <a:ext cx="3806193" cy="2110512"/>
          </a:xfrm>
          <a:prstGeom prst="straightConnector1">
            <a:avLst/>
          </a:prstGeom>
          <a:noFill/>
          <a:ln w="28575" cap="flat" cmpd="sng" algn="ctr">
            <a:solidFill>
              <a:srgbClr val="A5A5A5"/>
            </a:solidFill>
            <a:prstDash val="solid"/>
            <a:miter lim="800000"/>
            <a:tailEnd type="triangle"/>
          </a:ln>
          <a:effectLst/>
        </p:spPr>
      </p:cxnSp>
      <p:cxnSp>
        <p:nvCxnSpPr>
          <p:cNvPr id="28" name="Straight Arrow Connector 27">
            <a:extLst>
              <a:ext uri="{FF2B5EF4-FFF2-40B4-BE49-F238E27FC236}">
                <a16:creationId xmlns:a16="http://schemas.microsoft.com/office/drawing/2014/main" id="{E689A7B8-DB04-B409-BBDB-B45243A16324}"/>
              </a:ext>
            </a:extLst>
          </p:cNvPr>
          <p:cNvCxnSpPr>
            <a:cxnSpLocks/>
          </p:cNvCxnSpPr>
          <p:nvPr/>
        </p:nvCxnSpPr>
        <p:spPr>
          <a:xfrm flipH="1">
            <a:off x="6291042" y="4583217"/>
            <a:ext cx="2510052" cy="1160477"/>
          </a:xfrm>
          <a:prstGeom prst="straightConnector1">
            <a:avLst/>
          </a:prstGeom>
          <a:noFill/>
          <a:ln w="28575" cap="flat" cmpd="sng" algn="ctr">
            <a:solidFill>
              <a:srgbClr val="A5A5A5"/>
            </a:solidFill>
            <a:prstDash val="solid"/>
            <a:miter lim="800000"/>
            <a:tailEnd type="triangle"/>
          </a:ln>
          <a:effectLst/>
        </p:spPr>
      </p:cxnSp>
      <p:cxnSp>
        <p:nvCxnSpPr>
          <p:cNvPr id="29" name="Straight Arrow Connector 28">
            <a:extLst>
              <a:ext uri="{FF2B5EF4-FFF2-40B4-BE49-F238E27FC236}">
                <a16:creationId xmlns:a16="http://schemas.microsoft.com/office/drawing/2014/main" id="{BB5D177E-D591-5F8C-35EE-1E87C2D800E6}"/>
              </a:ext>
            </a:extLst>
          </p:cNvPr>
          <p:cNvCxnSpPr>
            <a:cxnSpLocks/>
          </p:cNvCxnSpPr>
          <p:nvPr/>
        </p:nvCxnSpPr>
        <p:spPr>
          <a:xfrm flipH="1">
            <a:off x="4036316" y="1428893"/>
            <a:ext cx="4634156" cy="3911389"/>
          </a:xfrm>
          <a:prstGeom prst="straightConnector1">
            <a:avLst/>
          </a:prstGeom>
          <a:noFill/>
          <a:ln w="28575" cap="flat" cmpd="sng" algn="ctr">
            <a:solidFill>
              <a:srgbClr val="A5A5A5"/>
            </a:solidFill>
            <a:prstDash val="solid"/>
            <a:miter lim="800000"/>
            <a:tailEnd type="triangle"/>
          </a:ln>
          <a:effectLst/>
        </p:spPr>
      </p:cxnSp>
      <p:sp>
        <p:nvSpPr>
          <p:cNvPr id="30" name="Freeform: Shape 29">
            <a:extLst>
              <a:ext uri="{FF2B5EF4-FFF2-40B4-BE49-F238E27FC236}">
                <a16:creationId xmlns:a16="http://schemas.microsoft.com/office/drawing/2014/main" id="{8F63C0A5-D05E-E837-6DC3-87A3D6205E70}"/>
              </a:ext>
            </a:extLst>
          </p:cNvPr>
          <p:cNvSpPr/>
          <p:nvPr/>
        </p:nvSpPr>
        <p:spPr>
          <a:xfrm>
            <a:off x="6183086" y="4285099"/>
            <a:ext cx="2743200" cy="1223072"/>
          </a:xfrm>
          <a:custGeom>
            <a:avLst/>
            <a:gdLst>
              <a:gd name="connsiteX0" fmla="*/ 2743200 w 2743200"/>
              <a:gd name="connsiteY0" fmla="*/ 1223072 h 1223072"/>
              <a:gd name="connsiteX1" fmla="*/ 1284514 w 2743200"/>
              <a:gd name="connsiteY1" fmla="*/ 3872 h 1223072"/>
              <a:gd name="connsiteX2" fmla="*/ 0 w 2743200"/>
              <a:gd name="connsiteY2" fmla="*/ 809415 h 1223072"/>
              <a:gd name="connsiteX3" fmla="*/ 0 w 2743200"/>
              <a:gd name="connsiteY3" fmla="*/ 809415 h 1223072"/>
            </a:gdLst>
            <a:ahLst/>
            <a:cxnLst>
              <a:cxn ang="0">
                <a:pos x="connsiteX0" y="connsiteY0"/>
              </a:cxn>
              <a:cxn ang="0">
                <a:pos x="connsiteX1" y="connsiteY1"/>
              </a:cxn>
              <a:cxn ang="0">
                <a:pos x="connsiteX2" y="connsiteY2"/>
              </a:cxn>
              <a:cxn ang="0">
                <a:pos x="connsiteX3" y="connsiteY3"/>
              </a:cxn>
            </a:cxnLst>
            <a:rect l="l" t="t" r="r" b="b"/>
            <a:pathLst>
              <a:path w="2743200" h="1223072">
                <a:moveTo>
                  <a:pt x="2743200" y="1223072"/>
                </a:moveTo>
                <a:cubicBezTo>
                  <a:pt x="2242457" y="647943"/>
                  <a:pt x="1741714" y="72815"/>
                  <a:pt x="1284514" y="3872"/>
                </a:cubicBezTo>
                <a:cubicBezTo>
                  <a:pt x="827314" y="-65071"/>
                  <a:pt x="0" y="809415"/>
                  <a:pt x="0" y="809415"/>
                </a:cubicBezTo>
                <a:lnTo>
                  <a:pt x="0" y="809415"/>
                </a:lnTo>
              </a:path>
            </a:pathLst>
          </a:custGeom>
          <a:noFill/>
          <a:ln w="28575" cap="flat" cmpd="sng" algn="ctr">
            <a:solidFill>
              <a:srgbClr val="E7E6E6">
                <a:lumMod val="75000"/>
              </a:srgbClr>
            </a:solidFill>
            <a:prstDash val="solid"/>
            <a:miter lim="800000"/>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 name="Flowchart: Decision 34">
            <a:extLst>
              <a:ext uri="{FF2B5EF4-FFF2-40B4-BE49-F238E27FC236}">
                <a16:creationId xmlns:a16="http://schemas.microsoft.com/office/drawing/2014/main" id="{D9BAAC40-E1FB-78A3-480C-CA55F231E4D5}"/>
              </a:ext>
            </a:extLst>
          </p:cNvPr>
          <p:cNvSpPr/>
          <p:nvPr/>
        </p:nvSpPr>
        <p:spPr>
          <a:xfrm>
            <a:off x="8518072" y="2187862"/>
            <a:ext cx="1905000" cy="1356828"/>
          </a:xfrm>
          <a:prstGeom prst="flowChartDecision">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Condition true?</a:t>
            </a:r>
          </a:p>
        </p:txBody>
      </p:sp>
      <p:sp>
        <p:nvSpPr>
          <p:cNvPr id="36" name="Rectangle 35">
            <a:extLst>
              <a:ext uri="{FF2B5EF4-FFF2-40B4-BE49-F238E27FC236}">
                <a16:creationId xmlns:a16="http://schemas.microsoft.com/office/drawing/2014/main" id="{7ECA8830-BB6D-4F12-97B7-7EB0F2476453}"/>
              </a:ext>
            </a:extLst>
          </p:cNvPr>
          <p:cNvSpPr/>
          <p:nvPr/>
        </p:nvSpPr>
        <p:spPr>
          <a:xfrm>
            <a:off x="8610600" y="898358"/>
            <a:ext cx="1719943" cy="756271"/>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Initialise</a:t>
            </a:r>
          </a:p>
        </p:txBody>
      </p:sp>
      <p:cxnSp>
        <p:nvCxnSpPr>
          <p:cNvPr id="37" name="Straight Arrow Connector 36">
            <a:extLst>
              <a:ext uri="{FF2B5EF4-FFF2-40B4-BE49-F238E27FC236}">
                <a16:creationId xmlns:a16="http://schemas.microsoft.com/office/drawing/2014/main" id="{EF8292F8-718C-951F-E5E1-FBD89D5D5F65}"/>
              </a:ext>
            </a:extLst>
          </p:cNvPr>
          <p:cNvCxnSpPr>
            <a:cxnSpLocks/>
            <a:stCxn id="36" idx="2"/>
          </p:cNvCxnSpPr>
          <p:nvPr/>
        </p:nvCxnSpPr>
        <p:spPr>
          <a:xfrm>
            <a:off x="9470572" y="1654629"/>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38" name="Rectangle 37">
            <a:extLst>
              <a:ext uri="{FF2B5EF4-FFF2-40B4-BE49-F238E27FC236}">
                <a16:creationId xmlns:a16="http://schemas.microsoft.com/office/drawing/2014/main" id="{E56C0343-8A3C-B318-7C9F-77BC3275754A}"/>
              </a:ext>
            </a:extLst>
          </p:cNvPr>
          <p:cNvSpPr/>
          <p:nvPr/>
        </p:nvSpPr>
        <p:spPr>
          <a:xfrm>
            <a:off x="8621486" y="4076989"/>
            <a:ext cx="1719943" cy="756271"/>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Execute Statements</a:t>
            </a:r>
          </a:p>
        </p:txBody>
      </p:sp>
      <p:cxnSp>
        <p:nvCxnSpPr>
          <p:cNvPr id="39" name="Straight Arrow Connector 38">
            <a:extLst>
              <a:ext uri="{FF2B5EF4-FFF2-40B4-BE49-F238E27FC236}">
                <a16:creationId xmlns:a16="http://schemas.microsoft.com/office/drawing/2014/main" id="{084BA973-58DE-C70A-EEF7-78CFA9DA80DC}"/>
              </a:ext>
            </a:extLst>
          </p:cNvPr>
          <p:cNvCxnSpPr>
            <a:cxnSpLocks/>
          </p:cNvCxnSpPr>
          <p:nvPr/>
        </p:nvCxnSpPr>
        <p:spPr>
          <a:xfrm>
            <a:off x="9470572" y="3544690"/>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40" name="Rectangle 39">
            <a:extLst>
              <a:ext uri="{FF2B5EF4-FFF2-40B4-BE49-F238E27FC236}">
                <a16:creationId xmlns:a16="http://schemas.microsoft.com/office/drawing/2014/main" id="{B39CFDD4-18D9-E034-2792-5EA62F87D5BE}"/>
              </a:ext>
            </a:extLst>
          </p:cNvPr>
          <p:cNvSpPr/>
          <p:nvPr/>
        </p:nvSpPr>
        <p:spPr>
          <a:xfrm>
            <a:off x="8621486" y="5365559"/>
            <a:ext cx="1719943" cy="756271"/>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Execute loop-statement</a:t>
            </a:r>
          </a:p>
        </p:txBody>
      </p:sp>
      <p:cxnSp>
        <p:nvCxnSpPr>
          <p:cNvPr id="41" name="Straight Arrow Connector 40">
            <a:extLst>
              <a:ext uri="{FF2B5EF4-FFF2-40B4-BE49-F238E27FC236}">
                <a16:creationId xmlns:a16="http://schemas.microsoft.com/office/drawing/2014/main" id="{A3971CE0-2577-D681-A5CB-CCD10A818583}"/>
              </a:ext>
            </a:extLst>
          </p:cNvPr>
          <p:cNvCxnSpPr>
            <a:cxnSpLocks/>
          </p:cNvCxnSpPr>
          <p:nvPr/>
        </p:nvCxnSpPr>
        <p:spPr>
          <a:xfrm>
            <a:off x="9481457" y="4833260"/>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cxnSp>
        <p:nvCxnSpPr>
          <p:cNvPr id="42" name="Connector: Elbow 41">
            <a:extLst>
              <a:ext uri="{FF2B5EF4-FFF2-40B4-BE49-F238E27FC236}">
                <a16:creationId xmlns:a16="http://schemas.microsoft.com/office/drawing/2014/main" id="{DF7DE5E2-9455-658F-3198-1C8E7CDB1933}"/>
              </a:ext>
            </a:extLst>
          </p:cNvPr>
          <p:cNvCxnSpPr>
            <a:cxnSpLocks/>
            <a:stCxn id="40" idx="2"/>
            <a:endCxn id="35" idx="1"/>
          </p:cNvCxnSpPr>
          <p:nvPr/>
        </p:nvCxnSpPr>
        <p:spPr>
          <a:xfrm rot="5400000" flipH="1">
            <a:off x="7371988" y="4012360"/>
            <a:ext cx="3255554" cy="963386"/>
          </a:xfrm>
          <a:prstGeom prst="bentConnector4">
            <a:avLst>
              <a:gd name="adj1" fmla="val -7022"/>
              <a:gd name="adj2" fmla="val 123729"/>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cxnSp>
        <p:nvCxnSpPr>
          <p:cNvPr id="43" name="Connector: Elbow 42">
            <a:extLst>
              <a:ext uri="{FF2B5EF4-FFF2-40B4-BE49-F238E27FC236}">
                <a16:creationId xmlns:a16="http://schemas.microsoft.com/office/drawing/2014/main" id="{7BCC5AE6-2EBC-EBC2-33AC-4E15ECD69E74}"/>
              </a:ext>
            </a:extLst>
          </p:cNvPr>
          <p:cNvCxnSpPr>
            <a:cxnSpLocks/>
            <a:stCxn id="35" idx="3"/>
            <a:endCxn id="44" idx="0"/>
          </p:cNvCxnSpPr>
          <p:nvPr/>
        </p:nvCxnSpPr>
        <p:spPr>
          <a:xfrm>
            <a:off x="10423072" y="2866276"/>
            <a:ext cx="947057" cy="2620124"/>
          </a:xfrm>
          <a:prstGeom prst="bentConnector2">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44" name="Flowchart: Terminator 43">
            <a:extLst>
              <a:ext uri="{FF2B5EF4-FFF2-40B4-BE49-F238E27FC236}">
                <a16:creationId xmlns:a16="http://schemas.microsoft.com/office/drawing/2014/main" id="{1CC957E6-EAB4-D9A6-388A-0648DD8E0F4E}"/>
              </a:ext>
            </a:extLst>
          </p:cNvPr>
          <p:cNvSpPr/>
          <p:nvPr/>
        </p:nvSpPr>
        <p:spPr>
          <a:xfrm>
            <a:off x="10668000" y="5486400"/>
            <a:ext cx="1404257" cy="365125"/>
          </a:xfrm>
          <a:prstGeom prst="flowChartTerminator">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Exit loop</a:t>
            </a:r>
          </a:p>
        </p:txBody>
      </p:sp>
      <p:sp>
        <p:nvSpPr>
          <p:cNvPr id="33" name="TextBox 32">
            <a:extLst>
              <a:ext uri="{FF2B5EF4-FFF2-40B4-BE49-F238E27FC236}">
                <a16:creationId xmlns:a16="http://schemas.microsoft.com/office/drawing/2014/main" id="{90CA0381-6CEE-AD63-ADB0-4C0817C28F79}"/>
              </a:ext>
            </a:extLst>
          </p:cNvPr>
          <p:cNvSpPr txBox="1"/>
          <p:nvPr/>
        </p:nvSpPr>
        <p:spPr>
          <a:xfrm>
            <a:off x="9481457" y="3510353"/>
            <a:ext cx="4912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panose="020F0502020204030204"/>
                <a:ea typeface="+mn-ea"/>
                <a:cs typeface="+mn-cs"/>
              </a:rPr>
              <a:t>yes</a:t>
            </a:r>
          </a:p>
        </p:txBody>
      </p:sp>
      <p:sp>
        <p:nvSpPr>
          <p:cNvPr id="34" name="TextBox 33">
            <a:extLst>
              <a:ext uri="{FF2B5EF4-FFF2-40B4-BE49-F238E27FC236}">
                <a16:creationId xmlns:a16="http://schemas.microsoft.com/office/drawing/2014/main" id="{462A54C7-A027-B028-B597-9296FB7EB5EB}"/>
              </a:ext>
            </a:extLst>
          </p:cNvPr>
          <p:cNvSpPr txBox="1"/>
          <p:nvPr/>
        </p:nvSpPr>
        <p:spPr>
          <a:xfrm>
            <a:off x="10559975" y="2496944"/>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panose="020F0502020204030204"/>
                <a:ea typeface="+mn-ea"/>
                <a:cs typeface="+mn-cs"/>
              </a:rPr>
              <a:t>no</a:t>
            </a:r>
          </a:p>
        </p:txBody>
      </p:sp>
      <p:sp>
        <p:nvSpPr>
          <p:cNvPr id="5" name="TextBox 4">
            <a:extLst>
              <a:ext uri="{FF2B5EF4-FFF2-40B4-BE49-F238E27FC236}">
                <a16:creationId xmlns:a16="http://schemas.microsoft.com/office/drawing/2014/main" id="{30762AA9-1D8F-189A-B9C7-D9B6E51ECF1B}"/>
              </a:ext>
            </a:extLst>
          </p:cNvPr>
          <p:cNvSpPr txBox="1"/>
          <p:nvPr/>
        </p:nvSpPr>
        <p:spPr>
          <a:xfrm>
            <a:off x="320524" y="6200324"/>
            <a:ext cx="1565426"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/demos/basics/for.js</a:t>
            </a:r>
          </a:p>
        </p:txBody>
      </p:sp>
    </p:spTree>
    <p:extLst>
      <p:ext uri="{BB962C8B-B14F-4D97-AF65-F5344CB8AC3E}">
        <p14:creationId xmlns:p14="http://schemas.microsoft.com/office/powerpoint/2010/main" val="298983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9"/>
                                        </p:tgtEl>
                                      </p:cBhvr>
                                    </p:animEffect>
                                    <p:set>
                                      <p:cBhvr>
                                        <p:cTn id="12" dur="1" fill="hold">
                                          <p:stCondLst>
                                            <p:cond delay="499"/>
                                          </p:stCondLst>
                                        </p:cTn>
                                        <p:tgtEl>
                                          <p:spTgt spid="2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27"/>
                                        </p:tgtEl>
                                      </p:cBhvr>
                                    </p:animEffect>
                                    <p:set>
                                      <p:cBhvr>
                                        <p:cTn id="20" dur="1" fill="hold">
                                          <p:stCondLst>
                                            <p:cond delay="499"/>
                                          </p:stCondLst>
                                        </p:cTn>
                                        <p:tgtEl>
                                          <p:spTgt spid="27"/>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8"/>
                                        </p:tgtEl>
                                      </p:cBhvr>
                                    </p:animEffect>
                                    <p:set>
                                      <p:cBhvr>
                                        <p:cTn id="28" dur="1" fill="hold">
                                          <p:stCondLst>
                                            <p:cond delay="499"/>
                                          </p:stCondLst>
                                        </p:cTn>
                                        <p:tgtEl>
                                          <p:spTgt spid="28"/>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30"/>
                                        </p:tgtEl>
                                      </p:cBhvr>
                                    </p:animEffect>
                                    <p:set>
                                      <p:cBhvr>
                                        <p:cTn id="36" dur="1" fill="hold">
                                          <p:stCondLst>
                                            <p:cond delay="499"/>
                                          </p:stCondLst>
                                        </p:cTn>
                                        <p:tgtEl>
                                          <p:spTgt spid="30"/>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27"/>
                                        </p:tgtEl>
                                      </p:cBhvr>
                                    </p:animEffect>
                                    <p:set>
                                      <p:cBhvr>
                                        <p:cTn id="44"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C2FE94E-3C92-5772-1639-9ED5D2C3526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4F7FBA6-5007-2A09-DC19-0B48AF16B913}"/>
              </a:ext>
            </a:extLst>
          </p:cNvPr>
          <p:cNvSpPr>
            <a:spLocks noGrp="1"/>
          </p:cNvSpPr>
          <p:nvPr>
            <p:ph type="title"/>
          </p:nvPr>
        </p:nvSpPr>
        <p:spPr/>
        <p:txBody>
          <a:bodyPr/>
          <a:lstStyle/>
          <a:p>
            <a:r>
              <a:rPr lang="en-GB" noProof="0" dirty="0"/>
              <a:t>Iteration: while loop</a:t>
            </a:r>
          </a:p>
        </p:txBody>
      </p:sp>
      <p:sp>
        <p:nvSpPr>
          <p:cNvPr id="4" name="Slide Number Placeholder 3">
            <a:extLst>
              <a:ext uri="{FF2B5EF4-FFF2-40B4-BE49-F238E27FC236}">
                <a16:creationId xmlns:a16="http://schemas.microsoft.com/office/drawing/2014/main" id="{B733A1EF-10AD-EA1A-3910-12F26BA3FCB0}"/>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486735D2-6E99-54E6-43F5-CDB78FCE5374}"/>
              </a:ext>
            </a:extLst>
          </p:cNvPr>
          <p:cNvSpPr txBox="1">
            <a:spLocks/>
          </p:cNvSpPr>
          <p:nvPr/>
        </p:nvSpPr>
        <p:spPr>
          <a:xfrm>
            <a:off x="838200" y="1010653"/>
            <a:ext cx="6613071" cy="2690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 while will test the loop condition at the start so may execute zero times. The code within the loop will be used to terminate the loop</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ourier New" panose="02070309020205020404" pitchFamily="49" charset="0"/>
                <a:ea typeface="+mn-ea"/>
                <a:cs typeface="Courier New" panose="02070309020205020404" pitchFamily="49" charset="0"/>
              </a:rPr>
              <a:t>while (expression is true) execute statements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The expression is tested. If it’s false, the loop terminates without executing any of its statements. If true, it will execute all the statements in a block then return and test the expression until it’s false. i.e. something in the loop needs to make the expression become false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An example of a while loop may be reading a file. If the file is empty then do nothing. If it isn’t, keep reading until the end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In the following, if </a:t>
            </a:r>
            <a:r>
              <a:rPr kumimoji="0" lang="en-GB" sz="14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i</a:t>
            </a: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was already 10, the loop would exit</a:t>
            </a:r>
          </a:p>
        </p:txBody>
      </p:sp>
      <p:sp>
        <p:nvSpPr>
          <p:cNvPr id="6" name="Flowchart: Decision 5">
            <a:extLst>
              <a:ext uri="{FF2B5EF4-FFF2-40B4-BE49-F238E27FC236}">
                <a16:creationId xmlns:a16="http://schemas.microsoft.com/office/drawing/2014/main" id="{0F7EC81A-E6A6-56BC-491B-B0555722B289}"/>
              </a:ext>
            </a:extLst>
          </p:cNvPr>
          <p:cNvSpPr/>
          <p:nvPr/>
        </p:nvSpPr>
        <p:spPr>
          <a:xfrm>
            <a:off x="8153400" y="1921245"/>
            <a:ext cx="1905000" cy="1356828"/>
          </a:xfrm>
          <a:prstGeom prst="flowChartDecision">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Condition true?</a:t>
            </a:r>
          </a:p>
        </p:txBody>
      </p:sp>
      <p:sp>
        <p:nvSpPr>
          <p:cNvPr id="7" name="Rectangle 6">
            <a:extLst>
              <a:ext uri="{FF2B5EF4-FFF2-40B4-BE49-F238E27FC236}">
                <a16:creationId xmlns:a16="http://schemas.microsoft.com/office/drawing/2014/main" id="{E0A41A8B-DDE3-763B-18E2-DBCDA6C39C66}"/>
              </a:ext>
            </a:extLst>
          </p:cNvPr>
          <p:cNvSpPr/>
          <p:nvPr/>
        </p:nvSpPr>
        <p:spPr>
          <a:xfrm>
            <a:off x="8245928" y="631741"/>
            <a:ext cx="1719943" cy="756271"/>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A statement outside the loop will act as an initialiser</a:t>
            </a:r>
          </a:p>
        </p:txBody>
      </p:sp>
      <p:cxnSp>
        <p:nvCxnSpPr>
          <p:cNvPr id="8" name="Straight Arrow Connector 7">
            <a:extLst>
              <a:ext uri="{FF2B5EF4-FFF2-40B4-BE49-F238E27FC236}">
                <a16:creationId xmlns:a16="http://schemas.microsoft.com/office/drawing/2014/main" id="{D3C48915-8658-C07A-C02F-25A209E7FB98}"/>
              </a:ext>
            </a:extLst>
          </p:cNvPr>
          <p:cNvCxnSpPr>
            <a:cxnSpLocks/>
            <a:stCxn id="7" idx="2"/>
          </p:cNvCxnSpPr>
          <p:nvPr/>
        </p:nvCxnSpPr>
        <p:spPr>
          <a:xfrm>
            <a:off x="9105900" y="1388012"/>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9" name="Rectangle 8">
            <a:extLst>
              <a:ext uri="{FF2B5EF4-FFF2-40B4-BE49-F238E27FC236}">
                <a16:creationId xmlns:a16="http://schemas.microsoft.com/office/drawing/2014/main" id="{ACB1ABEB-4B36-1A34-CBAB-A142ACD7168D}"/>
              </a:ext>
            </a:extLst>
          </p:cNvPr>
          <p:cNvSpPr/>
          <p:nvPr/>
        </p:nvSpPr>
        <p:spPr>
          <a:xfrm>
            <a:off x="8256814" y="3810372"/>
            <a:ext cx="1719943" cy="756271"/>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Execute Statements</a:t>
            </a:r>
          </a:p>
        </p:txBody>
      </p:sp>
      <p:cxnSp>
        <p:nvCxnSpPr>
          <p:cNvPr id="10" name="Straight Arrow Connector 9">
            <a:extLst>
              <a:ext uri="{FF2B5EF4-FFF2-40B4-BE49-F238E27FC236}">
                <a16:creationId xmlns:a16="http://schemas.microsoft.com/office/drawing/2014/main" id="{BC54A1C1-EEA6-35AC-6C20-C7FAD0ED4D6D}"/>
              </a:ext>
            </a:extLst>
          </p:cNvPr>
          <p:cNvCxnSpPr>
            <a:cxnSpLocks/>
          </p:cNvCxnSpPr>
          <p:nvPr/>
        </p:nvCxnSpPr>
        <p:spPr>
          <a:xfrm>
            <a:off x="9105900" y="3278073"/>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11" name="Rectangle 10">
            <a:extLst>
              <a:ext uri="{FF2B5EF4-FFF2-40B4-BE49-F238E27FC236}">
                <a16:creationId xmlns:a16="http://schemas.microsoft.com/office/drawing/2014/main" id="{48252B84-D626-3011-6132-C4946917DF53}"/>
              </a:ext>
            </a:extLst>
          </p:cNvPr>
          <p:cNvSpPr/>
          <p:nvPr/>
        </p:nvSpPr>
        <p:spPr>
          <a:xfrm>
            <a:off x="8256814" y="5098942"/>
            <a:ext cx="1719943" cy="756271"/>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Your code needs to eventually make the condition false</a:t>
            </a:r>
          </a:p>
        </p:txBody>
      </p:sp>
      <p:cxnSp>
        <p:nvCxnSpPr>
          <p:cNvPr id="12" name="Straight Arrow Connector 11">
            <a:extLst>
              <a:ext uri="{FF2B5EF4-FFF2-40B4-BE49-F238E27FC236}">
                <a16:creationId xmlns:a16="http://schemas.microsoft.com/office/drawing/2014/main" id="{0BB9DF24-4A17-5FAB-B77B-12C70A57826F}"/>
              </a:ext>
            </a:extLst>
          </p:cNvPr>
          <p:cNvCxnSpPr>
            <a:cxnSpLocks/>
          </p:cNvCxnSpPr>
          <p:nvPr/>
        </p:nvCxnSpPr>
        <p:spPr>
          <a:xfrm>
            <a:off x="9116785" y="4566643"/>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cxnSp>
        <p:nvCxnSpPr>
          <p:cNvPr id="13" name="Connector: Elbow 12">
            <a:extLst>
              <a:ext uri="{FF2B5EF4-FFF2-40B4-BE49-F238E27FC236}">
                <a16:creationId xmlns:a16="http://schemas.microsoft.com/office/drawing/2014/main" id="{F756F063-BF99-6F0F-CEF0-A0DEDB2F256C}"/>
              </a:ext>
            </a:extLst>
          </p:cNvPr>
          <p:cNvCxnSpPr>
            <a:cxnSpLocks/>
            <a:stCxn id="11" idx="2"/>
            <a:endCxn id="6" idx="1"/>
          </p:cNvCxnSpPr>
          <p:nvPr/>
        </p:nvCxnSpPr>
        <p:spPr>
          <a:xfrm rot="5400000" flipH="1">
            <a:off x="7007316" y="3745743"/>
            <a:ext cx="3255554" cy="963386"/>
          </a:xfrm>
          <a:prstGeom prst="bentConnector4">
            <a:avLst>
              <a:gd name="adj1" fmla="val -7022"/>
              <a:gd name="adj2" fmla="val 123729"/>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cxnSp>
        <p:nvCxnSpPr>
          <p:cNvPr id="14" name="Connector: Elbow 13">
            <a:extLst>
              <a:ext uri="{FF2B5EF4-FFF2-40B4-BE49-F238E27FC236}">
                <a16:creationId xmlns:a16="http://schemas.microsoft.com/office/drawing/2014/main" id="{78227F31-F5E3-DAF9-CCB0-24BFE048CCCD}"/>
              </a:ext>
            </a:extLst>
          </p:cNvPr>
          <p:cNvCxnSpPr>
            <a:cxnSpLocks/>
            <a:stCxn id="6" idx="3"/>
            <a:endCxn id="15" idx="0"/>
          </p:cNvCxnSpPr>
          <p:nvPr/>
        </p:nvCxnSpPr>
        <p:spPr>
          <a:xfrm>
            <a:off x="10058400" y="2599659"/>
            <a:ext cx="947057" cy="2620124"/>
          </a:xfrm>
          <a:prstGeom prst="bentConnector2">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15" name="Flowchart: Terminator 14">
            <a:extLst>
              <a:ext uri="{FF2B5EF4-FFF2-40B4-BE49-F238E27FC236}">
                <a16:creationId xmlns:a16="http://schemas.microsoft.com/office/drawing/2014/main" id="{0D5C480E-A7FC-D8FA-3FD8-DCED07B25F12}"/>
              </a:ext>
            </a:extLst>
          </p:cNvPr>
          <p:cNvSpPr/>
          <p:nvPr/>
        </p:nvSpPr>
        <p:spPr>
          <a:xfrm>
            <a:off x="10303328" y="5219783"/>
            <a:ext cx="1404257" cy="365125"/>
          </a:xfrm>
          <a:prstGeom prst="flowChartTerminator">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panose="020F0502020204030204"/>
                <a:ea typeface="+mn-ea"/>
                <a:cs typeface="+mn-cs"/>
              </a:rPr>
              <a:t>Exit loop</a:t>
            </a:r>
          </a:p>
        </p:txBody>
      </p:sp>
      <p:pic>
        <p:nvPicPr>
          <p:cNvPr id="16" name="Picture 15">
            <a:extLst>
              <a:ext uri="{FF2B5EF4-FFF2-40B4-BE49-F238E27FC236}">
                <a16:creationId xmlns:a16="http://schemas.microsoft.com/office/drawing/2014/main" id="{B324DB99-A27A-9C6D-5F49-AC82FF4ED4F5}"/>
              </a:ext>
            </a:extLst>
          </p:cNvPr>
          <p:cNvPicPr>
            <a:picLocks noChangeAspect="1"/>
          </p:cNvPicPr>
          <p:nvPr/>
        </p:nvPicPr>
        <p:blipFill>
          <a:blip r:embed="rId3"/>
          <a:stretch>
            <a:fillRect/>
          </a:stretch>
        </p:blipFill>
        <p:spPr>
          <a:xfrm>
            <a:off x="926873" y="3949834"/>
            <a:ext cx="5410955" cy="1829055"/>
          </a:xfrm>
          <a:prstGeom prst="rect">
            <a:avLst/>
          </a:prstGeom>
        </p:spPr>
      </p:pic>
      <p:sp>
        <p:nvSpPr>
          <p:cNvPr id="17" name="TextBox 16">
            <a:extLst>
              <a:ext uri="{FF2B5EF4-FFF2-40B4-BE49-F238E27FC236}">
                <a16:creationId xmlns:a16="http://schemas.microsoft.com/office/drawing/2014/main" id="{88BD402B-5352-EEBE-706B-682833B0E213}"/>
              </a:ext>
            </a:extLst>
          </p:cNvPr>
          <p:cNvSpPr txBox="1"/>
          <p:nvPr/>
        </p:nvSpPr>
        <p:spPr>
          <a:xfrm>
            <a:off x="9116785" y="3264227"/>
            <a:ext cx="4912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yes</a:t>
            </a:r>
          </a:p>
        </p:txBody>
      </p:sp>
      <p:sp>
        <p:nvSpPr>
          <p:cNvPr id="18" name="TextBox 17">
            <a:extLst>
              <a:ext uri="{FF2B5EF4-FFF2-40B4-BE49-F238E27FC236}">
                <a16:creationId xmlns:a16="http://schemas.microsoft.com/office/drawing/2014/main" id="{6567CB35-ED83-4BAE-1B13-9ED30C4D5E4D}"/>
              </a:ext>
            </a:extLst>
          </p:cNvPr>
          <p:cNvSpPr txBox="1"/>
          <p:nvPr/>
        </p:nvSpPr>
        <p:spPr>
          <a:xfrm>
            <a:off x="10195303" y="2250818"/>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no</a:t>
            </a:r>
          </a:p>
        </p:txBody>
      </p:sp>
      <p:sp>
        <p:nvSpPr>
          <p:cNvPr id="19" name="TextBox 18">
            <a:extLst>
              <a:ext uri="{FF2B5EF4-FFF2-40B4-BE49-F238E27FC236}">
                <a16:creationId xmlns:a16="http://schemas.microsoft.com/office/drawing/2014/main" id="{597FEF71-3043-0B98-5095-083DDF9FE983}"/>
              </a:ext>
            </a:extLst>
          </p:cNvPr>
          <p:cNvSpPr txBox="1"/>
          <p:nvPr/>
        </p:nvSpPr>
        <p:spPr>
          <a:xfrm>
            <a:off x="844474" y="6116434"/>
            <a:ext cx="186606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/demos/basics/while.js</a:t>
            </a:r>
          </a:p>
        </p:txBody>
      </p:sp>
    </p:spTree>
    <p:extLst>
      <p:ext uri="{BB962C8B-B14F-4D97-AF65-F5344CB8AC3E}">
        <p14:creationId xmlns:p14="http://schemas.microsoft.com/office/powerpoint/2010/main" val="3014770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8081853-CA43-DADB-257E-3AFE7F90156C}"/>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4A4AD9F-FD85-2BC6-5829-74BC50A7436B}"/>
              </a:ext>
            </a:extLst>
          </p:cNvPr>
          <p:cNvSpPr>
            <a:spLocks noGrp="1"/>
          </p:cNvSpPr>
          <p:nvPr>
            <p:ph type="title"/>
          </p:nvPr>
        </p:nvSpPr>
        <p:spPr/>
        <p:txBody>
          <a:bodyPr/>
          <a:lstStyle/>
          <a:p>
            <a:r>
              <a:rPr lang="en-GB" noProof="0" dirty="0"/>
              <a:t>Iteration: do while loop</a:t>
            </a:r>
          </a:p>
        </p:txBody>
      </p:sp>
      <p:sp>
        <p:nvSpPr>
          <p:cNvPr id="4" name="Slide Number Placeholder 3">
            <a:extLst>
              <a:ext uri="{FF2B5EF4-FFF2-40B4-BE49-F238E27FC236}">
                <a16:creationId xmlns:a16="http://schemas.microsoft.com/office/drawing/2014/main" id="{AB467821-746A-6E59-DCB5-AEC081D5666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33" name="Content Placeholder 2">
            <a:extLst>
              <a:ext uri="{FF2B5EF4-FFF2-40B4-BE49-F238E27FC236}">
                <a16:creationId xmlns:a16="http://schemas.microsoft.com/office/drawing/2014/main" id="{DFBC0C0F-3B27-7BA4-ADCF-DFB781ACB78E}"/>
              </a:ext>
            </a:extLst>
          </p:cNvPr>
          <p:cNvSpPr txBox="1">
            <a:spLocks/>
          </p:cNvSpPr>
          <p:nvPr/>
        </p:nvSpPr>
        <p:spPr>
          <a:xfrm>
            <a:off x="746503" y="1264737"/>
            <a:ext cx="5508171" cy="1863176"/>
          </a:xfrm>
          <a:prstGeom prst="rect">
            <a:avLst/>
          </a:prstGeom>
        </p:spPr>
        <p:txBody>
          <a:bodyPr spcFirstLastPara="1" wrap="square" lIns="0" tIns="0" rIns="0" bIns="0" anchor="t" anchorCtr="0">
            <a:normAutofit fontScale="77500" lnSpcReduction="20000"/>
          </a:bodyPr>
          <a:lstStyle>
            <a:defPPr marR="0" lvl="0" algn="l" rtl="0">
              <a:lnSpc>
                <a:spcPct val="100000"/>
              </a:lnSpc>
              <a:spcBef>
                <a:spcPts val="0"/>
              </a:spcBef>
              <a:spcAft>
                <a:spcPts val="0"/>
              </a:spcAft>
            </a:defPPr>
            <a:lvl1pPr marL="609585" marR="0" lvl="0" indent="-457189" algn="l" rtl="0" eaLnBrk="1" hangingPunct="1">
              <a:lnSpc>
                <a:spcPct val="100000"/>
              </a:lnSpc>
              <a:spcBef>
                <a:spcPts val="800"/>
              </a:spcBef>
              <a:spcAft>
                <a:spcPts val="0"/>
              </a:spcAft>
              <a:buClr>
                <a:srgbClr val="000000"/>
              </a:buClr>
              <a:buSzPts val="1800"/>
              <a:buFont typeface="Arial"/>
              <a:buChar char="▸"/>
              <a:defRPr sz="1800" b="0" i="0" u="none" strike="noStrike" cap="none" baseline="0">
                <a:solidFill>
                  <a:srgbClr val="000000"/>
                </a:solidFill>
                <a:latin typeface="Arial"/>
                <a:ea typeface="Arial"/>
                <a:cs typeface="Arial"/>
                <a:sym typeface="Arial"/>
              </a:defRPr>
            </a:lvl1pPr>
            <a:lvl2pPr marL="1219170" marR="0" lvl="1" indent="-457189" algn="l" rtl="0" eaLnBrk="1" hangingPunct="1">
              <a:lnSpc>
                <a:spcPct val="100000"/>
              </a:lnSpc>
              <a:spcBef>
                <a:spcPts val="800"/>
              </a:spcBef>
              <a:spcAft>
                <a:spcPts val="0"/>
              </a:spcAft>
              <a:buClr>
                <a:srgbClr val="000000"/>
              </a:buClr>
              <a:buSzPts val="1800"/>
              <a:buFont typeface="Arial"/>
              <a:buChar char="▹"/>
              <a:defRPr sz="1800" b="0" i="0" u="none" strike="noStrike" cap="none">
                <a:solidFill>
                  <a:srgbClr val="000000"/>
                </a:solidFill>
                <a:latin typeface="Arial"/>
                <a:ea typeface="Arial"/>
                <a:cs typeface="Arial"/>
                <a:sym typeface="Arial"/>
              </a:defRPr>
            </a:lvl2pPr>
            <a:lvl3pPr marL="1828754" marR="0" lvl="2" indent="-457189" algn="l" rtl="0" eaLnBrk="1" hangingPunct="1">
              <a:lnSpc>
                <a:spcPct val="100000"/>
              </a:lnSpc>
              <a:spcBef>
                <a:spcPts val="800"/>
              </a:spcBef>
              <a:spcAft>
                <a:spcPts val="0"/>
              </a:spcAft>
              <a:buClr>
                <a:srgbClr val="000000"/>
              </a:buClr>
              <a:buSzPts val="1800"/>
              <a:buFont typeface="Arial"/>
              <a:buChar char="▹"/>
              <a:defRPr sz="1800" b="0" i="0" u="none" strike="noStrike" cap="none">
                <a:solidFill>
                  <a:srgbClr val="000000"/>
                </a:solidFill>
                <a:latin typeface="Arial"/>
                <a:ea typeface="Arial"/>
                <a:cs typeface="Arial"/>
                <a:sym typeface="Arial"/>
              </a:defRPr>
            </a:lvl3pPr>
            <a:lvl4pPr marL="2438339" marR="0" lvl="3" indent="-474121" algn="l" rtl="0" eaLnBrk="1" hangingPunct="1">
              <a:lnSpc>
                <a:spcPct val="100000"/>
              </a:lnSpc>
              <a:spcBef>
                <a:spcPts val="800"/>
              </a:spcBef>
              <a:spcAft>
                <a:spcPts val="0"/>
              </a:spcAft>
              <a:buClr>
                <a:srgbClr val="000000"/>
              </a:buClr>
              <a:buSzPts val="2000"/>
              <a:buFont typeface="Arial"/>
              <a:buChar char="▹"/>
              <a:defRPr sz="1800" b="0" i="0" u="none" strike="noStrike" cap="none">
                <a:solidFill>
                  <a:srgbClr val="000000"/>
                </a:solidFill>
                <a:latin typeface="Arial"/>
                <a:ea typeface="Arial"/>
                <a:cs typeface="Arial"/>
                <a:sym typeface="Arial"/>
              </a:defRPr>
            </a:lvl4pPr>
            <a:lvl5pPr marL="3047924" marR="0" lvl="4" indent="-474121" algn="l" rtl="0" eaLnBrk="1" hangingPunct="1">
              <a:lnSpc>
                <a:spcPct val="100000"/>
              </a:lnSpc>
              <a:spcBef>
                <a:spcPts val="800"/>
              </a:spcBef>
              <a:spcAft>
                <a:spcPts val="0"/>
              </a:spcAft>
              <a:buClr>
                <a:srgbClr val="000000"/>
              </a:buClr>
              <a:buSzPts val="2000"/>
              <a:buFont typeface="Arial"/>
              <a:buChar char="▹"/>
              <a:defRPr sz="1800" b="0" i="0" u="none" strike="noStrike" cap="none">
                <a:solidFill>
                  <a:srgbClr val="000000"/>
                </a:solidFill>
                <a:latin typeface="Arial"/>
                <a:ea typeface="Arial"/>
                <a:cs typeface="Arial"/>
                <a:sym typeface="Arial"/>
              </a:defRPr>
            </a:lvl5pPr>
            <a:lvl6pPr marL="3657509" marR="0" lvl="5"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6pPr>
            <a:lvl7pPr marL="4267093" marR="0" lvl="6"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7pPr>
            <a:lvl8pPr marL="4876678" marR="0" lvl="7"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8pPr>
            <a:lvl9pPr marL="5486263" marR="0" lvl="8"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9pPr>
          </a:lstStyle>
          <a:p>
            <a:pPr marL="609585" marR="0" lvl="0" indent="-457189" algn="l" defTabSz="914400" rtl="0" eaLnBrk="1" fontAlgn="auto" latinLnBrk="0" hangingPunct="1">
              <a:lnSpc>
                <a:spcPct val="100000"/>
              </a:lnSpc>
              <a:spcBef>
                <a:spcPts val="800"/>
              </a:spcBef>
              <a:spcAft>
                <a:spcPts val="0"/>
              </a:spcAft>
              <a:buClr>
                <a:srgbClr val="000000"/>
              </a:buClr>
              <a:buSzPts val="1800"/>
              <a:buFont typeface="Arial"/>
              <a:buChar char="▸"/>
              <a:tabLst/>
              <a:defRPr/>
            </a:pPr>
            <a:r>
              <a:rPr kumimoji="0" lang="en-GB" sz="1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This is essentially the same as the while loop but tests the condition at the end so ALWAYS executes the statements at least once</a:t>
            </a:r>
          </a:p>
          <a:p>
            <a:pPr marL="609585" marR="0" lvl="0" indent="-457189" algn="l" defTabSz="914400" rtl="0" eaLnBrk="1" fontAlgn="auto" latinLnBrk="0" hangingPunct="1">
              <a:lnSpc>
                <a:spcPct val="100000"/>
              </a:lnSpc>
              <a:spcBef>
                <a:spcPts val="800"/>
              </a:spcBef>
              <a:spcAft>
                <a:spcPts val="0"/>
              </a:spcAft>
              <a:buClr>
                <a:srgbClr val="000000"/>
              </a:buClr>
              <a:buSzPts val="1800"/>
              <a:buFont typeface="Arial"/>
              <a:buChar char="▸"/>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do { statements } while (expression is true)</a:t>
            </a:r>
          </a:p>
          <a:p>
            <a:pPr marL="609585" marR="0" lvl="0" indent="-457189" algn="l" defTabSz="914400" rtl="0" eaLnBrk="1" fontAlgn="auto" latinLnBrk="0" hangingPunct="1">
              <a:lnSpc>
                <a:spcPct val="100000"/>
              </a:lnSpc>
              <a:spcBef>
                <a:spcPts val="800"/>
              </a:spcBef>
              <a:spcAft>
                <a:spcPts val="0"/>
              </a:spcAft>
              <a:buClr>
                <a:srgbClr val="000000"/>
              </a:buClr>
              <a:buSzPts val="1800"/>
              <a:buFont typeface="Arial"/>
              <a:buChar char="▸"/>
              <a:tabLst/>
              <a:defRPr/>
            </a:pPr>
            <a:r>
              <a:rPr kumimoji="0" lang="en-GB" sz="1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So, execute the statements, test the loop-expression and if true, repeat; if false, exit the loop. Like the while loop, something in your code needs to make the loop-expression become false or it will never exit</a:t>
            </a:r>
          </a:p>
          <a:p>
            <a:pPr marL="152396" marR="0" lvl="0" indent="0" algn="l" defTabSz="914400" rtl="0" eaLnBrk="1" fontAlgn="auto" latinLnBrk="0" hangingPunct="1">
              <a:lnSpc>
                <a:spcPct val="100000"/>
              </a:lnSpc>
              <a:spcBef>
                <a:spcPts val="800"/>
              </a:spcBef>
              <a:spcAft>
                <a:spcPts val="0"/>
              </a:spcAft>
              <a:buClr>
                <a:srgbClr val="000000"/>
              </a:buClr>
              <a:buSzPts val="1800"/>
              <a:buFont typeface="Arial"/>
              <a:buNone/>
              <a:tabLst/>
              <a:defRPr/>
            </a:pPr>
            <a:endParaRPr kumimoji="0" lang="en-GB" sz="1800" b="0" i="0" u="none" strike="noStrike" kern="0" cap="none" spc="0" normalizeH="0" baseline="0" noProof="0" dirty="0">
              <a:ln>
                <a:noFill/>
              </a:ln>
              <a:solidFill>
                <a:srgbClr val="000000"/>
              </a:solidFill>
              <a:effectLst/>
              <a:uLnTx/>
              <a:uFillTx/>
              <a:latin typeface="Arial"/>
              <a:cs typeface="Arial"/>
              <a:sym typeface="Arial"/>
            </a:endParaRPr>
          </a:p>
        </p:txBody>
      </p:sp>
      <p:sp>
        <p:nvSpPr>
          <p:cNvPr id="34" name="Flowchart: Decision 33">
            <a:extLst>
              <a:ext uri="{FF2B5EF4-FFF2-40B4-BE49-F238E27FC236}">
                <a16:creationId xmlns:a16="http://schemas.microsoft.com/office/drawing/2014/main" id="{6A607893-38EA-B872-122D-C8B5CB194775}"/>
              </a:ext>
            </a:extLst>
          </p:cNvPr>
          <p:cNvSpPr/>
          <p:nvPr/>
        </p:nvSpPr>
        <p:spPr>
          <a:xfrm>
            <a:off x="7756904" y="4715258"/>
            <a:ext cx="1905000" cy="1356828"/>
          </a:xfrm>
          <a:prstGeom prst="flowChartDecisi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Condition true?</a:t>
            </a:r>
          </a:p>
        </p:txBody>
      </p:sp>
      <p:sp>
        <p:nvSpPr>
          <p:cNvPr id="35" name="Rectangle 34">
            <a:extLst>
              <a:ext uri="{FF2B5EF4-FFF2-40B4-BE49-F238E27FC236}">
                <a16:creationId xmlns:a16="http://schemas.microsoft.com/office/drawing/2014/main" id="{505DCD73-59FB-0CA6-BE41-DCF7D4052E66}"/>
              </a:ext>
            </a:extLst>
          </p:cNvPr>
          <p:cNvSpPr/>
          <p:nvPr/>
        </p:nvSpPr>
        <p:spPr>
          <a:xfrm>
            <a:off x="7756904" y="666044"/>
            <a:ext cx="1796141" cy="97605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A statement outside the loop will act as an initialiser</a:t>
            </a:r>
          </a:p>
        </p:txBody>
      </p:sp>
      <p:cxnSp>
        <p:nvCxnSpPr>
          <p:cNvPr id="36" name="Straight Arrow Connector 35">
            <a:extLst>
              <a:ext uri="{FF2B5EF4-FFF2-40B4-BE49-F238E27FC236}">
                <a16:creationId xmlns:a16="http://schemas.microsoft.com/office/drawing/2014/main" id="{E3DF837A-55DD-4069-BBD3-419186E7380B}"/>
              </a:ext>
            </a:extLst>
          </p:cNvPr>
          <p:cNvCxnSpPr>
            <a:cxnSpLocks/>
            <a:stCxn id="35" idx="2"/>
          </p:cNvCxnSpPr>
          <p:nvPr/>
        </p:nvCxnSpPr>
        <p:spPr>
          <a:xfrm>
            <a:off x="8654975" y="1642097"/>
            <a:ext cx="5443" cy="533232"/>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37" name="Rectangle 36">
            <a:extLst>
              <a:ext uri="{FF2B5EF4-FFF2-40B4-BE49-F238E27FC236}">
                <a16:creationId xmlns:a16="http://schemas.microsoft.com/office/drawing/2014/main" id="{674DBF54-0BFC-296C-8E71-380D8292858F}"/>
              </a:ext>
            </a:extLst>
          </p:cNvPr>
          <p:cNvSpPr/>
          <p:nvPr/>
        </p:nvSpPr>
        <p:spPr>
          <a:xfrm>
            <a:off x="7822217" y="2191862"/>
            <a:ext cx="1719943" cy="75627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Execute Statements</a:t>
            </a:r>
          </a:p>
        </p:txBody>
      </p:sp>
      <p:cxnSp>
        <p:nvCxnSpPr>
          <p:cNvPr id="38" name="Straight Arrow Connector 37">
            <a:extLst>
              <a:ext uri="{FF2B5EF4-FFF2-40B4-BE49-F238E27FC236}">
                <a16:creationId xmlns:a16="http://schemas.microsoft.com/office/drawing/2014/main" id="{0C0A7107-8F3D-1FB6-0D91-E145A7472BDF}"/>
              </a:ext>
            </a:extLst>
          </p:cNvPr>
          <p:cNvCxnSpPr>
            <a:cxnSpLocks/>
          </p:cNvCxnSpPr>
          <p:nvPr/>
        </p:nvCxnSpPr>
        <p:spPr>
          <a:xfrm>
            <a:off x="8693074" y="2948133"/>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sp>
        <p:nvSpPr>
          <p:cNvPr id="39" name="Rectangle 38">
            <a:extLst>
              <a:ext uri="{FF2B5EF4-FFF2-40B4-BE49-F238E27FC236}">
                <a16:creationId xmlns:a16="http://schemas.microsoft.com/office/drawing/2014/main" id="{48A6FF02-4740-2F44-198C-01955435E97F}"/>
              </a:ext>
            </a:extLst>
          </p:cNvPr>
          <p:cNvSpPr/>
          <p:nvPr/>
        </p:nvSpPr>
        <p:spPr>
          <a:xfrm>
            <a:off x="7833102" y="3469756"/>
            <a:ext cx="1719943" cy="75627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Your code needs to eventually make the condition false</a:t>
            </a:r>
          </a:p>
        </p:txBody>
      </p:sp>
      <p:cxnSp>
        <p:nvCxnSpPr>
          <p:cNvPr id="40" name="Straight Arrow Connector 39">
            <a:extLst>
              <a:ext uri="{FF2B5EF4-FFF2-40B4-BE49-F238E27FC236}">
                <a16:creationId xmlns:a16="http://schemas.microsoft.com/office/drawing/2014/main" id="{7E5C748D-7BE2-2A7D-CAC7-C31B821090CB}"/>
              </a:ext>
            </a:extLst>
          </p:cNvPr>
          <p:cNvCxnSpPr>
            <a:cxnSpLocks/>
          </p:cNvCxnSpPr>
          <p:nvPr/>
        </p:nvCxnSpPr>
        <p:spPr>
          <a:xfrm>
            <a:off x="8709404" y="4226027"/>
            <a:ext cx="0" cy="533233"/>
          </a:xfrm>
          <a:prstGeom prst="straightConnector1">
            <a:avLst/>
          </a:prstGeom>
          <a:ln>
            <a:tailEnd type="triangle"/>
          </a:ln>
        </p:spPr>
        <p:style>
          <a:lnRef idx="2">
            <a:schemeClr val="accent2">
              <a:shade val="50000"/>
            </a:schemeClr>
          </a:lnRef>
          <a:fillRef idx="1">
            <a:schemeClr val="accent2"/>
          </a:fillRef>
          <a:effectRef idx="0">
            <a:schemeClr val="accent2"/>
          </a:effectRef>
          <a:fontRef idx="minor">
            <a:schemeClr val="lt1"/>
          </a:fontRef>
        </p:style>
      </p:cxnSp>
      <p:cxnSp>
        <p:nvCxnSpPr>
          <p:cNvPr id="41" name="Connector: Elbow 40">
            <a:extLst>
              <a:ext uri="{FF2B5EF4-FFF2-40B4-BE49-F238E27FC236}">
                <a16:creationId xmlns:a16="http://schemas.microsoft.com/office/drawing/2014/main" id="{A40CD075-0188-C1FA-DE74-129EAD02150B}"/>
              </a:ext>
            </a:extLst>
          </p:cNvPr>
          <p:cNvCxnSpPr>
            <a:cxnSpLocks/>
            <a:stCxn id="37" idx="1"/>
            <a:endCxn id="34" idx="1"/>
          </p:cNvCxnSpPr>
          <p:nvPr/>
        </p:nvCxnSpPr>
        <p:spPr>
          <a:xfrm rot="10800000" flipV="1">
            <a:off x="7756905" y="2569998"/>
            <a:ext cx="65313" cy="2823674"/>
          </a:xfrm>
          <a:prstGeom prst="bentConnector3">
            <a:avLst>
              <a:gd name="adj1" fmla="val 766679"/>
            </a:avLst>
          </a:prstGeom>
          <a:ln>
            <a:headEnd type="triangle" w="med" len="med"/>
            <a:tailEnd type="none" w="med" len="med"/>
          </a:ln>
        </p:spPr>
        <p:style>
          <a:lnRef idx="2">
            <a:schemeClr val="accent2">
              <a:shade val="50000"/>
            </a:schemeClr>
          </a:lnRef>
          <a:fillRef idx="1">
            <a:schemeClr val="accent2"/>
          </a:fillRef>
          <a:effectRef idx="0">
            <a:schemeClr val="accent2"/>
          </a:effectRef>
          <a:fontRef idx="minor">
            <a:schemeClr val="lt1"/>
          </a:fontRef>
        </p:style>
      </p:cxnSp>
      <p:sp>
        <p:nvSpPr>
          <p:cNvPr id="42" name="Flowchart: Terminator 41">
            <a:extLst>
              <a:ext uri="{FF2B5EF4-FFF2-40B4-BE49-F238E27FC236}">
                <a16:creationId xmlns:a16="http://schemas.microsoft.com/office/drawing/2014/main" id="{A4BA725B-1F0A-CD02-9656-F6A603DA8924}"/>
              </a:ext>
            </a:extLst>
          </p:cNvPr>
          <p:cNvSpPr/>
          <p:nvPr/>
        </p:nvSpPr>
        <p:spPr>
          <a:xfrm>
            <a:off x="10178143" y="5211109"/>
            <a:ext cx="1404257" cy="365125"/>
          </a:xfrm>
          <a:prstGeom prst="flowChartTerminator">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Exit loop</a:t>
            </a:r>
          </a:p>
        </p:txBody>
      </p:sp>
      <p:sp>
        <p:nvSpPr>
          <p:cNvPr id="43" name="TextBox 42">
            <a:extLst>
              <a:ext uri="{FF2B5EF4-FFF2-40B4-BE49-F238E27FC236}">
                <a16:creationId xmlns:a16="http://schemas.microsoft.com/office/drawing/2014/main" id="{FE2FE4DC-9420-DA90-59F2-F7129384FFE1}"/>
              </a:ext>
            </a:extLst>
          </p:cNvPr>
          <p:cNvSpPr txBox="1"/>
          <p:nvPr/>
        </p:nvSpPr>
        <p:spPr>
          <a:xfrm>
            <a:off x="7341877" y="4969740"/>
            <a:ext cx="491225"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yes</a:t>
            </a:r>
          </a:p>
        </p:txBody>
      </p:sp>
      <p:sp>
        <p:nvSpPr>
          <p:cNvPr id="44" name="TextBox 43">
            <a:extLst>
              <a:ext uri="{FF2B5EF4-FFF2-40B4-BE49-F238E27FC236}">
                <a16:creationId xmlns:a16="http://schemas.microsoft.com/office/drawing/2014/main" id="{7F37842E-DE26-1D65-AA24-A751B6344220}"/>
              </a:ext>
            </a:extLst>
          </p:cNvPr>
          <p:cNvSpPr txBox="1"/>
          <p:nvPr/>
        </p:nvSpPr>
        <p:spPr>
          <a:xfrm>
            <a:off x="9618361" y="4964391"/>
            <a:ext cx="42832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no</a:t>
            </a:r>
          </a:p>
        </p:txBody>
      </p:sp>
      <p:cxnSp>
        <p:nvCxnSpPr>
          <p:cNvPr id="45" name="Straight Arrow Connector 44">
            <a:extLst>
              <a:ext uri="{FF2B5EF4-FFF2-40B4-BE49-F238E27FC236}">
                <a16:creationId xmlns:a16="http://schemas.microsoft.com/office/drawing/2014/main" id="{21294147-0538-DC4D-E538-C47DB324C126}"/>
              </a:ext>
            </a:extLst>
          </p:cNvPr>
          <p:cNvCxnSpPr>
            <a:cxnSpLocks/>
            <a:stCxn id="34" idx="3"/>
            <a:endCxn id="42" idx="1"/>
          </p:cNvCxnSpPr>
          <p:nvPr/>
        </p:nvCxnSpPr>
        <p:spPr>
          <a:xfrm>
            <a:off x="9661904" y="5393672"/>
            <a:ext cx="516239"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46" name="Picture 45">
            <a:extLst>
              <a:ext uri="{FF2B5EF4-FFF2-40B4-BE49-F238E27FC236}">
                <a16:creationId xmlns:a16="http://schemas.microsoft.com/office/drawing/2014/main" id="{C7C140DD-1558-CEAF-17F1-B0E3B5E1964D}"/>
              </a:ext>
            </a:extLst>
          </p:cNvPr>
          <p:cNvPicPr>
            <a:picLocks noChangeAspect="1"/>
          </p:cNvPicPr>
          <p:nvPr/>
        </p:nvPicPr>
        <p:blipFill>
          <a:blip r:embed="rId3"/>
          <a:stretch>
            <a:fillRect/>
          </a:stretch>
        </p:blipFill>
        <p:spPr>
          <a:xfrm>
            <a:off x="910403" y="3583540"/>
            <a:ext cx="5344271" cy="1810003"/>
          </a:xfrm>
          <a:prstGeom prst="rect">
            <a:avLst/>
          </a:prstGeom>
        </p:spPr>
      </p:pic>
      <p:sp>
        <p:nvSpPr>
          <p:cNvPr id="5" name="TextBox 4">
            <a:extLst>
              <a:ext uri="{FF2B5EF4-FFF2-40B4-BE49-F238E27FC236}">
                <a16:creationId xmlns:a16="http://schemas.microsoft.com/office/drawing/2014/main" id="{73970117-33F5-1F52-81C6-E7B469FBFC2B}"/>
              </a:ext>
            </a:extLst>
          </p:cNvPr>
          <p:cNvSpPr txBox="1"/>
          <p:nvPr/>
        </p:nvSpPr>
        <p:spPr>
          <a:xfrm>
            <a:off x="910403" y="6116434"/>
            <a:ext cx="3047448"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/demos/basics/do.js</a:t>
            </a:r>
          </a:p>
        </p:txBody>
      </p:sp>
    </p:spTree>
    <p:extLst>
      <p:ext uri="{BB962C8B-B14F-4D97-AF65-F5344CB8AC3E}">
        <p14:creationId xmlns:p14="http://schemas.microsoft.com/office/powerpoint/2010/main" val="103538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1E519-D1C9-D9AC-214C-49CF6E615389}"/>
              </a:ext>
            </a:extLst>
          </p:cNvPr>
          <p:cNvSpPr>
            <a:spLocks noGrp="1"/>
          </p:cNvSpPr>
          <p:nvPr>
            <p:ph type="title"/>
          </p:nvPr>
        </p:nvSpPr>
        <p:spPr/>
        <p:txBody>
          <a:bodyPr/>
          <a:lstStyle/>
          <a:p>
            <a:r>
              <a:rPr lang="en-GB" dirty="0"/>
              <a:t>Hands-0n exercises</a:t>
            </a:r>
          </a:p>
        </p:txBody>
      </p:sp>
      <p:sp>
        <p:nvSpPr>
          <p:cNvPr id="3" name="Text Placeholder 2">
            <a:extLst>
              <a:ext uri="{FF2B5EF4-FFF2-40B4-BE49-F238E27FC236}">
                <a16:creationId xmlns:a16="http://schemas.microsoft.com/office/drawing/2014/main" id="{08884F74-6AD9-109A-B21B-BC60A5927AE3}"/>
              </a:ext>
            </a:extLst>
          </p:cNvPr>
          <p:cNvSpPr>
            <a:spLocks noGrp="1"/>
          </p:cNvSpPr>
          <p:nvPr>
            <p:ph type="body" idx="1"/>
          </p:nvPr>
        </p:nvSpPr>
        <p:spPr>
          <a:xfrm>
            <a:off x="609600" y="1089368"/>
            <a:ext cx="11163300" cy="4988703"/>
          </a:xfrm>
        </p:spPr>
        <p:txBody>
          <a:bodyPr/>
          <a:lstStyle/>
          <a:p>
            <a:r>
              <a:rPr lang="en-GB" sz="1400" dirty="0"/>
              <a:t>1. Declare a person's first name, e.g. Jimmy. Generate a random number between 1 and 20 inclusive to act as a random age. </a:t>
            </a:r>
            <a:br>
              <a:rPr lang="en-GB" sz="1400" dirty="0"/>
            </a:br>
            <a:r>
              <a:rPr lang="en-GB" sz="1400" dirty="0"/>
              <a:t>Output: &lt;name&gt; is &lt;age&gt; years old.  e.g. Jimmy is 12 years old.</a:t>
            </a:r>
            <a:br>
              <a:rPr lang="en-GB" sz="1400" dirty="0"/>
            </a:br>
            <a:r>
              <a:rPr lang="en-GB" sz="1400" dirty="0"/>
              <a:t>Run the program several times to check the age changes.</a:t>
            </a:r>
          </a:p>
          <a:p>
            <a:r>
              <a:rPr lang="en-GB" sz="1400" dirty="0"/>
              <a:t>2. Copy your solution to 1 into a new file. Modify it such that your program outputs the person's random age ten times.</a:t>
            </a:r>
          </a:p>
          <a:p>
            <a:r>
              <a:rPr lang="en-GB" sz="1400" dirty="0"/>
              <a:t>3. Copy your solution to 2 into a new file and modify it such that:</a:t>
            </a:r>
            <a:br>
              <a:rPr lang="en-GB" sz="1400" dirty="0"/>
            </a:br>
            <a:r>
              <a:rPr lang="en-GB" sz="1400" dirty="0"/>
              <a:t>if the generated age is less than 11 then output &lt;name&gt; is &lt;age&gt; so attends infant school. </a:t>
            </a:r>
            <a:br>
              <a:rPr lang="en-GB" sz="1400" dirty="0"/>
            </a:br>
            <a:r>
              <a:rPr lang="en-GB" sz="1400" dirty="0"/>
              <a:t>If the age is between 11 and less than 16, output &lt;name&gt; is &lt;age&gt; so is at senior school. </a:t>
            </a:r>
            <a:br>
              <a:rPr lang="en-GB" sz="1400" dirty="0"/>
            </a:br>
            <a:r>
              <a:rPr lang="en-GB" sz="1400" dirty="0"/>
              <a:t>If the age is greater than 16 but no greater than 18, output &lt;name&gt; is &lt;age&gt; so at sixth form. </a:t>
            </a:r>
            <a:br>
              <a:rPr lang="en-GB" sz="1400" dirty="0"/>
            </a:br>
            <a:r>
              <a:rPr lang="en-GB" sz="1400" dirty="0"/>
              <a:t>If the age is 18 or more, output &lt;name&gt; is an adult</a:t>
            </a:r>
            <a:br>
              <a:rPr lang="en-GB" sz="1400" dirty="0"/>
            </a:br>
            <a:r>
              <a:rPr lang="en-GB" sz="1400" dirty="0"/>
              <a:t>Otherwise, output "I've no idea where &lt;name&gt; is now at the age of &lt;age&gt;"</a:t>
            </a:r>
            <a:br>
              <a:rPr lang="en-GB" sz="1400" dirty="0"/>
            </a:br>
            <a:r>
              <a:rPr lang="en-GB" sz="1400" dirty="0"/>
              <a:t>If &lt;age&gt; is an odd number output &lt;name&gt; really is at an odd age having reached &lt;age&gt;.</a:t>
            </a:r>
            <a:br>
              <a:rPr lang="en-GB" sz="1400" dirty="0"/>
            </a:br>
            <a:r>
              <a:rPr lang="en-GB" sz="1400" dirty="0"/>
              <a:t>Your program should run 20 times. </a:t>
            </a:r>
            <a:br>
              <a:rPr lang="en-GB" sz="1400" dirty="0"/>
            </a:br>
            <a:r>
              <a:rPr lang="en-GB" sz="1400" dirty="0"/>
              <a:t>Inspect the output to ensure each path has been visited</a:t>
            </a:r>
          </a:p>
          <a:p>
            <a:endParaRPr lang="en-GB" sz="1400" dirty="0"/>
          </a:p>
        </p:txBody>
      </p:sp>
      <p:sp>
        <p:nvSpPr>
          <p:cNvPr id="4" name="Slide Number Placeholder 3">
            <a:extLst>
              <a:ext uri="{FF2B5EF4-FFF2-40B4-BE49-F238E27FC236}">
                <a16:creationId xmlns:a16="http://schemas.microsoft.com/office/drawing/2014/main" id="{E84B67EA-E85F-5AE7-D4A9-5A43785B9894}"/>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C23527F1-5CE6-352D-DFC4-3652E6A1700F}"/>
              </a:ext>
            </a:extLst>
          </p:cNvPr>
          <p:cNvSpPr txBox="1"/>
          <p:nvPr/>
        </p:nvSpPr>
        <p:spPr>
          <a:xfrm>
            <a:off x="8272667" y="6263900"/>
            <a:ext cx="3047448"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/labs/1 sequence selection iteration.docx</a:t>
            </a:r>
          </a:p>
        </p:txBody>
      </p:sp>
    </p:spTree>
    <p:extLst>
      <p:ext uri="{BB962C8B-B14F-4D97-AF65-F5344CB8AC3E}">
        <p14:creationId xmlns:p14="http://schemas.microsoft.com/office/powerpoint/2010/main" val="2497359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0D1285F-3D44-8F4A-050A-794353017C3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8CA3C22-CCEA-D39E-B120-DC9E63D0D72A}"/>
              </a:ext>
            </a:extLst>
          </p:cNvPr>
          <p:cNvSpPr>
            <a:spLocks noGrp="1"/>
          </p:cNvSpPr>
          <p:nvPr>
            <p:ph type="title"/>
          </p:nvPr>
        </p:nvSpPr>
        <p:spPr/>
        <p:txBody>
          <a:bodyPr/>
          <a:lstStyle/>
          <a:p>
            <a:r>
              <a:rPr lang="en-GB"/>
              <a:t>Functions</a:t>
            </a:r>
          </a:p>
        </p:txBody>
      </p:sp>
      <p:sp>
        <p:nvSpPr>
          <p:cNvPr id="19" name="Text Placeholder 18">
            <a:extLst>
              <a:ext uri="{FF2B5EF4-FFF2-40B4-BE49-F238E27FC236}">
                <a16:creationId xmlns:a16="http://schemas.microsoft.com/office/drawing/2014/main" id="{A503D1AD-7FEA-60A6-8CB3-B1A8A7DC6DBB}"/>
              </a:ext>
            </a:extLst>
          </p:cNvPr>
          <p:cNvSpPr>
            <a:spLocks noGrp="1"/>
          </p:cNvSpPr>
          <p:nvPr>
            <p:ph type="body" idx="1"/>
          </p:nvPr>
        </p:nvSpPr>
        <p:spPr/>
        <p:txBody>
          <a:bodyPr/>
          <a:lstStyle/>
          <a:p>
            <a:r>
              <a:rPr lang="en-GB" sz="1600"/>
              <a:t>A function is an independent piece of code acting as a building block. Functions should be loosely coupled – i.e. it is asked to do one thing, it does it, and that’s it. For example, you may have a program that takes user input, calculates something then outputs the result in some formatted way. You could do this as a single program or as a simple program and 3 functions: </a:t>
            </a:r>
            <a:r>
              <a:rPr lang="en-GB" sz="1600" err="1"/>
              <a:t>getInput</a:t>
            </a:r>
            <a:r>
              <a:rPr lang="en-GB" sz="1600"/>
              <a:t>, </a:t>
            </a:r>
            <a:r>
              <a:rPr lang="en-GB" sz="1600" err="1"/>
              <a:t>doCalculation</a:t>
            </a:r>
            <a:r>
              <a:rPr lang="en-GB" sz="1600"/>
              <a:t> and </a:t>
            </a:r>
            <a:r>
              <a:rPr lang="en-GB" sz="1600" err="1"/>
              <a:t>outputResults</a:t>
            </a:r>
            <a:r>
              <a:rPr lang="en-GB" sz="1600"/>
              <a:t>. A main program would “call” the functions in order to get the job done. The benefit of using functions is that they can be developed and tested independently and concurrently by different team members and can be reused elsewhere. If you need to output results again in the program, you already have a function available so don’t need to develop another. If your function is useful, others may use it in their programs so it promotes reuse. Functions are fundamental to modular programming so you must become very familiar with them</a:t>
            </a:r>
          </a:p>
          <a:p>
            <a:r>
              <a:rPr lang="en-GB" sz="1600"/>
              <a:t>JavaScript functions can become quite complex but the basic use is the same as other languages</a:t>
            </a:r>
          </a:p>
          <a:p>
            <a:r>
              <a:rPr lang="en-GB" sz="1600"/>
              <a:t>A function is a block of code. It has a name. It can optionally have parameters to which arguments are passed. It can optionally evaluate to a result. They are very flexible so there are a number of permutations to consider. The options are:</a:t>
            </a:r>
          </a:p>
          <a:p>
            <a:r>
              <a:rPr lang="en-GB" sz="1600"/>
              <a:t>A function with no parameters and no return value</a:t>
            </a:r>
          </a:p>
          <a:p>
            <a:r>
              <a:rPr lang="en-GB" sz="1600"/>
              <a:t>A function with one or more parameters and no return value</a:t>
            </a:r>
          </a:p>
          <a:p>
            <a:r>
              <a:rPr lang="en-GB" sz="1600"/>
              <a:t>A function with no parameters but a return value </a:t>
            </a:r>
          </a:p>
          <a:p>
            <a:r>
              <a:rPr lang="en-GB" sz="1600"/>
              <a:t>A function with one or more parameters and a return value</a:t>
            </a:r>
          </a:p>
        </p:txBody>
      </p:sp>
      <p:sp>
        <p:nvSpPr>
          <p:cNvPr id="4" name="Slide Number Placeholder 3">
            <a:extLst>
              <a:ext uri="{FF2B5EF4-FFF2-40B4-BE49-F238E27FC236}">
                <a16:creationId xmlns:a16="http://schemas.microsoft.com/office/drawing/2014/main" id="{46876269-9A9E-204B-EA8F-21A99DB6632B}"/>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099260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F111E-5EA2-A9A7-9087-0564BC332213}"/>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B18FF3C5-6880-A648-53EE-8CBC64444D4E}"/>
              </a:ext>
            </a:extLst>
          </p:cNvPr>
          <p:cNvSpPr>
            <a:spLocks noGrp="1"/>
          </p:cNvSpPr>
          <p:nvPr>
            <p:ph type="body" idx="1"/>
          </p:nvPr>
        </p:nvSpPr>
        <p:spPr/>
        <p:txBody>
          <a:bodyPr/>
          <a:lstStyle/>
          <a:p>
            <a:r>
              <a:rPr lang="en-GB" sz="1800">
                <a:latin typeface="+mn-lt"/>
                <a:cs typeface="Courier New" panose="02070309020205020404" pitchFamily="49" charset="0"/>
              </a:rPr>
              <a:t>Function declaration (bold text are JavaScript reserved words):</a:t>
            </a:r>
          </a:p>
          <a:p>
            <a:pPr marL="631825" indent="0">
              <a:buNone/>
            </a:pPr>
            <a:br>
              <a:rPr lang="en-GB" sz="1800">
                <a:latin typeface="Courier New" panose="02070309020205020404" pitchFamily="49" charset="0"/>
                <a:cs typeface="Courier New" panose="02070309020205020404" pitchFamily="49" charset="0"/>
              </a:rPr>
            </a:br>
            <a:r>
              <a:rPr lang="en-GB" sz="1800">
                <a:latin typeface="Courier New" panose="02070309020205020404" pitchFamily="49" charset="0"/>
                <a:cs typeface="Courier New" panose="02070309020205020404" pitchFamily="49" charset="0"/>
              </a:rPr>
              <a:t>function </a:t>
            </a:r>
            <a:r>
              <a:rPr lang="en-GB" sz="1800" err="1">
                <a:latin typeface="Courier New" panose="02070309020205020404" pitchFamily="49" charset="0"/>
                <a:cs typeface="Courier New" panose="02070309020205020404" pitchFamily="49" charset="0"/>
              </a:rPr>
              <a:t>functionName</a:t>
            </a:r>
            <a:r>
              <a:rPr lang="en-GB" sz="1800">
                <a:latin typeface="Courier New" panose="02070309020205020404" pitchFamily="49" charset="0"/>
                <a:cs typeface="Courier New" panose="02070309020205020404" pitchFamily="49" charset="0"/>
              </a:rPr>
              <a:t>(optionalParam1, </a:t>
            </a:r>
            <a:r>
              <a:rPr lang="en-GB" sz="1800" err="1">
                <a:latin typeface="Courier New" panose="02070309020205020404" pitchFamily="49" charset="0"/>
                <a:cs typeface="Courier New" panose="02070309020205020404" pitchFamily="49" charset="0"/>
              </a:rPr>
              <a:t>optionalParamN</a:t>
            </a:r>
            <a:r>
              <a:rPr lang="en-GB" sz="1800">
                <a:latin typeface="Courier New" panose="02070309020205020404" pitchFamily="49" charset="0"/>
                <a:cs typeface="Courier New" panose="02070309020205020404" pitchFamily="49" charset="0"/>
              </a:rPr>
              <a:t>) {</a:t>
            </a:r>
            <a:br>
              <a:rPr lang="en-GB" sz="1800">
                <a:latin typeface="Courier New" panose="02070309020205020404" pitchFamily="49" charset="0"/>
                <a:cs typeface="Courier New" panose="02070309020205020404" pitchFamily="49" charset="0"/>
              </a:rPr>
            </a:br>
            <a:r>
              <a:rPr lang="en-GB" sz="1800">
                <a:latin typeface="Courier New" panose="02070309020205020404" pitchFamily="49" charset="0"/>
                <a:cs typeface="Courier New" panose="02070309020205020404" pitchFamily="49" charset="0"/>
              </a:rPr>
              <a:t>  statements to be executed</a:t>
            </a:r>
            <a:br>
              <a:rPr lang="en-GB" sz="1800">
                <a:latin typeface="Courier New" panose="02070309020205020404" pitchFamily="49" charset="0"/>
                <a:cs typeface="Courier New" panose="02070309020205020404" pitchFamily="49" charset="0"/>
              </a:rPr>
            </a:br>
            <a:r>
              <a:rPr lang="en-GB" sz="1800">
                <a:latin typeface="Courier New" panose="02070309020205020404" pitchFamily="49" charset="0"/>
                <a:cs typeface="Courier New" panose="02070309020205020404" pitchFamily="49" charset="0"/>
              </a:rPr>
              <a:t>  return optional result</a:t>
            </a:r>
            <a:br>
              <a:rPr lang="en-GB" sz="1800">
                <a:latin typeface="Courier New" panose="02070309020205020404" pitchFamily="49" charset="0"/>
                <a:cs typeface="Courier New" panose="02070309020205020404" pitchFamily="49" charset="0"/>
              </a:rPr>
            </a:br>
            <a:r>
              <a:rPr lang="en-GB" sz="1800">
                <a:latin typeface="Courier New" panose="02070309020205020404" pitchFamily="49" charset="0"/>
                <a:cs typeface="Courier New" panose="02070309020205020404" pitchFamily="49" charset="0"/>
              </a:rPr>
              <a:t>}</a:t>
            </a:r>
            <a:br>
              <a:rPr lang="en-GB" sz="1800">
                <a:latin typeface="Courier New" panose="02070309020205020404" pitchFamily="49" charset="0"/>
                <a:cs typeface="Courier New" panose="02070309020205020404" pitchFamily="49" charset="0"/>
              </a:rPr>
            </a:br>
            <a:br>
              <a:rPr lang="en-GB" sz="1800">
                <a:latin typeface="Courier New" panose="02070309020205020404" pitchFamily="49" charset="0"/>
                <a:cs typeface="Courier New" panose="02070309020205020404" pitchFamily="49" charset="0"/>
              </a:rPr>
            </a:br>
            <a:r>
              <a:rPr lang="en-GB" sz="1800">
                <a:latin typeface="+mn-lt"/>
                <a:cs typeface="Courier New" panose="02070309020205020404" pitchFamily="49" charset="0"/>
              </a:rPr>
              <a:t>There are several other function constructs but these in the demo will do for now</a:t>
            </a:r>
          </a:p>
        </p:txBody>
      </p:sp>
      <p:sp>
        <p:nvSpPr>
          <p:cNvPr id="4" name="Slide Number Placeholder 3">
            <a:extLst>
              <a:ext uri="{FF2B5EF4-FFF2-40B4-BE49-F238E27FC236}">
                <a16:creationId xmlns:a16="http://schemas.microsoft.com/office/drawing/2014/main" id="{E9A25036-3ED2-F333-8EAE-EF9950C53A93}"/>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5839170A-E190-A088-FFAB-9A1726B4AB5E}"/>
              </a:ext>
            </a:extLst>
          </p:cNvPr>
          <p:cNvSpPr txBox="1"/>
          <p:nvPr/>
        </p:nvSpPr>
        <p:spPr>
          <a:xfrm>
            <a:off x="9392653" y="6116434"/>
            <a:ext cx="196114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/demos/functions/all</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/labs/2 </a:t>
            </a:r>
            <a:r>
              <a:rPr kumimoji="0" lang="en-GB" sz="1200" b="0" i="0" u="none" strike="noStrike" kern="1200" cap="none" spc="0" normalizeH="0" baseline="0" noProof="0" dirty="0" err="1">
                <a:ln>
                  <a:noFill/>
                </a:ln>
                <a:solidFill>
                  <a:srgbClr val="FF0000"/>
                </a:solidFill>
                <a:effectLst/>
                <a:uLnTx/>
                <a:uFillTx/>
                <a:latin typeface="Arial"/>
                <a:ea typeface="+mn-ea"/>
                <a:cs typeface="+mn-cs"/>
              </a:rPr>
              <a:t>basic_functions</a:t>
            </a:r>
            <a:endParaRPr kumimoji="0" lang="en-GB" sz="1200" b="0"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3612466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BBB3BFF-149B-DFC2-EB6B-F0267F77F51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F77A8A-B932-4413-5981-06B065E4530F}"/>
              </a:ext>
            </a:extLst>
          </p:cNvPr>
          <p:cNvSpPr>
            <a:spLocks noGrp="1"/>
          </p:cNvSpPr>
          <p:nvPr>
            <p:ph type="title"/>
          </p:nvPr>
        </p:nvSpPr>
        <p:spPr/>
        <p:txBody>
          <a:bodyPr/>
          <a:lstStyle/>
          <a:p>
            <a:r>
              <a:rPr lang="en-GB" noProof="0" dirty="0"/>
              <a:t>Hoisting and scope</a:t>
            </a:r>
          </a:p>
        </p:txBody>
      </p:sp>
      <p:sp>
        <p:nvSpPr>
          <p:cNvPr id="3" name="Text Placeholder 2">
            <a:extLst>
              <a:ext uri="{FF2B5EF4-FFF2-40B4-BE49-F238E27FC236}">
                <a16:creationId xmlns:a16="http://schemas.microsoft.com/office/drawing/2014/main" id="{959A5736-B242-6065-922B-85B282FCE8A0}"/>
              </a:ext>
            </a:extLst>
          </p:cNvPr>
          <p:cNvSpPr>
            <a:spLocks noGrp="1"/>
          </p:cNvSpPr>
          <p:nvPr>
            <p:ph type="body" idx="1"/>
          </p:nvPr>
        </p:nvSpPr>
        <p:spPr/>
        <p:txBody>
          <a:bodyPr/>
          <a:lstStyle/>
          <a:p>
            <a:r>
              <a:rPr lang="en-GB" sz="1600" noProof="0" dirty="0"/>
              <a:t>A variable declaration consists of a unique name and memory is allocated for it. </a:t>
            </a:r>
            <a:br>
              <a:rPr lang="en-GB" sz="1600" noProof="0" dirty="0"/>
            </a:br>
            <a:r>
              <a:rPr lang="en-GB" sz="1600" noProof="0" dirty="0"/>
              <a:t>You can use var, let or const. e.g. var x, </a:t>
            </a:r>
            <a:r>
              <a:rPr lang="en-GB" sz="1600" noProof="0" dirty="0" err="1"/>
              <a:t>const</a:t>
            </a:r>
            <a:r>
              <a:rPr lang="en-GB" sz="1600" noProof="0" dirty="0"/>
              <a:t> y, let z</a:t>
            </a:r>
          </a:p>
          <a:p>
            <a:r>
              <a:rPr lang="en-GB" sz="1600" noProof="0" dirty="0"/>
              <a:t>All function and var declarations are hoisted to the top of the file so you can declare them after they have been used. Not good practice but it will work</a:t>
            </a:r>
          </a:p>
          <a:p>
            <a:r>
              <a:rPr lang="en-GB" sz="1600" noProof="0" dirty="0"/>
              <a:t>Variable can be initialised during declaration. e.g. var x=3, </a:t>
            </a:r>
            <a:r>
              <a:rPr lang="en-GB" sz="1600" noProof="0" dirty="0" err="1"/>
              <a:t>const</a:t>
            </a:r>
            <a:r>
              <a:rPr lang="en-GB" sz="1600" noProof="0" dirty="0"/>
              <a:t> y='Tuesday', let z=23.878</a:t>
            </a:r>
          </a:p>
          <a:p>
            <a:r>
              <a:rPr lang="en-GB" sz="1600" noProof="0" dirty="0"/>
              <a:t>Scope means "where is the variable accessible from". Undeclared variables, e.g., x=5 are not hoisted so only exist once the assignment is made and they are automatically given global scope – i.e. no matter where they are declared, they have global scope - i.e. accessible from anywhere in the file. DON'T do this unless there is a justifiable reason to do so. var, let and </a:t>
            </a:r>
            <a:r>
              <a:rPr lang="en-GB" sz="1600" noProof="0" dirty="0" err="1"/>
              <a:t>const</a:t>
            </a:r>
            <a:r>
              <a:rPr lang="en-GB" sz="1600" noProof="0" dirty="0"/>
              <a:t> have function scope (discussed later). </a:t>
            </a:r>
            <a:r>
              <a:rPr lang="en-GB" sz="1600" noProof="0" dirty="0" err="1"/>
              <a:t>const</a:t>
            </a:r>
            <a:r>
              <a:rPr lang="en-GB" sz="1600" noProof="0" dirty="0"/>
              <a:t> and let also have block scope, var doesn't. i.e. variables declared with let or </a:t>
            </a:r>
            <a:r>
              <a:rPr lang="en-GB" sz="1600" noProof="0" dirty="0" err="1"/>
              <a:t>const</a:t>
            </a:r>
            <a:r>
              <a:rPr lang="en-GB" sz="1600" noProof="0" dirty="0"/>
              <a:t> are only available from within the block in which they are declared. This is far safer as they can't inadvertently be modified from code in a different block. e.g. { let x=20 } will be visible to code only within the block {}</a:t>
            </a:r>
          </a:p>
          <a:p>
            <a:r>
              <a:rPr lang="en-GB" sz="1600" noProof="0" dirty="0"/>
              <a:t>let is used for variables you want to allow to be changed whereas </a:t>
            </a:r>
            <a:r>
              <a:rPr lang="en-GB" sz="1600" noProof="0" dirty="0" err="1"/>
              <a:t>const</a:t>
            </a:r>
            <a:r>
              <a:rPr lang="en-GB" sz="1600" noProof="0" dirty="0"/>
              <a:t> is for variables protected from change</a:t>
            </a:r>
          </a:p>
          <a:p>
            <a:r>
              <a:rPr lang="en-GB" sz="1600" noProof="0" dirty="0"/>
              <a:t>I won't dwell on the detail but discuss it when writing code, just use let and const. Don't use var or undeclared variables</a:t>
            </a:r>
          </a:p>
        </p:txBody>
      </p:sp>
      <p:sp>
        <p:nvSpPr>
          <p:cNvPr id="4" name="Slide Number Placeholder 3">
            <a:extLst>
              <a:ext uri="{FF2B5EF4-FFF2-40B4-BE49-F238E27FC236}">
                <a16:creationId xmlns:a16="http://schemas.microsoft.com/office/drawing/2014/main" id="{957FBB77-0756-87EA-B115-96218AB2C4D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241405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F857296-F8D1-7958-C7D7-2E08C7470B3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EE2FA03-DE7D-263A-2CA2-555F4AB80543}"/>
              </a:ext>
            </a:extLst>
          </p:cNvPr>
          <p:cNvSpPr>
            <a:spLocks noGrp="1"/>
          </p:cNvSpPr>
          <p:nvPr>
            <p:ph type="title"/>
          </p:nvPr>
        </p:nvSpPr>
        <p:spPr/>
        <p:txBody>
          <a:bodyPr/>
          <a:lstStyle/>
          <a:p>
            <a:r>
              <a:rPr lang="en-GB" noProof="0" dirty="0"/>
              <a:t>Array</a:t>
            </a:r>
          </a:p>
        </p:txBody>
      </p:sp>
      <p:sp>
        <p:nvSpPr>
          <p:cNvPr id="3" name="Text Placeholder 2">
            <a:extLst>
              <a:ext uri="{FF2B5EF4-FFF2-40B4-BE49-F238E27FC236}">
                <a16:creationId xmlns:a16="http://schemas.microsoft.com/office/drawing/2014/main" id="{9570E202-78E6-6464-72E7-54FB3A460145}"/>
              </a:ext>
            </a:extLst>
          </p:cNvPr>
          <p:cNvSpPr>
            <a:spLocks noGrp="1"/>
          </p:cNvSpPr>
          <p:nvPr>
            <p:ph type="body" idx="1"/>
          </p:nvPr>
        </p:nvSpPr>
        <p:spPr/>
        <p:txBody>
          <a:bodyPr/>
          <a:lstStyle/>
          <a:p>
            <a:pPr lvl="0"/>
            <a:r>
              <a:rPr lang="en-GB" noProof="0" dirty="0"/>
              <a:t>An array is a collection of values indexed by position</a:t>
            </a:r>
            <a:br>
              <a:rPr lang="en-GB" noProof="0" dirty="0"/>
            </a:br>
            <a:br>
              <a:rPr lang="en-GB" noProof="0" dirty="0"/>
            </a:br>
            <a:r>
              <a:rPr lang="en-GB" noProof="0" dirty="0">
                <a:latin typeface="Courier New" panose="02070309020205020404" pitchFamily="49" charset="0"/>
                <a:cs typeface="Courier New" panose="02070309020205020404" pitchFamily="49" charset="0"/>
              </a:rPr>
              <a:t>let names=['</a:t>
            </a:r>
            <a:r>
              <a:rPr lang="en-GB" noProof="0" dirty="0" err="1">
                <a:latin typeface="Courier New" panose="02070309020205020404" pitchFamily="49" charset="0"/>
                <a:cs typeface="Courier New" panose="02070309020205020404" pitchFamily="49" charset="0"/>
              </a:rPr>
              <a:t>Linda','Ryan','Tim','Warren','Martin</a:t>
            </a:r>
            <a:r>
              <a:rPr lang="en-GB" dirty="0">
                <a:latin typeface="Courier New" panose="02070309020205020404" pitchFamily="49" charset="0"/>
                <a:cs typeface="Courier New" panose="02070309020205020404" pitchFamily="49" charset="0"/>
              </a:rPr>
              <a:t>'</a:t>
            </a:r>
            <a:r>
              <a:rPr lang="en-GB" noProof="0" dirty="0">
                <a:latin typeface="Courier New" panose="02070309020205020404" pitchFamily="49" charset="0"/>
                <a:cs typeface="Courier New" panose="02070309020205020404" pitchFamily="49" charset="0"/>
              </a:rPr>
              <a:t>]</a:t>
            </a:r>
            <a:br>
              <a:rPr lang="en-GB" noProof="0" dirty="0"/>
            </a:br>
            <a:br>
              <a:rPr lang="en-GB" noProof="0" dirty="0"/>
            </a:br>
            <a:r>
              <a:rPr lang="en-GB" noProof="0" dirty="0"/>
              <a:t>Linda is a string at position 0 and Martin is a string at position 4</a:t>
            </a:r>
            <a:br>
              <a:rPr lang="en-GB" noProof="0" dirty="0"/>
            </a:br>
            <a:br>
              <a:rPr lang="en-GB" noProof="0" dirty="0"/>
            </a:br>
            <a:r>
              <a:rPr lang="en-GB" noProof="0" dirty="0"/>
              <a:t>To access these use: names[0] and names[4]</a:t>
            </a:r>
          </a:p>
          <a:p>
            <a:pPr lvl="0"/>
            <a:endParaRPr lang="en-GB" noProof="0" dirty="0"/>
          </a:p>
          <a:p>
            <a:pPr lvl="0"/>
            <a:r>
              <a:rPr lang="en-GB" noProof="0" dirty="0"/>
              <a:t>Unlike strictly typed languages such as C and C++, JavaScript array elements do not need to be the same type:</a:t>
            </a:r>
            <a:br>
              <a:rPr lang="en-GB" noProof="0" dirty="0"/>
            </a:br>
            <a:br>
              <a:rPr lang="en-GB" noProof="0" dirty="0"/>
            </a:br>
            <a:r>
              <a:rPr lang="en-GB" noProof="0" dirty="0">
                <a:latin typeface="Courier New" panose="02070309020205020404" pitchFamily="49" charset="0"/>
                <a:cs typeface="Courier New" panose="02070309020205020404" pitchFamily="49" charset="0"/>
              </a:rPr>
              <a:t>let </a:t>
            </a:r>
            <a:r>
              <a:rPr lang="en-GB" noProof="0" dirty="0" err="1">
                <a:latin typeface="Courier New" panose="02070309020205020404" pitchFamily="49" charset="0"/>
                <a:cs typeface="Courier New" panose="02070309020205020404" pitchFamily="49" charset="0"/>
              </a:rPr>
              <a:t>vals</a:t>
            </a:r>
            <a:r>
              <a:rPr lang="en-GB" noProof="0" dirty="0">
                <a:latin typeface="Courier New" panose="02070309020205020404" pitchFamily="49" charset="0"/>
                <a:cs typeface="Courier New" panose="02070309020205020404" pitchFamily="49" charset="0"/>
              </a:rPr>
              <a:t>=['Linda', 25, true, 7/3, 'Ryan']</a:t>
            </a:r>
          </a:p>
          <a:p>
            <a:endParaRPr lang="en-GB" noProof="0" dirty="0"/>
          </a:p>
        </p:txBody>
      </p:sp>
      <p:sp>
        <p:nvSpPr>
          <p:cNvPr id="4" name="Slide Number Placeholder 3">
            <a:extLst>
              <a:ext uri="{FF2B5EF4-FFF2-40B4-BE49-F238E27FC236}">
                <a16:creationId xmlns:a16="http://schemas.microsoft.com/office/drawing/2014/main" id="{A01A1271-6DCE-8409-8AFF-2FA163F361F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49EF071F-2DB5-1D78-C290-471F6FC76E32}"/>
              </a:ext>
            </a:extLst>
          </p:cNvPr>
          <p:cNvSpPr txBox="1"/>
          <p:nvPr/>
        </p:nvSpPr>
        <p:spPr>
          <a:xfrm>
            <a:off x="9164473" y="6116434"/>
            <a:ext cx="2189328"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t>
            </a:r>
            <a:r>
              <a:rPr kumimoji="0" lang="en-GB" sz="1200" b="0" i="0" u="none" strike="noStrike" kern="1200" cap="none" spc="0" normalizeH="0" baseline="0" noProof="0" dirty="0" err="1">
                <a:ln>
                  <a:noFill/>
                </a:ln>
                <a:solidFill>
                  <a:srgbClr val="FF0000"/>
                </a:solidFill>
                <a:effectLst/>
                <a:uLnTx/>
                <a:uFillTx/>
                <a:latin typeface="Arial"/>
                <a:ea typeface="+mn-ea"/>
                <a:cs typeface="+mn-cs"/>
              </a:rPr>
              <a:t>array_objects</a:t>
            </a:r>
            <a:r>
              <a:rPr kumimoji="0" lang="en-GB" sz="1200" b="0" i="0" u="none" strike="noStrike" kern="1200" cap="none" spc="0" normalizeH="0" baseline="0" noProof="0" dirty="0">
                <a:ln>
                  <a:noFill/>
                </a:ln>
                <a:solidFill>
                  <a:srgbClr val="FF0000"/>
                </a:solidFill>
                <a:effectLst/>
                <a:uLnTx/>
                <a:uFillTx/>
                <a:latin typeface="Arial"/>
                <a:ea typeface="+mn-ea"/>
                <a:cs typeface="+mn-cs"/>
              </a:rPr>
              <a:t>/array.js</a:t>
            </a:r>
          </a:p>
        </p:txBody>
      </p:sp>
    </p:spTree>
    <p:extLst>
      <p:ext uri="{BB962C8B-B14F-4D97-AF65-F5344CB8AC3E}">
        <p14:creationId xmlns:p14="http://schemas.microsoft.com/office/powerpoint/2010/main" val="1464004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5E510471-208E-F2D1-A80E-F87D0060549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F63D5CF-E918-A55E-DF55-5F0712124AF5}"/>
              </a:ext>
            </a:extLst>
          </p:cNvPr>
          <p:cNvSpPr>
            <a:spLocks noGrp="1"/>
          </p:cNvSpPr>
          <p:nvPr>
            <p:ph type="title"/>
          </p:nvPr>
        </p:nvSpPr>
        <p:spPr/>
        <p:txBody>
          <a:bodyPr/>
          <a:lstStyle/>
          <a:p>
            <a:r>
              <a:rPr lang="en-GB" noProof="0" dirty="0"/>
              <a:t>Objects</a:t>
            </a:r>
          </a:p>
        </p:txBody>
      </p:sp>
      <p:sp>
        <p:nvSpPr>
          <p:cNvPr id="3" name="Text Placeholder 2">
            <a:extLst>
              <a:ext uri="{FF2B5EF4-FFF2-40B4-BE49-F238E27FC236}">
                <a16:creationId xmlns:a16="http://schemas.microsoft.com/office/drawing/2014/main" id="{7C7558FB-57D3-C602-CA65-A5158AB7C783}"/>
              </a:ext>
            </a:extLst>
          </p:cNvPr>
          <p:cNvSpPr>
            <a:spLocks noGrp="1"/>
          </p:cNvSpPr>
          <p:nvPr>
            <p:ph type="body" idx="1"/>
          </p:nvPr>
        </p:nvSpPr>
        <p:spPr/>
        <p:txBody>
          <a:bodyPr/>
          <a:lstStyle/>
          <a:p>
            <a:pPr lvl="0"/>
            <a:r>
              <a:rPr lang="en-GB" noProof="0" dirty="0"/>
              <a:t>An object is a variable but is more complex because it too can contain variables and functions. It’s a collection of values like an array but not indexed by position but indexed by name. </a:t>
            </a:r>
          </a:p>
          <a:p>
            <a:pPr lvl="0"/>
            <a:r>
              <a:rPr lang="en-GB" noProof="0" dirty="0"/>
              <a:t>Objects tend to represent things – nouns as opposed to functions which represent verbs</a:t>
            </a:r>
          </a:p>
          <a:p>
            <a:pPr lvl="0"/>
            <a:r>
              <a:rPr lang="en-GB" noProof="0" dirty="0"/>
              <a:t>Let’s define a person. They are a thing so can be an object with properties such as name, age, eye colour etc. These could all be separate variables but an object allows us to group them as a set of attributes and give the group a name and access them by name</a:t>
            </a:r>
          </a:p>
          <a:p>
            <a:pPr lvl="0"/>
            <a:r>
              <a:rPr lang="en-GB" noProof="0" dirty="0"/>
              <a:t>For example, to change the </a:t>
            </a:r>
            <a:r>
              <a:rPr lang="en-GB" noProof="0" dirty="0" err="1"/>
              <a:t>cpu</a:t>
            </a:r>
            <a:r>
              <a:rPr lang="en-GB" noProof="0" dirty="0"/>
              <a:t> cores of the following object, write </a:t>
            </a:r>
            <a:r>
              <a:rPr lang="en-GB" noProof="0" dirty="0" err="1"/>
              <a:t>laptop.cores</a:t>
            </a:r>
            <a:r>
              <a:rPr lang="en-GB" noProof="0" dirty="0"/>
              <a:t>=8;</a:t>
            </a:r>
          </a:p>
          <a:p>
            <a:endParaRPr lang="en-GB" noProof="0" dirty="0"/>
          </a:p>
        </p:txBody>
      </p:sp>
      <p:sp>
        <p:nvSpPr>
          <p:cNvPr id="4" name="Slide Number Placeholder 3">
            <a:extLst>
              <a:ext uri="{FF2B5EF4-FFF2-40B4-BE49-F238E27FC236}">
                <a16:creationId xmlns:a16="http://schemas.microsoft.com/office/drawing/2014/main" id="{41B32C2C-DB2B-EFDE-059A-4169A2D9794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3AA74EFC-7F98-B336-A0E5-A420A5F73E40}"/>
              </a:ext>
            </a:extLst>
          </p:cNvPr>
          <p:cNvPicPr>
            <a:picLocks noChangeAspect="1"/>
          </p:cNvPicPr>
          <p:nvPr/>
        </p:nvPicPr>
        <p:blipFill>
          <a:blip r:embed="rId3"/>
          <a:stretch>
            <a:fillRect/>
          </a:stretch>
        </p:blipFill>
        <p:spPr>
          <a:xfrm>
            <a:off x="4705673" y="4067488"/>
            <a:ext cx="2210108" cy="2114845"/>
          </a:xfrm>
          <a:prstGeom prst="rect">
            <a:avLst/>
          </a:prstGeom>
        </p:spPr>
      </p:pic>
      <p:sp>
        <p:nvSpPr>
          <p:cNvPr id="7" name="TextBox 6">
            <a:extLst>
              <a:ext uri="{FF2B5EF4-FFF2-40B4-BE49-F238E27FC236}">
                <a16:creationId xmlns:a16="http://schemas.microsoft.com/office/drawing/2014/main" id="{0E0232AB-E705-B099-7B83-8601B145DC38}"/>
              </a:ext>
            </a:extLst>
          </p:cNvPr>
          <p:cNvSpPr txBox="1"/>
          <p:nvPr/>
        </p:nvSpPr>
        <p:spPr>
          <a:xfrm>
            <a:off x="8947355" y="6254933"/>
            <a:ext cx="239747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t>
            </a:r>
            <a:r>
              <a:rPr kumimoji="0" lang="en-GB" sz="1200" b="0" i="0" u="none" strike="noStrike" kern="1200" cap="none" spc="0" normalizeH="0" baseline="0" noProof="0" dirty="0" err="1">
                <a:ln>
                  <a:noFill/>
                </a:ln>
                <a:solidFill>
                  <a:srgbClr val="FF0000"/>
                </a:solidFill>
                <a:effectLst/>
                <a:uLnTx/>
                <a:uFillTx/>
                <a:latin typeface="Arial"/>
                <a:ea typeface="+mn-ea"/>
                <a:cs typeface="+mn-cs"/>
              </a:rPr>
              <a:t>array_objects</a:t>
            </a:r>
            <a:r>
              <a:rPr kumimoji="0" lang="en-GB" sz="1200" b="0" i="0" u="none" strike="noStrike" kern="1200" cap="none" spc="0" normalizeH="0" baseline="0" noProof="0" dirty="0">
                <a:ln>
                  <a:noFill/>
                </a:ln>
                <a:solidFill>
                  <a:srgbClr val="FF0000"/>
                </a:solidFill>
                <a:effectLst/>
                <a:uLnTx/>
                <a:uFillTx/>
                <a:latin typeface="Arial"/>
                <a:ea typeface="+mn-ea"/>
                <a:cs typeface="+mn-cs"/>
              </a:rPr>
              <a:t>/objects.js</a:t>
            </a:r>
          </a:p>
        </p:txBody>
      </p:sp>
    </p:spTree>
    <p:extLst>
      <p:ext uri="{BB962C8B-B14F-4D97-AF65-F5344CB8AC3E}">
        <p14:creationId xmlns:p14="http://schemas.microsoft.com/office/powerpoint/2010/main" val="2855098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38E577B6-7FA6-BDAC-2D59-5653CA5358C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E87566-9A01-8FBD-F22A-0CFF329E89FD}"/>
              </a:ext>
            </a:extLst>
          </p:cNvPr>
          <p:cNvSpPr>
            <a:spLocks noGrp="1"/>
          </p:cNvSpPr>
          <p:nvPr>
            <p:ph type="title"/>
          </p:nvPr>
        </p:nvSpPr>
        <p:spPr/>
        <p:txBody>
          <a:bodyPr/>
          <a:lstStyle/>
          <a:p>
            <a:r>
              <a:rPr lang="en-GB" noProof="0" dirty="0"/>
              <a:t>Objects with functions</a:t>
            </a:r>
          </a:p>
        </p:txBody>
      </p:sp>
      <p:sp>
        <p:nvSpPr>
          <p:cNvPr id="3" name="Text Placeholder 2">
            <a:extLst>
              <a:ext uri="{FF2B5EF4-FFF2-40B4-BE49-F238E27FC236}">
                <a16:creationId xmlns:a16="http://schemas.microsoft.com/office/drawing/2014/main" id="{545A2AF3-08D6-64C7-3BBC-6E6C48149734}"/>
              </a:ext>
            </a:extLst>
          </p:cNvPr>
          <p:cNvSpPr>
            <a:spLocks noGrp="1"/>
          </p:cNvSpPr>
          <p:nvPr>
            <p:ph type="body" idx="1"/>
          </p:nvPr>
        </p:nvSpPr>
        <p:spPr>
          <a:xfrm>
            <a:off x="609600" y="1089368"/>
            <a:ext cx="10922433" cy="5387632"/>
          </a:xfrm>
        </p:spPr>
        <p:txBody>
          <a:bodyPr/>
          <a:lstStyle/>
          <a:p>
            <a:pPr lvl="0"/>
            <a:r>
              <a:rPr lang="en-GB" sz="1600" noProof="0" dirty="0"/>
              <a:t>In object orientation, objects are self contained. They know all they need to know about themselves and they can contain </a:t>
            </a:r>
            <a:r>
              <a:rPr lang="en-GB" sz="1600" b="1" noProof="0" dirty="0"/>
              <a:t>methods</a:t>
            </a:r>
            <a:r>
              <a:rPr lang="en-GB" sz="1600" noProof="0" dirty="0"/>
              <a:t> (functions owned by an object) that enable users of the object to “ask” the object to "do something", and they have </a:t>
            </a:r>
            <a:r>
              <a:rPr lang="en-GB" sz="1600" b="1" noProof="0" dirty="0"/>
              <a:t>attributes</a:t>
            </a:r>
            <a:r>
              <a:rPr lang="en-GB" sz="1600" noProof="0" dirty="0"/>
              <a:t> holding data where you can ask an object about itself</a:t>
            </a:r>
          </a:p>
          <a:p>
            <a:pPr lvl="0"/>
            <a:r>
              <a:rPr lang="en-GB" sz="1600" noProof="0" dirty="0"/>
              <a:t>e.g. a person is an object (noun). Ask a person to jump (verb) and they can do as they know how to do that as it’s built-in to the person. An attribute of a person could be their name, age etc. Ask their name and they can tell you</a:t>
            </a:r>
          </a:p>
          <a:p>
            <a:r>
              <a:rPr lang="en-GB" sz="1600" noProof="0" dirty="0"/>
              <a:t>Class has been introduced into JavaScript to try to better accommodate </a:t>
            </a:r>
            <a:r>
              <a:rPr lang="en-GB" sz="1600" noProof="0" dirty="0" err="1"/>
              <a:t>oop</a:t>
            </a:r>
            <a:r>
              <a:rPr lang="en-GB" sz="1600" noProof="0" dirty="0"/>
              <a:t> but the idea here is just to show you how objects can store data and do things using methods. </a:t>
            </a:r>
            <a:r>
              <a:rPr lang="en-GB" sz="1600" noProof="0" dirty="0" err="1"/>
              <a:t>oop</a:t>
            </a:r>
            <a:r>
              <a:rPr lang="en-GB" sz="1600" noProof="0" dirty="0"/>
              <a:t> is not an objective of this phase</a:t>
            </a:r>
          </a:p>
          <a:p>
            <a:endParaRPr lang="en-GB" sz="1600" noProof="0" dirty="0"/>
          </a:p>
          <a:p>
            <a:pPr marL="152396" indent="0">
              <a:buNone/>
            </a:pPr>
            <a:r>
              <a:rPr lang="en-GB" sz="1600" b="1" noProof="0" dirty="0"/>
              <a:t>Array of objects</a:t>
            </a:r>
          </a:p>
          <a:p>
            <a:r>
              <a:rPr lang="en-GB" sz="1600" noProof="0" dirty="0">
                <a:latin typeface="Calibri" panose="020F0502020204030204" pitchFamily="34" charset="0"/>
                <a:ea typeface="Calibri" panose="020F0502020204030204" pitchFamily="34" charset="0"/>
                <a:cs typeface="Times New Roman" panose="02020603050405020304" pitchFamily="18" charset="0"/>
              </a:rPr>
              <a:t>You can have an array of anything, including objects</a:t>
            </a:r>
          </a:p>
          <a:p>
            <a:endParaRPr lang="en-GB" sz="1600" noProof="0" dirty="0"/>
          </a:p>
        </p:txBody>
      </p:sp>
      <p:sp>
        <p:nvSpPr>
          <p:cNvPr id="4" name="Slide Number Placeholder 3">
            <a:extLst>
              <a:ext uri="{FF2B5EF4-FFF2-40B4-BE49-F238E27FC236}">
                <a16:creationId xmlns:a16="http://schemas.microsoft.com/office/drawing/2014/main" id="{57234FAE-99C9-2E0C-3CDF-0B9E440570C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54397464-CDCC-B497-24AB-89BFF995A45D}"/>
              </a:ext>
            </a:extLst>
          </p:cNvPr>
          <p:cNvSpPr txBox="1"/>
          <p:nvPr/>
        </p:nvSpPr>
        <p:spPr>
          <a:xfrm>
            <a:off x="8632209" y="5875792"/>
            <a:ext cx="28103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t>
            </a:r>
            <a:r>
              <a:rPr kumimoji="0" lang="en-GB" sz="1200" b="0" i="0" u="none" strike="noStrike" kern="1200" cap="none" spc="0" normalizeH="0" baseline="0" noProof="0" dirty="0" err="1">
                <a:ln>
                  <a:noFill/>
                </a:ln>
                <a:solidFill>
                  <a:srgbClr val="FF0000"/>
                </a:solidFill>
                <a:effectLst/>
                <a:uLnTx/>
                <a:uFillTx/>
                <a:latin typeface="Arial"/>
                <a:ea typeface="+mn-ea"/>
                <a:cs typeface="+mn-cs"/>
              </a:rPr>
              <a:t>array_objects</a:t>
            </a:r>
            <a:r>
              <a:rPr kumimoji="0" lang="en-GB" sz="1200" b="0" i="0" u="none" strike="noStrike" kern="1200" cap="none" spc="0" normalizeH="0" baseline="0" noProof="0" dirty="0">
                <a:ln>
                  <a:noFill/>
                </a:ln>
                <a:solidFill>
                  <a:srgbClr val="FF0000"/>
                </a:solidFill>
                <a:effectLst/>
                <a:uLnTx/>
                <a:uFillTx/>
                <a:latin typeface="Arial"/>
                <a:ea typeface="+mn-ea"/>
                <a:cs typeface="+mn-cs"/>
              </a:rPr>
              <a:t>/methods.js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t>
            </a:r>
            <a:r>
              <a:rPr kumimoji="0" lang="en-GB" sz="1200" b="0" i="0" u="none" strike="noStrike" kern="1200" cap="none" spc="0" normalizeH="0" baseline="0" noProof="0" dirty="0" err="1">
                <a:ln>
                  <a:noFill/>
                </a:ln>
                <a:solidFill>
                  <a:srgbClr val="FF0000"/>
                </a:solidFill>
                <a:effectLst/>
                <a:uLnTx/>
                <a:uFillTx/>
                <a:latin typeface="Arial"/>
                <a:ea typeface="+mn-ea"/>
                <a:cs typeface="+mn-cs"/>
              </a:rPr>
              <a:t>array_objects</a:t>
            </a:r>
            <a:r>
              <a:rPr kumimoji="0" lang="en-GB" sz="1200" b="0" i="0" u="none" strike="noStrike" kern="1200" cap="none" spc="0" normalizeH="0" baseline="0" noProof="0" dirty="0">
                <a:ln>
                  <a:noFill/>
                </a:ln>
                <a:solidFill>
                  <a:srgbClr val="FF0000"/>
                </a:solidFill>
                <a:effectLst/>
                <a:uLnTx/>
                <a:uFillTx/>
                <a:latin typeface="Arial"/>
                <a:ea typeface="+mn-ea"/>
                <a:cs typeface="+mn-cs"/>
              </a:rPr>
              <a:t>/array_of_objs.js</a:t>
            </a:r>
          </a:p>
        </p:txBody>
      </p:sp>
    </p:spTree>
    <p:extLst>
      <p:ext uri="{BB962C8B-B14F-4D97-AF65-F5344CB8AC3E}">
        <p14:creationId xmlns:p14="http://schemas.microsoft.com/office/powerpoint/2010/main" val="2080961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E7B5581-232F-C68C-0970-A8E1D0A52E7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0EBB66A-EAE2-0EA9-99B6-82F34D7B1325}"/>
              </a:ext>
            </a:extLst>
          </p:cNvPr>
          <p:cNvSpPr>
            <a:spLocks noGrp="1"/>
          </p:cNvSpPr>
          <p:nvPr>
            <p:ph type="title"/>
          </p:nvPr>
        </p:nvSpPr>
        <p:spPr/>
        <p:txBody>
          <a:bodyPr/>
          <a:lstStyle/>
          <a:p>
            <a:r>
              <a:rPr lang="en-GB" noProof="0" dirty="0"/>
              <a:t>Using common methods on common objects</a:t>
            </a:r>
          </a:p>
        </p:txBody>
      </p:sp>
      <p:sp>
        <p:nvSpPr>
          <p:cNvPr id="9" name="Text Placeholder 8">
            <a:extLst>
              <a:ext uri="{FF2B5EF4-FFF2-40B4-BE49-F238E27FC236}">
                <a16:creationId xmlns:a16="http://schemas.microsoft.com/office/drawing/2014/main" id="{21B96C6C-1B35-C827-E796-8FA89124399A}"/>
              </a:ext>
            </a:extLst>
          </p:cNvPr>
          <p:cNvSpPr>
            <a:spLocks noGrp="1"/>
          </p:cNvSpPr>
          <p:nvPr>
            <p:ph type="body" idx="1"/>
          </p:nvPr>
        </p:nvSpPr>
        <p:spPr>
          <a:xfrm>
            <a:off x="609600" y="1089368"/>
            <a:ext cx="5595257" cy="5387632"/>
          </a:xfrm>
        </p:spPr>
        <p:txBody>
          <a:bodyPr/>
          <a:lstStyle/>
          <a:p>
            <a:r>
              <a:rPr lang="en-GB" b="1" noProof="0" dirty="0"/>
              <a:t>String</a:t>
            </a:r>
            <a:br>
              <a:rPr lang="en-GB" b="1" noProof="0" dirty="0"/>
            </a:br>
            <a:r>
              <a:rPr lang="en-GB" noProof="0" dirty="0"/>
              <a:t>A string in JavaScript is in fact an object. When you say let name=‘Tim’, you are in fact creating and initialising an object which has methods</a:t>
            </a:r>
            <a:br>
              <a:rPr lang="en-GB" noProof="0" dirty="0"/>
            </a:br>
            <a:br>
              <a:rPr lang="en-GB" noProof="0" dirty="0"/>
            </a:br>
            <a:r>
              <a:rPr lang="en-GB" noProof="0" dirty="0"/>
              <a:t>This makes life so much simpler for you than in languages like C.  Just look at the number of available methods and properties having declared one variable and that isn’t all of them</a:t>
            </a:r>
          </a:p>
          <a:p>
            <a:endParaRPr lang="en-GB" noProof="0" dirty="0"/>
          </a:p>
        </p:txBody>
      </p:sp>
      <p:sp>
        <p:nvSpPr>
          <p:cNvPr id="4" name="Slide Number Placeholder 3">
            <a:extLst>
              <a:ext uri="{FF2B5EF4-FFF2-40B4-BE49-F238E27FC236}">
                <a16:creationId xmlns:a16="http://schemas.microsoft.com/office/drawing/2014/main" id="{D31DC0B8-E3A7-A5B1-9837-71859CC307DB}"/>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6" name="Picture 5">
            <a:extLst>
              <a:ext uri="{FF2B5EF4-FFF2-40B4-BE49-F238E27FC236}">
                <a16:creationId xmlns:a16="http://schemas.microsoft.com/office/drawing/2014/main" id="{33C8A9F5-5C30-15CE-1121-19D21F6DC7A8}"/>
              </a:ext>
            </a:extLst>
          </p:cNvPr>
          <p:cNvPicPr>
            <a:picLocks noChangeAspect="1"/>
          </p:cNvPicPr>
          <p:nvPr/>
        </p:nvPicPr>
        <p:blipFill>
          <a:blip r:embed="rId3"/>
          <a:stretch>
            <a:fillRect/>
          </a:stretch>
        </p:blipFill>
        <p:spPr>
          <a:xfrm>
            <a:off x="6885587" y="1155685"/>
            <a:ext cx="4814910" cy="5237748"/>
          </a:xfrm>
          <a:prstGeom prst="rect">
            <a:avLst/>
          </a:prstGeom>
        </p:spPr>
      </p:pic>
      <p:sp>
        <p:nvSpPr>
          <p:cNvPr id="10" name="TextBox 9">
            <a:extLst>
              <a:ext uri="{FF2B5EF4-FFF2-40B4-BE49-F238E27FC236}">
                <a16:creationId xmlns:a16="http://schemas.microsoft.com/office/drawing/2014/main" id="{1EAAEAB5-1328-0607-AE7F-E161AC2A29E6}"/>
              </a:ext>
            </a:extLst>
          </p:cNvPr>
          <p:cNvSpPr txBox="1"/>
          <p:nvPr/>
        </p:nvSpPr>
        <p:spPr>
          <a:xfrm>
            <a:off x="1039475" y="5905334"/>
            <a:ext cx="318146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labs/arrays_and_objects.docx</a:t>
            </a:r>
          </a:p>
        </p:txBody>
      </p:sp>
    </p:spTree>
    <p:extLst>
      <p:ext uri="{BB962C8B-B14F-4D97-AF65-F5344CB8AC3E}">
        <p14:creationId xmlns:p14="http://schemas.microsoft.com/office/powerpoint/2010/main" val="1085308830"/>
      </p:ext>
    </p:extLst>
  </p:cSld>
  <p:clrMapOvr>
    <a:masterClrMapping/>
  </p:clrMapOvr>
</p:sld>
</file>

<file path=ppt/theme/theme1.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3955</Words>
  <Application>Microsoft Office PowerPoint</Application>
  <PresentationFormat>Widescreen</PresentationFormat>
  <Paragraphs>333</Paragraphs>
  <Slides>25</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Calibri</vt:lpstr>
      <vt:lpstr>Courier New</vt:lpstr>
      <vt:lpstr>Raleway Thin</vt:lpstr>
      <vt:lpstr>Gaoler template</vt:lpstr>
      <vt:lpstr>Programming</vt:lpstr>
      <vt:lpstr>Programming An introduction to programming in JavaScript</vt:lpstr>
      <vt:lpstr>PowerPoint Presentation</vt:lpstr>
      <vt:lpstr>PowerPoint Presentation</vt:lpstr>
      <vt:lpstr>Simple use case</vt:lpstr>
      <vt:lpstr>IDE</vt:lpstr>
      <vt:lpstr>Pre requisites for JavaScript coding</vt:lpstr>
      <vt:lpstr>JavaScript</vt:lpstr>
      <vt:lpstr>Types</vt:lpstr>
      <vt:lpstr>Some operators</vt:lpstr>
      <vt:lpstr>Running some examples</vt:lpstr>
      <vt:lpstr>Selection</vt:lpstr>
      <vt:lpstr>else if</vt:lpstr>
      <vt:lpstr>Switch</vt:lpstr>
      <vt:lpstr>Iteration: for loop</vt:lpstr>
      <vt:lpstr>Iteration: while loop</vt:lpstr>
      <vt:lpstr>Iteration: do while loop</vt:lpstr>
      <vt:lpstr>Hands-0n exercises</vt:lpstr>
      <vt:lpstr>Functions</vt:lpstr>
      <vt:lpstr>PowerPoint Presentation</vt:lpstr>
      <vt:lpstr>Hoisting and scope</vt:lpstr>
      <vt:lpstr>Array</vt:lpstr>
      <vt:lpstr>Objects</vt:lpstr>
      <vt:lpstr>Objects with functions</vt:lpstr>
      <vt:lpstr>Using common methods on common objects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Antony John Nicol (School of Engineering and Computing)</dc:creator>
  <cp:lastModifiedBy>Antony John Nicol (School of Engineering and Computing)</cp:lastModifiedBy>
  <cp:revision>1</cp:revision>
  <dcterms:created xsi:type="dcterms:W3CDTF">2026-03-09T22:40:33Z</dcterms:created>
  <dcterms:modified xsi:type="dcterms:W3CDTF">2026-03-09T22:41:40Z</dcterms:modified>
</cp:coreProperties>
</file>