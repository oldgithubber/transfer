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8"/>
  </p:notesMasterIdLst>
  <p:sldIdLst>
    <p:sldId id="256" r:id="rId3"/>
    <p:sldId id="1899" r:id="rId4"/>
    <p:sldId id="1871" r:id="rId5"/>
    <p:sldId id="408" r:id="rId6"/>
    <p:sldId id="1890" r:id="rId7"/>
    <p:sldId id="409" r:id="rId8"/>
    <p:sldId id="410" r:id="rId9"/>
    <p:sldId id="793" r:id="rId10"/>
    <p:sldId id="262" r:id="rId11"/>
    <p:sldId id="794" r:id="rId12"/>
    <p:sldId id="263" r:id="rId13"/>
    <p:sldId id="1893" r:id="rId14"/>
    <p:sldId id="1894" r:id="rId15"/>
    <p:sldId id="797" r:id="rId16"/>
    <p:sldId id="19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01" d="100"/>
          <a:sy n="101" d="100"/>
        </p:scale>
        <p:origin x="7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DED079-035B-413E-8A64-EC4A34C58D07}" type="datetimeFigureOut">
              <a:rPr lang="en-GB" smtClean="0"/>
              <a:t>31/03/2026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E9F41D-F979-44FE-B66E-D8855D5835D6}" type="slidenum">
              <a:rPr lang="en-GB" smtClean="0"/>
              <a:t>‹#›</a:t>
            </a:fld>
            <a:endParaRPr lang="en-GB"/>
          </a:p>
        </p:txBody>
      </p:sp>
    </p:spTree>
    <p:extLst>
      <p:ext uri="{BB962C8B-B14F-4D97-AF65-F5344CB8AC3E}">
        <p14:creationId xmlns:p14="http://schemas.microsoft.com/office/powerpoint/2010/main" val="2847798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pixabay.co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4E62D-26FD-9A5B-F980-F77324511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2DF82-DED6-F15D-ABEA-EE58DE4DB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90796D-C5BB-412A-870E-69971D4DFDF2}"/>
              </a:ext>
            </a:extLst>
          </p:cNvPr>
          <p:cNvSpPr>
            <a:spLocks noGrp="1"/>
          </p:cNvSpPr>
          <p:nvPr>
            <p:ph type="body" idx="1"/>
          </p:nvPr>
        </p:nvSpPr>
        <p:spPr/>
        <p:txBody>
          <a:bodyPr/>
          <a:lstStyle/>
          <a:p>
            <a:r>
              <a:rPr lang="en-GB" dirty="0"/>
              <a:t>Run animation</a:t>
            </a:r>
          </a:p>
          <a:p>
            <a:r>
              <a:rPr lang="en-GB" dirty="0"/>
              <a:t>Run real joke.tontnicol.com - Show how html is fetched, </a:t>
            </a:r>
            <a:r>
              <a:rPr lang="en-GB" dirty="0" err="1"/>
              <a:t>css</a:t>
            </a:r>
            <a:r>
              <a:rPr lang="en-GB" dirty="0"/>
              <a:t> and </a:t>
            </a:r>
            <a:r>
              <a:rPr lang="en-GB" dirty="0" err="1"/>
              <a:t>javascript</a:t>
            </a:r>
            <a:endParaRPr lang="en-GB" dirty="0"/>
          </a:p>
          <a:p>
            <a:r>
              <a:rPr lang="en-GB" dirty="0"/>
              <a:t>We will start with html</a:t>
            </a:r>
          </a:p>
          <a:p>
            <a:endParaRPr lang="en-GB" dirty="0"/>
          </a:p>
        </p:txBody>
      </p:sp>
      <p:sp>
        <p:nvSpPr>
          <p:cNvPr id="4" name="Slide Number Placeholder 3">
            <a:extLst>
              <a:ext uri="{FF2B5EF4-FFF2-40B4-BE49-F238E27FC236}">
                <a16:creationId xmlns:a16="http://schemas.microsoft.com/office/drawing/2014/main" id="{A89E3DC4-D9DA-4D3B-36AF-A0E028365C3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0F958A-7F0B-4FC4-997D-E121C04EDAE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39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2428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 tab will expand p as will others like </a:t>
            </a:r>
            <a:r>
              <a:rPr lang="en-GB" err="1"/>
              <a:t>img</a:t>
            </a:r>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9A6BA66-BEB8-4A5B-9E10-1A8112067F8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5522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0714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noProof="0" dirty="0"/>
              <a:t>Download an image of anything into your folder. </a:t>
            </a:r>
            <a:r>
              <a:rPr lang="en-GB" noProof="0" dirty="0">
                <a:hlinkClick r:id="rId3"/>
              </a:rPr>
              <a:t>https://pixabay.com/</a:t>
            </a:r>
            <a:r>
              <a:rPr lang="en-GB" noProof="0" dirty="0"/>
              <a:t> has some free ones but DWP blocks it </a:t>
            </a:r>
          </a:p>
          <a:p>
            <a:r>
              <a:rPr lang="en-GB" dirty="0"/>
              <a:t>Need to add an image into the downloads on </a:t>
            </a:r>
            <a:r>
              <a:rPr lang="en-GB" dirty="0" err="1"/>
              <a:t>onedrive</a:t>
            </a:r>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9704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Loose coupling is a software and architectural principle where one component does one thing and only one thing very well. </a:t>
            </a:r>
          </a:p>
          <a:p>
            <a:r>
              <a:rPr lang="en-GB"/>
              <a:t>Separation of concerns is a software and architectural design principle where components are self contained and do just one thing. Effectively building blocks. Like components in a car - each does its own thing and is connected to others but can be replaced without affecting the rest of the car. e.g. bolted in place as opposed to welded. This promoted reuse</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4703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Styles are in the html file</a:t>
            </a:r>
          </a:p>
          <a:p>
            <a:r>
              <a:rPr lang="en-GB"/>
              <a:t>Discuss install of live preview</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164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Generally better to put them in an external file. e.g. Corporate colours for every web page. Include the </a:t>
            </a:r>
            <a:r>
              <a:rPr lang="en-GB" err="1"/>
              <a:t>css</a:t>
            </a:r>
            <a:r>
              <a:rPr lang="en-GB"/>
              <a:t> file and all pages are styled the same. Change the style and it changes all pages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3759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E316C-8E08-AD0B-8B23-E15AB96EAF2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9C76FD44-4664-0901-9E24-64F02049B1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48AAD44-845A-95C9-695D-8020FA7961FB}"/>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5" name="Footer Placeholder 4">
            <a:extLst>
              <a:ext uri="{FF2B5EF4-FFF2-40B4-BE49-F238E27FC236}">
                <a16:creationId xmlns:a16="http://schemas.microsoft.com/office/drawing/2014/main" id="{D23FAB61-2D6F-4523-6F41-3ACC5029C2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EBD0EA-C73C-6916-2387-5353A62FB926}"/>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720884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0E754-EF13-9655-9D5B-CD58903A1C0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562C068-8CB2-5711-7329-5F09CCA7DD7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EAB7CFF-4E20-E886-F203-3C747C07F7DF}"/>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5" name="Footer Placeholder 4">
            <a:extLst>
              <a:ext uri="{FF2B5EF4-FFF2-40B4-BE49-F238E27FC236}">
                <a16:creationId xmlns:a16="http://schemas.microsoft.com/office/drawing/2014/main" id="{0B37F325-250B-01F5-EC5D-7D911A0421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99C8C3-61EE-054B-110D-0D325A4C8857}"/>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4030058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307E2-3194-5A46-A994-E463E04948E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CC81E069-E84C-DF2A-CB19-08211B0122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CE62095-585F-1001-9715-385F3FEB7548}"/>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5" name="Footer Placeholder 4">
            <a:extLst>
              <a:ext uri="{FF2B5EF4-FFF2-40B4-BE49-F238E27FC236}">
                <a16:creationId xmlns:a16="http://schemas.microsoft.com/office/drawing/2014/main" id="{FD6C62DB-7771-05F9-DDF0-089A2EA453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739857-3742-0526-DE5E-E3DB5A7D544A}"/>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4142193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6B9ED-8CED-0DE4-AEC8-5E70179A8EF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75BA6A1-2E4A-F0F7-8E98-2C405FC2CF8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87E771E-6931-0E06-1C22-8A137B86B2F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35BA28D3-BDBA-9740-5808-1F090F540C0F}"/>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6" name="Footer Placeholder 5">
            <a:extLst>
              <a:ext uri="{FF2B5EF4-FFF2-40B4-BE49-F238E27FC236}">
                <a16:creationId xmlns:a16="http://schemas.microsoft.com/office/drawing/2014/main" id="{A6045A73-9667-21E0-A85A-79E2B2C24B3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1BF7D35-4A30-CF2B-019E-EF5D23F12EBE}"/>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3160880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2DA2-8458-B6B9-F6BB-A9A15AE056EE}"/>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FCEB8D81-175D-61EF-1F88-3475373D18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6616723-3316-9D28-7429-922BF195AF8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A0BE6FFE-794C-4E62-41E2-021C4EA0EA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7A8AD06-8202-A834-1D28-B598558AD3F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B0C8B960-6DCE-7664-8C7F-E577EF4395C5}"/>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8" name="Footer Placeholder 7">
            <a:extLst>
              <a:ext uri="{FF2B5EF4-FFF2-40B4-BE49-F238E27FC236}">
                <a16:creationId xmlns:a16="http://schemas.microsoft.com/office/drawing/2014/main" id="{A3C705A9-10AE-4768-D427-A81B8ADF1C6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54B04DE-F284-4639-E3AF-0F7D5B2B6230}"/>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83544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A317F-C75F-143B-3F0D-5401C97AD878}"/>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C7BD9D98-2FD6-D505-92FA-C2E2B00D4FB7}"/>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4" name="Footer Placeholder 3">
            <a:extLst>
              <a:ext uri="{FF2B5EF4-FFF2-40B4-BE49-F238E27FC236}">
                <a16:creationId xmlns:a16="http://schemas.microsoft.com/office/drawing/2014/main" id="{B3AACBD3-8F7B-3FDE-CC65-8FE018EB043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E0C699B-CAF4-7913-64A4-017AB94BB497}"/>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3638890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47E1D4-9199-024A-2DEC-844313A3BFE1}"/>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3" name="Footer Placeholder 2">
            <a:extLst>
              <a:ext uri="{FF2B5EF4-FFF2-40B4-BE49-F238E27FC236}">
                <a16:creationId xmlns:a16="http://schemas.microsoft.com/office/drawing/2014/main" id="{F9E67F96-ACEE-3BDB-BFBF-4E299F7457A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1328949-4827-238C-D40A-C12FB21EE3BB}"/>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2266034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B3F04-B5FD-C04E-26F4-74B75D4BBCC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EC5E64E1-1397-BB12-D04B-95E23FC193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62B223CA-A737-ACA6-571B-7484EE1F2A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47C0080-3936-3C79-8FF9-5FB23E254C5F}"/>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6" name="Footer Placeholder 5">
            <a:extLst>
              <a:ext uri="{FF2B5EF4-FFF2-40B4-BE49-F238E27FC236}">
                <a16:creationId xmlns:a16="http://schemas.microsoft.com/office/drawing/2014/main" id="{CC056919-0993-18AF-3200-09A0BF81B8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E6BDAF1-2EBA-1002-96B9-94CCCD3C6367}"/>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1941485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11467-F9C3-2E76-A90A-76BA05A2E77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8E43DD03-754C-64AB-FF08-0FCB82C333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481CCBB-0A89-A4BC-3F52-9438E76DEA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6C8949A-7220-D365-FBE2-5FDB7898E343}"/>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6" name="Footer Placeholder 5">
            <a:extLst>
              <a:ext uri="{FF2B5EF4-FFF2-40B4-BE49-F238E27FC236}">
                <a16:creationId xmlns:a16="http://schemas.microsoft.com/office/drawing/2014/main" id="{845F6B09-B275-F4D8-27D1-9B43D09160D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A99FD8-1B74-CFCC-1388-A2BB7B1DB54F}"/>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3272229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B5A7A-648D-57F5-15B6-4EE8A2F5B1ED}"/>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220882A9-FA5D-6D86-FCF8-9B48E37805F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8E4AE9C-31E4-AC46-DFF8-1D9F66D7761F}"/>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5" name="Footer Placeholder 4">
            <a:extLst>
              <a:ext uri="{FF2B5EF4-FFF2-40B4-BE49-F238E27FC236}">
                <a16:creationId xmlns:a16="http://schemas.microsoft.com/office/drawing/2014/main" id="{65A0C6A0-69D7-F977-D561-D546A43399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65B761-90E7-D72F-5975-75526A425E73}"/>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2918036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9F1B2E-B26B-18A6-6A46-0759850643F7}"/>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E9B8BF3F-00EA-BF7C-70FA-5DED39521D9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B4F60DC-3C21-0289-209E-6CA2A2A8C1B3}"/>
              </a:ext>
            </a:extLst>
          </p:cNvPr>
          <p:cNvSpPr>
            <a:spLocks noGrp="1"/>
          </p:cNvSpPr>
          <p:nvPr>
            <p:ph type="dt" sz="half" idx="10"/>
          </p:nvPr>
        </p:nvSpPr>
        <p:spPr/>
        <p:txBody>
          <a:bodyPr/>
          <a:lstStyle/>
          <a:p>
            <a:fld id="{B6B89E39-BE27-480B-8034-90B20B4C366C}" type="datetimeFigureOut">
              <a:rPr lang="en-GB" smtClean="0"/>
              <a:t>31/03/2026</a:t>
            </a:fld>
            <a:endParaRPr lang="en-GB"/>
          </a:p>
        </p:txBody>
      </p:sp>
      <p:sp>
        <p:nvSpPr>
          <p:cNvPr id="5" name="Footer Placeholder 4">
            <a:extLst>
              <a:ext uri="{FF2B5EF4-FFF2-40B4-BE49-F238E27FC236}">
                <a16:creationId xmlns:a16="http://schemas.microsoft.com/office/drawing/2014/main" id="{B1C43C5F-7D4A-E9FC-3E57-7BD678F817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BC0489-96F7-364E-2288-A70ACF922781}"/>
              </a:ext>
            </a:extLst>
          </p:cNvPr>
          <p:cNvSpPr>
            <a:spLocks noGrp="1"/>
          </p:cNvSpPr>
          <p:nvPr>
            <p:ph type="sldNum" sz="quarter" idx="12"/>
          </p:nvPr>
        </p:nvSpPr>
        <p:spPr/>
        <p:txBody>
          <a:bodyPr/>
          <a:lstStyle/>
          <a:p>
            <a:fld id="{54DAD098-CDE6-4BBB-82C2-C97AB2D71A7B}" type="slidenum">
              <a:rPr lang="en-GB" smtClean="0"/>
              <a:t>‹#›</a:t>
            </a:fld>
            <a:endParaRPr lang="en-GB"/>
          </a:p>
        </p:txBody>
      </p:sp>
    </p:spTree>
    <p:extLst>
      <p:ext uri="{BB962C8B-B14F-4D97-AF65-F5344CB8AC3E}">
        <p14:creationId xmlns:p14="http://schemas.microsoft.com/office/powerpoint/2010/main" val="3511558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r>
              <a:rPr lang="en-US"/>
              <a:t>Click to edit Master title style</a:t>
            </a:r>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50009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598367"/>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464567"/>
            <a:ext cx="11163300" cy="421258"/>
          </a:xfrm>
          <a:prstGeom prst="rect">
            <a:avLst/>
          </a:prstGeom>
        </p:spPr>
        <p:txBody>
          <a:bodyPr spcFirstLastPara="1" wrap="square" lIns="0" tIns="0" rIns="0" bIns="0" anchor="ctr" anchorCtr="0">
            <a:noAutofit/>
          </a:bodyPr>
          <a:lstStyle>
            <a:lvl1pPr lvl="0">
              <a:spcBef>
                <a:spcPts val="0"/>
              </a:spcBef>
              <a:spcAft>
                <a:spcPts val="0"/>
              </a:spcAft>
              <a:buSzPts val="4800"/>
              <a:buNone/>
              <a:defRPr sz="3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a:p>
        </p:txBody>
      </p:sp>
      <p:sp>
        <p:nvSpPr>
          <p:cNvPr id="26" name="Google Shape;26;p5"/>
          <p:cNvSpPr txBox="1">
            <a:spLocks noGrp="1"/>
          </p:cNvSpPr>
          <p:nvPr>
            <p:ph type="body" idx="1"/>
          </p:nvPr>
        </p:nvSpPr>
        <p:spPr>
          <a:xfrm>
            <a:off x="609600" y="1089368"/>
            <a:ext cx="11163300" cy="5387632"/>
          </a:xfrm>
          <a:prstGeom prst="rect">
            <a:avLst/>
          </a:prstGeom>
        </p:spPr>
        <p:txBody>
          <a:bodyPr spcFirstLastPara="1" wrap="square" lIns="0" tIns="0" rIns="0" bIns="0" anchor="t" anchorCtr="0">
            <a:noAutofit/>
          </a:bodyPr>
          <a:lstStyle>
            <a:lvl1pPr marL="609585" lvl="0" indent="-457189">
              <a:spcBef>
                <a:spcPts val="800"/>
              </a:spcBef>
              <a:spcAft>
                <a:spcPts val="0"/>
              </a:spcAft>
              <a:buClr>
                <a:schemeClr val="tx2"/>
              </a:buClr>
              <a:buSzPts val="1800"/>
              <a:buChar char="▸"/>
              <a:defRPr sz="1800">
                <a:solidFill>
                  <a:schemeClr val="tx1">
                    <a:lumMod val="20000"/>
                    <a:lumOff val="80000"/>
                  </a:schemeClr>
                </a:solidFill>
              </a:defRPr>
            </a:lvl1pPr>
            <a:lvl2pPr marL="1219170" lvl="1" indent="-457189">
              <a:spcBef>
                <a:spcPts val="800"/>
              </a:spcBef>
              <a:spcAft>
                <a:spcPts val="0"/>
              </a:spcAft>
              <a:buClr>
                <a:schemeClr val="bg2">
                  <a:lumMod val="20000"/>
                  <a:lumOff val="80000"/>
                </a:schemeClr>
              </a:buClr>
              <a:buSzPts val="1800"/>
              <a:buChar char="▹"/>
              <a:defRPr sz="1600">
                <a:solidFill>
                  <a:schemeClr val="tx1">
                    <a:lumMod val="20000"/>
                    <a:lumOff val="80000"/>
                  </a:schemeClr>
                </a:solidFill>
              </a:defRPr>
            </a:lvl2pPr>
            <a:lvl3pPr marL="1828754" lvl="2" indent="-457189">
              <a:spcBef>
                <a:spcPts val="800"/>
              </a:spcBef>
              <a:spcAft>
                <a:spcPts val="0"/>
              </a:spcAft>
              <a:buClr>
                <a:schemeClr val="tx2">
                  <a:lumMod val="90000"/>
                </a:schemeClr>
              </a:buClr>
              <a:buSzPts val="1800"/>
              <a:buChar char="▹"/>
              <a:defRPr sz="1400">
                <a:solidFill>
                  <a:schemeClr val="tx1">
                    <a:lumMod val="20000"/>
                    <a:lumOff val="80000"/>
                  </a:schemeClr>
                </a:solidFill>
              </a:defRPr>
            </a:lvl3pPr>
            <a:lvl4pPr marL="2438339" lvl="3" indent="-474121">
              <a:spcBef>
                <a:spcPts val="800"/>
              </a:spcBef>
              <a:spcAft>
                <a:spcPts val="0"/>
              </a:spcAft>
              <a:buClr>
                <a:schemeClr val="tx2">
                  <a:lumMod val="90000"/>
                </a:schemeClr>
              </a:buClr>
              <a:buSzPts val="2000"/>
              <a:buChar char="▹"/>
              <a:defRPr sz="1200">
                <a:solidFill>
                  <a:schemeClr val="tx1">
                    <a:lumMod val="20000"/>
                    <a:lumOff val="80000"/>
                  </a:schemeClr>
                </a:solidFill>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pPr lvl="0"/>
            <a:r>
              <a:rPr lang="en-US" dirty="0"/>
              <a:t>Click to edit Master text styles</a:t>
            </a:r>
          </a:p>
          <a:p>
            <a:pPr lvl="1"/>
            <a:r>
              <a:rPr lang="en-US" dirty="0"/>
              <a:t>Level 2</a:t>
            </a:r>
          </a:p>
          <a:p>
            <a:pPr lvl="2"/>
            <a:r>
              <a:rPr lang="en-US" dirty="0"/>
              <a:t>Level 3</a:t>
            </a:r>
          </a:p>
          <a:p>
            <a:pPr lvl="3"/>
            <a:r>
              <a:rPr lang="en-US" dirty="0"/>
              <a:t>Level 4</a:t>
            </a: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solidFill>
                  <a:schemeClr val="bg1"/>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pPr/>
              <a:t>‹#›</a:t>
            </a:fld>
            <a:endParaRPr lang="en-GB"/>
          </a:p>
        </p:txBody>
      </p:sp>
    </p:spTree>
    <p:extLst>
      <p:ext uri="{BB962C8B-B14F-4D97-AF65-F5344CB8AC3E}">
        <p14:creationId xmlns:p14="http://schemas.microsoft.com/office/powerpoint/2010/main" val="3148876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26">
                                            <p:txEl>
                                              <p:pRg st="0" end="0"/>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26">
                                            <p:txEl>
                                              <p:pRg st="1" end="1"/>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1000" fill="hold"/>
                                        <p:tgtEl>
                                          <p:spTgt spid="26">
                                            <p:txEl>
                                              <p:pRg st="2" end="2"/>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00" fill="hold"/>
                                        <p:tgtEl>
                                          <p:spTgt spid="26">
                                            <p:txEl>
                                              <p:pRg st="3" end="3"/>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3" end="3"/>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p">
        <p:tmplLst>
          <p:tmpl lvl="1">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2">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3">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4">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pPr lvl="0"/>
            <a:r>
              <a:rPr lang="en-US"/>
              <a:t>Click to edit Master text styles</a:t>
            </a: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3022629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dark">
  <p:cSld name="Blank dark">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2757518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1388615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0184CB-EA91-D503-B051-36C4CBBEC8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D5AA660-82F7-857B-4A69-1BF7AA34C0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6A28E4B-5B4A-2D63-F195-52F606ACD1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B89E39-BE27-480B-8034-90B20B4C366C}" type="datetimeFigureOut">
              <a:rPr lang="en-GB" smtClean="0"/>
              <a:t>31/03/2026</a:t>
            </a:fld>
            <a:endParaRPr lang="en-GB"/>
          </a:p>
        </p:txBody>
      </p:sp>
      <p:sp>
        <p:nvSpPr>
          <p:cNvPr id="5" name="Footer Placeholder 4">
            <a:extLst>
              <a:ext uri="{FF2B5EF4-FFF2-40B4-BE49-F238E27FC236}">
                <a16:creationId xmlns:a16="http://schemas.microsoft.com/office/drawing/2014/main" id="{5015B0FC-F51F-8781-3F08-B7C052EAB9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87B3FF9-914C-04B3-5C5B-3DF91CD17D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DAD098-CDE6-4BBB-82C2-C97AB2D71A7B}" type="slidenum">
              <a:rPr lang="en-GB" smtClean="0"/>
              <a:t>‹#›</a:t>
            </a:fld>
            <a:endParaRPr lang="en-GB"/>
          </a:p>
        </p:txBody>
      </p:sp>
    </p:spTree>
    <p:extLst>
      <p:ext uri="{BB962C8B-B14F-4D97-AF65-F5344CB8AC3E}">
        <p14:creationId xmlns:p14="http://schemas.microsoft.com/office/powerpoint/2010/main" val="2279171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2" name="Slide Number Placeholder 1">
            <a:extLst>
              <a:ext uri="{FF2B5EF4-FFF2-40B4-BE49-F238E27FC236}">
                <a16:creationId xmlns:a16="http://schemas.microsoft.com/office/drawing/2014/main" id="{D2E12C27-DB2B-AA97-3BBD-0CF8EAE7B2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F9C93A-B808-4F92-9D9D-4CEB4D584F4F}" type="slidenum">
              <a:rPr lang="en-GB" smtClean="0"/>
              <a:t>‹#›</a:t>
            </a:fld>
            <a:endParaRPr lang="en-GB"/>
          </a:p>
        </p:txBody>
      </p:sp>
    </p:spTree>
    <p:extLst>
      <p:ext uri="{BB962C8B-B14F-4D97-AF65-F5344CB8AC3E}">
        <p14:creationId xmlns:p14="http://schemas.microsoft.com/office/powerpoint/2010/main" val="412433647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fade thruBlk="1"/>
  </p:transition>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3200" b="0" i="0" u="none" strike="noStrike" cap="none">
          <a:solidFill>
            <a:srgbClr val="0000FF"/>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14300" marR="0" lvl="0" indent="0" algn="l" rtl="0" eaLnBrk="1" hangingPunct="1">
        <a:lnSpc>
          <a:spcPct val="100000"/>
        </a:lnSpc>
        <a:spcBef>
          <a:spcPts val="0"/>
        </a:spcBef>
        <a:spcAft>
          <a:spcPts val="0"/>
        </a:spcAft>
        <a:buClr>
          <a:srgbClr val="000000"/>
        </a:buClr>
        <a:buFont typeface="Arial"/>
        <a:buNone/>
        <a:defRPr sz="1800" b="0" i="0" u="none" strike="noStrike" cap="none" baseline="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hyperlink" Target="https://pixabay.com/pt/nuvem-branco-condi%C3%A7%C3%B5es-nublado-296722/" TargetMode="External"/><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3EFE9-4D22-6C54-BB1B-2C6D28129897}"/>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3E3E340D-243C-8CFF-F977-8373A530C43B}"/>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633673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0F731-E248-C81F-A97B-30EEB244FEAA}"/>
              </a:ext>
            </a:extLst>
          </p:cNvPr>
          <p:cNvSpPr>
            <a:spLocks noGrp="1"/>
          </p:cNvSpPr>
          <p:nvPr>
            <p:ph type="ctrTitle"/>
          </p:nvPr>
        </p:nvSpPr>
        <p:spPr/>
        <p:txBody>
          <a:bodyPr/>
          <a:lstStyle/>
          <a:p>
            <a:r>
              <a:rPr lang="en-GB" dirty="0"/>
              <a:t>Intro to HTML</a:t>
            </a:r>
          </a:p>
        </p:txBody>
      </p:sp>
    </p:spTree>
    <p:extLst>
      <p:ext uri="{BB962C8B-B14F-4D97-AF65-F5344CB8AC3E}">
        <p14:creationId xmlns:p14="http://schemas.microsoft.com/office/powerpoint/2010/main" val="1490411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C5129-8F4A-79E7-B5F1-3772DC839F57}"/>
            </a:ext>
          </a:extLst>
        </p:cNvPr>
        <p:cNvGrpSpPr/>
        <p:nvPr/>
      </p:nvGrpSpPr>
      <p:grpSpPr>
        <a:xfrm>
          <a:off x="0" y="0"/>
          <a:ext cx="0" cy="0"/>
          <a:chOff x="0" y="0"/>
          <a:chExt cx="0" cy="0"/>
        </a:xfrm>
      </p:grpSpPr>
      <p:pic>
        <p:nvPicPr>
          <p:cNvPr id="1026" name="Laptop" descr="49,200+ Laptop Clipart Stock Illustrations, Royalty-Free Vector Graphics &amp; Clip  Art - iStock">
            <a:extLst>
              <a:ext uri="{FF2B5EF4-FFF2-40B4-BE49-F238E27FC236}">
                <a16:creationId xmlns:a16="http://schemas.microsoft.com/office/drawing/2014/main" id="{339CEB96-14AB-20E6-E308-751C73AF0DA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704" y="2374894"/>
            <a:ext cx="4441451" cy="3265773"/>
          </a:xfrm>
          <a:prstGeom prst="rect">
            <a:avLst/>
          </a:prstGeom>
          <a:noFill/>
          <a:extLst>
            <a:ext uri="{909E8E84-426E-40DD-AFC4-6F175D3DCCD1}">
              <a14:hiddenFill xmlns:a14="http://schemas.microsoft.com/office/drawing/2010/main">
                <a:solidFill>
                  <a:srgbClr val="FFFFFF"/>
                </a:solidFill>
              </a14:hiddenFill>
            </a:ext>
          </a:extLst>
        </p:spPr>
      </p:pic>
      <p:sp>
        <p:nvSpPr>
          <p:cNvPr id="8" name="Title">
            <a:extLst>
              <a:ext uri="{FF2B5EF4-FFF2-40B4-BE49-F238E27FC236}">
                <a16:creationId xmlns:a16="http://schemas.microsoft.com/office/drawing/2014/main" id="{3E9606A7-1666-C726-C66E-C8A2BFF97051}"/>
              </a:ext>
            </a:extLst>
          </p:cNvPr>
          <p:cNvSpPr>
            <a:spLocks noGrp="1"/>
          </p:cNvSpPr>
          <p:nvPr>
            <p:ph type="title"/>
          </p:nvPr>
        </p:nvSpPr>
        <p:spPr>
          <a:xfrm>
            <a:off x="429916" y="451804"/>
            <a:ext cx="4562382" cy="421258"/>
          </a:xfrm>
        </p:spPr>
        <p:txBody>
          <a:bodyPr/>
          <a:lstStyle/>
          <a:p>
            <a:r>
              <a:rPr lang="en-GB" noProof="0" dirty="0"/>
              <a:t>3-tier Architecture Demo</a:t>
            </a:r>
          </a:p>
        </p:txBody>
      </p:sp>
      <p:sp>
        <p:nvSpPr>
          <p:cNvPr id="9" name="Bullet points">
            <a:extLst>
              <a:ext uri="{FF2B5EF4-FFF2-40B4-BE49-F238E27FC236}">
                <a16:creationId xmlns:a16="http://schemas.microsoft.com/office/drawing/2014/main" id="{F16B6685-E4D6-9EBE-2D11-8E8163B05AC4}"/>
              </a:ext>
            </a:extLst>
          </p:cNvPr>
          <p:cNvSpPr>
            <a:spLocks noGrp="1"/>
          </p:cNvSpPr>
          <p:nvPr>
            <p:ph type="body" idx="1"/>
          </p:nvPr>
        </p:nvSpPr>
        <p:spPr>
          <a:xfrm>
            <a:off x="429916" y="775290"/>
            <a:ext cx="11163300" cy="296694"/>
          </a:xfrm>
        </p:spPr>
        <p:txBody>
          <a:bodyPr/>
          <a:lstStyle/>
          <a:p>
            <a:r>
              <a:rPr lang="en-GB" noProof="0" dirty="0"/>
              <a:t>Overview of browser interaction - then focus on individual front-end areas of html, </a:t>
            </a:r>
            <a:r>
              <a:rPr lang="en-GB" noProof="0" dirty="0" err="1"/>
              <a:t>css</a:t>
            </a:r>
            <a:r>
              <a:rPr lang="en-GB" noProof="0" dirty="0"/>
              <a:t> and JavaScript</a:t>
            </a:r>
          </a:p>
        </p:txBody>
      </p:sp>
      <p:sp>
        <p:nvSpPr>
          <p:cNvPr id="63" name="Slide Number Placeholder 62">
            <a:extLst>
              <a:ext uri="{FF2B5EF4-FFF2-40B4-BE49-F238E27FC236}">
                <a16:creationId xmlns:a16="http://schemas.microsoft.com/office/drawing/2014/main" id="{B6FFD090-F1C6-0C20-9807-B6429FDE197C}"/>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9167D-FCC9-444D-BA38-7DB2AAFEB7A1}"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38" name="AZ">
            <a:extLst>
              <a:ext uri="{FF2B5EF4-FFF2-40B4-BE49-F238E27FC236}">
                <a16:creationId xmlns:a16="http://schemas.microsoft.com/office/drawing/2014/main" id="{CA14ADBD-02D9-F347-DD7D-82E0AF18F7A2}"/>
              </a:ext>
            </a:extLst>
          </p:cNvPr>
          <p:cNvSpPr/>
          <p:nvPr/>
        </p:nvSpPr>
        <p:spPr>
          <a:xfrm>
            <a:off x="6903181" y="1740855"/>
            <a:ext cx="5029123" cy="3138784"/>
          </a:xfrm>
          <a:prstGeom prst="rect">
            <a:avLst/>
          </a:prstGeom>
          <a:solidFill>
            <a:schemeClr val="accent1">
              <a:lumMod val="60000"/>
              <a:lumOff val="40000"/>
              <a:alpha val="18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11" name="Server group">
            <a:extLst>
              <a:ext uri="{FF2B5EF4-FFF2-40B4-BE49-F238E27FC236}">
                <a16:creationId xmlns:a16="http://schemas.microsoft.com/office/drawing/2014/main" id="{9A358150-079C-F8D6-5686-44F5CC73F6B3}"/>
              </a:ext>
            </a:extLst>
          </p:cNvPr>
          <p:cNvGrpSpPr/>
          <p:nvPr/>
        </p:nvGrpSpPr>
        <p:grpSpPr>
          <a:xfrm>
            <a:off x="7461710" y="2054240"/>
            <a:ext cx="1284052" cy="2383345"/>
            <a:chOff x="6657849" y="2057876"/>
            <a:chExt cx="1284052" cy="2383345"/>
          </a:xfrm>
        </p:grpSpPr>
        <p:pic>
          <p:nvPicPr>
            <p:cNvPr id="41" name="Server pic" descr="A computer server with colorful lights&#10;&#10;AI-generated content may be incorrect.">
              <a:extLst>
                <a:ext uri="{FF2B5EF4-FFF2-40B4-BE49-F238E27FC236}">
                  <a16:creationId xmlns:a16="http://schemas.microsoft.com/office/drawing/2014/main" id="{1E6DB803-D5A2-BA20-2DAB-7CC0FA39D8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65380" y="2777925"/>
              <a:ext cx="854891" cy="1145583"/>
            </a:xfrm>
            <a:prstGeom prst="rect">
              <a:avLst/>
            </a:prstGeom>
          </p:spPr>
        </p:pic>
        <p:sp>
          <p:nvSpPr>
            <p:cNvPr id="48" name="Server Label">
              <a:extLst>
                <a:ext uri="{FF2B5EF4-FFF2-40B4-BE49-F238E27FC236}">
                  <a16:creationId xmlns:a16="http://schemas.microsoft.com/office/drawing/2014/main" id="{0A8E84D8-5C53-E5B6-3EB8-967DF1445337}"/>
                </a:ext>
              </a:extLst>
            </p:cNvPr>
            <p:cNvSpPr txBox="1"/>
            <p:nvPr/>
          </p:nvSpPr>
          <p:spPr>
            <a:xfrm>
              <a:off x="6657849" y="3979556"/>
              <a:ext cx="1284052"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Physical or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Virtual Machine</a:t>
              </a:r>
            </a:p>
          </p:txBody>
        </p:sp>
        <p:sp>
          <p:nvSpPr>
            <p:cNvPr id="49" name="Server IP">
              <a:extLst>
                <a:ext uri="{FF2B5EF4-FFF2-40B4-BE49-F238E27FC236}">
                  <a16:creationId xmlns:a16="http://schemas.microsoft.com/office/drawing/2014/main" id="{57482978-D310-D79A-E44F-8C5DE803CF75}"/>
                </a:ext>
              </a:extLst>
            </p:cNvPr>
            <p:cNvSpPr txBox="1"/>
            <p:nvPr/>
          </p:nvSpPr>
          <p:spPr>
            <a:xfrm>
              <a:off x="6712411" y="2057876"/>
              <a:ext cx="1160828"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IP Address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20.26.222.217</a:t>
              </a:r>
            </a:p>
          </p:txBody>
        </p:sp>
      </p:grpSp>
      <p:sp>
        <p:nvSpPr>
          <p:cNvPr id="59" name="Cloud Title">
            <a:extLst>
              <a:ext uri="{FF2B5EF4-FFF2-40B4-BE49-F238E27FC236}">
                <a16:creationId xmlns:a16="http://schemas.microsoft.com/office/drawing/2014/main" id="{16477FC6-20B1-94D6-9AC7-7E8A91DEBDF3}"/>
              </a:ext>
            </a:extLst>
          </p:cNvPr>
          <p:cNvSpPr txBox="1"/>
          <p:nvPr/>
        </p:nvSpPr>
        <p:spPr>
          <a:xfrm>
            <a:off x="7982378" y="1787046"/>
            <a:ext cx="3165227"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Azure, AWS, Google, Oracle Cloud Services</a:t>
            </a:r>
          </a:p>
        </p:txBody>
      </p:sp>
      <p:cxnSp>
        <p:nvCxnSpPr>
          <p:cNvPr id="47" name="Cloud to Server">
            <a:extLst>
              <a:ext uri="{FF2B5EF4-FFF2-40B4-BE49-F238E27FC236}">
                <a16:creationId xmlns:a16="http://schemas.microsoft.com/office/drawing/2014/main" id="{9AABCF28-197C-3365-0168-15DCB49FA36E}"/>
              </a:ext>
            </a:extLst>
          </p:cNvPr>
          <p:cNvCxnSpPr>
            <a:cxnSpLocks/>
          </p:cNvCxnSpPr>
          <p:nvPr/>
        </p:nvCxnSpPr>
        <p:spPr>
          <a:xfrm>
            <a:off x="4113788" y="3491220"/>
            <a:ext cx="3555453" cy="0"/>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grpSp>
        <p:nvGrpSpPr>
          <p:cNvPr id="12" name="Web Server group">
            <a:extLst>
              <a:ext uri="{FF2B5EF4-FFF2-40B4-BE49-F238E27FC236}">
                <a16:creationId xmlns:a16="http://schemas.microsoft.com/office/drawing/2014/main" id="{7EC6F776-6534-B2DD-9F99-AD0B40B9561E}"/>
              </a:ext>
            </a:extLst>
          </p:cNvPr>
          <p:cNvGrpSpPr/>
          <p:nvPr/>
        </p:nvGrpSpPr>
        <p:grpSpPr>
          <a:xfrm>
            <a:off x="8524132" y="2374894"/>
            <a:ext cx="2885674" cy="738309"/>
            <a:chOff x="7720271" y="2378530"/>
            <a:chExt cx="2885674" cy="738309"/>
          </a:xfrm>
        </p:grpSpPr>
        <p:cxnSp>
          <p:nvCxnSpPr>
            <p:cNvPr id="53" name="To Web Conector">
              <a:extLst>
                <a:ext uri="{FF2B5EF4-FFF2-40B4-BE49-F238E27FC236}">
                  <a16:creationId xmlns:a16="http://schemas.microsoft.com/office/drawing/2014/main" id="{58932D79-2D8F-E479-B7FC-B37605F785F8}"/>
                </a:ext>
              </a:extLst>
            </p:cNvPr>
            <p:cNvCxnSpPr>
              <a:cxnSpLocks/>
              <a:endCxn id="50" idx="1"/>
            </p:cNvCxnSpPr>
            <p:nvPr/>
          </p:nvCxnSpPr>
          <p:spPr>
            <a:xfrm>
              <a:off x="7720271" y="3014886"/>
              <a:ext cx="379628" cy="0"/>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sp>
          <p:nvSpPr>
            <p:cNvPr id="56" name="Web Bubble">
              <a:extLst>
                <a:ext uri="{FF2B5EF4-FFF2-40B4-BE49-F238E27FC236}">
                  <a16:creationId xmlns:a16="http://schemas.microsoft.com/office/drawing/2014/main" id="{43ED243D-6C37-A1B6-BFC1-8DAD7C1F7BFB}"/>
                </a:ext>
              </a:extLst>
            </p:cNvPr>
            <p:cNvSpPr/>
            <p:nvPr/>
          </p:nvSpPr>
          <p:spPr>
            <a:xfrm>
              <a:off x="9631153" y="2378530"/>
              <a:ext cx="974792" cy="454504"/>
            </a:xfrm>
            <a:prstGeom prst="wedgeRoundRectCallout">
              <a:avLst>
                <a:gd name="adj1" fmla="val -96846"/>
                <a:gd name="adj2" fmla="val 89610"/>
                <a:gd name="adj3" fmla="val 16667"/>
              </a:avLst>
            </a:prstGeom>
            <a:solidFill>
              <a:srgbClr val="00B5DD"/>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Arial"/>
                  <a:ea typeface="+mn-ea"/>
                  <a:cs typeface="+mn-cs"/>
                </a:rPr>
                <a:t>Return web pages</a:t>
              </a:r>
            </a:p>
          </p:txBody>
        </p:sp>
        <p:sp>
          <p:nvSpPr>
            <p:cNvPr id="50" name="Web Server">
              <a:extLst>
                <a:ext uri="{FF2B5EF4-FFF2-40B4-BE49-F238E27FC236}">
                  <a16:creationId xmlns:a16="http://schemas.microsoft.com/office/drawing/2014/main" id="{2474EC2D-F08B-EB6D-5228-821A3B140124}"/>
                </a:ext>
              </a:extLst>
            </p:cNvPr>
            <p:cNvSpPr/>
            <p:nvPr/>
          </p:nvSpPr>
          <p:spPr>
            <a:xfrm>
              <a:off x="8099899" y="2912932"/>
              <a:ext cx="1050587" cy="203907"/>
            </a:xfrm>
            <a:prstGeom prst="rect">
              <a:avLst/>
            </a:prstGeom>
            <a:solidFill>
              <a:srgbClr val="00B5DD"/>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Arial"/>
                  <a:ea typeface="+mn-ea"/>
                  <a:cs typeface="+mn-cs"/>
                </a:rPr>
                <a:t>Web Server</a:t>
              </a:r>
            </a:p>
          </p:txBody>
        </p:sp>
      </p:grpSp>
      <p:grpSp>
        <p:nvGrpSpPr>
          <p:cNvPr id="13" name="App server group">
            <a:extLst>
              <a:ext uri="{FF2B5EF4-FFF2-40B4-BE49-F238E27FC236}">
                <a16:creationId xmlns:a16="http://schemas.microsoft.com/office/drawing/2014/main" id="{A12053C8-39F9-B8CB-9F77-240134EC7745}"/>
              </a:ext>
            </a:extLst>
          </p:cNvPr>
          <p:cNvGrpSpPr/>
          <p:nvPr/>
        </p:nvGrpSpPr>
        <p:grpSpPr>
          <a:xfrm>
            <a:off x="8524132" y="3089635"/>
            <a:ext cx="2885674" cy="454504"/>
            <a:chOff x="7720271" y="3093271"/>
            <a:chExt cx="2885674" cy="454504"/>
          </a:xfrm>
        </p:grpSpPr>
        <p:cxnSp>
          <p:nvCxnSpPr>
            <p:cNvPr id="54" name="To App connector">
              <a:extLst>
                <a:ext uri="{FF2B5EF4-FFF2-40B4-BE49-F238E27FC236}">
                  <a16:creationId xmlns:a16="http://schemas.microsoft.com/office/drawing/2014/main" id="{A8390AF2-6797-11E0-1987-303743F83A9D}"/>
                </a:ext>
              </a:extLst>
            </p:cNvPr>
            <p:cNvCxnSpPr>
              <a:cxnSpLocks/>
            </p:cNvCxnSpPr>
            <p:nvPr/>
          </p:nvCxnSpPr>
          <p:spPr>
            <a:xfrm>
              <a:off x="7720271" y="3303473"/>
              <a:ext cx="379628" cy="0"/>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sp>
          <p:nvSpPr>
            <p:cNvPr id="57" name="App Bubble">
              <a:extLst>
                <a:ext uri="{FF2B5EF4-FFF2-40B4-BE49-F238E27FC236}">
                  <a16:creationId xmlns:a16="http://schemas.microsoft.com/office/drawing/2014/main" id="{5BB795D9-3223-D5A7-2CB7-E6FE1B26F1FA}"/>
                </a:ext>
              </a:extLst>
            </p:cNvPr>
            <p:cNvSpPr/>
            <p:nvPr/>
          </p:nvSpPr>
          <p:spPr>
            <a:xfrm>
              <a:off x="9631153" y="3093271"/>
              <a:ext cx="974792" cy="454504"/>
            </a:xfrm>
            <a:prstGeom prst="wedgeRoundRectCallout">
              <a:avLst>
                <a:gd name="adj1" fmla="val -99622"/>
                <a:gd name="adj2" fmla="val -1708"/>
                <a:gd name="adj3" fmla="val 16667"/>
              </a:avLst>
            </a:prstGeom>
            <a:solidFill>
              <a:srgbClr val="00B5DD"/>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Arial"/>
                  <a:ea typeface="+mn-ea"/>
                  <a:cs typeface="+mn-cs"/>
                </a:rPr>
                <a:t>Run apps &amp; return results </a:t>
              </a:r>
            </a:p>
          </p:txBody>
        </p:sp>
        <p:sp>
          <p:nvSpPr>
            <p:cNvPr id="51" name="App Server">
              <a:extLst>
                <a:ext uri="{FF2B5EF4-FFF2-40B4-BE49-F238E27FC236}">
                  <a16:creationId xmlns:a16="http://schemas.microsoft.com/office/drawing/2014/main" id="{BEEFD219-5C97-B179-8277-685C69EC9FFD}"/>
                </a:ext>
              </a:extLst>
            </p:cNvPr>
            <p:cNvSpPr/>
            <p:nvPr/>
          </p:nvSpPr>
          <p:spPr>
            <a:xfrm>
              <a:off x="8099899" y="3218570"/>
              <a:ext cx="1050587" cy="203907"/>
            </a:xfrm>
            <a:prstGeom prst="rect">
              <a:avLst/>
            </a:prstGeom>
            <a:solidFill>
              <a:srgbClr val="00B5DD"/>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Arial"/>
                  <a:ea typeface="+mn-ea"/>
                  <a:cs typeface="+mn-cs"/>
                </a:rPr>
                <a:t>App Server</a:t>
              </a:r>
            </a:p>
          </p:txBody>
        </p:sp>
      </p:grpSp>
      <p:grpSp>
        <p:nvGrpSpPr>
          <p:cNvPr id="14" name="DB Server Group">
            <a:extLst>
              <a:ext uri="{FF2B5EF4-FFF2-40B4-BE49-F238E27FC236}">
                <a16:creationId xmlns:a16="http://schemas.microsoft.com/office/drawing/2014/main" id="{D034EFED-0215-E38A-C911-896F24E4599B}"/>
              </a:ext>
            </a:extLst>
          </p:cNvPr>
          <p:cNvGrpSpPr/>
          <p:nvPr/>
        </p:nvGrpSpPr>
        <p:grpSpPr>
          <a:xfrm>
            <a:off x="8524132" y="3520571"/>
            <a:ext cx="2885674" cy="686181"/>
            <a:chOff x="7720271" y="3524207"/>
            <a:chExt cx="2885674" cy="686181"/>
          </a:xfrm>
        </p:grpSpPr>
        <p:cxnSp>
          <p:nvCxnSpPr>
            <p:cNvPr id="55" name="To DB connector">
              <a:extLst>
                <a:ext uri="{FF2B5EF4-FFF2-40B4-BE49-F238E27FC236}">
                  <a16:creationId xmlns:a16="http://schemas.microsoft.com/office/drawing/2014/main" id="{FCBDD22C-1EED-1586-3795-80D575F8E8F5}"/>
                </a:ext>
              </a:extLst>
            </p:cNvPr>
            <p:cNvCxnSpPr>
              <a:cxnSpLocks/>
            </p:cNvCxnSpPr>
            <p:nvPr/>
          </p:nvCxnSpPr>
          <p:spPr>
            <a:xfrm>
              <a:off x="7720271" y="3611516"/>
              <a:ext cx="379628" cy="0"/>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sp>
          <p:nvSpPr>
            <p:cNvPr id="58" name="DB Bubble">
              <a:extLst>
                <a:ext uri="{FF2B5EF4-FFF2-40B4-BE49-F238E27FC236}">
                  <a16:creationId xmlns:a16="http://schemas.microsoft.com/office/drawing/2014/main" id="{3BC78AFC-DFF4-1BBB-5084-9D0DABF37E09}"/>
                </a:ext>
              </a:extLst>
            </p:cNvPr>
            <p:cNvSpPr/>
            <p:nvPr/>
          </p:nvSpPr>
          <p:spPr>
            <a:xfrm>
              <a:off x="9631153" y="3755884"/>
              <a:ext cx="974792" cy="454504"/>
            </a:xfrm>
            <a:prstGeom prst="wedgeRoundRectCallout">
              <a:avLst>
                <a:gd name="adj1" fmla="val -96960"/>
                <a:gd name="adj2" fmla="val -75906"/>
                <a:gd name="adj3" fmla="val 16667"/>
              </a:avLst>
            </a:prstGeom>
            <a:solidFill>
              <a:srgbClr val="00B5DD"/>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Arial"/>
                  <a:ea typeface="+mn-ea"/>
                  <a:cs typeface="+mn-cs"/>
                </a:rPr>
                <a:t>Store and retrieve data</a:t>
              </a:r>
            </a:p>
          </p:txBody>
        </p:sp>
        <p:sp>
          <p:nvSpPr>
            <p:cNvPr id="52" name="DB Server">
              <a:extLst>
                <a:ext uri="{FF2B5EF4-FFF2-40B4-BE49-F238E27FC236}">
                  <a16:creationId xmlns:a16="http://schemas.microsoft.com/office/drawing/2014/main" id="{7FD6BFCF-4942-BEC8-3BBF-C8605F47FDFF}"/>
                </a:ext>
              </a:extLst>
            </p:cNvPr>
            <p:cNvSpPr/>
            <p:nvPr/>
          </p:nvSpPr>
          <p:spPr>
            <a:xfrm>
              <a:off x="8099899" y="3524207"/>
              <a:ext cx="1050587" cy="203907"/>
            </a:xfrm>
            <a:prstGeom prst="rect">
              <a:avLst/>
            </a:prstGeom>
            <a:solidFill>
              <a:srgbClr val="00B5DD"/>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Arial"/>
                  <a:ea typeface="+mn-ea"/>
                  <a:cs typeface="+mn-cs"/>
                </a:rPr>
                <a:t>DB Server</a:t>
              </a:r>
            </a:p>
          </p:txBody>
        </p:sp>
      </p:grpSp>
      <p:sp>
        <p:nvSpPr>
          <p:cNvPr id="3" name="Domain name">
            <a:extLst>
              <a:ext uri="{FF2B5EF4-FFF2-40B4-BE49-F238E27FC236}">
                <a16:creationId xmlns:a16="http://schemas.microsoft.com/office/drawing/2014/main" id="{E42D021D-EE3F-022E-33F9-26317F074E25}"/>
              </a:ext>
            </a:extLst>
          </p:cNvPr>
          <p:cNvSpPr txBox="1"/>
          <p:nvPr/>
        </p:nvSpPr>
        <p:spPr>
          <a:xfrm>
            <a:off x="4037112" y="3222583"/>
            <a:ext cx="1910373"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3A3F50"/>
                </a:solidFill>
                <a:effectLst/>
                <a:uLnTx/>
                <a:uFillTx/>
                <a:latin typeface="Arial"/>
                <a:ea typeface="+mn-ea"/>
                <a:cs typeface="+mn-cs"/>
              </a:rPr>
              <a:t>joke.tonynicol.com/index.html</a:t>
            </a:r>
          </a:p>
        </p:txBody>
      </p:sp>
      <p:sp>
        <p:nvSpPr>
          <p:cNvPr id="4" name="index.html url">
            <a:extLst>
              <a:ext uri="{FF2B5EF4-FFF2-40B4-BE49-F238E27FC236}">
                <a16:creationId xmlns:a16="http://schemas.microsoft.com/office/drawing/2014/main" id="{BBDEA72A-B77B-C6AA-B820-82E34F344B4F}"/>
              </a:ext>
            </a:extLst>
          </p:cNvPr>
          <p:cNvSpPr txBox="1"/>
          <p:nvPr/>
        </p:nvSpPr>
        <p:spPr>
          <a:xfrm>
            <a:off x="4216688" y="3222583"/>
            <a:ext cx="1721712" cy="24622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3A3F50"/>
                </a:solidFill>
                <a:effectLst/>
                <a:uLnTx/>
                <a:uFillTx/>
                <a:latin typeface="Arial"/>
                <a:ea typeface="+mn-ea"/>
                <a:cs typeface="+mn-cs"/>
              </a:rPr>
              <a:t>20.26.222.217/index.html</a:t>
            </a:r>
          </a:p>
        </p:txBody>
      </p:sp>
      <p:pic>
        <p:nvPicPr>
          <p:cNvPr id="69" name="Large joke page">
            <a:extLst>
              <a:ext uri="{FF2B5EF4-FFF2-40B4-BE49-F238E27FC236}">
                <a16:creationId xmlns:a16="http://schemas.microsoft.com/office/drawing/2014/main" id="{06A9A2EC-3FA6-56F4-D7E0-0DEB5402145D}"/>
              </a:ext>
            </a:extLst>
          </p:cNvPr>
          <p:cNvPicPr>
            <a:picLocks noChangeAspect="1"/>
          </p:cNvPicPr>
          <p:nvPr/>
        </p:nvPicPr>
        <p:blipFill>
          <a:blip r:embed="rId5"/>
          <a:stretch>
            <a:fillRect/>
          </a:stretch>
        </p:blipFill>
        <p:spPr>
          <a:xfrm>
            <a:off x="1280330" y="2742107"/>
            <a:ext cx="2167911" cy="1737263"/>
          </a:xfrm>
          <a:prstGeom prst="rect">
            <a:avLst/>
          </a:prstGeom>
        </p:spPr>
      </p:pic>
      <p:sp>
        <p:nvSpPr>
          <p:cNvPr id="7" name="TextBox 6">
            <a:extLst>
              <a:ext uri="{FF2B5EF4-FFF2-40B4-BE49-F238E27FC236}">
                <a16:creationId xmlns:a16="http://schemas.microsoft.com/office/drawing/2014/main" id="{8F0CCAA3-8747-FD2A-B978-4C7A38EBC724}"/>
              </a:ext>
            </a:extLst>
          </p:cNvPr>
          <p:cNvSpPr txBox="1"/>
          <p:nvPr/>
        </p:nvSpPr>
        <p:spPr>
          <a:xfrm>
            <a:off x="9369545" y="5830927"/>
            <a:ext cx="2327000"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 joke site in debugger</a:t>
            </a:r>
          </a:p>
        </p:txBody>
      </p:sp>
      <p:pic>
        <p:nvPicPr>
          <p:cNvPr id="17" name="Large joke no css">
            <a:extLst>
              <a:ext uri="{FF2B5EF4-FFF2-40B4-BE49-F238E27FC236}">
                <a16:creationId xmlns:a16="http://schemas.microsoft.com/office/drawing/2014/main" id="{4C64F032-3502-D503-0B46-CC5BFDEDFDF4}"/>
              </a:ext>
            </a:extLst>
          </p:cNvPr>
          <p:cNvPicPr>
            <a:picLocks noChangeAspect="1"/>
          </p:cNvPicPr>
          <p:nvPr/>
        </p:nvPicPr>
        <p:blipFill>
          <a:blip r:embed="rId6"/>
          <a:stretch>
            <a:fillRect/>
          </a:stretch>
        </p:blipFill>
        <p:spPr>
          <a:xfrm>
            <a:off x="773034" y="2742107"/>
            <a:ext cx="2013170" cy="1737263"/>
          </a:xfrm>
          <a:prstGeom prst="rect">
            <a:avLst/>
          </a:prstGeom>
        </p:spPr>
      </p:pic>
      <p:pic>
        <p:nvPicPr>
          <p:cNvPr id="28" name="html pic">
            <a:extLst>
              <a:ext uri="{FF2B5EF4-FFF2-40B4-BE49-F238E27FC236}">
                <a16:creationId xmlns:a16="http://schemas.microsoft.com/office/drawing/2014/main" id="{8DA06BF1-ADBF-64B0-AF2D-CFBD99591938}"/>
              </a:ext>
            </a:extLst>
          </p:cNvPr>
          <p:cNvPicPr>
            <a:picLocks noChangeAspect="1"/>
          </p:cNvPicPr>
          <p:nvPr/>
        </p:nvPicPr>
        <p:blipFill>
          <a:blip r:embed="rId7"/>
          <a:stretch>
            <a:fillRect/>
          </a:stretch>
        </p:blipFill>
        <p:spPr>
          <a:xfrm>
            <a:off x="9065826" y="1340601"/>
            <a:ext cx="2630719" cy="1699296"/>
          </a:xfrm>
          <a:prstGeom prst="rect">
            <a:avLst/>
          </a:prstGeom>
        </p:spPr>
      </p:pic>
      <p:sp>
        <p:nvSpPr>
          <p:cNvPr id="71" name="style.css url">
            <a:extLst>
              <a:ext uri="{FF2B5EF4-FFF2-40B4-BE49-F238E27FC236}">
                <a16:creationId xmlns:a16="http://schemas.microsoft.com/office/drawing/2014/main" id="{C6321E8E-89C0-4F6F-6036-C36CBB6B6CB7}"/>
              </a:ext>
            </a:extLst>
          </p:cNvPr>
          <p:cNvSpPr txBox="1"/>
          <p:nvPr/>
        </p:nvSpPr>
        <p:spPr>
          <a:xfrm>
            <a:off x="4281656" y="3222583"/>
            <a:ext cx="1910373"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3A3F50"/>
                </a:solidFill>
                <a:effectLst/>
                <a:uLnTx/>
                <a:uFillTx/>
                <a:latin typeface="Arial"/>
                <a:ea typeface="+mn-ea"/>
                <a:cs typeface="+mn-cs"/>
              </a:rPr>
              <a:t>20.26.222.217/jokes.css</a:t>
            </a:r>
          </a:p>
        </p:txBody>
      </p:sp>
      <p:pic>
        <p:nvPicPr>
          <p:cNvPr id="75" name="javascript pic">
            <a:extLst>
              <a:ext uri="{FF2B5EF4-FFF2-40B4-BE49-F238E27FC236}">
                <a16:creationId xmlns:a16="http://schemas.microsoft.com/office/drawing/2014/main" id="{AD2C3A1B-B5B4-31A2-C5CB-2DC1B8C7B6B1}"/>
              </a:ext>
            </a:extLst>
          </p:cNvPr>
          <p:cNvPicPr>
            <a:picLocks noChangeAspect="1"/>
          </p:cNvPicPr>
          <p:nvPr/>
        </p:nvPicPr>
        <p:blipFill>
          <a:blip r:embed="rId8"/>
          <a:stretch>
            <a:fillRect/>
          </a:stretch>
        </p:blipFill>
        <p:spPr>
          <a:xfrm>
            <a:off x="9079049" y="1331956"/>
            <a:ext cx="2553777" cy="1734288"/>
          </a:xfrm>
          <a:prstGeom prst="rect">
            <a:avLst/>
          </a:prstGeom>
        </p:spPr>
      </p:pic>
      <p:sp>
        <p:nvSpPr>
          <p:cNvPr id="76" name="script.js url">
            <a:extLst>
              <a:ext uri="{FF2B5EF4-FFF2-40B4-BE49-F238E27FC236}">
                <a16:creationId xmlns:a16="http://schemas.microsoft.com/office/drawing/2014/main" id="{8A08860D-075F-AEBA-527A-B0D7C4C804DE}"/>
              </a:ext>
            </a:extLst>
          </p:cNvPr>
          <p:cNvSpPr txBox="1"/>
          <p:nvPr/>
        </p:nvSpPr>
        <p:spPr>
          <a:xfrm>
            <a:off x="4272576" y="3214934"/>
            <a:ext cx="1485783"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3A3F50"/>
                </a:solidFill>
                <a:effectLst/>
                <a:uLnTx/>
                <a:uFillTx/>
                <a:latin typeface="Arial"/>
                <a:ea typeface="+mn-ea"/>
                <a:cs typeface="+mn-cs"/>
              </a:rPr>
              <a:t>20.26.222.217/jokes.js</a:t>
            </a:r>
          </a:p>
        </p:txBody>
      </p:sp>
      <p:pic>
        <p:nvPicPr>
          <p:cNvPr id="40" name="Cloud" descr="A white cloud with blue border&#10;&#10;Description automatically generated">
            <a:extLst>
              <a:ext uri="{FF2B5EF4-FFF2-40B4-BE49-F238E27FC236}">
                <a16:creationId xmlns:a16="http://schemas.microsoft.com/office/drawing/2014/main" id="{BCE9BC70-5B64-C57C-6D5E-012C81399B40}"/>
              </a:ext>
            </a:extLst>
          </p:cNvPr>
          <p:cNvPicPr>
            <a:picLocks noChangeAspect="1"/>
          </p:cNvPicPr>
          <p:nvPr/>
        </p:nvPicPr>
        <p:blipFill>
          <a:blip r:embed="rId9">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5942855" y="3134114"/>
            <a:ext cx="874295" cy="514185"/>
          </a:xfrm>
          <a:prstGeom prst="rect">
            <a:avLst/>
          </a:prstGeom>
        </p:spPr>
      </p:pic>
      <p:pic>
        <p:nvPicPr>
          <p:cNvPr id="21" name="joke.css pic">
            <a:extLst>
              <a:ext uri="{FF2B5EF4-FFF2-40B4-BE49-F238E27FC236}">
                <a16:creationId xmlns:a16="http://schemas.microsoft.com/office/drawing/2014/main" id="{59401C40-EB28-105A-2409-6ADB0E50B28C}"/>
              </a:ext>
            </a:extLst>
          </p:cNvPr>
          <p:cNvPicPr>
            <a:picLocks noChangeAspect="1"/>
          </p:cNvPicPr>
          <p:nvPr/>
        </p:nvPicPr>
        <p:blipFill>
          <a:blip r:embed="rId11"/>
          <a:stretch>
            <a:fillRect/>
          </a:stretch>
        </p:blipFill>
        <p:spPr>
          <a:xfrm>
            <a:off x="9065826" y="1331956"/>
            <a:ext cx="2791950" cy="1732810"/>
          </a:xfrm>
          <a:prstGeom prst="rect">
            <a:avLst/>
          </a:prstGeom>
        </p:spPr>
      </p:pic>
      <p:pic>
        <p:nvPicPr>
          <p:cNvPr id="23" name="Pic with joke">
            <a:extLst>
              <a:ext uri="{FF2B5EF4-FFF2-40B4-BE49-F238E27FC236}">
                <a16:creationId xmlns:a16="http://schemas.microsoft.com/office/drawing/2014/main" id="{3D863FE2-78AB-D0F8-C88E-436EAE6C6558}"/>
              </a:ext>
            </a:extLst>
          </p:cNvPr>
          <p:cNvPicPr>
            <a:picLocks noChangeAspect="1"/>
          </p:cNvPicPr>
          <p:nvPr/>
        </p:nvPicPr>
        <p:blipFill>
          <a:blip r:embed="rId12"/>
          <a:stretch>
            <a:fillRect/>
          </a:stretch>
        </p:blipFill>
        <p:spPr>
          <a:xfrm>
            <a:off x="978855" y="2728304"/>
            <a:ext cx="2593239" cy="1783120"/>
          </a:xfrm>
          <a:prstGeom prst="rect">
            <a:avLst/>
          </a:prstGeom>
        </p:spPr>
      </p:pic>
      <p:pic>
        <p:nvPicPr>
          <p:cNvPr id="16" name="Google page">
            <a:extLst>
              <a:ext uri="{FF2B5EF4-FFF2-40B4-BE49-F238E27FC236}">
                <a16:creationId xmlns:a16="http://schemas.microsoft.com/office/drawing/2014/main" id="{E47D86FE-EF48-BD46-4E90-CC30CE4570E3}"/>
              </a:ext>
            </a:extLst>
          </p:cNvPr>
          <p:cNvPicPr>
            <a:picLocks noChangeAspect="1"/>
          </p:cNvPicPr>
          <p:nvPr/>
        </p:nvPicPr>
        <p:blipFill>
          <a:blip r:embed="rId13"/>
          <a:stretch>
            <a:fillRect/>
          </a:stretch>
        </p:blipFill>
        <p:spPr>
          <a:xfrm>
            <a:off x="749667" y="2733933"/>
            <a:ext cx="3152361" cy="1703652"/>
          </a:xfrm>
          <a:prstGeom prst="rect">
            <a:avLst/>
          </a:prstGeom>
        </p:spPr>
      </p:pic>
      <p:grpSp>
        <p:nvGrpSpPr>
          <p:cNvPr id="25" name="DNS pic">
            <a:extLst>
              <a:ext uri="{FF2B5EF4-FFF2-40B4-BE49-F238E27FC236}">
                <a16:creationId xmlns:a16="http://schemas.microsoft.com/office/drawing/2014/main" id="{560D17F2-9F24-78AA-E84B-7EFD861BB1AE}"/>
              </a:ext>
            </a:extLst>
          </p:cNvPr>
          <p:cNvGrpSpPr/>
          <p:nvPr/>
        </p:nvGrpSpPr>
        <p:grpSpPr>
          <a:xfrm>
            <a:off x="4644328" y="1193456"/>
            <a:ext cx="2025800" cy="2065306"/>
            <a:chOff x="4644328" y="1193456"/>
            <a:chExt cx="2025800" cy="2065306"/>
          </a:xfrm>
        </p:grpSpPr>
        <p:pic>
          <p:nvPicPr>
            <p:cNvPr id="3076" name="Picture 4" descr="DNS: What is it, how does it work and ...">
              <a:extLst>
                <a:ext uri="{FF2B5EF4-FFF2-40B4-BE49-F238E27FC236}">
                  <a16:creationId xmlns:a16="http://schemas.microsoft.com/office/drawing/2014/main" id="{682A41BA-59EC-5517-03B5-6208E1F2BF0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44328" y="1412700"/>
              <a:ext cx="2025800" cy="1159549"/>
            </a:xfrm>
            <a:prstGeom prst="rect">
              <a:avLst/>
            </a:prstGeom>
            <a:noFill/>
            <a:extLst>
              <a:ext uri="{909E8E84-426E-40DD-AFC4-6F175D3DCCD1}">
                <a14:hiddenFill xmlns:a14="http://schemas.microsoft.com/office/drawing/2010/main">
                  <a:solidFill>
                    <a:srgbClr val="FFFFFF"/>
                  </a:solidFill>
                </a14:hiddenFill>
              </a:ext>
            </a:extLst>
          </p:spPr>
        </p:pic>
        <p:sp>
          <p:nvSpPr>
            <p:cNvPr id="18" name="Server Label">
              <a:extLst>
                <a:ext uri="{FF2B5EF4-FFF2-40B4-BE49-F238E27FC236}">
                  <a16:creationId xmlns:a16="http://schemas.microsoft.com/office/drawing/2014/main" id="{44E9FC56-B614-703A-B768-D0F60BB0553A}"/>
                </a:ext>
              </a:extLst>
            </p:cNvPr>
            <p:cNvSpPr txBox="1"/>
            <p:nvPr/>
          </p:nvSpPr>
          <p:spPr>
            <a:xfrm>
              <a:off x="4775763" y="1193456"/>
              <a:ext cx="176293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Domain Name System</a:t>
              </a:r>
            </a:p>
          </p:txBody>
        </p:sp>
        <p:cxnSp>
          <p:nvCxnSpPr>
            <p:cNvPr id="19" name="To Web Conector">
              <a:extLst>
                <a:ext uri="{FF2B5EF4-FFF2-40B4-BE49-F238E27FC236}">
                  <a16:creationId xmlns:a16="http://schemas.microsoft.com/office/drawing/2014/main" id="{4C3544C9-2D57-CC6E-AE39-710E7A555C0E}"/>
                </a:ext>
              </a:extLst>
            </p:cNvPr>
            <p:cNvCxnSpPr>
              <a:cxnSpLocks/>
              <a:stCxn id="3076" idx="2"/>
            </p:cNvCxnSpPr>
            <p:nvPr/>
          </p:nvCxnSpPr>
          <p:spPr>
            <a:xfrm>
              <a:off x="5657228" y="2572249"/>
              <a:ext cx="501536" cy="686513"/>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grpSp>
    </p:spTree>
    <p:extLst>
      <p:ext uri="{BB962C8B-B14F-4D97-AF65-F5344CB8AC3E}">
        <p14:creationId xmlns:p14="http://schemas.microsoft.com/office/powerpoint/2010/main" val="8799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3"/>
                                        </p:tgtEl>
                                      </p:cBhvr>
                                    </p:animEffect>
                                    <p:set>
                                      <p:cBhvr>
                                        <p:cTn id="37" dur="1" fill="hold">
                                          <p:stCondLst>
                                            <p:cond delay="499"/>
                                          </p:stCondLst>
                                        </p:cTn>
                                        <p:tgtEl>
                                          <p:spTgt spid="3"/>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25"/>
                                        </p:tgtEl>
                                      </p:cBhvr>
                                    </p:animEffect>
                                    <p:set>
                                      <p:cBhvr>
                                        <p:cTn id="40" dur="1" fill="hold">
                                          <p:stCondLst>
                                            <p:cond delay="499"/>
                                          </p:stCondLst>
                                        </p:cTn>
                                        <p:tgtEl>
                                          <p:spTgt spid="25"/>
                                        </p:tgtEl>
                                        <p:attrNameLst>
                                          <p:attrName>style.visibility</p:attrName>
                                        </p:attrNameLst>
                                      </p:cBhvr>
                                      <p:to>
                                        <p:strVal val="hidden"/>
                                      </p:to>
                                    </p:se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10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path" presetSubtype="0" accel="50000" decel="50000" fill="hold" grpId="1" nodeType="clickEffect">
                                  <p:stCondLst>
                                    <p:cond delay="0"/>
                                  </p:stCondLst>
                                  <p:childTnLst>
                                    <p:animMotion origin="layout" path="M 3.75E-6 -1.48148E-6 L 0.24557 -0.10579 " pathEditMode="relative" rAng="0" ptsTypes="AA">
                                      <p:cBhvr>
                                        <p:cTn id="48" dur="2000" fill="hold"/>
                                        <p:tgtEl>
                                          <p:spTgt spid="4"/>
                                        </p:tgtEl>
                                        <p:attrNameLst>
                                          <p:attrName>ppt_x</p:attrName>
                                          <p:attrName>ppt_y</p:attrName>
                                        </p:attrNameLst>
                                      </p:cBhvr>
                                      <p:rCtr x="12279" y="-5301"/>
                                    </p:animMotion>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par>
                                <p:cTn id="54" presetID="10" presetClass="exit" presetSubtype="0" fill="hold" grpId="2" nodeType="withEffect">
                                  <p:stCondLst>
                                    <p:cond delay="0"/>
                                  </p:stCondLst>
                                  <p:childTnLst>
                                    <p:animEffect transition="out" filter="fade">
                                      <p:cBhvr>
                                        <p:cTn id="55" dur="500"/>
                                        <p:tgtEl>
                                          <p:spTgt spid="4"/>
                                        </p:tgtEl>
                                      </p:cBhvr>
                                    </p:animEffect>
                                    <p:set>
                                      <p:cBhvr>
                                        <p:cTn id="56" dur="1" fill="hold">
                                          <p:stCondLst>
                                            <p:cond delay="499"/>
                                          </p:stCondLst>
                                        </p:cTn>
                                        <p:tgtEl>
                                          <p:spTgt spid="4"/>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42" presetClass="path" presetSubtype="0" accel="50000" decel="50000" fill="hold" nodeType="clickEffect">
                                  <p:stCondLst>
                                    <p:cond delay="0"/>
                                  </p:stCondLst>
                                  <p:childTnLst>
                                    <p:animMotion origin="layout" path="M -2.29167E-6 -2.96296E-6 L -0.6789 0.20695 " pathEditMode="relative" rAng="0" ptsTypes="AA">
                                      <p:cBhvr>
                                        <p:cTn id="60" dur="2000" fill="hold"/>
                                        <p:tgtEl>
                                          <p:spTgt spid="28"/>
                                        </p:tgtEl>
                                        <p:attrNameLst>
                                          <p:attrName>ppt_x</p:attrName>
                                          <p:attrName>ppt_y</p:attrName>
                                        </p:attrNameLst>
                                      </p:cBhvr>
                                      <p:rCtr x="-33945" y="10347"/>
                                    </p:animMotion>
                                  </p:childTnLst>
                                </p:cTn>
                              </p:par>
                              <p:par>
                                <p:cTn id="61" presetID="10" presetClass="exit" presetSubtype="0" fill="hold" nodeType="withEffect">
                                  <p:stCondLst>
                                    <p:cond delay="0"/>
                                  </p:stCondLst>
                                  <p:childTnLst>
                                    <p:animEffect transition="out" filter="fade">
                                      <p:cBhvr>
                                        <p:cTn id="62" dur="1500"/>
                                        <p:tgtEl>
                                          <p:spTgt spid="16"/>
                                        </p:tgtEl>
                                      </p:cBhvr>
                                    </p:animEffect>
                                    <p:set>
                                      <p:cBhvr>
                                        <p:cTn id="63" dur="1" fill="hold">
                                          <p:stCondLst>
                                            <p:cond delay="1499"/>
                                          </p:stCondLst>
                                        </p:cTn>
                                        <p:tgtEl>
                                          <p:spTgt spid="16"/>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childTnLst>
                                </p:cTn>
                              </p:par>
                              <p:par>
                                <p:cTn id="69" presetID="10" presetClass="exit" presetSubtype="0" fill="hold" nodeType="withEffect">
                                  <p:stCondLst>
                                    <p:cond delay="0"/>
                                  </p:stCondLst>
                                  <p:childTnLst>
                                    <p:animEffect transition="out" filter="fade">
                                      <p:cBhvr>
                                        <p:cTn id="70" dur="500"/>
                                        <p:tgtEl>
                                          <p:spTgt spid="28"/>
                                        </p:tgtEl>
                                      </p:cBhvr>
                                    </p:animEffect>
                                    <p:set>
                                      <p:cBhvr>
                                        <p:cTn id="71" dur="1" fill="hold">
                                          <p:stCondLst>
                                            <p:cond delay="499"/>
                                          </p:stCondLst>
                                        </p:cTn>
                                        <p:tgtEl>
                                          <p:spTgt spid="28"/>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71"/>
                                        </p:tgtEl>
                                        <p:attrNameLst>
                                          <p:attrName>style.visibility</p:attrName>
                                        </p:attrNameLst>
                                      </p:cBhvr>
                                      <p:to>
                                        <p:strVal val="visible"/>
                                      </p:to>
                                    </p:set>
                                    <p:animEffect transition="in" filter="fade">
                                      <p:cBhvr>
                                        <p:cTn id="76" dur="500"/>
                                        <p:tgtEl>
                                          <p:spTgt spid="71"/>
                                        </p:tgtEl>
                                      </p:cBhvr>
                                    </p:animEffect>
                                  </p:childTnLst>
                                </p:cTn>
                              </p:par>
                            </p:childTnLst>
                          </p:cTn>
                        </p:par>
                      </p:childTnLst>
                    </p:cTn>
                  </p:par>
                  <p:par>
                    <p:cTn id="77" fill="hold">
                      <p:stCondLst>
                        <p:cond delay="indefinite"/>
                      </p:stCondLst>
                      <p:childTnLst>
                        <p:par>
                          <p:cTn id="78" fill="hold">
                            <p:stCondLst>
                              <p:cond delay="0"/>
                            </p:stCondLst>
                            <p:childTnLst>
                              <p:par>
                                <p:cTn id="79" presetID="42" presetClass="path" presetSubtype="0" accel="50000" decel="50000" fill="hold" grpId="1" nodeType="clickEffect">
                                  <p:stCondLst>
                                    <p:cond delay="0"/>
                                  </p:stCondLst>
                                  <p:childTnLst>
                                    <p:animMotion origin="layout" path="M 2.91667E-6 -1.48148E-6 L 0.24622 -0.1081 " pathEditMode="relative" rAng="0" ptsTypes="AA">
                                      <p:cBhvr>
                                        <p:cTn id="80" dur="2000" fill="hold"/>
                                        <p:tgtEl>
                                          <p:spTgt spid="71"/>
                                        </p:tgtEl>
                                        <p:attrNameLst>
                                          <p:attrName>ppt_x</p:attrName>
                                          <p:attrName>ppt_y</p:attrName>
                                        </p:attrNameLst>
                                      </p:cBhvr>
                                      <p:rCtr x="12305" y="-5417"/>
                                    </p:animMotion>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childTnLst>
                                </p:cTn>
                              </p:par>
                              <p:par>
                                <p:cTn id="86" presetID="10" presetClass="exit" presetSubtype="0" fill="hold" grpId="2" nodeType="withEffect">
                                  <p:stCondLst>
                                    <p:cond delay="0"/>
                                  </p:stCondLst>
                                  <p:childTnLst>
                                    <p:animEffect transition="out" filter="fade">
                                      <p:cBhvr>
                                        <p:cTn id="87" dur="500"/>
                                        <p:tgtEl>
                                          <p:spTgt spid="71"/>
                                        </p:tgtEl>
                                      </p:cBhvr>
                                    </p:animEffect>
                                    <p:set>
                                      <p:cBhvr>
                                        <p:cTn id="88" dur="1" fill="hold">
                                          <p:stCondLst>
                                            <p:cond delay="499"/>
                                          </p:stCondLst>
                                        </p:cTn>
                                        <p:tgtEl>
                                          <p:spTgt spid="71"/>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42" presetClass="path" presetSubtype="0" accel="50000" decel="50000" fill="hold" nodeType="clickEffect">
                                  <p:stCondLst>
                                    <p:cond delay="0"/>
                                  </p:stCondLst>
                                  <p:childTnLst>
                                    <p:animMotion origin="layout" path="M -2.91667E-6 -1.85185E-6 L -0.68125 0.20486 " pathEditMode="relative" rAng="0" ptsTypes="AA">
                                      <p:cBhvr>
                                        <p:cTn id="92" dur="2000" fill="hold"/>
                                        <p:tgtEl>
                                          <p:spTgt spid="21"/>
                                        </p:tgtEl>
                                        <p:attrNameLst>
                                          <p:attrName>ppt_x</p:attrName>
                                          <p:attrName>ppt_y</p:attrName>
                                        </p:attrNameLst>
                                      </p:cBhvr>
                                      <p:rCtr x="-34062" y="10231"/>
                                    </p:animMotion>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nodeType="clickEffect">
                                  <p:stCondLst>
                                    <p:cond delay="0"/>
                                  </p:stCondLst>
                                  <p:childTnLst>
                                    <p:animEffect transition="out" filter="fade">
                                      <p:cBhvr>
                                        <p:cTn id="96" dur="1000"/>
                                        <p:tgtEl>
                                          <p:spTgt spid="21"/>
                                        </p:tgtEl>
                                      </p:cBhvr>
                                    </p:animEffect>
                                    <p:set>
                                      <p:cBhvr>
                                        <p:cTn id="97" dur="1" fill="hold">
                                          <p:stCondLst>
                                            <p:cond delay="999"/>
                                          </p:stCondLst>
                                        </p:cTn>
                                        <p:tgtEl>
                                          <p:spTgt spid="21"/>
                                        </p:tgtEl>
                                        <p:attrNameLst>
                                          <p:attrName>style.visibility</p:attrName>
                                        </p:attrNameLst>
                                      </p:cBhvr>
                                      <p:to>
                                        <p:strVal val="hidden"/>
                                      </p:to>
                                    </p:set>
                                  </p:childTnLst>
                                </p:cTn>
                              </p:par>
                              <p:par>
                                <p:cTn id="98" presetID="10" presetClass="entr" presetSubtype="0" fill="hold" nodeType="withEffect">
                                  <p:stCondLst>
                                    <p:cond delay="0"/>
                                  </p:stCondLst>
                                  <p:childTnLst>
                                    <p:set>
                                      <p:cBhvr>
                                        <p:cTn id="99" dur="1" fill="hold">
                                          <p:stCondLst>
                                            <p:cond delay="0"/>
                                          </p:stCondLst>
                                        </p:cTn>
                                        <p:tgtEl>
                                          <p:spTgt spid="69"/>
                                        </p:tgtEl>
                                        <p:attrNameLst>
                                          <p:attrName>style.visibility</p:attrName>
                                        </p:attrNameLst>
                                      </p:cBhvr>
                                      <p:to>
                                        <p:strVal val="visible"/>
                                      </p:to>
                                    </p:set>
                                    <p:animEffect transition="in" filter="fade">
                                      <p:cBhvr>
                                        <p:cTn id="100" dur="1000"/>
                                        <p:tgtEl>
                                          <p:spTgt spid="69"/>
                                        </p:tgtEl>
                                      </p:cBhvr>
                                    </p:animEffect>
                                  </p:childTnLst>
                                </p:cTn>
                              </p:par>
                              <p:par>
                                <p:cTn id="101" presetID="10" presetClass="exit" presetSubtype="0" fill="hold" nodeType="withEffect">
                                  <p:stCondLst>
                                    <p:cond delay="0"/>
                                  </p:stCondLst>
                                  <p:childTnLst>
                                    <p:animEffect transition="out" filter="fade">
                                      <p:cBhvr>
                                        <p:cTn id="102" dur="1000"/>
                                        <p:tgtEl>
                                          <p:spTgt spid="17"/>
                                        </p:tgtEl>
                                      </p:cBhvr>
                                    </p:animEffect>
                                    <p:set>
                                      <p:cBhvr>
                                        <p:cTn id="103" dur="1" fill="hold">
                                          <p:stCondLst>
                                            <p:cond delay="999"/>
                                          </p:stCondLst>
                                        </p:cTn>
                                        <p:tgtEl>
                                          <p:spTgt spid="17"/>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76"/>
                                        </p:tgtEl>
                                        <p:attrNameLst>
                                          <p:attrName>style.visibility</p:attrName>
                                        </p:attrNameLst>
                                      </p:cBhvr>
                                      <p:to>
                                        <p:strVal val="visible"/>
                                      </p:to>
                                    </p:set>
                                    <p:animEffect transition="in" filter="fade">
                                      <p:cBhvr>
                                        <p:cTn id="108" dur="500"/>
                                        <p:tgtEl>
                                          <p:spTgt spid="76"/>
                                        </p:tgtEl>
                                      </p:cBhvr>
                                    </p:animEffect>
                                  </p:childTnLst>
                                </p:cTn>
                              </p:par>
                            </p:childTnLst>
                          </p:cTn>
                        </p:par>
                      </p:childTnLst>
                    </p:cTn>
                  </p:par>
                  <p:par>
                    <p:cTn id="109" fill="hold">
                      <p:stCondLst>
                        <p:cond delay="indefinite"/>
                      </p:stCondLst>
                      <p:childTnLst>
                        <p:par>
                          <p:cTn id="110" fill="hold">
                            <p:stCondLst>
                              <p:cond delay="0"/>
                            </p:stCondLst>
                            <p:childTnLst>
                              <p:par>
                                <p:cTn id="111" presetID="42" presetClass="path" presetSubtype="0" accel="50000" decel="50000" fill="hold" grpId="1" nodeType="clickEffect">
                                  <p:stCondLst>
                                    <p:cond delay="0"/>
                                  </p:stCondLst>
                                  <p:childTnLst>
                                    <p:animMotion origin="layout" path="M 1.875E-6 -4.07407E-6 L 0.25482 -0.10694 " pathEditMode="relative" rAng="0" ptsTypes="AA">
                                      <p:cBhvr>
                                        <p:cTn id="112" dur="2000" fill="hold"/>
                                        <p:tgtEl>
                                          <p:spTgt spid="76"/>
                                        </p:tgtEl>
                                        <p:attrNameLst>
                                          <p:attrName>ppt_x</p:attrName>
                                          <p:attrName>ppt_y</p:attrName>
                                        </p:attrNameLst>
                                      </p:cBhvr>
                                      <p:rCtr x="12734" y="-5347"/>
                                    </p:animMotion>
                                  </p:childTnLst>
                                </p:cTn>
                              </p:par>
                            </p:childTnLst>
                          </p:cTn>
                        </p:par>
                      </p:childTnLst>
                    </p:cTn>
                  </p:par>
                  <p:par>
                    <p:cTn id="113" fill="hold">
                      <p:stCondLst>
                        <p:cond delay="indefinite"/>
                      </p:stCondLst>
                      <p:childTnLst>
                        <p:par>
                          <p:cTn id="114" fill="hold">
                            <p:stCondLst>
                              <p:cond delay="0"/>
                            </p:stCondLst>
                            <p:childTnLst>
                              <p:par>
                                <p:cTn id="115" presetID="10" presetClass="exit" presetSubtype="0" fill="hold" grpId="2" nodeType="clickEffect">
                                  <p:stCondLst>
                                    <p:cond delay="0"/>
                                  </p:stCondLst>
                                  <p:childTnLst>
                                    <p:animEffect transition="out" filter="fade">
                                      <p:cBhvr>
                                        <p:cTn id="116" dur="1000"/>
                                        <p:tgtEl>
                                          <p:spTgt spid="76"/>
                                        </p:tgtEl>
                                      </p:cBhvr>
                                    </p:animEffect>
                                    <p:set>
                                      <p:cBhvr>
                                        <p:cTn id="117" dur="1" fill="hold">
                                          <p:stCondLst>
                                            <p:cond delay="999"/>
                                          </p:stCondLst>
                                        </p:cTn>
                                        <p:tgtEl>
                                          <p:spTgt spid="76"/>
                                        </p:tgtEl>
                                        <p:attrNameLst>
                                          <p:attrName>style.visibility</p:attrName>
                                        </p:attrNameLst>
                                      </p:cBhvr>
                                      <p:to>
                                        <p:strVal val="hidden"/>
                                      </p:to>
                                    </p:set>
                                  </p:childTnLst>
                                </p:cTn>
                              </p:par>
                              <p:par>
                                <p:cTn id="118" presetID="10" presetClass="entr" presetSubtype="0" fill="hold" nodeType="withEffect">
                                  <p:stCondLst>
                                    <p:cond delay="0"/>
                                  </p:stCondLst>
                                  <p:childTnLst>
                                    <p:set>
                                      <p:cBhvr>
                                        <p:cTn id="119" dur="1" fill="hold">
                                          <p:stCondLst>
                                            <p:cond delay="0"/>
                                          </p:stCondLst>
                                        </p:cTn>
                                        <p:tgtEl>
                                          <p:spTgt spid="75"/>
                                        </p:tgtEl>
                                        <p:attrNameLst>
                                          <p:attrName>style.visibility</p:attrName>
                                        </p:attrNameLst>
                                      </p:cBhvr>
                                      <p:to>
                                        <p:strVal val="visible"/>
                                      </p:to>
                                    </p:set>
                                    <p:animEffect transition="in" filter="fade">
                                      <p:cBhvr>
                                        <p:cTn id="120" dur="1000"/>
                                        <p:tgtEl>
                                          <p:spTgt spid="75"/>
                                        </p:tgtEl>
                                      </p:cBhvr>
                                    </p:animEffect>
                                  </p:childTnLst>
                                </p:cTn>
                              </p:par>
                            </p:childTnLst>
                          </p:cTn>
                        </p:par>
                      </p:childTnLst>
                    </p:cTn>
                  </p:par>
                  <p:par>
                    <p:cTn id="121" fill="hold">
                      <p:stCondLst>
                        <p:cond delay="indefinite"/>
                      </p:stCondLst>
                      <p:childTnLst>
                        <p:par>
                          <p:cTn id="122" fill="hold">
                            <p:stCondLst>
                              <p:cond delay="0"/>
                            </p:stCondLst>
                            <p:childTnLst>
                              <p:par>
                                <p:cTn id="123" presetID="42" presetClass="path" presetSubtype="0" accel="50000" decel="50000" fill="hold" nodeType="clickEffect">
                                  <p:stCondLst>
                                    <p:cond delay="0"/>
                                  </p:stCondLst>
                                  <p:childTnLst>
                                    <p:animMotion origin="layout" path="M 1.04167E-6 -1.85185E-6 L -0.68125 0.20486 " pathEditMode="relative" rAng="0" ptsTypes="AA">
                                      <p:cBhvr>
                                        <p:cTn id="124" dur="2000" fill="hold"/>
                                        <p:tgtEl>
                                          <p:spTgt spid="75"/>
                                        </p:tgtEl>
                                        <p:attrNameLst>
                                          <p:attrName>ppt_x</p:attrName>
                                          <p:attrName>ppt_y</p:attrName>
                                        </p:attrNameLst>
                                      </p:cBhvr>
                                      <p:rCtr x="-34062" y="10231"/>
                                    </p:animMotion>
                                  </p:childTnLst>
                                </p:cTn>
                              </p:par>
                              <p:par>
                                <p:cTn id="125" presetID="10" presetClass="exit" presetSubtype="0" fill="hold" nodeType="withEffect">
                                  <p:stCondLst>
                                    <p:cond delay="0"/>
                                  </p:stCondLst>
                                  <p:childTnLst>
                                    <p:animEffect transition="out" filter="fade">
                                      <p:cBhvr>
                                        <p:cTn id="126" dur="1500"/>
                                        <p:tgtEl>
                                          <p:spTgt spid="69"/>
                                        </p:tgtEl>
                                      </p:cBhvr>
                                    </p:animEffect>
                                    <p:set>
                                      <p:cBhvr>
                                        <p:cTn id="127" dur="1" fill="hold">
                                          <p:stCondLst>
                                            <p:cond delay="1499"/>
                                          </p:stCondLst>
                                        </p:cTn>
                                        <p:tgtEl>
                                          <p:spTgt spid="69"/>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23"/>
                                        </p:tgtEl>
                                        <p:attrNameLst>
                                          <p:attrName>style.visibility</p:attrName>
                                        </p:attrNameLst>
                                      </p:cBhvr>
                                      <p:to>
                                        <p:strVal val="visible"/>
                                      </p:to>
                                    </p:set>
                                    <p:animEffect transition="in" filter="fade">
                                      <p:cBhvr>
                                        <p:cTn id="132" dur="1000"/>
                                        <p:tgtEl>
                                          <p:spTgt spid="23"/>
                                        </p:tgtEl>
                                      </p:cBhvr>
                                    </p:animEffect>
                                  </p:childTnLst>
                                </p:cTn>
                              </p:par>
                              <p:par>
                                <p:cTn id="133" presetID="10" presetClass="exit" presetSubtype="0" fill="hold" nodeType="withEffect">
                                  <p:stCondLst>
                                    <p:cond delay="0"/>
                                  </p:stCondLst>
                                  <p:childTnLst>
                                    <p:animEffect transition="out" filter="fade">
                                      <p:cBhvr>
                                        <p:cTn id="134" dur="1000"/>
                                        <p:tgtEl>
                                          <p:spTgt spid="75"/>
                                        </p:tgtEl>
                                      </p:cBhvr>
                                    </p:animEffect>
                                    <p:set>
                                      <p:cBhvr>
                                        <p:cTn id="135" dur="1" fill="hold">
                                          <p:stCondLst>
                                            <p:cond delay="999"/>
                                          </p:stCondLst>
                                        </p:cTn>
                                        <p:tgtEl>
                                          <p:spTgt spid="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4" grpId="2"/>
      <p:bldP spid="71" grpId="0"/>
      <p:bldP spid="71" grpId="1"/>
      <p:bldP spid="71" grpId="2"/>
      <p:bldP spid="76" grpId="0"/>
      <p:bldP spid="76" grpId="1"/>
      <p:bldP spid="76" grpId="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F697DFD-6F62-E7CC-9D73-F553A4071DA9}"/>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3FDC531-240F-1C39-4388-C4C56BE0A82F}"/>
              </a:ext>
            </a:extLst>
          </p:cNvPr>
          <p:cNvSpPr>
            <a:spLocks noGrp="1"/>
          </p:cNvSpPr>
          <p:nvPr>
            <p:ph type="title"/>
          </p:nvPr>
        </p:nvSpPr>
        <p:spPr/>
        <p:txBody>
          <a:bodyPr/>
          <a:lstStyle/>
          <a:p>
            <a:r>
              <a:rPr lang="en-GB" noProof="0" dirty="0" err="1"/>
              <a:t>HyperText</a:t>
            </a:r>
            <a:r>
              <a:rPr lang="en-GB" noProof="0" dirty="0"/>
              <a:t> Markup Language - HTML</a:t>
            </a:r>
          </a:p>
        </p:txBody>
      </p:sp>
      <p:sp>
        <p:nvSpPr>
          <p:cNvPr id="4" name="Content Placeholder 2">
            <a:extLst>
              <a:ext uri="{FF2B5EF4-FFF2-40B4-BE49-F238E27FC236}">
                <a16:creationId xmlns:a16="http://schemas.microsoft.com/office/drawing/2014/main" id="{FB3FCB04-6972-73AA-32D2-37ABAC9B588B}"/>
              </a:ext>
            </a:extLst>
          </p:cNvPr>
          <p:cNvSpPr>
            <a:spLocks noGrp="1"/>
          </p:cNvSpPr>
          <p:nvPr>
            <p:ph type="body" idx="1"/>
          </p:nvPr>
        </p:nvSpPr>
        <p:spPr>
          <a:xfrm>
            <a:off x="609600" y="1089368"/>
            <a:ext cx="11163300" cy="2682532"/>
          </a:xfrm>
        </p:spPr>
        <p:txBody>
          <a:bodyPr/>
          <a:lstStyle/>
          <a:p>
            <a:r>
              <a:rPr lang="en-GB" noProof="0" dirty="0"/>
              <a:t>Used to create the web page content</a:t>
            </a:r>
          </a:p>
          <a:p>
            <a:r>
              <a:rPr lang="en-GB" noProof="0" dirty="0"/>
              <a:t>Browser reads HTML as text from a web server (or file store), interprets it and responds accordingly – generally by requesting more resources and rendering html onto the screen</a:t>
            </a:r>
          </a:p>
          <a:p>
            <a:r>
              <a:rPr lang="en-GB" noProof="0" dirty="0"/>
              <a:t>Syntax of language: &lt;start-tag optional-attributes&gt;content&lt;end-tag&gt; - this is an html element</a:t>
            </a:r>
          </a:p>
          <a:p>
            <a:r>
              <a:rPr lang="en-GB" noProof="0" dirty="0"/>
              <a:t>Attributes are of the form: </a:t>
            </a:r>
            <a:r>
              <a:rPr lang="en-GB" noProof="0" dirty="0" err="1"/>
              <a:t>attributeName</a:t>
            </a:r>
            <a:r>
              <a:rPr lang="en-GB" noProof="0" dirty="0"/>
              <a:t> = “value”</a:t>
            </a:r>
          </a:p>
          <a:p>
            <a:r>
              <a:rPr lang="en-GB" noProof="0" dirty="0"/>
              <a:t>End-tag is the start-tag name prefixed with / (there are minor exceptions)</a:t>
            </a:r>
          </a:p>
          <a:p>
            <a:r>
              <a:rPr lang="en-GB" noProof="0" dirty="0"/>
              <a:t>HTML document structure:</a:t>
            </a:r>
          </a:p>
        </p:txBody>
      </p:sp>
      <p:sp>
        <p:nvSpPr>
          <p:cNvPr id="9" name="Slide Number Placeholder 8">
            <a:extLst>
              <a:ext uri="{FF2B5EF4-FFF2-40B4-BE49-F238E27FC236}">
                <a16:creationId xmlns:a16="http://schemas.microsoft.com/office/drawing/2014/main" id="{E0602DB0-6EDC-9E50-09BE-31CA1E7FDE69}"/>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10" name="Picture 9">
            <a:extLst>
              <a:ext uri="{FF2B5EF4-FFF2-40B4-BE49-F238E27FC236}">
                <a16:creationId xmlns:a16="http://schemas.microsoft.com/office/drawing/2014/main" id="{3B8EFA0D-459D-27C9-C5E9-A90B7E251861}"/>
              </a:ext>
            </a:extLst>
          </p:cNvPr>
          <p:cNvPicPr>
            <a:picLocks noChangeAspect="1"/>
          </p:cNvPicPr>
          <p:nvPr/>
        </p:nvPicPr>
        <p:blipFill>
          <a:blip r:embed="rId3"/>
          <a:stretch>
            <a:fillRect/>
          </a:stretch>
        </p:blipFill>
        <p:spPr>
          <a:xfrm>
            <a:off x="4682970" y="3319492"/>
            <a:ext cx="1935000" cy="3416484"/>
          </a:xfrm>
          <a:prstGeom prst="rect">
            <a:avLst/>
          </a:prstGeom>
        </p:spPr>
      </p:pic>
    </p:spTree>
    <p:extLst>
      <p:ext uri="{BB962C8B-B14F-4D97-AF65-F5344CB8AC3E}">
        <p14:creationId xmlns:p14="http://schemas.microsoft.com/office/powerpoint/2010/main" val="143344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C24C3-DB4C-E517-4711-001922BCAE24}"/>
              </a:ext>
            </a:extLst>
          </p:cNvPr>
          <p:cNvSpPr>
            <a:spLocks noGrp="1"/>
          </p:cNvSpPr>
          <p:nvPr>
            <p:ph type="title"/>
          </p:nvPr>
        </p:nvSpPr>
        <p:spPr/>
        <p:txBody>
          <a:bodyPr/>
          <a:lstStyle/>
          <a:p>
            <a:r>
              <a:rPr lang="en-GB" noProof="0" dirty="0"/>
              <a:t>Semantic elements</a:t>
            </a:r>
          </a:p>
        </p:txBody>
      </p:sp>
      <p:sp>
        <p:nvSpPr>
          <p:cNvPr id="3" name="Text Placeholder 2">
            <a:extLst>
              <a:ext uri="{FF2B5EF4-FFF2-40B4-BE49-F238E27FC236}">
                <a16:creationId xmlns:a16="http://schemas.microsoft.com/office/drawing/2014/main" id="{F26D3B67-5138-E131-014E-4055C9DF41E5}"/>
              </a:ext>
            </a:extLst>
          </p:cNvPr>
          <p:cNvSpPr>
            <a:spLocks noGrp="1"/>
          </p:cNvSpPr>
          <p:nvPr>
            <p:ph type="body" idx="1"/>
          </p:nvPr>
        </p:nvSpPr>
        <p:spPr>
          <a:xfrm>
            <a:off x="609600" y="885825"/>
            <a:ext cx="11163300" cy="5387632"/>
          </a:xfrm>
        </p:spPr>
        <p:txBody>
          <a:bodyPr/>
          <a:lstStyle/>
          <a:p>
            <a:r>
              <a:rPr lang="en-GB" noProof="0" dirty="0"/>
              <a:t>Semantic elements (there are many) describe the purpose of the content within them</a:t>
            </a:r>
          </a:p>
          <a:p>
            <a:r>
              <a:rPr lang="en-GB" noProof="0" dirty="0"/>
              <a:t>These tags don't "do" anything other than describe structure and intent of their content</a:t>
            </a:r>
          </a:p>
          <a:p>
            <a:pPr lvl="1"/>
            <a:r>
              <a:rPr lang="en-GB" noProof="0" dirty="0"/>
              <a:t>&lt;header&gt; Introduces a page or section &lt;/header&gt;</a:t>
            </a:r>
          </a:p>
          <a:p>
            <a:pPr lvl="1"/>
            <a:r>
              <a:rPr lang="en-GB" noProof="0" dirty="0"/>
              <a:t>&lt;nav&gt; Holds navigation elements like menus &lt;/nav&gt;</a:t>
            </a:r>
          </a:p>
          <a:p>
            <a:pPr lvl="1"/>
            <a:r>
              <a:rPr lang="en-GB" noProof="0" dirty="0"/>
              <a:t>&lt;main&gt; The main content of the page &lt;/main&gt; can only have one of these per page</a:t>
            </a:r>
          </a:p>
          <a:p>
            <a:pPr lvl="1"/>
            <a:r>
              <a:rPr lang="en-GB" noProof="0" dirty="0"/>
              <a:t>&lt;footer&gt; This is the closing information of a page/section &lt;/footer&gt; e.g. copyright, date etc</a:t>
            </a:r>
          </a:p>
          <a:p>
            <a:r>
              <a:rPr lang="en-GB" noProof="0" dirty="0"/>
              <a:t>So if they don't do anything, why have them?</a:t>
            </a:r>
          </a:p>
          <a:p>
            <a:r>
              <a:rPr lang="en-GB" noProof="0" dirty="0"/>
              <a:t>Accessibility is a key use</a:t>
            </a:r>
          </a:p>
          <a:p>
            <a:pPr lvl="1"/>
            <a:r>
              <a:rPr lang="en-GB" noProof="0" dirty="0"/>
              <a:t>Screen readers can use these hints to determine how to navigate the page</a:t>
            </a:r>
          </a:p>
          <a:p>
            <a:pPr lvl="1"/>
            <a:r>
              <a:rPr lang="en-GB" noProof="0" dirty="0"/>
              <a:t>Provides visually impaired users with a structure of the page as they can't see it</a:t>
            </a:r>
          </a:p>
          <a:p>
            <a:pPr lvl="1"/>
            <a:r>
              <a:rPr lang="en-GB" noProof="0" dirty="0"/>
              <a:t>We can use semantic elements to describe content and images</a:t>
            </a:r>
          </a:p>
          <a:p>
            <a:pPr lvl="1"/>
            <a:r>
              <a:rPr lang="en-GB" noProof="0" dirty="0"/>
              <a:t>A user can jump to areas of the page they are interested in rather than listen to everything being read out</a:t>
            </a:r>
          </a:p>
          <a:p>
            <a:r>
              <a:rPr lang="en-GB" noProof="0" dirty="0"/>
              <a:t>Search Engine Optimisation</a:t>
            </a:r>
          </a:p>
          <a:p>
            <a:pPr lvl="1"/>
            <a:r>
              <a:rPr lang="en-GB" noProof="0" dirty="0"/>
              <a:t>Search engines can recognise which parts of the page matter most</a:t>
            </a:r>
          </a:p>
          <a:p>
            <a:r>
              <a:rPr lang="en-GB" dirty="0"/>
              <a:t>I won't dwell on these to start with, but you need to be aware of them</a:t>
            </a:r>
          </a:p>
          <a:p>
            <a:pPr lvl="1"/>
            <a:r>
              <a:rPr lang="en-GB" dirty="0"/>
              <a:t>Accessibility compliance is a moral and legal obligation</a:t>
            </a:r>
            <a:endParaRPr lang="en-GB" noProof="0" dirty="0"/>
          </a:p>
        </p:txBody>
      </p:sp>
      <p:sp>
        <p:nvSpPr>
          <p:cNvPr id="4" name="Slide Number Placeholder 3">
            <a:extLst>
              <a:ext uri="{FF2B5EF4-FFF2-40B4-BE49-F238E27FC236}">
                <a16:creationId xmlns:a16="http://schemas.microsoft.com/office/drawing/2014/main" id="{962312A1-A03E-9AEE-40FF-F1F1F5B1B28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162798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A66B4DD-00AD-8052-3584-EA7BF84DDD64}"/>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136A938-7870-5BA3-F951-D94184861DCC}"/>
              </a:ext>
            </a:extLst>
          </p:cNvPr>
          <p:cNvSpPr>
            <a:spLocks noGrp="1"/>
          </p:cNvSpPr>
          <p:nvPr>
            <p:ph type="title"/>
          </p:nvPr>
        </p:nvSpPr>
        <p:spPr/>
        <p:txBody>
          <a:bodyPr/>
          <a:lstStyle/>
          <a:p>
            <a:r>
              <a:rPr lang="en-GB" noProof="0" dirty="0"/>
              <a:t>Some initial basic HTML</a:t>
            </a:r>
          </a:p>
        </p:txBody>
      </p:sp>
      <p:sp>
        <p:nvSpPr>
          <p:cNvPr id="3" name="Text Placeholder 2">
            <a:extLst>
              <a:ext uri="{FF2B5EF4-FFF2-40B4-BE49-F238E27FC236}">
                <a16:creationId xmlns:a16="http://schemas.microsoft.com/office/drawing/2014/main" id="{758124F7-E271-2164-B1E4-93B303265773}"/>
              </a:ext>
            </a:extLst>
          </p:cNvPr>
          <p:cNvSpPr>
            <a:spLocks noGrp="1"/>
          </p:cNvSpPr>
          <p:nvPr>
            <p:ph type="body" idx="1"/>
          </p:nvPr>
        </p:nvSpPr>
        <p:spPr/>
        <p:txBody>
          <a:bodyPr/>
          <a:lstStyle/>
          <a:p>
            <a:r>
              <a:rPr lang="en-GB" sz="1600" noProof="0" dirty="0">
                <a:latin typeface="Courier New" panose="02070309020205020404" pitchFamily="49" charset="0"/>
                <a:cs typeface="Courier New" panose="02070309020205020404" pitchFamily="49" charset="0"/>
              </a:rPr>
              <a:t>&lt;!DOCTYPE html&gt;  : </a:t>
            </a:r>
            <a:r>
              <a:rPr lang="en-GB" sz="1600" noProof="0" dirty="0"/>
              <a:t>Signal that the document is HTML 5 or "modern"</a:t>
            </a:r>
          </a:p>
          <a:p>
            <a:r>
              <a:rPr lang="en-GB" sz="1600" noProof="0" dirty="0">
                <a:latin typeface="Courier New" panose="02070309020205020404" pitchFamily="49" charset="0"/>
                <a:cs typeface="Courier New" panose="02070309020205020404" pitchFamily="49" charset="0"/>
              </a:rPr>
              <a:t>&lt;html&gt; … &lt;/html&gt; : </a:t>
            </a:r>
            <a:r>
              <a:rPr lang="en-GB" sz="1600" noProof="0" dirty="0"/>
              <a:t>Start and end of all your html in the file</a:t>
            </a:r>
          </a:p>
          <a:p>
            <a:r>
              <a:rPr lang="en-GB" sz="1600" noProof="0" dirty="0">
                <a:latin typeface="Courier New" panose="02070309020205020404" pitchFamily="49" charset="0"/>
                <a:cs typeface="Courier New" panose="02070309020205020404" pitchFamily="49" charset="0"/>
              </a:rPr>
              <a:t>&lt;head&gt; … &lt;/head&gt; : </a:t>
            </a:r>
            <a:r>
              <a:rPr lang="en-GB" sz="1600" noProof="0" dirty="0"/>
              <a:t>appears in the html block and provides the browser with metadata</a:t>
            </a:r>
          </a:p>
          <a:p>
            <a:r>
              <a:rPr lang="en-GB" sz="1600" noProof="0" dirty="0">
                <a:latin typeface="Courier New" panose="02070309020205020404" pitchFamily="49" charset="0"/>
                <a:cs typeface="Courier New" panose="02070309020205020404" pitchFamily="49" charset="0"/>
              </a:rPr>
              <a:t>&lt;body&gt; … &lt;/body&gt; : </a:t>
            </a:r>
            <a:r>
              <a:rPr lang="en-GB" sz="1600" noProof="0" dirty="0"/>
              <a:t>appears in the html block under the header block. This is </a:t>
            </a:r>
            <a:r>
              <a:rPr lang="en-GB" sz="1600" noProof="0" dirty="0" err="1"/>
              <a:t>renderable</a:t>
            </a:r>
            <a:r>
              <a:rPr lang="en-GB" sz="1600" noProof="0" dirty="0"/>
              <a:t> data</a:t>
            </a:r>
          </a:p>
          <a:p>
            <a:r>
              <a:rPr lang="en-GB" sz="1600" noProof="0" dirty="0">
                <a:latin typeface="Courier New" panose="02070309020205020404" pitchFamily="49" charset="0"/>
                <a:cs typeface="Courier New" panose="02070309020205020404" pitchFamily="49" charset="0"/>
              </a:rPr>
              <a:t>&lt;title&gt; … &lt;/title&gt; : </a:t>
            </a:r>
            <a:r>
              <a:rPr lang="en-GB" sz="1600" noProof="0" dirty="0"/>
              <a:t>appears in the head block - puts the page title in the browser tab</a:t>
            </a:r>
          </a:p>
          <a:p>
            <a:r>
              <a:rPr lang="en-GB" sz="1600" noProof="0" dirty="0">
                <a:latin typeface="Courier New" panose="02070309020205020404" pitchFamily="49" charset="0"/>
                <a:cs typeface="Courier New" panose="02070309020205020404" pitchFamily="49" charset="0"/>
              </a:rPr>
              <a:t>&lt;h1&gt;text&lt;/h1&gt; to &lt;h6&gt;text&lt;/h6&gt; : </a:t>
            </a:r>
            <a:r>
              <a:rPr lang="en-GB" sz="1600" noProof="0" dirty="0"/>
              <a:t>Marks the enclosed text as a heading and default styles it</a:t>
            </a:r>
          </a:p>
          <a:p>
            <a:r>
              <a:rPr lang="en-GB" sz="1600" noProof="0" dirty="0">
                <a:latin typeface="Courier New" panose="02070309020205020404" pitchFamily="49" charset="0"/>
                <a:cs typeface="Courier New" panose="02070309020205020404" pitchFamily="49" charset="0"/>
              </a:rPr>
              <a:t>&lt;p&gt;text&lt;/p&gt; : </a:t>
            </a:r>
            <a:r>
              <a:rPr lang="en-GB" sz="1600" noProof="0" dirty="0"/>
              <a:t>Marks the enclosed text as a paragraph</a:t>
            </a:r>
          </a:p>
          <a:p>
            <a:r>
              <a:rPr lang="en-GB" sz="1600" noProof="0" dirty="0">
                <a:latin typeface="Courier New" panose="02070309020205020404" pitchFamily="49" charset="0"/>
                <a:cs typeface="Courier New" panose="02070309020205020404" pitchFamily="49" charset="0"/>
              </a:rPr>
              <a:t>&lt;</a:t>
            </a:r>
            <a:r>
              <a:rPr lang="en-GB" sz="1600" noProof="0" dirty="0" err="1">
                <a:latin typeface="Courier New" panose="02070309020205020404" pitchFamily="49" charset="0"/>
                <a:cs typeface="Courier New" panose="02070309020205020404" pitchFamily="49" charset="0"/>
              </a:rPr>
              <a:t>br</a:t>
            </a:r>
            <a:r>
              <a:rPr lang="en-GB" sz="1600" noProof="0" dirty="0">
                <a:latin typeface="Courier New" panose="02070309020205020404" pitchFamily="49" charset="0"/>
                <a:cs typeface="Courier New" panose="02070309020205020404" pitchFamily="49" charset="0"/>
              </a:rPr>
              <a:t>&gt; : </a:t>
            </a:r>
            <a:r>
              <a:rPr lang="en-GB" sz="1600" noProof="0" dirty="0"/>
              <a:t>Inserts a line break. No need for an end tag as there is nothing to end – all info needed is in the start tag</a:t>
            </a:r>
          </a:p>
          <a:p>
            <a:r>
              <a:rPr lang="en-GB" sz="1600" noProof="0" dirty="0">
                <a:latin typeface="Courier New" panose="02070309020205020404" pitchFamily="49" charset="0"/>
                <a:cs typeface="Courier New" panose="02070309020205020404" pitchFamily="49" charset="0"/>
              </a:rPr>
              <a:t>&lt;</a:t>
            </a:r>
            <a:r>
              <a:rPr lang="en-GB" sz="1600" noProof="0" dirty="0" err="1">
                <a:latin typeface="Courier New" panose="02070309020205020404" pitchFamily="49" charset="0"/>
                <a:cs typeface="Courier New" panose="02070309020205020404" pitchFamily="49" charset="0"/>
              </a:rPr>
              <a:t>img</a:t>
            </a:r>
            <a:r>
              <a:rPr lang="en-GB" sz="1600" noProof="0" dirty="0">
                <a:latin typeface="Courier New" panose="02070309020205020404" pitchFamily="49" charset="0"/>
                <a:cs typeface="Courier New" panose="02070309020205020404" pitchFamily="49" charset="0"/>
              </a:rPr>
              <a:t> </a:t>
            </a:r>
            <a:r>
              <a:rPr lang="en-GB" sz="1600" noProof="0" dirty="0" err="1">
                <a:latin typeface="Courier New" panose="02070309020205020404" pitchFamily="49" charset="0"/>
                <a:cs typeface="Courier New" panose="02070309020205020404" pitchFamily="49" charset="0"/>
              </a:rPr>
              <a:t>src</a:t>
            </a:r>
            <a:r>
              <a:rPr lang="en-GB" sz="1600" noProof="0" dirty="0">
                <a:latin typeface="Courier New" panose="02070309020205020404" pitchFamily="49" charset="0"/>
                <a:cs typeface="Courier New" panose="02070309020205020404" pitchFamily="49" charset="0"/>
              </a:rPr>
              <a:t>=“URL/filename”&gt; : </a:t>
            </a:r>
            <a:r>
              <a:rPr lang="en-GB" sz="1600" noProof="0" dirty="0"/>
              <a:t>Load and display an image. </a:t>
            </a:r>
            <a:r>
              <a:rPr lang="en-GB" sz="1600" b="1" noProof="0" dirty="0"/>
              <a:t>No end tag</a:t>
            </a:r>
            <a:r>
              <a:rPr lang="en-GB" sz="1600" noProof="0" dirty="0"/>
              <a:t>.  </a:t>
            </a:r>
            <a:r>
              <a:rPr lang="en-GB" sz="1600" noProof="0" dirty="0" err="1"/>
              <a:t>src</a:t>
            </a:r>
            <a:r>
              <a:rPr lang="en-GB" sz="1600" noProof="0" dirty="0"/>
              <a:t> is a necessary attribute. Other useful attributes include height, width, alt (for accessibility and missing image) and title (for mouse rollover tip)</a:t>
            </a:r>
          </a:p>
          <a:p>
            <a:r>
              <a:rPr lang="en-GB" sz="1600" noProof="0" dirty="0">
                <a:latin typeface="Courier New" panose="02070309020205020404" pitchFamily="49" charset="0"/>
                <a:cs typeface="Courier New" panose="02070309020205020404" pitchFamily="49" charset="0"/>
              </a:rPr>
              <a:t>&lt;a </a:t>
            </a:r>
            <a:r>
              <a:rPr lang="en-GB" sz="1600" noProof="0" dirty="0" err="1">
                <a:latin typeface="Courier New" panose="02070309020205020404" pitchFamily="49" charset="0"/>
                <a:cs typeface="Courier New" panose="02070309020205020404" pitchFamily="49" charset="0"/>
              </a:rPr>
              <a:t>href</a:t>
            </a:r>
            <a:r>
              <a:rPr lang="en-GB" sz="1600" noProof="0" dirty="0">
                <a:latin typeface="Courier New" panose="02070309020205020404" pitchFamily="49" charset="0"/>
                <a:cs typeface="Courier New" panose="02070309020205020404" pitchFamily="49" charset="0"/>
              </a:rPr>
              <a:t>=“</a:t>
            </a:r>
            <a:r>
              <a:rPr lang="en-GB" sz="1600" noProof="0" dirty="0" err="1">
                <a:latin typeface="Courier New" panose="02070309020205020404" pitchFamily="49" charset="0"/>
                <a:cs typeface="Courier New" panose="02070309020205020404" pitchFamily="49" charset="0"/>
              </a:rPr>
              <a:t>url</a:t>
            </a:r>
            <a:r>
              <a:rPr lang="en-GB" sz="1600" noProof="0" dirty="0">
                <a:latin typeface="Courier New" panose="02070309020205020404" pitchFamily="49" charset="0"/>
                <a:cs typeface="Courier New" panose="02070309020205020404" pitchFamily="49" charset="0"/>
              </a:rPr>
              <a:t>”&gt;text&lt;/a&gt; : </a:t>
            </a:r>
            <a:r>
              <a:rPr lang="en-GB" sz="1600" noProof="0" dirty="0"/>
              <a:t>Anchor tag. This is a hyperlink. Text is displayed and underlined</a:t>
            </a:r>
          </a:p>
        </p:txBody>
      </p:sp>
      <p:sp>
        <p:nvSpPr>
          <p:cNvPr id="4" name="Slide Number Placeholder 3">
            <a:extLst>
              <a:ext uri="{FF2B5EF4-FFF2-40B4-BE49-F238E27FC236}">
                <a16:creationId xmlns:a16="http://schemas.microsoft.com/office/drawing/2014/main" id="{1B2A0F12-C6C0-2EA9-BC3F-1839DA48E6D9}"/>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030526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DDF411C-A9EA-1ED2-1E38-107E41609FD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2FE162C-836B-BC32-2143-D333E19B6A21}"/>
              </a:ext>
            </a:extLst>
          </p:cNvPr>
          <p:cNvSpPr>
            <a:spLocks noGrp="1"/>
          </p:cNvSpPr>
          <p:nvPr>
            <p:ph type="title"/>
          </p:nvPr>
        </p:nvSpPr>
        <p:spPr/>
        <p:txBody>
          <a:bodyPr/>
          <a:lstStyle/>
          <a:p>
            <a:r>
              <a:rPr lang="en-GB" noProof="0" dirty="0"/>
              <a:t>Try this</a:t>
            </a:r>
          </a:p>
        </p:txBody>
      </p:sp>
      <p:sp>
        <p:nvSpPr>
          <p:cNvPr id="3" name="Text Placeholder 2">
            <a:extLst>
              <a:ext uri="{FF2B5EF4-FFF2-40B4-BE49-F238E27FC236}">
                <a16:creationId xmlns:a16="http://schemas.microsoft.com/office/drawing/2014/main" id="{4C696423-0791-2197-1E03-9D99D81D92C5}"/>
              </a:ext>
            </a:extLst>
          </p:cNvPr>
          <p:cNvSpPr>
            <a:spLocks noGrp="1"/>
          </p:cNvSpPr>
          <p:nvPr>
            <p:ph type="body" idx="1"/>
          </p:nvPr>
        </p:nvSpPr>
        <p:spPr/>
        <p:txBody>
          <a:bodyPr/>
          <a:lstStyle/>
          <a:p>
            <a:r>
              <a:rPr lang="en-GB" noProof="0" dirty="0"/>
              <a:t>Create an html file. Just click the +doc icon in vs code explorer then save it as say, ex1.html</a:t>
            </a:r>
          </a:p>
          <a:p>
            <a:r>
              <a:rPr lang="en-GB" noProof="0" dirty="0"/>
              <a:t>Press ! then enter to create the boiler plate</a:t>
            </a:r>
          </a:p>
          <a:p>
            <a:r>
              <a:rPr lang="en-GB" noProof="0" dirty="0"/>
              <a:t>In the title element, give it a title. This will show in the browser tab</a:t>
            </a:r>
          </a:p>
          <a:p>
            <a:r>
              <a:rPr lang="en-GB" noProof="0" dirty="0"/>
              <a:t>in the body add </a:t>
            </a:r>
            <a:r>
              <a:rPr lang="en-GB" sz="1600" noProof="0" dirty="0">
                <a:latin typeface="Consolas" panose="020B0609020204030204" pitchFamily="49" charset="0"/>
              </a:rPr>
              <a:t>&lt;h1&gt;First Web Page&lt;/h1&gt; </a:t>
            </a:r>
            <a:r>
              <a:rPr lang="en-GB" noProof="0" dirty="0"/>
              <a:t>or whatever you want</a:t>
            </a:r>
          </a:p>
          <a:p>
            <a:r>
              <a:rPr lang="en-GB" noProof="0" dirty="0"/>
              <a:t>To “run” the page, press F5. When given an option choose chrome or whatever browser you are using</a:t>
            </a:r>
          </a:p>
          <a:p>
            <a:r>
              <a:rPr lang="en-GB" noProof="0" dirty="0"/>
              <a:t>A new window will open with your page in it</a:t>
            </a:r>
          </a:p>
          <a:p>
            <a:r>
              <a:rPr lang="en-GB" noProof="0" dirty="0"/>
              <a:t>Leave it open and add a paragraph </a:t>
            </a:r>
            <a:r>
              <a:rPr lang="en-GB" sz="1600" noProof="0" dirty="0">
                <a:latin typeface="Consolas" panose="020B0609020204030204" pitchFamily="49" charset="0"/>
              </a:rPr>
              <a:t>&lt;p&gt;This is easy&lt;/p&gt; </a:t>
            </a:r>
            <a:r>
              <a:rPr lang="en-GB" noProof="0" dirty="0"/>
              <a:t>or whatever</a:t>
            </a:r>
          </a:p>
          <a:p>
            <a:r>
              <a:rPr lang="en-GB" noProof="0" dirty="0"/>
              <a:t>Press the refresh button in the debugger or browser and the page will update. It makes life a lot easier if you have two monitors – otherwise, tile your windows</a:t>
            </a:r>
          </a:p>
          <a:p>
            <a:r>
              <a:rPr lang="en-GB" noProof="0" dirty="0"/>
              <a:t>That’s it – you now know the process so – back to the slides …</a:t>
            </a:r>
          </a:p>
          <a:p>
            <a:endParaRPr lang="en-GB" noProof="0" dirty="0"/>
          </a:p>
        </p:txBody>
      </p:sp>
      <p:sp>
        <p:nvSpPr>
          <p:cNvPr id="4" name="Slide Number Placeholder 3">
            <a:extLst>
              <a:ext uri="{FF2B5EF4-FFF2-40B4-BE49-F238E27FC236}">
                <a16:creationId xmlns:a16="http://schemas.microsoft.com/office/drawing/2014/main" id="{DC5A88A1-F22F-9F47-3227-62882D6A8CD2}"/>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565954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F61BD-7485-01BE-937C-FA78799FCEC5}"/>
              </a:ext>
            </a:extLst>
          </p:cNvPr>
          <p:cNvSpPr>
            <a:spLocks noGrp="1"/>
          </p:cNvSpPr>
          <p:nvPr>
            <p:ph type="title"/>
          </p:nvPr>
        </p:nvSpPr>
        <p:spPr>
          <a:xfrm>
            <a:off x="609600" y="464567"/>
            <a:ext cx="11163300" cy="421258"/>
          </a:xfrm>
        </p:spPr>
        <p:txBody>
          <a:bodyPr/>
          <a:lstStyle/>
          <a:p>
            <a:r>
              <a:rPr lang="en-GB" noProof="0" dirty="0"/>
              <a:t>Interactive exercise</a:t>
            </a:r>
          </a:p>
        </p:txBody>
      </p:sp>
      <p:sp>
        <p:nvSpPr>
          <p:cNvPr id="3" name="Text Placeholder 2">
            <a:extLst>
              <a:ext uri="{FF2B5EF4-FFF2-40B4-BE49-F238E27FC236}">
                <a16:creationId xmlns:a16="http://schemas.microsoft.com/office/drawing/2014/main" id="{E95B830B-3A24-21E1-75D7-A0FCCF0657A1}"/>
              </a:ext>
            </a:extLst>
          </p:cNvPr>
          <p:cNvSpPr>
            <a:spLocks noGrp="1"/>
          </p:cNvSpPr>
          <p:nvPr>
            <p:ph type="body" idx="1"/>
          </p:nvPr>
        </p:nvSpPr>
        <p:spPr>
          <a:xfrm>
            <a:off x="609600" y="1089368"/>
            <a:ext cx="11163300" cy="5387632"/>
          </a:xfrm>
        </p:spPr>
        <p:txBody>
          <a:bodyPr/>
          <a:lstStyle/>
          <a:p>
            <a:pPr lvl="0"/>
            <a:r>
              <a:rPr lang="en-GB" noProof="0" dirty="0"/>
              <a:t>Create a new file</a:t>
            </a:r>
          </a:p>
          <a:p>
            <a:pPr lvl="0"/>
            <a:r>
              <a:rPr lang="en-GB" noProof="0" dirty="0"/>
              <a:t>Create a browser tab title with “First HTML”</a:t>
            </a:r>
          </a:p>
          <a:p>
            <a:pPr lvl="0"/>
            <a:r>
              <a:rPr lang="en-GB" noProof="0" dirty="0"/>
              <a:t>Add heading level 1 containing “My first web page”</a:t>
            </a:r>
          </a:p>
          <a:p>
            <a:pPr lvl="0"/>
            <a:r>
              <a:rPr lang="en-GB" noProof="0" dirty="0"/>
              <a:t>Add some paragraph text under the heading to introduce the page</a:t>
            </a:r>
          </a:p>
          <a:p>
            <a:pPr lvl="0"/>
            <a:r>
              <a:rPr lang="en-GB" noProof="0" dirty="0"/>
              <a:t>Add a sub-heading level 2 under the paragraph to introduce an image</a:t>
            </a:r>
          </a:p>
          <a:p>
            <a:pPr lvl="0"/>
            <a:r>
              <a:rPr lang="en-GB" noProof="0" dirty="0"/>
              <a:t>Add a paragraph to describe an image</a:t>
            </a:r>
          </a:p>
          <a:p>
            <a:pPr lvl="0"/>
            <a:r>
              <a:rPr lang="en-GB" noProof="0" dirty="0"/>
              <a:t>Add the image you described and ensure it is accessible and has a rollover hint. Set the image width and height to something sensible for the page</a:t>
            </a:r>
          </a:p>
          <a:p>
            <a:pPr lvl="0"/>
            <a:r>
              <a:rPr lang="en-GB" noProof="0" dirty="0"/>
              <a:t>Add some paragraph text which includes a link to a web site – e.g. Google</a:t>
            </a:r>
          </a:p>
        </p:txBody>
      </p:sp>
      <p:sp>
        <p:nvSpPr>
          <p:cNvPr id="4" name="Slide Number Placeholder 3">
            <a:extLst>
              <a:ext uri="{FF2B5EF4-FFF2-40B4-BE49-F238E27FC236}">
                <a16:creationId xmlns:a16="http://schemas.microsoft.com/office/drawing/2014/main" id="{F51D440B-9F83-9C13-B0C4-B7D3EB33F05B}"/>
              </a:ext>
            </a:extLst>
          </p:cNvPr>
          <p:cNvSpPr>
            <a:spLocks noGrp="1"/>
          </p:cNvSpPr>
          <p:nvPr>
            <p:ph type="sldNum" idx="12"/>
          </p:nvPr>
        </p:nvSpPr>
        <p:spPr>
          <a:xfrm>
            <a:off x="11532033" y="6182333"/>
            <a:ext cx="609200" cy="624800"/>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2F1D6109-A2B3-CF79-9182-346F672EB22B}"/>
              </a:ext>
            </a:extLst>
          </p:cNvPr>
          <p:cNvSpPr txBox="1"/>
          <p:nvPr/>
        </p:nvSpPr>
        <p:spPr>
          <a:xfrm>
            <a:off x="8921799" y="6182333"/>
            <a:ext cx="226906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/demos/html - various</a:t>
            </a:r>
          </a:p>
        </p:txBody>
      </p:sp>
    </p:spTree>
    <p:extLst>
      <p:ext uri="{BB962C8B-B14F-4D97-AF65-F5344CB8AC3E}">
        <p14:creationId xmlns:p14="http://schemas.microsoft.com/office/powerpoint/2010/main" val="541930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A20B2F9-6928-9C79-F289-EA3FA78F691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95D3977-98F1-579C-0D3E-35B7D4A82559}"/>
              </a:ext>
            </a:extLst>
          </p:cNvPr>
          <p:cNvSpPr>
            <a:spLocks noGrp="1"/>
          </p:cNvSpPr>
          <p:nvPr>
            <p:ph type="title"/>
          </p:nvPr>
        </p:nvSpPr>
        <p:spPr/>
        <p:txBody>
          <a:bodyPr/>
          <a:lstStyle/>
          <a:p>
            <a:r>
              <a:rPr lang="en-GB" noProof="0" dirty="0"/>
              <a:t>Cascading Style Sheets - CSS</a:t>
            </a:r>
          </a:p>
        </p:txBody>
      </p:sp>
      <p:sp>
        <p:nvSpPr>
          <p:cNvPr id="3" name="Text Placeholder 2">
            <a:extLst>
              <a:ext uri="{FF2B5EF4-FFF2-40B4-BE49-F238E27FC236}">
                <a16:creationId xmlns:a16="http://schemas.microsoft.com/office/drawing/2014/main" id="{279B507C-5501-A785-283A-753F68C1EA1E}"/>
              </a:ext>
            </a:extLst>
          </p:cNvPr>
          <p:cNvSpPr>
            <a:spLocks noGrp="1"/>
          </p:cNvSpPr>
          <p:nvPr>
            <p:ph type="body" idx="1"/>
          </p:nvPr>
        </p:nvSpPr>
        <p:spPr/>
        <p:txBody>
          <a:bodyPr/>
          <a:lstStyle/>
          <a:p>
            <a:r>
              <a:rPr lang="en-GB" sz="1600" noProof="0" dirty="0"/>
              <a:t>Used to style the page content</a:t>
            </a:r>
          </a:p>
          <a:p>
            <a:r>
              <a:rPr lang="en-GB" sz="1600" noProof="0" dirty="0"/>
              <a:t>Used for presentation – not content</a:t>
            </a:r>
          </a:p>
          <a:p>
            <a:pPr lvl="1"/>
            <a:r>
              <a:rPr lang="en-GB" noProof="0" dirty="0"/>
              <a:t>Colour, layout, font type and size etc</a:t>
            </a:r>
          </a:p>
          <a:p>
            <a:r>
              <a:rPr lang="en-GB" sz="1600" noProof="0" dirty="0"/>
              <a:t>Syntax</a:t>
            </a:r>
          </a:p>
          <a:p>
            <a:pPr marL="742950" lvl="1" indent="-285750"/>
            <a:r>
              <a:rPr lang="en-GB" sz="1600" noProof="0" dirty="0">
                <a:latin typeface="Consolas" panose="020B0609020204030204" pitchFamily="49" charset="0"/>
              </a:rPr>
              <a:t>Selector {</a:t>
            </a:r>
            <a:r>
              <a:rPr lang="en-GB" sz="1600" noProof="0" dirty="0" err="1">
                <a:latin typeface="Consolas" panose="020B0609020204030204" pitchFamily="49" charset="0"/>
              </a:rPr>
              <a:t>property:value</a:t>
            </a:r>
            <a:r>
              <a:rPr lang="en-GB" sz="1600" noProof="0" dirty="0">
                <a:latin typeface="Consolas" panose="020B0609020204030204" pitchFamily="49" charset="0"/>
              </a:rPr>
              <a:t>;}</a:t>
            </a:r>
          </a:p>
          <a:p>
            <a:pPr marL="1352534" lvl="2" indent="-285750"/>
            <a:r>
              <a:rPr lang="en-GB" noProof="0" dirty="0"/>
              <a:t>Selector  is the item to style. Can be an HTML element or user defined ID or class - class is a misleading name</a:t>
            </a:r>
          </a:p>
          <a:p>
            <a:pPr marL="1352534" lvl="2" indent="-285750"/>
            <a:r>
              <a:rPr lang="en-GB" sz="1600" noProof="0" dirty="0">
                <a:latin typeface="Consolas" panose="020B0609020204030204" pitchFamily="49" charset="0"/>
              </a:rPr>
              <a:t>p { </a:t>
            </a:r>
            <a:r>
              <a:rPr lang="en-GB" sz="1600" noProof="0" dirty="0" err="1">
                <a:latin typeface="Consolas" panose="020B0609020204030204" pitchFamily="49" charset="0"/>
              </a:rPr>
              <a:t>color</a:t>
            </a:r>
            <a:r>
              <a:rPr lang="en-GB" sz="1600" noProof="0" dirty="0">
                <a:latin typeface="Consolas" panose="020B0609020204030204" pitchFamily="49" charset="0"/>
              </a:rPr>
              <a:t>: red; } </a:t>
            </a:r>
            <a:r>
              <a:rPr lang="en-GB" noProof="0" dirty="0"/>
              <a:t>will colour all paragraph text red</a:t>
            </a:r>
          </a:p>
          <a:p>
            <a:pPr marL="1352534" lvl="2" indent="-285750"/>
            <a:r>
              <a:rPr lang="en-GB" sz="1600" noProof="0" dirty="0">
                <a:latin typeface="Consolas" panose="020B0609020204030204" pitchFamily="49" charset="0"/>
              </a:rPr>
              <a:t>#myStuff { </a:t>
            </a:r>
            <a:r>
              <a:rPr lang="en-GB" sz="1600" noProof="0" dirty="0" err="1">
                <a:latin typeface="Consolas" panose="020B0609020204030204" pitchFamily="49" charset="0"/>
              </a:rPr>
              <a:t>color</a:t>
            </a:r>
            <a:r>
              <a:rPr lang="en-GB" sz="1600" noProof="0" dirty="0">
                <a:latin typeface="Consolas" panose="020B0609020204030204" pitchFamily="49" charset="0"/>
              </a:rPr>
              <a:t>: blue } </a:t>
            </a:r>
            <a:r>
              <a:rPr lang="en-GB" noProof="0" dirty="0"/>
              <a:t>will colour only </a:t>
            </a:r>
            <a:r>
              <a:rPr lang="en-GB" b="1" noProof="0" dirty="0"/>
              <a:t>one</a:t>
            </a:r>
            <a:r>
              <a:rPr lang="en-GB" noProof="0" dirty="0"/>
              <a:t> element I’ve labelled with an </a:t>
            </a:r>
            <a:r>
              <a:rPr lang="en-GB" sz="1600" noProof="0" dirty="0">
                <a:latin typeface="Consolas" panose="020B0609020204030204" pitchFamily="49" charset="0"/>
              </a:rPr>
              <a:t>id=“</a:t>
            </a:r>
            <a:r>
              <a:rPr lang="en-GB" sz="1600" noProof="0" dirty="0" err="1">
                <a:latin typeface="Consolas" panose="020B0609020204030204" pitchFamily="49" charset="0"/>
              </a:rPr>
              <a:t>myStuff</a:t>
            </a:r>
            <a:r>
              <a:rPr lang="en-GB" sz="1600" noProof="0" dirty="0">
                <a:latin typeface="Consolas" panose="020B0609020204030204" pitchFamily="49" charset="0"/>
              </a:rPr>
              <a:t>”</a:t>
            </a:r>
          </a:p>
          <a:p>
            <a:pPr marL="1352534" lvl="2" indent="-285750"/>
            <a:r>
              <a:rPr lang="en-GB" dirty="0">
                <a:latin typeface="Consolas" panose="020B0609020204030204" pitchFamily="49" charset="0"/>
              </a:rPr>
              <a:t>Class can be used to style multiple elements</a:t>
            </a:r>
            <a:endParaRPr lang="en-GB" noProof="0" dirty="0"/>
          </a:p>
          <a:p>
            <a:r>
              <a:rPr lang="en-GB" sz="1600" noProof="0" dirty="0"/>
              <a:t>Style can appear in html, or in a style block in the html file but for maintainability, use a separate file</a:t>
            </a:r>
          </a:p>
          <a:p>
            <a:r>
              <a:rPr lang="en-GB" sz="1600" noProof="0" dirty="0"/>
              <a:t>Adding into html tightly-couples content and presentation - but there are always exceptions</a:t>
            </a:r>
            <a:r>
              <a:rPr lang="en-GB" sz="1600" dirty="0"/>
              <a:t> </a:t>
            </a:r>
            <a:endParaRPr lang="en-GB" sz="1600" noProof="0" dirty="0"/>
          </a:p>
          <a:p>
            <a:r>
              <a:rPr lang="en-GB" sz="1600" noProof="0" dirty="0"/>
              <a:t>Adding to a style block in the html may be more acceptable if the style is specific to that page and only that page. It doesn't promote reuse, so separate file is by far the most popular</a:t>
            </a:r>
          </a:p>
          <a:p>
            <a:r>
              <a:rPr lang="en-GB" sz="1600" noProof="0" dirty="0"/>
              <a:t>In a separate file, the styles can be included in other web pages so loosely-couples presentation and content, manages the separation of concerns and promotes reuse</a:t>
            </a:r>
            <a:endParaRPr lang="en-GB" sz="1600" dirty="0"/>
          </a:p>
          <a:p>
            <a:pPr lvl="1"/>
            <a:r>
              <a:rPr lang="en-GB" noProof="0" dirty="0"/>
              <a:t>e.g. Corporate colours change or change colour scheme for visually impaired people</a:t>
            </a:r>
          </a:p>
          <a:p>
            <a:endParaRPr lang="en-GB" noProof="0" dirty="0"/>
          </a:p>
        </p:txBody>
      </p:sp>
      <p:sp>
        <p:nvSpPr>
          <p:cNvPr id="4" name="Slide Number Placeholder 3">
            <a:extLst>
              <a:ext uri="{FF2B5EF4-FFF2-40B4-BE49-F238E27FC236}">
                <a16:creationId xmlns:a16="http://schemas.microsoft.com/office/drawing/2014/main" id="{00AD7C70-351B-2A7A-EED1-14F7051784DE}"/>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392997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D5C61-CEB4-4E01-F82A-E1D8E81ADD4D}"/>
              </a:ext>
            </a:extLst>
          </p:cNvPr>
          <p:cNvSpPr>
            <a:spLocks noGrp="1"/>
          </p:cNvSpPr>
          <p:nvPr>
            <p:ph type="title"/>
          </p:nvPr>
        </p:nvSpPr>
        <p:spPr>
          <a:xfrm>
            <a:off x="711200" y="299467"/>
            <a:ext cx="7521200" cy="479466"/>
          </a:xfrm>
        </p:spPr>
        <p:txBody>
          <a:bodyPr/>
          <a:lstStyle/>
          <a:p>
            <a:r>
              <a:rPr lang="en-GB" sz="3200" noProof="0" dirty="0"/>
              <a:t>Embedded CSS</a:t>
            </a:r>
          </a:p>
        </p:txBody>
      </p:sp>
      <p:sp>
        <p:nvSpPr>
          <p:cNvPr id="3" name="Slide Number Placeholder 2">
            <a:extLst>
              <a:ext uri="{FF2B5EF4-FFF2-40B4-BE49-F238E27FC236}">
                <a16:creationId xmlns:a16="http://schemas.microsoft.com/office/drawing/2014/main" id="{09D21793-F304-C862-7A45-B51102845F27}"/>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3A3F50">
                    <a:tint val="75000"/>
                  </a:srgbClr>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srgbClr val="3A3F50">
                  <a:tint val="75000"/>
                </a:srgbClr>
              </a:solidFill>
              <a:effectLst/>
              <a:uLnTx/>
              <a:uFillTx/>
              <a:latin typeface="Arial"/>
              <a:ea typeface="+mn-ea"/>
              <a:cs typeface="+mn-cs"/>
            </a:endParaRPr>
          </a:p>
        </p:txBody>
      </p:sp>
      <p:pic>
        <p:nvPicPr>
          <p:cNvPr id="5" name="Picture 4">
            <a:extLst>
              <a:ext uri="{FF2B5EF4-FFF2-40B4-BE49-F238E27FC236}">
                <a16:creationId xmlns:a16="http://schemas.microsoft.com/office/drawing/2014/main" id="{DD1EBCA8-D121-9492-B87C-609CE833A2B6}"/>
              </a:ext>
            </a:extLst>
          </p:cNvPr>
          <p:cNvPicPr>
            <a:picLocks noChangeAspect="1"/>
          </p:cNvPicPr>
          <p:nvPr/>
        </p:nvPicPr>
        <p:blipFill rotWithShape="1">
          <a:blip r:embed="rId3"/>
          <a:srcRect t="1043"/>
          <a:stretch/>
        </p:blipFill>
        <p:spPr>
          <a:xfrm>
            <a:off x="620889" y="885678"/>
            <a:ext cx="7925906" cy="5609055"/>
          </a:xfrm>
          <a:prstGeom prst="rect">
            <a:avLst/>
          </a:prstGeom>
        </p:spPr>
      </p:pic>
      <p:sp>
        <p:nvSpPr>
          <p:cNvPr id="6" name="TextBox 5">
            <a:extLst>
              <a:ext uri="{FF2B5EF4-FFF2-40B4-BE49-F238E27FC236}">
                <a16:creationId xmlns:a16="http://schemas.microsoft.com/office/drawing/2014/main" id="{9534B5A8-5997-EFA5-C7D5-6CD9DA910C95}"/>
              </a:ext>
            </a:extLst>
          </p:cNvPr>
          <p:cNvSpPr txBox="1"/>
          <p:nvPr/>
        </p:nvSpPr>
        <p:spPr>
          <a:xfrm>
            <a:off x="7900911" y="6182333"/>
            <a:ext cx="363112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t>
            </a:r>
            <a:r>
              <a:rPr kumimoji="0" lang="en-GB" sz="1200" b="0" i="0" u="none" strike="noStrike" kern="1200" cap="none" spc="0" normalizeH="0" baseline="0" noProof="0" dirty="0" err="1">
                <a:ln>
                  <a:noFill/>
                </a:ln>
                <a:solidFill>
                  <a:srgbClr val="FF0000"/>
                </a:solidFill>
                <a:effectLst/>
                <a:uLnTx/>
                <a:uFillTx/>
                <a:latin typeface="Arial"/>
                <a:ea typeface="+mn-ea"/>
                <a:cs typeface="+mn-cs"/>
              </a:rPr>
              <a:t>html_basics</a:t>
            </a:r>
            <a:r>
              <a:rPr kumimoji="0" lang="en-GB" sz="1200" b="0" i="0" u="none" strike="noStrike" kern="1200" cap="none" spc="0" normalizeH="0" baseline="0" noProof="0" dirty="0">
                <a:ln>
                  <a:noFill/>
                </a:ln>
                <a:solidFill>
                  <a:srgbClr val="FF0000"/>
                </a:solidFill>
                <a:effectLst/>
                <a:uLnTx/>
                <a:uFillTx/>
                <a:latin typeface="Arial"/>
                <a:ea typeface="+mn-ea"/>
                <a:cs typeface="+mn-cs"/>
              </a:rPr>
              <a:t>/ html-with-embedded-css.html</a:t>
            </a:r>
          </a:p>
        </p:txBody>
      </p:sp>
    </p:spTree>
    <p:extLst>
      <p:ext uri="{BB962C8B-B14F-4D97-AF65-F5344CB8AC3E}">
        <p14:creationId xmlns:p14="http://schemas.microsoft.com/office/powerpoint/2010/main" val="1094731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93FA899-3DC0-2487-665E-8C913D0D21C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5BD0798-C6B7-8E46-106B-AAA1B07B6A3D}"/>
              </a:ext>
            </a:extLst>
          </p:cNvPr>
          <p:cNvSpPr>
            <a:spLocks noGrp="1"/>
          </p:cNvSpPr>
          <p:nvPr>
            <p:ph type="title"/>
          </p:nvPr>
        </p:nvSpPr>
        <p:spPr/>
        <p:txBody>
          <a:bodyPr/>
          <a:lstStyle/>
          <a:p>
            <a:r>
              <a:rPr lang="en-GB" noProof="0" dirty="0"/>
              <a:t>Example of using an external style sheet</a:t>
            </a:r>
          </a:p>
        </p:txBody>
      </p:sp>
      <p:sp>
        <p:nvSpPr>
          <p:cNvPr id="4" name="Slide Number Placeholder 3">
            <a:extLst>
              <a:ext uri="{FF2B5EF4-FFF2-40B4-BE49-F238E27FC236}">
                <a16:creationId xmlns:a16="http://schemas.microsoft.com/office/drawing/2014/main" id="{C953C149-33D3-8EA6-21A9-DBED088651D4}"/>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Content Placeholder 2">
            <a:extLst>
              <a:ext uri="{FF2B5EF4-FFF2-40B4-BE49-F238E27FC236}">
                <a16:creationId xmlns:a16="http://schemas.microsoft.com/office/drawing/2014/main" id="{6A33346F-FAA4-1DBF-FCA6-41A3955BE335}"/>
              </a:ext>
            </a:extLst>
          </p:cNvPr>
          <p:cNvSpPr txBox="1">
            <a:spLocks/>
          </p:cNvSpPr>
          <p:nvPr/>
        </p:nvSpPr>
        <p:spPr>
          <a:xfrm>
            <a:off x="530451" y="1322617"/>
            <a:ext cx="5436569" cy="2286000"/>
          </a:xfrm>
          <a:prstGeom prst="rect">
            <a:avLst/>
          </a:prstGeom>
        </p:spPr>
        <p:txBody>
          <a:bodyPr spcFirstLastPara="1" wrap="square" lIns="0" tIns="0" rIns="0" bIns="0" anchor="t" anchorCtr="0">
            <a:normAutofit fontScale="92500" lnSpcReduction="20000"/>
          </a:bodyPr>
          <a:lstStyle>
            <a:defPPr marR="0" lvl="0" algn="l" rtl="0">
              <a:lnSpc>
                <a:spcPct val="100000"/>
              </a:lnSpc>
              <a:spcBef>
                <a:spcPts val="0"/>
              </a:spcBef>
              <a:spcAft>
                <a:spcPts val="0"/>
              </a:spcAft>
            </a:defPPr>
            <a:lvl1pPr marL="609585" marR="0" lvl="0" indent="-457189" algn="l" rtl="0" eaLnBrk="1" hangingPunct="1">
              <a:lnSpc>
                <a:spcPct val="100000"/>
              </a:lnSpc>
              <a:spcBef>
                <a:spcPts val="800"/>
              </a:spcBef>
              <a:spcAft>
                <a:spcPts val="0"/>
              </a:spcAft>
              <a:buClr>
                <a:srgbClr val="000000"/>
              </a:buClr>
              <a:buSzPts val="1800"/>
              <a:buFont typeface="Arial"/>
              <a:buChar char="▸"/>
              <a:defRPr sz="1800" b="0" i="0" u="none" strike="noStrike" cap="none" baseline="0">
                <a:solidFill>
                  <a:srgbClr val="000000"/>
                </a:solidFill>
                <a:latin typeface="Arial"/>
                <a:ea typeface="Arial"/>
                <a:cs typeface="Arial"/>
                <a:sym typeface="Arial"/>
              </a:defRPr>
            </a:lvl1pPr>
            <a:lvl2pPr marL="1219170" marR="0" lvl="1" indent="-457189" algn="l" rtl="0" eaLnBrk="1" hangingPunct="1">
              <a:lnSpc>
                <a:spcPct val="100000"/>
              </a:lnSpc>
              <a:spcBef>
                <a:spcPts val="800"/>
              </a:spcBef>
              <a:spcAft>
                <a:spcPts val="0"/>
              </a:spcAft>
              <a:buClr>
                <a:srgbClr val="000000"/>
              </a:buClr>
              <a:buSzPts val="1800"/>
              <a:buFont typeface="Arial"/>
              <a:buChar char="▹"/>
              <a:defRPr sz="1800" b="0" i="0" u="none" strike="noStrike" cap="none">
                <a:solidFill>
                  <a:srgbClr val="000000"/>
                </a:solidFill>
                <a:latin typeface="Arial"/>
                <a:ea typeface="Arial"/>
                <a:cs typeface="Arial"/>
                <a:sym typeface="Arial"/>
              </a:defRPr>
            </a:lvl2pPr>
            <a:lvl3pPr marL="1828754" marR="0" lvl="2" indent="-457189" algn="l" rtl="0" eaLnBrk="1" hangingPunct="1">
              <a:lnSpc>
                <a:spcPct val="100000"/>
              </a:lnSpc>
              <a:spcBef>
                <a:spcPts val="800"/>
              </a:spcBef>
              <a:spcAft>
                <a:spcPts val="0"/>
              </a:spcAft>
              <a:buClr>
                <a:srgbClr val="000000"/>
              </a:buClr>
              <a:buSzPts val="1800"/>
              <a:buFont typeface="Arial"/>
              <a:buChar char="▹"/>
              <a:defRPr sz="1800" b="0" i="0" u="none" strike="noStrike" cap="none">
                <a:solidFill>
                  <a:srgbClr val="000000"/>
                </a:solidFill>
                <a:latin typeface="Arial"/>
                <a:ea typeface="Arial"/>
                <a:cs typeface="Arial"/>
                <a:sym typeface="Arial"/>
              </a:defRPr>
            </a:lvl3pPr>
            <a:lvl4pPr marL="2438339" marR="0" lvl="3" indent="-474121" algn="l" rtl="0" eaLnBrk="1" hangingPunct="1">
              <a:lnSpc>
                <a:spcPct val="100000"/>
              </a:lnSpc>
              <a:spcBef>
                <a:spcPts val="800"/>
              </a:spcBef>
              <a:spcAft>
                <a:spcPts val="0"/>
              </a:spcAft>
              <a:buClr>
                <a:srgbClr val="000000"/>
              </a:buClr>
              <a:buSzPts val="2000"/>
              <a:buFont typeface="Arial"/>
              <a:buChar char="▹"/>
              <a:defRPr sz="1800" b="0" i="0" u="none" strike="noStrike" cap="none">
                <a:solidFill>
                  <a:srgbClr val="000000"/>
                </a:solidFill>
                <a:latin typeface="Arial"/>
                <a:ea typeface="Arial"/>
                <a:cs typeface="Arial"/>
                <a:sym typeface="Arial"/>
              </a:defRPr>
            </a:lvl4pPr>
            <a:lvl5pPr marL="3047924" marR="0" lvl="4" indent="-474121" algn="l" rtl="0" eaLnBrk="1" hangingPunct="1">
              <a:lnSpc>
                <a:spcPct val="100000"/>
              </a:lnSpc>
              <a:spcBef>
                <a:spcPts val="800"/>
              </a:spcBef>
              <a:spcAft>
                <a:spcPts val="0"/>
              </a:spcAft>
              <a:buClr>
                <a:srgbClr val="000000"/>
              </a:buClr>
              <a:buSzPts val="2000"/>
              <a:buFont typeface="Arial"/>
              <a:buChar char="▹"/>
              <a:defRPr sz="1800" b="0" i="0" u="none" strike="noStrike" cap="none">
                <a:solidFill>
                  <a:srgbClr val="000000"/>
                </a:solidFill>
                <a:latin typeface="Arial"/>
                <a:ea typeface="Arial"/>
                <a:cs typeface="Arial"/>
                <a:sym typeface="Arial"/>
              </a:defRPr>
            </a:lvl5pPr>
            <a:lvl6pPr marL="3657509" marR="0" lvl="5"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6pPr>
            <a:lvl7pPr marL="4267093" marR="0" lvl="6"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7pPr>
            <a:lvl8pPr marL="4876678" marR="0" lvl="7"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8pPr>
            <a:lvl9pPr marL="5486263" marR="0" lvl="8" indent="-474121" algn="l" rtl="0" eaLnBrk="1" hangingPunct="1">
              <a:lnSpc>
                <a:spcPct val="100000"/>
              </a:lnSpc>
              <a:spcBef>
                <a:spcPts val="800"/>
              </a:spcBef>
              <a:spcAft>
                <a:spcPts val="0"/>
              </a:spcAft>
              <a:buClr>
                <a:srgbClr val="000000"/>
              </a:buClr>
              <a:buSzPts val="2000"/>
              <a:buFont typeface="Arial"/>
              <a:buChar char="▹"/>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&lt;!doctype html&gt;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&lt;html&gt;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&lt;head&gt;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&lt;link </a:t>
            </a:r>
            <a:r>
              <a:rPr kumimoji="0" lang="en-GB" sz="14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sym typeface="Arial"/>
              </a:rPr>
              <a:t>href</a:t>
            </a: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a:t>
            </a:r>
            <a:r>
              <a:rPr kumimoji="0" lang="en-GB" sz="14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sym typeface="Arial"/>
              </a:rPr>
              <a:t>css</a:t>
            </a: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/ex2b.css" </a:t>
            </a:r>
            <a:r>
              <a:rPr kumimoji="0" lang="en-GB" sz="14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sym typeface="Arial"/>
              </a:rPr>
              <a:t>rel</a:t>
            </a: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="stylesheet"&gt;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&lt;/head&gt;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&lt;body&gt;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&lt;h1&gt;This is a heading 1&lt;/h1&gt;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&lt;p&gt;This is some paragraph text.&lt;/p&gt;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&lt;h2&gt;This is a heading 2&lt;/h2&gt;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  &lt;p&gt;This is some more paragraph text.&lt;/p&gt;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&lt;/body&gt;</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GB" sz="14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sym typeface="Arial"/>
              </a:rPr>
              <a:t>&lt;/html&gt;</a:t>
            </a:r>
          </a:p>
        </p:txBody>
      </p:sp>
      <p:sp>
        <p:nvSpPr>
          <p:cNvPr id="6" name="Right Arrow 7">
            <a:extLst>
              <a:ext uri="{FF2B5EF4-FFF2-40B4-BE49-F238E27FC236}">
                <a16:creationId xmlns:a16="http://schemas.microsoft.com/office/drawing/2014/main" id="{0589F37D-D1B5-3468-4333-B7B30B620044}"/>
              </a:ext>
            </a:extLst>
          </p:cNvPr>
          <p:cNvSpPr/>
          <p:nvPr/>
        </p:nvSpPr>
        <p:spPr>
          <a:xfrm>
            <a:off x="5250328" y="5123046"/>
            <a:ext cx="716692" cy="5436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Content Placeholder 2">
            <a:extLst>
              <a:ext uri="{FF2B5EF4-FFF2-40B4-BE49-F238E27FC236}">
                <a16:creationId xmlns:a16="http://schemas.microsoft.com/office/drawing/2014/main" id="{797A31D0-0B32-C625-6D95-BC4C26024E73}"/>
              </a:ext>
            </a:extLst>
          </p:cNvPr>
          <p:cNvSpPr txBox="1">
            <a:spLocks/>
          </p:cNvSpPr>
          <p:nvPr/>
        </p:nvSpPr>
        <p:spPr>
          <a:xfrm>
            <a:off x="6650632" y="921621"/>
            <a:ext cx="3338384" cy="22678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h1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  </a:t>
            </a:r>
            <a:r>
              <a:rPr kumimoji="0" lang="en-GB" sz="1400" b="0" i="0" u="none" strike="noStrike" kern="1200" cap="none" spc="0" normalizeH="0" baseline="0" noProof="0" dirty="0" err="1">
                <a:ln>
                  <a:noFill/>
                </a:ln>
                <a:solidFill>
                  <a:srgbClr val="3A3F50"/>
                </a:solidFill>
                <a:effectLst/>
                <a:uLnTx/>
                <a:uFillTx/>
                <a:latin typeface="Courier New" panose="02070309020205020404" pitchFamily="49" charset="0"/>
                <a:ea typeface="+mn-ea"/>
                <a:cs typeface="Courier New" panose="02070309020205020404" pitchFamily="49" charset="0"/>
              </a:rPr>
              <a:t>color:red</a:t>
            </a: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h2</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  </a:t>
            </a:r>
            <a:r>
              <a:rPr kumimoji="0" lang="en-GB" sz="1400" b="0" i="0" u="none" strike="noStrike" kern="1200" cap="none" spc="0" normalizeH="0" baseline="0" noProof="0" dirty="0" err="1">
                <a:ln>
                  <a:noFill/>
                </a:ln>
                <a:solidFill>
                  <a:srgbClr val="3A3F50"/>
                </a:solidFill>
                <a:effectLst/>
                <a:uLnTx/>
                <a:uFillTx/>
                <a:latin typeface="Courier New" panose="02070309020205020404" pitchFamily="49" charset="0"/>
                <a:ea typeface="+mn-ea"/>
                <a:cs typeface="Courier New" panose="02070309020205020404" pitchFamily="49" charset="0"/>
              </a:rPr>
              <a:t>color:green</a:t>
            </a: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  font: 55px "comic sans </a:t>
            </a:r>
            <a:r>
              <a:rPr kumimoji="0" lang="en-GB" sz="1400" b="0" i="0" u="none" strike="noStrike" kern="1200" cap="none" spc="0" normalizeH="0" baseline="0" noProof="0" dirty="0" err="1">
                <a:ln>
                  <a:noFill/>
                </a:ln>
                <a:solidFill>
                  <a:srgbClr val="3A3F50"/>
                </a:solidFill>
                <a:effectLst/>
                <a:uLnTx/>
                <a:uFillTx/>
                <a:latin typeface="Courier New" panose="02070309020205020404" pitchFamily="49" charset="0"/>
                <a:ea typeface="+mn-ea"/>
                <a:cs typeface="Courier New" panose="02070309020205020404" pitchFamily="49" charset="0"/>
              </a:rPr>
              <a:t>ms</a:t>
            </a: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endParaRPr>
          </a:p>
        </p:txBody>
      </p:sp>
      <p:sp>
        <p:nvSpPr>
          <p:cNvPr id="8" name="Right Arrow 9">
            <a:extLst>
              <a:ext uri="{FF2B5EF4-FFF2-40B4-BE49-F238E27FC236}">
                <a16:creationId xmlns:a16="http://schemas.microsoft.com/office/drawing/2014/main" id="{38B91A15-15C3-472C-6186-5081E32FCBF9}"/>
              </a:ext>
            </a:extLst>
          </p:cNvPr>
          <p:cNvSpPr/>
          <p:nvPr/>
        </p:nvSpPr>
        <p:spPr>
          <a:xfrm flipH="1">
            <a:off x="5408226" y="2000895"/>
            <a:ext cx="725481" cy="5436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pic>
        <p:nvPicPr>
          <p:cNvPr id="9" name="Picture 8">
            <a:extLst>
              <a:ext uri="{FF2B5EF4-FFF2-40B4-BE49-F238E27FC236}">
                <a16:creationId xmlns:a16="http://schemas.microsoft.com/office/drawing/2014/main" id="{94805737-17BD-8574-4379-72D35D286A34}"/>
              </a:ext>
            </a:extLst>
          </p:cNvPr>
          <p:cNvPicPr>
            <a:picLocks noChangeAspect="1"/>
          </p:cNvPicPr>
          <p:nvPr/>
        </p:nvPicPr>
        <p:blipFill>
          <a:blip r:embed="rId3"/>
          <a:stretch>
            <a:fillRect/>
          </a:stretch>
        </p:blipFill>
        <p:spPr>
          <a:xfrm>
            <a:off x="599571" y="4070577"/>
            <a:ext cx="3638661" cy="2648637"/>
          </a:xfrm>
          <a:prstGeom prst="rect">
            <a:avLst/>
          </a:prstGeom>
        </p:spPr>
      </p:pic>
      <p:pic>
        <p:nvPicPr>
          <p:cNvPr id="10" name="Picture 9">
            <a:extLst>
              <a:ext uri="{FF2B5EF4-FFF2-40B4-BE49-F238E27FC236}">
                <a16:creationId xmlns:a16="http://schemas.microsoft.com/office/drawing/2014/main" id="{86EBAA3F-186F-BD39-8FC2-07D080B47EE1}"/>
              </a:ext>
            </a:extLst>
          </p:cNvPr>
          <p:cNvPicPr>
            <a:picLocks noChangeAspect="1"/>
          </p:cNvPicPr>
          <p:nvPr/>
        </p:nvPicPr>
        <p:blipFill>
          <a:blip r:embed="rId4"/>
          <a:stretch>
            <a:fillRect/>
          </a:stretch>
        </p:blipFill>
        <p:spPr>
          <a:xfrm>
            <a:off x="6650632" y="4101641"/>
            <a:ext cx="4334133" cy="2648637"/>
          </a:xfrm>
          <a:prstGeom prst="rect">
            <a:avLst/>
          </a:prstGeom>
        </p:spPr>
      </p:pic>
      <p:sp>
        <p:nvSpPr>
          <p:cNvPr id="3" name="TextBox 2">
            <a:extLst>
              <a:ext uri="{FF2B5EF4-FFF2-40B4-BE49-F238E27FC236}">
                <a16:creationId xmlns:a16="http://schemas.microsoft.com/office/drawing/2014/main" id="{E88292D2-2892-4C71-9B15-E9046C62C58D}"/>
              </a:ext>
            </a:extLst>
          </p:cNvPr>
          <p:cNvSpPr txBox="1"/>
          <p:nvPr/>
        </p:nvSpPr>
        <p:spPr>
          <a:xfrm>
            <a:off x="8550932" y="608826"/>
            <a:ext cx="341952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t>
            </a:r>
            <a:r>
              <a:rPr kumimoji="0" lang="en-GB" sz="1200" b="0" i="0" u="none" strike="noStrike" kern="1200" cap="none" spc="0" normalizeH="0" baseline="0" noProof="0" dirty="0" err="1">
                <a:ln>
                  <a:noFill/>
                </a:ln>
                <a:solidFill>
                  <a:srgbClr val="FF0000"/>
                </a:solidFill>
                <a:effectLst/>
                <a:uLnTx/>
                <a:uFillTx/>
                <a:latin typeface="Arial"/>
                <a:ea typeface="+mn-ea"/>
                <a:cs typeface="+mn-cs"/>
              </a:rPr>
              <a:t>html_basics</a:t>
            </a:r>
            <a:r>
              <a:rPr kumimoji="0" lang="en-GB" sz="1200" b="0" i="0" u="none" strike="noStrike" kern="1200" cap="none" spc="0" normalizeH="0" baseline="0" noProof="0" dirty="0">
                <a:ln>
                  <a:noFill/>
                </a:ln>
                <a:solidFill>
                  <a:srgbClr val="FF0000"/>
                </a:solidFill>
                <a:effectLst/>
                <a:uLnTx/>
                <a:uFillTx/>
                <a:latin typeface="Arial"/>
                <a:ea typeface="+mn-ea"/>
                <a:cs typeface="+mn-cs"/>
              </a:rPr>
              <a:t>/ html-with-external-css.htm</a:t>
            </a:r>
          </a:p>
        </p:txBody>
      </p:sp>
    </p:spTree>
    <p:extLst>
      <p:ext uri="{BB962C8B-B14F-4D97-AF65-F5344CB8AC3E}">
        <p14:creationId xmlns:p14="http://schemas.microsoft.com/office/powerpoint/2010/main" val="186140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DA429-209A-75A8-095E-5E9FCBB32538}"/>
              </a:ext>
            </a:extLst>
          </p:cNvPr>
          <p:cNvSpPr>
            <a:spLocks noGrp="1"/>
          </p:cNvSpPr>
          <p:nvPr>
            <p:ph type="title"/>
          </p:nvPr>
        </p:nvSpPr>
        <p:spPr/>
        <p:txBody>
          <a:bodyPr/>
          <a:lstStyle/>
          <a:p>
            <a:r>
              <a:rPr lang="en-GB" dirty="0"/>
              <a:t>CSS Selectors</a:t>
            </a:r>
          </a:p>
        </p:txBody>
      </p:sp>
      <p:sp>
        <p:nvSpPr>
          <p:cNvPr id="3" name="Text Placeholder 2">
            <a:extLst>
              <a:ext uri="{FF2B5EF4-FFF2-40B4-BE49-F238E27FC236}">
                <a16:creationId xmlns:a16="http://schemas.microsoft.com/office/drawing/2014/main" id="{43393649-E5E3-976E-7CAC-F52991D0A52A}"/>
              </a:ext>
            </a:extLst>
          </p:cNvPr>
          <p:cNvSpPr>
            <a:spLocks noGrp="1"/>
          </p:cNvSpPr>
          <p:nvPr>
            <p:ph type="body" idx="1"/>
          </p:nvPr>
        </p:nvSpPr>
        <p:spPr/>
        <p:txBody>
          <a:bodyPr/>
          <a:lstStyle/>
          <a:p>
            <a:r>
              <a:rPr lang="en-GB" dirty="0"/>
              <a:t>There are many selectors. The top 5 are:</a:t>
            </a:r>
          </a:p>
          <a:p>
            <a:r>
              <a:rPr lang="en-GB" dirty="0"/>
              <a:t>1. Class - selects multiple elements. Declare with . and select with class</a:t>
            </a:r>
          </a:p>
          <a:p>
            <a:pPr lvl="1"/>
            <a:r>
              <a:rPr lang="en-GB" dirty="0"/>
              <a:t>Can specify multiple classes</a:t>
            </a:r>
          </a:p>
          <a:p>
            <a:pPr lvl="1"/>
            <a:r>
              <a:rPr lang="en-US" dirty="0"/>
              <a:t>&lt;p class="large-font highlight"&gt;Yet another paragraph&lt;/p&gt;</a:t>
            </a:r>
          </a:p>
          <a:p>
            <a:r>
              <a:rPr lang="en-GB" dirty="0"/>
              <a:t>2. Elements - p, h1, </a:t>
            </a:r>
            <a:r>
              <a:rPr lang="en-GB" dirty="0" err="1"/>
              <a:t>img</a:t>
            </a:r>
            <a:r>
              <a:rPr lang="en-GB" dirty="0"/>
              <a:t> etc</a:t>
            </a:r>
          </a:p>
          <a:p>
            <a:pPr lvl="1"/>
            <a:r>
              <a:rPr lang="en-GB" dirty="0" err="1"/>
              <a:t>img</a:t>
            </a:r>
            <a:r>
              <a:rPr lang="en-GB" dirty="0"/>
              <a:t> {  width: 300px; }</a:t>
            </a:r>
          </a:p>
          <a:p>
            <a:r>
              <a:rPr lang="en-GB" dirty="0"/>
              <a:t>3. Descendent selectors - target one element within another</a:t>
            </a:r>
          </a:p>
          <a:p>
            <a:pPr lvl="1"/>
            <a:r>
              <a:rPr lang="en-GB" dirty="0"/>
              <a:t>div </a:t>
            </a:r>
            <a:r>
              <a:rPr lang="en-GB" dirty="0" err="1"/>
              <a:t>img</a:t>
            </a:r>
            <a:r>
              <a:rPr lang="en-GB" dirty="0"/>
              <a:t> {  width: 500px }</a:t>
            </a:r>
          </a:p>
          <a:p>
            <a:pPr lvl="1"/>
            <a:r>
              <a:rPr lang="en-GB" dirty="0"/>
              <a:t>.div-style </a:t>
            </a:r>
            <a:r>
              <a:rPr lang="en-GB" dirty="0" err="1"/>
              <a:t>img</a:t>
            </a:r>
            <a:r>
              <a:rPr lang="en-GB" dirty="0"/>
              <a:t> {  width: 200px  }</a:t>
            </a:r>
          </a:p>
          <a:p>
            <a:r>
              <a:rPr lang="en-GB" dirty="0"/>
              <a:t>4. Child selectors - target the child, grand-child etc of an element</a:t>
            </a:r>
          </a:p>
          <a:p>
            <a:pPr lvl="1"/>
            <a:r>
              <a:rPr lang="en-US" dirty="0"/>
              <a:t>body &gt; .div-style &gt; p &gt; strong {  color: red; }</a:t>
            </a:r>
          </a:p>
          <a:p>
            <a:r>
              <a:rPr lang="en-US" dirty="0"/>
              <a:t>5. Pseudo classes - :hover, :focus, :first-child</a:t>
            </a:r>
          </a:p>
          <a:p>
            <a:pPr lvl="1"/>
            <a:r>
              <a:rPr lang="en-GB" dirty="0" err="1"/>
              <a:t>button:hover</a:t>
            </a:r>
            <a:r>
              <a:rPr lang="en-GB" dirty="0"/>
              <a:t> { background: #5f9fef; }</a:t>
            </a:r>
          </a:p>
          <a:p>
            <a:endParaRPr lang="en-GB" dirty="0"/>
          </a:p>
        </p:txBody>
      </p:sp>
      <p:sp>
        <p:nvSpPr>
          <p:cNvPr id="4" name="Slide Number Placeholder 3">
            <a:extLst>
              <a:ext uri="{FF2B5EF4-FFF2-40B4-BE49-F238E27FC236}">
                <a16:creationId xmlns:a16="http://schemas.microsoft.com/office/drawing/2014/main" id="{9849831F-333D-D82D-79A2-86CA840EA556}"/>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44450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BD707-4E01-31E7-66A2-D7F6E9147D1F}"/>
              </a:ext>
            </a:extLst>
          </p:cNvPr>
          <p:cNvSpPr>
            <a:spLocks noGrp="1"/>
          </p:cNvSpPr>
          <p:nvPr>
            <p:ph type="title"/>
          </p:nvPr>
        </p:nvSpPr>
        <p:spPr/>
        <p:txBody>
          <a:bodyPr/>
          <a:lstStyle/>
          <a:p>
            <a:r>
              <a:rPr lang="en-GB" dirty="0"/>
              <a:t>CSS Precedence</a:t>
            </a:r>
          </a:p>
        </p:txBody>
      </p:sp>
      <p:sp>
        <p:nvSpPr>
          <p:cNvPr id="3" name="Text Placeholder 2">
            <a:extLst>
              <a:ext uri="{FF2B5EF4-FFF2-40B4-BE49-F238E27FC236}">
                <a16:creationId xmlns:a16="http://schemas.microsoft.com/office/drawing/2014/main" id="{0E3108D4-2529-751C-5261-42236EB046D6}"/>
              </a:ext>
            </a:extLst>
          </p:cNvPr>
          <p:cNvSpPr>
            <a:spLocks noGrp="1"/>
          </p:cNvSpPr>
          <p:nvPr>
            <p:ph type="body" idx="1"/>
          </p:nvPr>
        </p:nvSpPr>
        <p:spPr/>
        <p:txBody>
          <a:bodyPr/>
          <a:lstStyle/>
          <a:p>
            <a:r>
              <a:rPr lang="en-GB" dirty="0"/>
              <a:t>It can be confusing sometimes as to why your styles don't seem to work as you expect</a:t>
            </a:r>
          </a:p>
          <a:p>
            <a:r>
              <a:rPr lang="en-GB" dirty="0"/>
              <a:t>There is a precedence which is basically:</a:t>
            </a:r>
          </a:p>
          <a:p>
            <a:r>
              <a:rPr lang="en-GB" dirty="0"/>
              <a:t>Highest to lowest</a:t>
            </a:r>
          </a:p>
          <a:p>
            <a:pPr lvl="1"/>
            <a:r>
              <a:rPr lang="en-GB" b="1" dirty="0"/>
              <a:t>!important</a:t>
            </a:r>
            <a:r>
              <a:rPr lang="en-GB" dirty="0"/>
              <a:t> - overrides all except another important. Attach the flag to a </a:t>
            </a:r>
            <a:r>
              <a:rPr lang="en-GB" dirty="0" err="1"/>
              <a:t>css</a:t>
            </a:r>
            <a:r>
              <a:rPr lang="en-GB" dirty="0"/>
              <a:t> value. Use by exception</a:t>
            </a:r>
          </a:p>
          <a:p>
            <a:pPr lvl="1"/>
            <a:r>
              <a:rPr lang="en-GB" b="1" dirty="0"/>
              <a:t>Inine style</a:t>
            </a:r>
            <a:r>
              <a:rPr lang="en-GB" dirty="0"/>
              <a:t> - is effectively worth 1000. This tightly couples the style to the content</a:t>
            </a:r>
          </a:p>
          <a:p>
            <a:pPr lvl="1"/>
            <a:r>
              <a:rPr lang="en-GB" b="1" dirty="0"/>
              <a:t>Specificity</a:t>
            </a:r>
            <a:r>
              <a:rPr lang="en-GB" dirty="0"/>
              <a:t> - the more specific, the higher the priority. They are awarded values</a:t>
            </a:r>
          </a:p>
          <a:p>
            <a:pPr lvl="2"/>
            <a:r>
              <a:rPr lang="en-GB" dirty="0"/>
              <a:t>ID selector: 100</a:t>
            </a:r>
          </a:p>
          <a:p>
            <a:pPr lvl="2"/>
            <a:r>
              <a:rPr lang="en-GB" dirty="0"/>
              <a:t>Class / attribute / pseudo-class: 10</a:t>
            </a:r>
          </a:p>
          <a:p>
            <a:pPr lvl="2"/>
            <a:r>
              <a:rPr lang="en-GB" dirty="0"/>
              <a:t>Element selector: 1</a:t>
            </a:r>
          </a:p>
          <a:p>
            <a:pPr lvl="1"/>
            <a:r>
              <a:rPr lang="en-GB" dirty="0"/>
              <a:t>This is written in a shorthand format of (</a:t>
            </a:r>
            <a:r>
              <a:rPr lang="en-GB" dirty="0" err="1"/>
              <a:t>a,b,c</a:t>
            </a:r>
            <a:r>
              <a:rPr lang="en-GB" dirty="0"/>
              <a:t>) tuple. a=</a:t>
            </a:r>
            <a:r>
              <a:rPr lang="en-GB" dirty="0" err="1"/>
              <a:t>num</a:t>
            </a:r>
            <a:r>
              <a:rPr lang="en-GB" dirty="0"/>
              <a:t> IDs, b=</a:t>
            </a:r>
            <a:r>
              <a:rPr lang="en-GB" dirty="0" err="1"/>
              <a:t>num</a:t>
            </a:r>
            <a:r>
              <a:rPr lang="en-GB" dirty="0"/>
              <a:t> classes, c=</a:t>
            </a:r>
            <a:r>
              <a:rPr lang="en-GB" dirty="0" err="1"/>
              <a:t>num</a:t>
            </a:r>
            <a:r>
              <a:rPr lang="en-GB" dirty="0"/>
              <a:t> elements</a:t>
            </a:r>
          </a:p>
          <a:p>
            <a:pPr lvl="2"/>
            <a:r>
              <a:rPr lang="en-GB" dirty="0"/>
              <a:t>1 id + 2 classes plus 1 element would be (1,2,1) so value of 121</a:t>
            </a:r>
          </a:p>
          <a:p>
            <a:pPr lvl="2"/>
            <a:r>
              <a:rPr lang="en-GB" dirty="0"/>
              <a:t>If there are combinations of selectors, then each is given a value and the precedence is the sum</a:t>
            </a:r>
          </a:p>
          <a:p>
            <a:pPr lvl="2"/>
            <a:r>
              <a:rPr lang="en-GB" dirty="0"/>
              <a:t>Inline is not included in the calculation and is so high, it can't be overridden other than !important</a:t>
            </a:r>
          </a:p>
          <a:p>
            <a:pPr lvl="1"/>
            <a:r>
              <a:rPr lang="en-GB" b="1" dirty="0"/>
              <a:t>Source order</a:t>
            </a:r>
            <a:r>
              <a:rPr lang="en-GB" dirty="0"/>
              <a:t> - if the precedence is equal, the later definition wins</a:t>
            </a:r>
          </a:p>
        </p:txBody>
      </p:sp>
      <p:sp>
        <p:nvSpPr>
          <p:cNvPr id="4" name="Slide Number Placeholder 3">
            <a:extLst>
              <a:ext uri="{FF2B5EF4-FFF2-40B4-BE49-F238E27FC236}">
                <a16:creationId xmlns:a16="http://schemas.microsoft.com/office/drawing/2014/main" id="{A857F291-923C-30EB-D1E0-8911C4B6BA3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170193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D789C-7459-3A3A-C221-668762127809}"/>
              </a:ext>
            </a:extLst>
          </p:cNvPr>
          <p:cNvSpPr>
            <a:spLocks noGrp="1"/>
          </p:cNvSpPr>
          <p:nvPr>
            <p:ph type="title"/>
          </p:nvPr>
        </p:nvSpPr>
        <p:spPr/>
        <p:txBody>
          <a:bodyPr/>
          <a:lstStyle/>
          <a:p>
            <a:r>
              <a:rPr lang="en-GB" dirty="0"/>
              <a:t>Layout</a:t>
            </a:r>
          </a:p>
        </p:txBody>
      </p:sp>
      <p:sp>
        <p:nvSpPr>
          <p:cNvPr id="3" name="Text Placeholder 2">
            <a:extLst>
              <a:ext uri="{FF2B5EF4-FFF2-40B4-BE49-F238E27FC236}">
                <a16:creationId xmlns:a16="http://schemas.microsoft.com/office/drawing/2014/main" id="{7EE470C7-9115-64A7-FF9D-FEA03C4F2E1E}"/>
              </a:ext>
            </a:extLst>
          </p:cNvPr>
          <p:cNvSpPr>
            <a:spLocks noGrp="1"/>
          </p:cNvSpPr>
          <p:nvPr>
            <p:ph type="body" idx="1"/>
          </p:nvPr>
        </p:nvSpPr>
        <p:spPr>
          <a:xfrm>
            <a:off x="609600" y="4398578"/>
            <a:ext cx="11163300" cy="2078421"/>
          </a:xfrm>
        </p:spPr>
        <p:txBody>
          <a:bodyPr/>
          <a:lstStyle/>
          <a:p>
            <a:r>
              <a:rPr lang="en-GB" dirty="0"/>
              <a:t>Block starts on a new line, takes full width of parent, can contain inline and block elements</a:t>
            </a:r>
          </a:p>
          <a:p>
            <a:r>
              <a:rPr lang="en-GB" dirty="0"/>
              <a:t>Inline doesn't start on a new line, takes only as much width as needed, can contain only inline elements</a:t>
            </a:r>
          </a:p>
        </p:txBody>
      </p:sp>
      <p:sp>
        <p:nvSpPr>
          <p:cNvPr id="4" name="Slide Number Placeholder 3">
            <a:extLst>
              <a:ext uri="{FF2B5EF4-FFF2-40B4-BE49-F238E27FC236}">
                <a16:creationId xmlns:a16="http://schemas.microsoft.com/office/drawing/2014/main" id="{4BE1B87E-B2DF-D311-5AAA-8F49E3236BA9}"/>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pic>
        <p:nvPicPr>
          <p:cNvPr id="6" name="Picture 5">
            <a:extLst>
              <a:ext uri="{FF2B5EF4-FFF2-40B4-BE49-F238E27FC236}">
                <a16:creationId xmlns:a16="http://schemas.microsoft.com/office/drawing/2014/main" id="{64F66AAB-F2AD-D624-18D4-ADD770680F64}"/>
              </a:ext>
            </a:extLst>
          </p:cNvPr>
          <p:cNvPicPr>
            <a:picLocks noChangeAspect="1"/>
          </p:cNvPicPr>
          <p:nvPr/>
        </p:nvPicPr>
        <p:blipFill>
          <a:blip r:embed="rId2"/>
          <a:stretch>
            <a:fillRect/>
          </a:stretch>
        </p:blipFill>
        <p:spPr>
          <a:xfrm>
            <a:off x="2017986" y="1002920"/>
            <a:ext cx="7880256" cy="3164432"/>
          </a:xfrm>
          <a:prstGeom prst="rect">
            <a:avLst/>
          </a:prstGeom>
        </p:spPr>
      </p:pic>
    </p:spTree>
    <p:extLst>
      <p:ext uri="{BB962C8B-B14F-4D97-AF65-F5344CB8AC3E}">
        <p14:creationId xmlns:p14="http://schemas.microsoft.com/office/powerpoint/2010/main" val="3926848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98CC-923C-B577-C6AC-9AA817B20366}"/>
              </a:ext>
            </a:extLst>
          </p:cNvPr>
          <p:cNvSpPr>
            <a:spLocks noGrp="1"/>
          </p:cNvSpPr>
          <p:nvPr>
            <p:ph type="title"/>
          </p:nvPr>
        </p:nvSpPr>
        <p:spPr/>
        <p:txBody>
          <a:bodyPr/>
          <a:lstStyle/>
          <a:p>
            <a:r>
              <a:rPr lang="en-GB" dirty="0"/>
              <a:t>CS Box Model</a:t>
            </a:r>
          </a:p>
        </p:txBody>
      </p:sp>
      <p:sp>
        <p:nvSpPr>
          <p:cNvPr id="3" name="Text Placeholder 2">
            <a:extLst>
              <a:ext uri="{FF2B5EF4-FFF2-40B4-BE49-F238E27FC236}">
                <a16:creationId xmlns:a16="http://schemas.microsoft.com/office/drawing/2014/main" id="{779EEF1F-96D2-BF82-004F-F8037CB3C3D1}"/>
              </a:ext>
            </a:extLst>
          </p:cNvPr>
          <p:cNvSpPr>
            <a:spLocks noGrp="1"/>
          </p:cNvSpPr>
          <p:nvPr>
            <p:ph type="body" idx="1"/>
          </p:nvPr>
        </p:nvSpPr>
        <p:spPr>
          <a:xfrm>
            <a:off x="609600" y="5948854"/>
            <a:ext cx="11163300" cy="528145"/>
          </a:xfrm>
        </p:spPr>
        <p:txBody>
          <a:bodyPr/>
          <a:lstStyle/>
          <a:p>
            <a:endParaRPr lang="en-GB" dirty="0"/>
          </a:p>
        </p:txBody>
      </p:sp>
      <p:sp>
        <p:nvSpPr>
          <p:cNvPr id="4" name="Slide Number Placeholder 3">
            <a:extLst>
              <a:ext uri="{FF2B5EF4-FFF2-40B4-BE49-F238E27FC236}">
                <a16:creationId xmlns:a16="http://schemas.microsoft.com/office/drawing/2014/main" id="{11074F21-EE53-D154-9831-6924475C1665}"/>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pic>
        <p:nvPicPr>
          <p:cNvPr id="1026" name="Picture 2" descr="A Beginner's Guide to the CSS Box Model - DEV Community">
            <a:extLst>
              <a:ext uri="{FF2B5EF4-FFF2-40B4-BE49-F238E27FC236}">
                <a16:creationId xmlns:a16="http://schemas.microsoft.com/office/drawing/2014/main" id="{07560186-374F-4262-5EE4-4113FCACB4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560" y="1109526"/>
            <a:ext cx="3480074" cy="2441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D9F4BEB-8B00-A1BB-2EF9-422EC673CD57}"/>
              </a:ext>
            </a:extLst>
          </p:cNvPr>
          <p:cNvPicPr>
            <a:picLocks noChangeAspect="1"/>
          </p:cNvPicPr>
          <p:nvPr/>
        </p:nvPicPr>
        <p:blipFill>
          <a:blip r:embed="rId3"/>
          <a:stretch>
            <a:fillRect/>
          </a:stretch>
        </p:blipFill>
        <p:spPr>
          <a:xfrm>
            <a:off x="5047130" y="273953"/>
            <a:ext cx="6194476" cy="5748474"/>
          </a:xfrm>
          <a:prstGeom prst="rect">
            <a:avLst/>
          </a:prstGeom>
        </p:spPr>
      </p:pic>
    </p:spTree>
    <p:extLst>
      <p:ext uri="{BB962C8B-B14F-4D97-AF65-F5344CB8AC3E}">
        <p14:creationId xmlns:p14="http://schemas.microsoft.com/office/powerpoint/2010/main" val="4243864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1875</Words>
  <Application>Microsoft Office PowerPoint</Application>
  <PresentationFormat>Widescreen</PresentationFormat>
  <Paragraphs>182</Paragraphs>
  <Slides>15</Slides>
  <Notes>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Aptos</vt:lpstr>
      <vt:lpstr>Aptos Display</vt:lpstr>
      <vt:lpstr>Arial</vt:lpstr>
      <vt:lpstr>Calibri</vt:lpstr>
      <vt:lpstr>Consolas</vt:lpstr>
      <vt:lpstr>Courier New</vt:lpstr>
      <vt:lpstr>Raleway Thin</vt:lpstr>
      <vt:lpstr>Office Theme</vt:lpstr>
      <vt:lpstr>Gaoler template</vt:lpstr>
      <vt:lpstr>PowerPoint Presentation</vt:lpstr>
      <vt:lpstr>Intro to HTML</vt:lpstr>
      <vt:lpstr>3-tier Architecture Demo</vt:lpstr>
      <vt:lpstr>HyperText Markup Language - HTML</vt:lpstr>
      <vt:lpstr>Semantic elements</vt:lpstr>
      <vt:lpstr>Some initial basic HTML</vt:lpstr>
      <vt:lpstr>Try this</vt:lpstr>
      <vt:lpstr>Interactive exercise</vt:lpstr>
      <vt:lpstr>Cascading Style Sheets - CSS</vt:lpstr>
      <vt:lpstr>Embedded CSS</vt:lpstr>
      <vt:lpstr>Example of using an external style sheet</vt:lpstr>
      <vt:lpstr>CSS Selectors</vt:lpstr>
      <vt:lpstr>CSS Precedence</vt:lpstr>
      <vt:lpstr>Layout</vt:lpstr>
      <vt:lpstr>CS Box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Antony John Nicol (School of Engineering and Computing)</dc:creator>
  <cp:lastModifiedBy>Antony John Nicol (School of Engineering and Computing)</cp:lastModifiedBy>
  <cp:revision>1</cp:revision>
  <dcterms:created xsi:type="dcterms:W3CDTF">2026-03-31T16:26:49Z</dcterms:created>
  <dcterms:modified xsi:type="dcterms:W3CDTF">2026-03-31T16:27:30Z</dcterms:modified>
</cp:coreProperties>
</file>