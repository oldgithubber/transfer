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256" r:id="rId3"/>
    <p:sldId id="1915" r:id="rId4"/>
    <p:sldId id="1914" r:id="rId5"/>
    <p:sldId id="1916" r:id="rId6"/>
    <p:sldId id="1917" r:id="rId7"/>
    <p:sldId id="1918" r:id="rId8"/>
    <p:sldId id="1919" r:id="rId9"/>
    <p:sldId id="1906" r:id="rId10"/>
    <p:sldId id="297" r:id="rId11"/>
    <p:sldId id="304" r:id="rId12"/>
    <p:sldId id="440" r:id="rId13"/>
    <p:sldId id="752" r:id="rId14"/>
    <p:sldId id="442" r:id="rId15"/>
    <p:sldId id="1126" r:id="rId16"/>
    <p:sldId id="441" r:id="rId17"/>
    <p:sldId id="1925" r:id="rId18"/>
    <p:sldId id="1842" r:id="rId19"/>
    <p:sldId id="1830" r:id="rId20"/>
    <p:sldId id="455" r:id="rId21"/>
    <p:sldId id="1828" r:id="rId22"/>
    <p:sldId id="112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11" d="100"/>
          <a:sy n="111" d="100"/>
        </p:scale>
        <p:origin x="71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97B07B-43BB-4B0D-A389-1C8ED1D99B57}" type="datetimeFigureOut">
              <a:rPr lang="en-GB" smtClean="0"/>
              <a:t>21/04/2026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508A2-FBEE-43EF-86B5-D9FF3885B28A}" type="slidenum">
              <a:rPr lang="en-GB" smtClean="0"/>
              <a:t>‹#›</a:t>
            </a:fld>
            <a:endParaRPr lang="en-GB"/>
          </a:p>
        </p:txBody>
      </p:sp>
    </p:spTree>
    <p:extLst>
      <p:ext uri="{BB962C8B-B14F-4D97-AF65-F5344CB8AC3E}">
        <p14:creationId xmlns:p14="http://schemas.microsoft.com/office/powerpoint/2010/main" val="2665053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Promis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83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4672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GB"/>
              <a:t>Graphical sequence of promise 1 on next slide</a:t>
            </a:r>
          </a:p>
          <a:p>
            <a:pPr defTabSz="942289">
              <a:defRPr/>
            </a:pPr>
            <a:r>
              <a:rPr lang="en-GB"/>
              <a:t>The promise methods are documented here: </a:t>
            </a:r>
            <a:r>
              <a:rPr lang="en-GB">
                <a:hlinkClick r:id="rId3"/>
              </a:rPr>
              <a:t>https://developer.mozilla.org/en-US/docs/Web/JavaScript/Reference/Global_Objects/Promise</a:t>
            </a:r>
            <a:r>
              <a:rPr lang="en-GB"/>
              <a:t> </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4219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314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4882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529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9132-2011-E726-3D92-F01959467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AB15E-71D9-3E78-1E58-4C8EF0D05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D145A-25F6-2840-2FE7-87EAA9288AF9}"/>
              </a:ext>
            </a:extLst>
          </p:cNvPr>
          <p:cNvSpPr>
            <a:spLocks noGrp="1"/>
          </p:cNvSpPr>
          <p:nvPr>
            <p:ph type="body" idx="1"/>
          </p:nvPr>
        </p:nvSpPr>
        <p:spPr/>
        <p:txBody>
          <a:bodyPr/>
          <a:lstStyle/>
          <a:p>
            <a:r>
              <a:rPr lang="en-GB"/>
              <a:t>The middleware functions appear on the stack in the order they are defined</a:t>
            </a:r>
          </a:p>
          <a:p>
            <a:r>
              <a:rPr lang="en-GB"/>
              <a:t>Each is checked in order and if they don't terminate, call next to keep the search going</a:t>
            </a:r>
          </a:p>
          <a:p>
            <a:r>
              <a:rPr lang="en-GB"/>
              <a:t>The </a:t>
            </a:r>
            <a:r>
              <a:rPr lang="en-GB" err="1"/>
              <a:t>putOnly</a:t>
            </a:r>
            <a:r>
              <a:rPr lang="en-GB"/>
              <a:t> middleware isn't special, it is called for all methods but the called function only responds if the method it PUT</a:t>
            </a:r>
          </a:p>
          <a:p>
            <a:r>
              <a:rPr lang="en-GB"/>
              <a:t>The /nama/:name is different. As the middleware only applies to it, it is added into the stack array element object and called before the path. There could be any number of these passed as parameters in the path and they will be stacked in order from left to right</a:t>
            </a:r>
          </a:p>
          <a:p>
            <a:endParaRPr lang="en-GB"/>
          </a:p>
        </p:txBody>
      </p:sp>
      <p:sp>
        <p:nvSpPr>
          <p:cNvPr id="4" name="Slide Number Placeholder 3">
            <a:extLst>
              <a:ext uri="{FF2B5EF4-FFF2-40B4-BE49-F238E27FC236}">
                <a16:creationId xmlns:a16="http://schemas.microsoft.com/office/drawing/2014/main" id="{7535CCE2-7743-E3EC-2FC1-04ACCCF8C37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2022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Run the example</a:t>
            </a:r>
          </a:p>
          <a:p>
            <a:r>
              <a:rPr lang="en-GB"/>
              <a:t>Explain it</a:t>
            </a:r>
          </a:p>
          <a:p>
            <a:r>
              <a:rPr lang="en-GB"/>
              <a:t>Explain it again in the context of the diagram on the next slide that shows where middleware could go</a:t>
            </a:r>
          </a:p>
          <a:p>
            <a:r>
              <a:rPr lang="en-GB"/>
              <a:t>Show that static will find a file and </a:t>
            </a:r>
            <a:r>
              <a:rPr lang="en-GB" err="1"/>
              <a:t>res.send</a:t>
            </a:r>
            <a:r>
              <a:rPr lang="en-GB"/>
              <a:t> it so close the search - otherwise it continues looking for a match</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4441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1327B-5A0D-F0F4-19FD-7CF42A4B2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1102A-457C-D962-AF84-579DE4B0F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D4937-6727-6629-2E34-622C93A05914}"/>
              </a:ext>
            </a:extLst>
          </p:cNvPr>
          <p:cNvSpPr>
            <a:spLocks noGrp="1"/>
          </p:cNvSpPr>
          <p:nvPr>
            <p:ph type="body" idx="1"/>
          </p:nvPr>
        </p:nvSpPr>
        <p:spPr/>
        <p:txBody>
          <a:bodyPr/>
          <a:lstStyle/>
          <a:p>
            <a:r>
              <a:rPr lang="en-GB"/>
              <a:t>The middleware functions appear on the stack in the order they are defined</a:t>
            </a:r>
          </a:p>
          <a:p>
            <a:r>
              <a:rPr lang="en-GB"/>
              <a:t>Each is checked in order and if they don't terminate, call next to keep the search going</a:t>
            </a:r>
          </a:p>
          <a:p>
            <a:r>
              <a:rPr lang="en-GB"/>
              <a:t>The </a:t>
            </a:r>
            <a:r>
              <a:rPr lang="en-GB" err="1"/>
              <a:t>putOnly</a:t>
            </a:r>
            <a:r>
              <a:rPr lang="en-GB"/>
              <a:t> middleware isn't special, it is called for all methods but the called function only responds if the method it PUT</a:t>
            </a:r>
          </a:p>
          <a:p>
            <a:r>
              <a:rPr lang="en-GB"/>
              <a:t>The /nama/:name is different. As the middleware only applies to it, it is added into the stack array element object and called before the path. There could be any number of these passed as parameters in the path and they will be stacked in order from left to right</a:t>
            </a:r>
          </a:p>
          <a:p>
            <a:endParaRPr lang="en-GB"/>
          </a:p>
        </p:txBody>
      </p:sp>
      <p:sp>
        <p:nvSpPr>
          <p:cNvPr id="4" name="Slide Number Placeholder 3">
            <a:extLst>
              <a:ext uri="{FF2B5EF4-FFF2-40B4-BE49-F238E27FC236}">
                <a16:creationId xmlns:a16="http://schemas.microsoft.com/office/drawing/2014/main" id="{ECACCBF9-D951-A237-23F7-EB3985F5656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0703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Notes: </a:t>
            </a:r>
            <a:r>
              <a:rPr lang="en-GB" err="1"/>
              <a:t>expressMiddlewareNotes</a:t>
            </a: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in folder videos/middleware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Do html / </a:t>
            </a:r>
            <a:r>
              <a:rPr lang="en-GB" err="1"/>
              <a:t>css</a:t>
            </a:r>
            <a:r>
              <a:rPr lang="en-GB"/>
              <a:t> session in lab or tutorial. e.g. use F1 example of a static page</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9192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936E-9CF1-845F-E2CE-074400A901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366A4C0-BAFE-1FE6-B177-2039BEDF5F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18A1348-011B-AA7D-0218-61EBB7F38FAF}"/>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25DD742D-439B-9951-3510-AA725FC633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13E4F0-02A9-4E77-8E2C-13162184A769}"/>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3674909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0A96-5751-CF11-F0FA-EF4B16AF446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970F636-D27C-0A77-7239-604AD2CE5CB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0AD01C6-ACB0-D9B3-E635-C306E4A9AFC4}"/>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15EF047E-E52F-B94E-69B7-52FC7C3136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33D6AA-222C-C270-A412-27F60645D8E1}"/>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3731187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F053-85AB-CF0E-C3E2-364ADAAFA4C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F8E071A-9585-E36D-9F01-FCD2ECF19D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6F54824-02DD-6862-4CD8-27BA2AE848A9}"/>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C0E9BE69-30C9-90D5-A445-51A67DC961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F27424-51B4-D5B7-A69B-1125C60D8627}"/>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3672897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9F55F-D3D5-5343-B78F-5A125290DF6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4FC5451-BCF9-321F-1CE9-49C2E49E39F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D207A64-E7BF-E1CC-F1FA-87F7E25D1F9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EA907AD-77BC-D7A9-2C84-875D5B85AA84}"/>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6" name="Footer Placeholder 5">
            <a:extLst>
              <a:ext uri="{FF2B5EF4-FFF2-40B4-BE49-F238E27FC236}">
                <a16:creationId xmlns:a16="http://schemas.microsoft.com/office/drawing/2014/main" id="{B2FEC882-494A-D2BC-60C6-DC77B81441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01BDF7D-0B9A-A421-85C3-D059788E56BA}"/>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1559439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94436-9BC2-31B1-E27A-E22ADD2F171D}"/>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4BD9C6D-0761-F4A1-1575-EB5C2D720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9FC7868-5F81-07AF-D351-239680DD41B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4AB0709-6750-4A66-BDC0-DFBE14A8B4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CA8C01-DB11-955A-148C-74DBDB648C5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668EA40-C7ED-4E83-BEA4-398A53A08852}"/>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8" name="Footer Placeholder 7">
            <a:extLst>
              <a:ext uri="{FF2B5EF4-FFF2-40B4-BE49-F238E27FC236}">
                <a16:creationId xmlns:a16="http://schemas.microsoft.com/office/drawing/2014/main" id="{EA46FA10-DA3B-6C00-F653-18DA4E08E38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21FE525-2E35-B946-0E68-A432659358FC}"/>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195556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7EC43-FAD0-A070-CCC0-631827BAD6E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999652A-1ABB-3D37-0AE2-9E44CEE322F0}"/>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4" name="Footer Placeholder 3">
            <a:extLst>
              <a:ext uri="{FF2B5EF4-FFF2-40B4-BE49-F238E27FC236}">
                <a16:creationId xmlns:a16="http://schemas.microsoft.com/office/drawing/2014/main" id="{981F1235-5487-AFCC-A21E-0B80DDCD549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C1E9173-2895-E026-EDEF-56643CFE2FF4}"/>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1809442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EE4ACA-83EE-3800-84CE-44A2BF73C372}"/>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3" name="Footer Placeholder 2">
            <a:extLst>
              <a:ext uri="{FF2B5EF4-FFF2-40B4-BE49-F238E27FC236}">
                <a16:creationId xmlns:a16="http://schemas.microsoft.com/office/drawing/2014/main" id="{7B5537D8-6FA1-0CA5-48F2-73971972D67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911393-EE78-C2AD-7297-E29DEE713F82}"/>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898395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848B5-24EF-56C1-312F-1B6E12BE05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2A22CFA-6906-C350-558C-1FEA09BE0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47297E9-B003-B1B8-AB41-32E325414D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3441E0-12A8-C868-22B1-1D55D876364B}"/>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6" name="Footer Placeholder 5">
            <a:extLst>
              <a:ext uri="{FF2B5EF4-FFF2-40B4-BE49-F238E27FC236}">
                <a16:creationId xmlns:a16="http://schemas.microsoft.com/office/drawing/2014/main" id="{9F1C8C26-948D-C06E-51EE-D751709DDE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6524EF-2D56-E867-3CC5-E58667765DBF}"/>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2892628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09B92-6C23-D6DA-C80E-1094265AE1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76CC2ED-BD8E-55A9-6530-FE5F01B00B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898DB53-228A-12E4-A3DF-0340E09BE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A311EB-CE8B-2773-88E6-B1C8DF7466E0}"/>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6" name="Footer Placeholder 5">
            <a:extLst>
              <a:ext uri="{FF2B5EF4-FFF2-40B4-BE49-F238E27FC236}">
                <a16:creationId xmlns:a16="http://schemas.microsoft.com/office/drawing/2014/main" id="{981E70FF-CD0F-063B-3504-180E2B0004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010460-1EF3-B97B-4B03-A736BDA27690}"/>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329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55572-665E-D453-7D82-C558CABD10E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C59FFDF-7D99-B1BF-0D67-E7CE75D095B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5633F91-3044-4C70-8C29-FF646F12C382}"/>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E20023DB-B950-255F-36BD-D4E59B8C0F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E5AE63-EF48-FB3F-D010-F79043386994}"/>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12750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3240F1-E655-D3E6-D5AD-DC7853505C5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F79A86C-E5E8-6858-0F03-4E0F364906E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6EF499D-A1C4-641A-A43E-AF55D58539CB}"/>
              </a:ext>
            </a:extLst>
          </p:cNvPr>
          <p:cNvSpPr>
            <a:spLocks noGrp="1"/>
          </p:cNvSpPr>
          <p:nvPr>
            <p:ph type="dt" sz="half" idx="10"/>
          </p:nvPr>
        </p:nvSpPr>
        <p:spPr/>
        <p:txBody>
          <a:body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1956063B-5F94-164C-EE26-2672E82DAD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B43F70-3DEA-E1D5-8F07-7E0A43BFCC06}"/>
              </a:ext>
            </a:extLst>
          </p:cNvPr>
          <p:cNvSpPr>
            <a:spLocks noGrp="1"/>
          </p:cNvSpPr>
          <p:nvPr>
            <p:ph type="sldNum" sz="quarter" idx="12"/>
          </p:nvPr>
        </p:nvSpPr>
        <p:spPr/>
        <p:txBody>
          <a:bodyPr/>
          <a:lstStyle/>
          <a:p>
            <a:fld id="{F6C3A72B-6BCB-441D-940D-225C183E345D}" type="slidenum">
              <a:rPr lang="en-GB" smtClean="0"/>
              <a:t>‹#›</a:t>
            </a:fld>
            <a:endParaRPr lang="en-GB"/>
          </a:p>
        </p:txBody>
      </p:sp>
    </p:spTree>
    <p:extLst>
      <p:ext uri="{BB962C8B-B14F-4D97-AF65-F5344CB8AC3E}">
        <p14:creationId xmlns:p14="http://schemas.microsoft.com/office/powerpoint/2010/main" val="1878776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667596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598367"/>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464567"/>
            <a:ext cx="11163300" cy="421258"/>
          </a:xfrm>
          <a:prstGeom prst="rect">
            <a:avLst/>
          </a:prstGeom>
        </p:spPr>
        <p:txBody>
          <a:bodyPr spcFirstLastPara="1" wrap="square" lIns="0" tIns="0" rIns="0" bIns="0" anchor="ctr" anchorCtr="0">
            <a:noAutofit/>
          </a:bodyPr>
          <a:lstStyle>
            <a:lvl1pPr lvl="0">
              <a:spcBef>
                <a:spcPts val="0"/>
              </a:spcBef>
              <a:spcAft>
                <a:spcPts val="0"/>
              </a:spcAft>
              <a:buSzPts val="48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26" name="Google Shape;26;p5"/>
          <p:cNvSpPr txBox="1">
            <a:spLocks noGrp="1"/>
          </p:cNvSpPr>
          <p:nvPr>
            <p:ph type="body" idx="1"/>
          </p:nvPr>
        </p:nvSpPr>
        <p:spPr>
          <a:xfrm>
            <a:off x="609600" y="1089368"/>
            <a:ext cx="11163300" cy="5387632"/>
          </a:xfrm>
          <a:prstGeom prst="rect">
            <a:avLst/>
          </a:prstGeom>
        </p:spPr>
        <p:txBody>
          <a:bodyPr spcFirstLastPara="1" wrap="square" lIns="0" tIns="0" rIns="0" bIns="0" anchor="t" anchorCtr="0">
            <a:noAutofit/>
          </a:bodyPr>
          <a:lstStyle>
            <a:lvl1pPr marL="609585" lvl="0" indent="-457189">
              <a:spcBef>
                <a:spcPts val="800"/>
              </a:spcBef>
              <a:spcAft>
                <a:spcPts val="0"/>
              </a:spcAft>
              <a:buClr>
                <a:schemeClr val="tx2"/>
              </a:buClr>
              <a:buSzPts val="1800"/>
              <a:buChar char="▸"/>
              <a:defRPr sz="1800">
                <a:solidFill>
                  <a:schemeClr val="tx1">
                    <a:lumMod val="20000"/>
                    <a:lumOff val="80000"/>
                  </a:schemeClr>
                </a:solidFill>
              </a:defRPr>
            </a:lvl1pPr>
            <a:lvl2pPr marL="1219170" lvl="1" indent="-457189">
              <a:spcBef>
                <a:spcPts val="800"/>
              </a:spcBef>
              <a:spcAft>
                <a:spcPts val="0"/>
              </a:spcAft>
              <a:buClr>
                <a:schemeClr val="bg2">
                  <a:lumMod val="20000"/>
                  <a:lumOff val="80000"/>
                </a:schemeClr>
              </a:buClr>
              <a:buSzPts val="1800"/>
              <a:buChar char="▹"/>
              <a:defRPr sz="1600">
                <a:solidFill>
                  <a:schemeClr val="tx1">
                    <a:lumMod val="20000"/>
                    <a:lumOff val="80000"/>
                  </a:schemeClr>
                </a:solidFill>
              </a:defRPr>
            </a:lvl2pPr>
            <a:lvl3pPr marL="1828754" lvl="2" indent="-457189">
              <a:spcBef>
                <a:spcPts val="800"/>
              </a:spcBef>
              <a:spcAft>
                <a:spcPts val="0"/>
              </a:spcAft>
              <a:buClr>
                <a:schemeClr val="tx2">
                  <a:lumMod val="90000"/>
                </a:schemeClr>
              </a:buClr>
              <a:buSzPts val="1800"/>
              <a:buChar char="▹"/>
              <a:defRPr sz="1400">
                <a:solidFill>
                  <a:schemeClr val="tx1">
                    <a:lumMod val="20000"/>
                    <a:lumOff val="80000"/>
                  </a:schemeClr>
                </a:solidFill>
              </a:defRPr>
            </a:lvl3pPr>
            <a:lvl4pPr marL="2438339" lvl="3" indent="-474121">
              <a:spcBef>
                <a:spcPts val="800"/>
              </a:spcBef>
              <a:spcAft>
                <a:spcPts val="0"/>
              </a:spcAft>
              <a:buClr>
                <a:schemeClr val="tx2">
                  <a:lumMod val="90000"/>
                </a:schemeClr>
              </a:buClr>
              <a:buSzPts val="2000"/>
              <a:buChar char="▹"/>
              <a:defRPr sz="1200">
                <a:solidFill>
                  <a:schemeClr val="tx1">
                    <a:lumMod val="20000"/>
                    <a:lumOff val="80000"/>
                  </a:schemeClr>
                </a:solidFill>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dirty="0"/>
              <a:t>Click to edit Master text styles</a:t>
            </a:r>
          </a:p>
          <a:p>
            <a:pPr lvl="1"/>
            <a:r>
              <a:rPr lang="en-US" dirty="0"/>
              <a:t>Level 2</a:t>
            </a:r>
          </a:p>
          <a:p>
            <a:pPr lvl="2"/>
            <a:r>
              <a:rPr lang="en-US" dirty="0"/>
              <a:t>Level 3</a:t>
            </a:r>
          </a:p>
          <a:p>
            <a:pPr lvl="3"/>
            <a:r>
              <a:rPr lang="en-US" dirty="0"/>
              <a:t>Level 4</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pPr/>
              <a:t>‹#›</a:t>
            </a:fld>
            <a:endParaRPr lang="en-GB"/>
          </a:p>
        </p:txBody>
      </p:sp>
    </p:spTree>
    <p:extLst>
      <p:ext uri="{BB962C8B-B14F-4D97-AF65-F5344CB8AC3E}">
        <p14:creationId xmlns:p14="http://schemas.microsoft.com/office/powerpoint/2010/main" val="44557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6">
                                            <p:txEl>
                                              <p:pRg st="0" end="0"/>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26">
                                            <p:txEl>
                                              <p:pRg st="1" end="1"/>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26">
                                            <p:txEl>
                                              <p:pRg st="2" end="2"/>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26">
                                            <p:txEl>
                                              <p:pRg st="3" end="3"/>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tmplLst>
          <p:tmpl lvl="1">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2">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3">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4">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732351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dark">
  <p:cSld name="Blank dark">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3992263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1317198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E0E0192-C642-4D4F-AE82-A0D0DC02E26B}" type="slidenum">
              <a:rPr lang="en-US" smtClean="0"/>
              <a:pPr/>
              <a:t>‹#›</a:t>
            </a:fld>
            <a:endParaRPr lang="en-US"/>
          </a:p>
        </p:txBody>
      </p:sp>
    </p:spTree>
    <p:extLst>
      <p:ext uri="{BB962C8B-B14F-4D97-AF65-F5344CB8AC3E}">
        <p14:creationId xmlns:p14="http://schemas.microsoft.com/office/powerpoint/2010/main" val="39032460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A42B6-FB87-399B-7B7F-4D467E6B63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41BE5BA-9562-2E9D-F95D-23374376B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1EAF8E4-47A0-7274-481B-ADDFDB0CE92C}"/>
              </a:ext>
            </a:extLst>
          </p:cNvPr>
          <p:cNvSpPr>
            <a:spLocks noGrp="1"/>
          </p:cNvSpPr>
          <p:nvPr>
            <p:ph type="dt" sz="half" idx="10"/>
          </p:nvPr>
        </p:nvSpPr>
        <p:spPr/>
        <p:txBody>
          <a:bodyPr/>
          <a:lstStyle/>
          <a:p>
            <a:fld id="{C06C484D-021C-4383-89BA-BB465F877CA6}" type="datetimeFigureOut">
              <a:rPr lang="en-GB" smtClean="0"/>
              <a:t>21/04/2026</a:t>
            </a:fld>
            <a:endParaRPr lang="en-GB"/>
          </a:p>
        </p:txBody>
      </p:sp>
      <p:sp>
        <p:nvSpPr>
          <p:cNvPr id="5" name="Footer Placeholder 4">
            <a:extLst>
              <a:ext uri="{FF2B5EF4-FFF2-40B4-BE49-F238E27FC236}">
                <a16:creationId xmlns:a16="http://schemas.microsoft.com/office/drawing/2014/main" id="{E7239A5F-A853-D2C3-4D2C-9ACFE84EBB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6F3B8A-D0D0-08A2-A7B0-2F2BEDF9F938}"/>
              </a:ext>
            </a:extLst>
          </p:cNvPr>
          <p:cNvSpPr>
            <a:spLocks noGrp="1"/>
          </p:cNvSpPr>
          <p:nvPr>
            <p:ph type="sldNum" sz="quarter" idx="12"/>
          </p:nvPr>
        </p:nvSpPr>
        <p:spPr/>
        <p:txBody>
          <a:bodyPr/>
          <a:lstStyle/>
          <a:p>
            <a:fld id="{80B769FF-6468-43D4-BF0C-82EE7CF4C3DD}" type="slidenum">
              <a:rPr lang="en-GB" smtClean="0"/>
              <a:t>‹#›</a:t>
            </a:fld>
            <a:endParaRPr lang="en-GB"/>
          </a:p>
        </p:txBody>
      </p:sp>
    </p:spTree>
    <p:extLst>
      <p:ext uri="{BB962C8B-B14F-4D97-AF65-F5344CB8AC3E}">
        <p14:creationId xmlns:p14="http://schemas.microsoft.com/office/powerpoint/2010/main" val="197773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1F5F5-A3E8-2879-F787-6C8EB2590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9CC4A1E-C3DE-9961-89EB-462A367D6B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4D0EE40-8D1F-344B-ABD0-7FE2CC60B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04D6CA-433F-4FB1-A728-36A4CE9A9BAF}" type="datetimeFigureOut">
              <a:rPr lang="en-GB" smtClean="0"/>
              <a:t>21/04/2026</a:t>
            </a:fld>
            <a:endParaRPr lang="en-GB"/>
          </a:p>
        </p:txBody>
      </p:sp>
      <p:sp>
        <p:nvSpPr>
          <p:cNvPr id="5" name="Footer Placeholder 4">
            <a:extLst>
              <a:ext uri="{FF2B5EF4-FFF2-40B4-BE49-F238E27FC236}">
                <a16:creationId xmlns:a16="http://schemas.microsoft.com/office/drawing/2014/main" id="{76F331AD-2CBA-B26E-DB74-DA1E09A639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7AE9B6C-BE11-9B14-EB68-ABF6CFD883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C3A72B-6BCB-441D-940D-225C183E345D}" type="slidenum">
              <a:rPr lang="en-GB" smtClean="0"/>
              <a:t>‹#›</a:t>
            </a:fld>
            <a:endParaRPr lang="en-GB"/>
          </a:p>
        </p:txBody>
      </p:sp>
    </p:spTree>
    <p:extLst>
      <p:ext uri="{BB962C8B-B14F-4D97-AF65-F5344CB8AC3E}">
        <p14:creationId xmlns:p14="http://schemas.microsoft.com/office/powerpoint/2010/main" val="3019168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2" name="Slide Number Placeholder 1">
            <a:extLst>
              <a:ext uri="{FF2B5EF4-FFF2-40B4-BE49-F238E27FC236}">
                <a16:creationId xmlns:a16="http://schemas.microsoft.com/office/drawing/2014/main" id="{D2E12C27-DB2B-AA97-3BBD-0CF8EAE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9C93A-B808-4F92-9D9D-4CEB4D584F4F}" type="slidenum">
              <a:rPr lang="en-GB" smtClean="0"/>
              <a:t>‹#›</a:t>
            </a:fld>
            <a:endParaRPr lang="en-GB"/>
          </a:p>
        </p:txBody>
      </p:sp>
    </p:spTree>
    <p:extLst>
      <p:ext uri="{BB962C8B-B14F-4D97-AF65-F5344CB8AC3E}">
        <p14:creationId xmlns:p14="http://schemas.microsoft.com/office/powerpoint/2010/main" val="74815005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200" b="0" i="0" u="none" strike="noStrike" cap="none">
          <a:solidFill>
            <a:srgbClr val="0000FF"/>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00" b="0" i="0" u="none" strike="noStrike" cap="none" baseline="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C78B1-8E9E-CB75-CF70-B6D2DF455F2A}"/>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119FCD4A-1996-D90B-E167-C21B3804AA3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29957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6DC72-F9C0-854E-67D9-322BA79D6888}"/>
              </a:ext>
            </a:extLst>
          </p:cNvPr>
          <p:cNvSpPr>
            <a:spLocks noGrp="1"/>
          </p:cNvSpPr>
          <p:nvPr>
            <p:ph type="ctrTitle"/>
          </p:nvPr>
        </p:nvSpPr>
        <p:spPr/>
        <p:txBody>
          <a:bodyPr/>
          <a:lstStyle/>
          <a:p>
            <a:r>
              <a:rPr lang="en-GB" dirty="0"/>
              <a:t>Consolidation point</a:t>
            </a:r>
          </a:p>
        </p:txBody>
      </p:sp>
    </p:spTree>
    <p:extLst>
      <p:ext uri="{BB962C8B-B14F-4D97-AF65-F5344CB8AC3E}">
        <p14:creationId xmlns:p14="http://schemas.microsoft.com/office/powerpoint/2010/main" val="92053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E601C-E853-3224-BDBD-3FDCF3FCF1D0}"/>
              </a:ext>
            </a:extLst>
          </p:cNvPr>
          <p:cNvSpPr>
            <a:spLocks noGrp="1"/>
          </p:cNvSpPr>
          <p:nvPr>
            <p:ph type="title"/>
          </p:nvPr>
        </p:nvSpPr>
        <p:spPr/>
        <p:txBody>
          <a:bodyPr/>
          <a:lstStyle/>
          <a:p>
            <a:endParaRPr lang="en-GB" dirty="0"/>
          </a:p>
        </p:txBody>
      </p:sp>
      <p:sp>
        <p:nvSpPr>
          <p:cNvPr id="3" name="Text Placeholder 2">
            <a:extLst>
              <a:ext uri="{FF2B5EF4-FFF2-40B4-BE49-F238E27FC236}">
                <a16:creationId xmlns:a16="http://schemas.microsoft.com/office/drawing/2014/main" id="{F81521EA-14E1-80A9-4A97-BFA375FC98C5}"/>
              </a:ext>
            </a:extLst>
          </p:cNvPr>
          <p:cNvSpPr>
            <a:spLocks noGrp="1"/>
          </p:cNvSpPr>
          <p:nvPr>
            <p:ph type="body" idx="1"/>
          </p:nvPr>
        </p:nvSpPr>
        <p:spPr/>
        <p:txBody>
          <a:bodyPr/>
          <a:lstStyle/>
          <a:p>
            <a:pPr marL="152396" indent="0">
              <a:buNone/>
            </a:pPr>
            <a:r>
              <a:rPr lang="en-GB" b="1" dirty="0"/>
              <a:t>Frontend</a:t>
            </a:r>
          </a:p>
          <a:p>
            <a:r>
              <a:rPr lang="en-GB" dirty="0"/>
              <a:t>We've now looked at frontend, backend and integration so you have an awareness at least</a:t>
            </a:r>
          </a:p>
          <a:p>
            <a:r>
              <a:rPr lang="en-GB" dirty="0"/>
              <a:t>HTML is easy, it's mainly a case of knowing the elements and attributes and these can be looked up</a:t>
            </a:r>
          </a:p>
          <a:p>
            <a:r>
              <a:rPr lang="en-GB" dirty="0"/>
              <a:t>Basic CSS is easy, but you have seen how tricky it can get when dealing with page layout - especially if it is to be a responsive-layout (adapts to screen size) - e.g., using components like flexbox</a:t>
            </a:r>
          </a:p>
          <a:p>
            <a:r>
              <a:rPr lang="en-GB" dirty="0"/>
              <a:t>Frontend development would usually use a framework like react, or styling templates like Bootstrap</a:t>
            </a:r>
          </a:p>
          <a:p>
            <a:r>
              <a:rPr lang="en-GB" dirty="0"/>
              <a:t>GDS define look and feel for government products, so all this is learnt as you specialise on a project, but it is all built upon the html, </a:t>
            </a:r>
            <a:r>
              <a:rPr lang="en-GB" dirty="0" err="1"/>
              <a:t>css</a:t>
            </a:r>
            <a:r>
              <a:rPr lang="en-GB" dirty="0"/>
              <a:t> and JavaScript fundamentals</a:t>
            </a:r>
          </a:p>
          <a:p>
            <a:r>
              <a:rPr lang="en-GB" dirty="0"/>
              <a:t>We haven't covered html forms but that's straight forward so we will cover when needed</a:t>
            </a:r>
          </a:p>
          <a:p>
            <a:r>
              <a:rPr lang="en-GB" dirty="0"/>
              <a:t>Let’s have a quick look at Bootstrap for awareness</a:t>
            </a:r>
          </a:p>
          <a:p>
            <a:r>
              <a:rPr lang="en-US" dirty="0"/>
              <a:t>Bootstrap is a </a:t>
            </a:r>
            <a:r>
              <a:rPr lang="en-US" b="1" dirty="0"/>
              <a:t>front‑end CSS framework</a:t>
            </a:r>
            <a:r>
              <a:rPr lang="en-US" dirty="0"/>
              <a:t> that gives you ready‑made CSS classes (and JavaScript) for creating responsive layouts and components without writing everything from scratch</a:t>
            </a:r>
            <a:endParaRPr lang="en-GB" dirty="0"/>
          </a:p>
          <a:p>
            <a:endParaRPr lang="en-GB" dirty="0"/>
          </a:p>
        </p:txBody>
      </p:sp>
      <p:sp>
        <p:nvSpPr>
          <p:cNvPr id="4" name="Slide Number Placeholder 3">
            <a:extLst>
              <a:ext uri="{FF2B5EF4-FFF2-40B4-BE49-F238E27FC236}">
                <a16:creationId xmlns:a16="http://schemas.microsoft.com/office/drawing/2014/main" id="{1A0995F6-6035-F5E4-0771-94E0101FB42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BBF5D055-F59B-FD3D-C425-D38FC48F3D70}"/>
              </a:ext>
            </a:extLst>
          </p:cNvPr>
          <p:cNvSpPr txBox="1"/>
          <p:nvPr/>
        </p:nvSpPr>
        <p:spPr>
          <a:xfrm>
            <a:off x="9818176" y="6043833"/>
            <a:ext cx="153439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/html/bootstrap.html</a:t>
            </a:r>
          </a:p>
        </p:txBody>
      </p:sp>
    </p:spTree>
    <p:extLst>
      <p:ext uri="{BB962C8B-B14F-4D97-AF65-F5344CB8AC3E}">
        <p14:creationId xmlns:p14="http://schemas.microsoft.com/office/powerpoint/2010/main" val="416029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C0A2-7932-ADFD-B0C1-67AEF6FFE7C4}"/>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37A22EB0-C147-E68D-456C-9ACC4DEF321A}"/>
              </a:ext>
            </a:extLst>
          </p:cNvPr>
          <p:cNvSpPr>
            <a:spLocks noGrp="1"/>
          </p:cNvSpPr>
          <p:nvPr>
            <p:ph type="body" idx="1"/>
          </p:nvPr>
        </p:nvSpPr>
        <p:spPr/>
        <p:txBody>
          <a:bodyPr/>
          <a:lstStyle/>
          <a:p>
            <a:pPr marL="152396" indent="0">
              <a:buNone/>
            </a:pPr>
            <a:r>
              <a:rPr lang="en-GB" sz="1600" b="1" dirty="0"/>
              <a:t>Backend</a:t>
            </a:r>
          </a:p>
          <a:p>
            <a:r>
              <a:rPr lang="en-GB" sz="1400" dirty="0"/>
              <a:t>We've used NodeJS and the Express web application framework</a:t>
            </a:r>
          </a:p>
          <a:p>
            <a:pPr lvl="1"/>
            <a:r>
              <a:rPr lang="en-GB" sz="1400" dirty="0"/>
              <a:t>Java has Spring Boot (others are available)</a:t>
            </a:r>
          </a:p>
          <a:p>
            <a:pPr lvl="1"/>
            <a:r>
              <a:rPr lang="en-GB" sz="1400" dirty="0"/>
              <a:t>Python has Flask (others are available)</a:t>
            </a:r>
          </a:p>
          <a:p>
            <a:r>
              <a:rPr lang="en-GB" sz="1400" dirty="0"/>
              <a:t>We looked at creating an application server with various paths to executable code – business logic</a:t>
            </a:r>
          </a:p>
          <a:p>
            <a:r>
              <a:rPr lang="en-GB" sz="1400" dirty="0"/>
              <a:t>We used middleware in implementing the static web server. We will look more at middleware later</a:t>
            </a:r>
          </a:p>
          <a:p>
            <a:r>
              <a:rPr lang="en-GB" sz="1400" dirty="0"/>
              <a:t>So, you should now have a basic awareness of client-server architecture</a:t>
            </a:r>
          </a:p>
          <a:p>
            <a:endParaRPr lang="en-GB" sz="1400" dirty="0"/>
          </a:p>
          <a:p>
            <a:pPr marL="152396" indent="0">
              <a:buNone/>
            </a:pPr>
            <a:r>
              <a:rPr lang="en-GB" sz="1600" b="1" dirty="0"/>
              <a:t>Integration</a:t>
            </a:r>
          </a:p>
          <a:p>
            <a:r>
              <a:rPr lang="en-GB" sz="1400" dirty="0"/>
              <a:t>We use http or https with appropriate http methods to call the endpoints</a:t>
            </a:r>
          </a:p>
          <a:p>
            <a:r>
              <a:rPr lang="en-GB" sz="1400" dirty="0"/>
              <a:t>Headers are used to pass metadata from client to the server and server to client</a:t>
            </a:r>
          </a:p>
          <a:p>
            <a:r>
              <a:rPr lang="en-GB" sz="1400" dirty="0"/>
              <a:t>Data is sent to the server either in the </a:t>
            </a:r>
            <a:r>
              <a:rPr lang="en-GB" sz="1400" dirty="0" err="1"/>
              <a:t>url</a:t>
            </a:r>
            <a:r>
              <a:rPr lang="en-GB" sz="1400" dirty="0"/>
              <a:t> or in the request body</a:t>
            </a:r>
          </a:p>
          <a:p>
            <a:r>
              <a:rPr lang="en-GB" sz="1400" dirty="0"/>
              <a:t>GET and DELETE use the </a:t>
            </a:r>
            <a:r>
              <a:rPr lang="en-GB" sz="1400" dirty="0" err="1"/>
              <a:t>url</a:t>
            </a:r>
            <a:r>
              <a:rPr lang="en-GB" sz="1400" dirty="0"/>
              <a:t> as there is no data to send</a:t>
            </a:r>
          </a:p>
          <a:p>
            <a:r>
              <a:rPr lang="en-GB" sz="1400" dirty="0"/>
              <a:t>POST, PUT and PATCH use the body to send data</a:t>
            </a:r>
          </a:p>
          <a:p>
            <a:endParaRPr lang="en-GB" sz="1400" dirty="0"/>
          </a:p>
        </p:txBody>
      </p:sp>
      <p:sp>
        <p:nvSpPr>
          <p:cNvPr id="4" name="Slide Number Placeholder 3">
            <a:extLst>
              <a:ext uri="{FF2B5EF4-FFF2-40B4-BE49-F238E27FC236}">
                <a16:creationId xmlns:a16="http://schemas.microsoft.com/office/drawing/2014/main" id="{377E9931-229C-B000-5718-D71303C25CF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70378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EE52-159D-64B5-7F4A-6B71E7C1897C}"/>
              </a:ext>
            </a:extLst>
          </p:cNvPr>
          <p:cNvSpPr>
            <a:spLocks noGrp="1"/>
          </p:cNvSpPr>
          <p:nvPr>
            <p:ph type="title"/>
          </p:nvPr>
        </p:nvSpPr>
        <p:spPr/>
        <p:txBody>
          <a:bodyPr/>
          <a:lstStyle/>
          <a:p>
            <a:r>
              <a:rPr lang="en-GB" dirty="0"/>
              <a:t>Data encoding</a:t>
            </a:r>
          </a:p>
        </p:txBody>
      </p:sp>
      <p:sp>
        <p:nvSpPr>
          <p:cNvPr id="3" name="Text Placeholder 2">
            <a:extLst>
              <a:ext uri="{FF2B5EF4-FFF2-40B4-BE49-F238E27FC236}">
                <a16:creationId xmlns:a16="http://schemas.microsoft.com/office/drawing/2014/main" id="{2E72AFEC-FC0B-F0AA-D738-2A62F86B13D4}"/>
              </a:ext>
            </a:extLst>
          </p:cNvPr>
          <p:cNvSpPr>
            <a:spLocks noGrp="1"/>
          </p:cNvSpPr>
          <p:nvPr>
            <p:ph type="body" idx="1"/>
          </p:nvPr>
        </p:nvSpPr>
        <p:spPr/>
        <p:txBody>
          <a:bodyPr/>
          <a:lstStyle/>
          <a:p>
            <a:r>
              <a:rPr lang="en-GB" sz="1400" dirty="0"/>
              <a:t>We can send and receive data in multiple formats and encoding approaches</a:t>
            </a:r>
          </a:p>
          <a:p>
            <a:r>
              <a:rPr lang="en-GB" sz="1400" dirty="0"/>
              <a:t>Formats include html, text, </a:t>
            </a:r>
            <a:r>
              <a:rPr lang="en-GB" sz="1400" dirty="0" err="1"/>
              <a:t>json</a:t>
            </a:r>
            <a:r>
              <a:rPr lang="en-GB" sz="1400" dirty="0"/>
              <a:t>, xml, binary</a:t>
            </a:r>
          </a:p>
          <a:p>
            <a:r>
              <a:rPr lang="en-GB" sz="1400" dirty="0"/>
              <a:t>The client needs to let the server know the format of the data it is sending &amp; visa versa - we state its type in the Content-Type header</a:t>
            </a:r>
          </a:p>
          <a:p>
            <a:r>
              <a:rPr lang="en-GB" sz="1400" dirty="0"/>
              <a:t>Without the Content-Type header, the server has no idea how the sent data is encoded and will have to guess and maybe get it wrong or just ignore it. </a:t>
            </a:r>
          </a:p>
          <a:p>
            <a:r>
              <a:rPr lang="en-GB" sz="1400" dirty="0"/>
              <a:t>This is the same situation when returning a response, so the browser knows the response data format. With the browser though, if the data looks like html or looks like </a:t>
            </a:r>
            <a:r>
              <a:rPr lang="en-GB" sz="1400" dirty="0" err="1"/>
              <a:t>json</a:t>
            </a:r>
            <a:r>
              <a:rPr lang="en-GB" sz="1400" dirty="0"/>
              <a:t>, or text the browser can make an educated guess</a:t>
            </a:r>
          </a:p>
          <a:p>
            <a:r>
              <a:rPr lang="en-GB" sz="1400" dirty="0"/>
              <a:t>Server status code is also returned in a header - i.e. there are various headers transferring metadata in either direction</a:t>
            </a:r>
          </a:p>
          <a:p>
            <a:r>
              <a:rPr lang="en-GB" sz="1400" dirty="0"/>
              <a:t>There are various Content-Types including:</a:t>
            </a:r>
          </a:p>
          <a:p>
            <a:pPr lvl="1"/>
            <a:r>
              <a:rPr lang="en-GB" dirty="0"/>
              <a:t>application/x-www-form-</a:t>
            </a:r>
            <a:r>
              <a:rPr lang="en-GB" dirty="0" err="1"/>
              <a:t>urlencoded</a:t>
            </a:r>
            <a:r>
              <a:rPr lang="en-GB" dirty="0"/>
              <a:t> sent in key value pairs. </a:t>
            </a:r>
            <a:r>
              <a:rPr lang="en-US" dirty="0"/>
              <a:t>key1=value1&amp;key2=value2&amp;key3=value3</a:t>
            </a:r>
          </a:p>
          <a:p>
            <a:pPr lvl="2"/>
            <a:r>
              <a:rPr lang="en-US" dirty="0"/>
              <a:t>get and delete will generally send this as part of the </a:t>
            </a:r>
            <a:r>
              <a:rPr lang="en-US" dirty="0" err="1"/>
              <a:t>url</a:t>
            </a:r>
            <a:endParaRPr lang="en-US" dirty="0"/>
          </a:p>
          <a:p>
            <a:pPr lvl="2"/>
            <a:r>
              <a:rPr lang="en-US" dirty="0"/>
              <a:t>post, put and patch will generally send it in the body</a:t>
            </a:r>
            <a:endParaRPr lang="en-GB" dirty="0"/>
          </a:p>
          <a:p>
            <a:pPr lvl="1"/>
            <a:r>
              <a:rPr lang="en-GB" dirty="0"/>
              <a:t>text/plain, text/html, text/</a:t>
            </a:r>
            <a:r>
              <a:rPr lang="en-GB" dirty="0" err="1"/>
              <a:t>css</a:t>
            </a:r>
            <a:r>
              <a:rPr lang="en-GB" dirty="0"/>
              <a:t>, text/xml</a:t>
            </a:r>
          </a:p>
          <a:p>
            <a:pPr lvl="1"/>
            <a:r>
              <a:rPr lang="en-GB" dirty="0"/>
              <a:t>application/</a:t>
            </a:r>
            <a:r>
              <a:rPr lang="en-GB" dirty="0" err="1"/>
              <a:t>javascript</a:t>
            </a:r>
            <a:r>
              <a:rPr lang="en-GB" dirty="0"/>
              <a:t>, application/</a:t>
            </a:r>
            <a:r>
              <a:rPr lang="en-GB" dirty="0" err="1"/>
              <a:t>json</a:t>
            </a:r>
            <a:r>
              <a:rPr lang="en-GB" dirty="0"/>
              <a:t>, application/xml</a:t>
            </a:r>
          </a:p>
          <a:p>
            <a:pPr lvl="1"/>
            <a:r>
              <a:rPr lang="en-US" dirty="0"/>
              <a:t>Binary formats: </a:t>
            </a:r>
            <a:r>
              <a:rPr lang="en-GB" dirty="0"/>
              <a:t>application/octet-stream(raw binary), </a:t>
            </a:r>
            <a:r>
              <a:rPr lang="en-US" dirty="0"/>
              <a:t>image/</a:t>
            </a:r>
            <a:r>
              <a:rPr lang="en-US" dirty="0" err="1"/>
              <a:t>png</a:t>
            </a:r>
            <a:r>
              <a:rPr lang="en-US" dirty="0"/>
              <a:t>, image/jpeg, image/gif, image/</a:t>
            </a:r>
            <a:r>
              <a:rPr lang="en-US" dirty="0" err="1"/>
              <a:t>webp</a:t>
            </a:r>
            <a:r>
              <a:rPr lang="en-US" dirty="0"/>
              <a:t>, video/mp4, audio/mpeg, font/woff2, application/pdf, application/zip</a:t>
            </a:r>
            <a:endParaRPr lang="en-GB" dirty="0"/>
          </a:p>
          <a:p>
            <a:pPr lvl="1"/>
            <a:endParaRPr lang="en-GB" dirty="0"/>
          </a:p>
        </p:txBody>
      </p:sp>
      <p:sp>
        <p:nvSpPr>
          <p:cNvPr id="4" name="Slide Number Placeholder 3">
            <a:extLst>
              <a:ext uri="{FF2B5EF4-FFF2-40B4-BE49-F238E27FC236}">
                <a16:creationId xmlns:a16="http://schemas.microsoft.com/office/drawing/2014/main" id="{69962FF2-D748-1417-22FC-E1BB1B88A15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58706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936D-509A-0E8D-2DDC-275B2AB5949B}"/>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9B8074A0-564E-0D86-0105-32F5D5AFE27E}"/>
              </a:ext>
            </a:extLst>
          </p:cNvPr>
          <p:cNvSpPr>
            <a:spLocks noGrp="1"/>
          </p:cNvSpPr>
          <p:nvPr>
            <p:ph type="body" idx="1"/>
          </p:nvPr>
        </p:nvSpPr>
        <p:spPr/>
        <p:txBody>
          <a:bodyPr/>
          <a:lstStyle/>
          <a:p>
            <a:r>
              <a:rPr lang="en-GB" sz="1600" dirty="0"/>
              <a:t>We haven’t worried much about the Content-Type so far, but you need to be aware of it</a:t>
            </a:r>
          </a:p>
          <a:p>
            <a:r>
              <a:rPr lang="en-GB" sz="1600" dirty="0"/>
              <a:t>When sending data from the browser, the default is </a:t>
            </a:r>
            <a:r>
              <a:rPr lang="en-GB" sz="1600" b="1" dirty="0"/>
              <a:t>application/x-www-form-</a:t>
            </a:r>
            <a:r>
              <a:rPr lang="en-GB" sz="1600" b="1" dirty="0" err="1"/>
              <a:t>urlencoded</a:t>
            </a:r>
            <a:endParaRPr lang="en-GB" sz="1600" b="1" dirty="0"/>
          </a:p>
          <a:p>
            <a:r>
              <a:rPr lang="en-GB" sz="1600" dirty="0"/>
              <a:t>When sending from JavaScript it tends to be</a:t>
            </a:r>
            <a:r>
              <a:rPr lang="en-GB" sz="1600" b="1" dirty="0"/>
              <a:t> application/</a:t>
            </a:r>
            <a:r>
              <a:rPr lang="en-GB" sz="1600" b="1" dirty="0" err="1"/>
              <a:t>json</a:t>
            </a:r>
            <a:r>
              <a:rPr lang="en-GB" sz="1600" dirty="0"/>
              <a:t> so you need to set the header for this</a:t>
            </a:r>
          </a:p>
          <a:p>
            <a:pPr marL="761981" lvl="1" indent="0">
              <a:buNone/>
            </a:pPr>
            <a:r>
              <a:rPr lang="en-GB" sz="1400" dirty="0">
                <a:latin typeface="Courier New" panose="02070309020205020404" pitchFamily="49" charset="0"/>
                <a:cs typeface="Courier New" panose="02070309020205020404" pitchFamily="49" charset="0"/>
              </a:rPr>
              <a:t>fetch("/person",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method: "POST",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headers: { "Content-Type": "application/</a:t>
            </a:r>
            <a:r>
              <a:rPr lang="en-GB" sz="1400" dirty="0" err="1">
                <a:latin typeface="Courier New" panose="02070309020205020404" pitchFamily="49" charset="0"/>
                <a:cs typeface="Courier New" panose="02070309020205020404" pitchFamily="49" charset="0"/>
              </a:rPr>
              <a:t>json</a:t>
            </a:r>
            <a:r>
              <a:rPr lang="en-GB" sz="1400" dirty="0">
                <a:latin typeface="Courier New" panose="02070309020205020404" pitchFamily="49" charset="0"/>
                <a:cs typeface="Courier New" panose="02070309020205020404" pitchFamily="49" charset="0"/>
              </a:rPr>
              <a:t>"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body: </a:t>
            </a:r>
            <a:r>
              <a:rPr lang="en-GB" sz="1400" dirty="0" err="1">
                <a:latin typeface="Courier New" panose="02070309020205020404" pitchFamily="49" charset="0"/>
                <a:cs typeface="Courier New" panose="02070309020205020404" pitchFamily="49" charset="0"/>
              </a:rPr>
              <a:t>JSON.stringify</a:t>
            </a:r>
            <a:r>
              <a:rPr lang="en-GB" sz="1400" dirty="0">
                <a:latin typeface="Courier New" panose="02070309020205020404" pitchFamily="49" charset="0"/>
                <a:cs typeface="Courier New" panose="02070309020205020404" pitchFamily="49" charset="0"/>
              </a:rPr>
              <a: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fName</a:t>
            </a:r>
            <a:r>
              <a:rPr lang="en-GB" sz="1400" dirty="0">
                <a:latin typeface="Courier New" panose="02070309020205020404" pitchFamily="49" charset="0"/>
                <a:cs typeface="Courier New" panose="02070309020205020404" pitchFamily="49" charset="0"/>
              </a:rPr>
              <a:t>: "Tony",</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lName</a:t>
            </a:r>
            <a:r>
              <a:rPr lang="en-GB" sz="1400" dirty="0">
                <a:latin typeface="Courier New" panose="02070309020205020404" pitchFamily="49" charset="0"/>
                <a:cs typeface="Courier New" panose="02070309020205020404" pitchFamily="49" charset="0"/>
              </a:rPr>
              <a:t>: "Nicol",</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age: 40</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a:t>
            </a:r>
          </a:p>
          <a:p>
            <a:r>
              <a:rPr lang="en-GB" sz="1600" dirty="0"/>
              <a:t>You can use </a:t>
            </a:r>
            <a:r>
              <a:rPr lang="en-GB" sz="1600" dirty="0" err="1"/>
              <a:t>name:value</a:t>
            </a:r>
            <a:r>
              <a:rPr lang="en-GB" sz="1600" dirty="0"/>
              <a:t> pairs and </a:t>
            </a:r>
            <a:r>
              <a:rPr lang="en-GB" sz="1600" b="1" dirty="0"/>
              <a:t>application/x-www-form-</a:t>
            </a:r>
            <a:r>
              <a:rPr lang="en-GB" sz="1600" b="1" dirty="0" err="1"/>
              <a:t>urlencoded</a:t>
            </a:r>
            <a:r>
              <a:rPr lang="en-GB" sz="1600" dirty="0"/>
              <a:t> if you want to but </a:t>
            </a:r>
            <a:r>
              <a:rPr lang="en-GB" sz="1600" dirty="0" err="1"/>
              <a:t>json</a:t>
            </a:r>
            <a:r>
              <a:rPr lang="en-GB" sz="1600" dirty="0"/>
              <a:t> is more common for JavaScript fetch operations</a:t>
            </a:r>
          </a:p>
          <a:p>
            <a:r>
              <a:rPr lang="en-GB" sz="1600" dirty="0"/>
              <a:t>From the server perspective, the </a:t>
            </a:r>
            <a:r>
              <a:rPr lang="en-GB" sz="1600" dirty="0" err="1"/>
              <a:t>respons</a:t>
            </a:r>
            <a:r>
              <a:rPr lang="en-GB" sz="1600" dirty="0"/>
              <a:t> function often sets the Content-Type header</a:t>
            </a:r>
          </a:p>
          <a:p>
            <a:pPr lvl="1"/>
            <a:r>
              <a:rPr lang="en-GB" sz="1400" dirty="0" err="1"/>
              <a:t>res.send</a:t>
            </a:r>
            <a:r>
              <a:rPr lang="en-GB" sz="1400" dirty="0"/>
              <a:t>: inspects the data type and sets the header based on the format of the data - or you can set it to be sure</a:t>
            </a:r>
          </a:p>
          <a:p>
            <a:pPr lvl="2"/>
            <a:r>
              <a:rPr lang="en-GB" dirty="0" err="1"/>
              <a:t>res.setHeader</a:t>
            </a:r>
            <a:r>
              <a:rPr lang="en-GB" dirty="0"/>
              <a:t>("Content-Type", "application/</a:t>
            </a:r>
            <a:r>
              <a:rPr lang="en-GB" dirty="0" err="1"/>
              <a:t>json</a:t>
            </a:r>
            <a:r>
              <a:rPr lang="en-GB" dirty="0"/>
              <a:t>");</a:t>
            </a:r>
            <a:endParaRPr lang="en-GB" sz="1400" dirty="0"/>
          </a:p>
          <a:p>
            <a:pPr lvl="1"/>
            <a:r>
              <a:rPr lang="en-GB" sz="1400" dirty="0" err="1"/>
              <a:t>res.json</a:t>
            </a:r>
            <a:r>
              <a:rPr lang="en-GB" sz="1400" dirty="0"/>
              <a:t> stringifies the object and sets the header to </a:t>
            </a:r>
            <a:r>
              <a:rPr lang="en-GB" sz="1400" b="1" dirty="0"/>
              <a:t>Content-Type: application/</a:t>
            </a:r>
            <a:r>
              <a:rPr lang="en-GB" sz="1400" b="1" dirty="0" err="1"/>
              <a:t>json</a:t>
            </a:r>
            <a:r>
              <a:rPr lang="en-GB" sz="1400" b="1" dirty="0"/>
              <a:t>; charset=utf-8</a:t>
            </a:r>
          </a:p>
          <a:p>
            <a:pPr lvl="1"/>
            <a:r>
              <a:rPr lang="en-GB" sz="1400" dirty="0"/>
              <a:t>There are others but these are these ones we have used</a:t>
            </a:r>
          </a:p>
          <a:p>
            <a:endParaRPr lang="en-GB" dirty="0"/>
          </a:p>
        </p:txBody>
      </p:sp>
      <p:sp>
        <p:nvSpPr>
          <p:cNvPr id="4" name="Slide Number Placeholder 3">
            <a:extLst>
              <a:ext uri="{FF2B5EF4-FFF2-40B4-BE49-F238E27FC236}">
                <a16:creationId xmlns:a16="http://schemas.microsoft.com/office/drawing/2014/main" id="{A6050917-4098-5F9A-5EA6-1C7DDA89242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908841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5FB8-4BA0-090B-EC71-ECF713F56E3A}"/>
              </a:ext>
            </a:extLst>
          </p:cNvPr>
          <p:cNvSpPr>
            <a:spLocks noGrp="1"/>
          </p:cNvSpPr>
          <p:nvPr>
            <p:ph type="title"/>
          </p:nvPr>
        </p:nvSpPr>
        <p:spPr/>
        <p:txBody>
          <a:bodyPr/>
          <a:lstStyle/>
          <a:p>
            <a:r>
              <a:rPr lang="en-GB" dirty="0"/>
              <a:t>HTML Form</a:t>
            </a:r>
          </a:p>
        </p:txBody>
      </p:sp>
      <p:sp>
        <p:nvSpPr>
          <p:cNvPr id="3" name="Text Placeholder 2">
            <a:extLst>
              <a:ext uri="{FF2B5EF4-FFF2-40B4-BE49-F238E27FC236}">
                <a16:creationId xmlns:a16="http://schemas.microsoft.com/office/drawing/2014/main" id="{EB267FB8-2C0A-2132-CE5B-4A82F5F06DC9}"/>
              </a:ext>
            </a:extLst>
          </p:cNvPr>
          <p:cNvSpPr>
            <a:spLocks noGrp="1"/>
          </p:cNvSpPr>
          <p:nvPr>
            <p:ph type="body" idx="1"/>
          </p:nvPr>
        </p:nvSpPr>
        <p:spPr/>
        <p:txBody>
          <a:bodyPr/>
          <a:lstStyle/>
          <a:p>
            <a:r>
              <a:rPr lang="en-GB" sz="1600" dirty="0"/>
              <a:t>We can look at all this in a demo and cover the form element as well</a:t>
            </a:r>
          </a:p>
          <a:p>
            <a:r>
              <a:rPr lang="en-GB" sz="1600" dirty="0"/>
              <a:t>A form element can wrap input elements. When a button of type </a:t>
            </a:r>
            <a:r>
              <a:rPr lang="en-GB" sz="1600" b="1" dirty="0"/>
              <a:t>submit</a:t>
            </a:r>
            <a:r>
              <a:rPr lang="en-GB" sz="1600" dirty="0"/>
              <a:t> is pressed, the form collects all the values from all the elements on the form and associates them with their element names to form a list of </a:t>
            </a:r>
            <a:r>
              <a:rPr lang="en-GB" sz="1600" dirty="0" err="1"/>
              <a:t>name:value</a:t>
            </a:r>
            <a:r>
              <a:rPr lang="en-GB" sz="1600" dirty="0"/>
              <a:t> pairs</a:t>
            </a:r>
          </a:p>
          <a:p>
            <a:r>
              <a:rPr lang="en-GB" sz="1600" dirty="0"/>
              <a:t>An </a:t>
            </a:r>
            <a:r>
              <a:rPr lang="en-GB" sz="1600" b="1" dirty="0"/>
              <a:t>action</a:t>
            </a:r>
            <a:r>
              <a:rPr lang="en-GB" sz="1600" dirty="0"/>
              <a:t> attribute specifies the destination, and a </a:t>
            </a:r>
            <a:r>
              <a:rPr lang="en-GB" sz="1600" b="1" dirty="0"/>
              <a:t>method</a:t>
            </a:r>
            <a:r>
              <a:rPr lang="en-GB" sz="1600" dirty="0"/>
              <a:t> attribute specifies which http method to use</a:t>
            </a:r>
          </a:p>
          <a:p>
            <a:pPr lvl="1"/>
            <a:r>
              <a:rPr lang="en-US" sz="1400" dirty="0">
                <a:latin typeface="Courier New" panose="02070309020205020404" pitchFamily="49" charset="0"/>
                <a:cs typeface="Courier New" panose="02070309020205020404" pitchFamily="49" charset="0"/>
              </a:rPr>
              <a:t>&lt;form action="/person" method="post" </a:t>
            </a:r>
            <a:r>
              <a:rPr lang="en-US" sz="1400" dirty="0" err="1">
                <a:latin typeface="Courier New" panose="02070309020205020404" pitchFamily="49" charset="0"/>
                <a:cs typeface="Courier New" panose="02070309020205020404" pitchFamily="49" charset="0"/>
              </a:rPr>
              <a:t>enctype</a:t>
            </a:r>
            <a:r>
              <a:rPr lang="en-US" sz="1400" dirty="0">
                <a:latin typeface="Courier New" panose="02070309020205020404" pitchFamily="49" charset="0"/>
                <a:cs typeface="Courier New" panose="02070309020205020404" pitchFamily="49" charset="0"/>
              </a:rPr>
              <a:t>="application/x-www-form-</a:t>
            </a:r>
            <a:r>
              <a:rPr lang="en-US" sz="1400" dirty="0" err="1">
                <a:latin typeface="Courier New" panose="02070309020205020404" pitchFamily="49" charset="0"/>
                <a:cs typeface="Courier New" panose="02070309020205020404" pitchFamily="49" charset="0"/>
              </a:rPr>
              <a:t>urlencoded</a:t>
            </a:r>
            <a:r>
              <a:rPr lang="en-US" sz="1400" dirty="0">
                <a:latin typeface="Courier New" panose="02070309020205020404" pitchFamily="49" charset="0"/>
                <a:cs typeface="Courier New" panose="02070309020205020404" pitchFamily="49" charset="0"/>
              </a:rPr>
              <a:t>"&gt;</a:t>
            </a:r>
            <a:endParaRPr lang="en-GB" sz="1400" dirty="0">
              <a:latin typeface="Courier New" panose="02070309020205020404" pitchFamily="49" charset="0"/>
              <a:cs typeface="Courier New" panose="02070309020205020404" pitchFamily="49" charset="0"/>
            </a:endParaRPr>
          </a:p>
          <a:p>
            <a:r>
              <a:rPr lang="en-GB" sz="1600" dirty="0"/>
              <a:t>The input elements work with the form by providing an optional </a:t>
            </a:r>
            <a:r>
              <a:rPr lang="en-GB" sz="1600" b="1" dirty="0"/>
              <a:t>required</a:t>
            </a:r>
            <a:r>
              <a:rPr lang="en-GB" sz="1600" dirty="0"/>
              <a:t> attribute which if set will prevent the form sending data if the element has no value from the user</a:t>
            </a:r>
          </a:p>
        </p:txBody>
      </p:sp>
      <p:sp>
        <p:nvSpPr>
          <p:cNvPr id="4" name="Slide Number Placeholder 3">
            <a:extLst>
              <a:ext uri="{FF2B5EF4-FFF2-40B4-BE49-F238E27FC236}">
                <a16:creationId xmlns:a16="http://schemas.microsoft.com/office/drawing/2014/main" id="{F9007925-72B7-24CB-0A0D-7D6B4EDFD89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C3A4D32C-EC1C-4A7B-1936-E5F3EF29972C}"/>
              </a:ext>
            </a:extLst>
          </p:cNvPr>
          <p:cNvSpPr txBox="1"/>
          <p:nvPr/>
        </p:nvSpPr>
        <p:spPr>
          <a:xfrm>
            <a:off x="9377276" y="6116434"/>
            <a:ext cx="215475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/API/</a:t>
            </a:r>
            <a:r>
              <a:rPr kumimoji="0" lang="en-GB" sz="1200" b="0" i="0" u="none" strike="noStrike" kern="1200" cap="none" spc="0" normalizeH="0" baseline="0" noProof="0" dirty="0" err="1">
                <a:ln>
                  <a:noFill/>
                </a:ln>
                <a:solidFill>
                  <a:srgbClr val="FF0000"/>
                </a:solidFill>
                <a:effectLst/>
                <a:uLnTx/>
                <a:uFillTx/>
                <a:latin typeface="Arial"/>
                <a:ea typeface="+mn-ea"/>
                <a:cs typeface="+mn-cs"/>
              </a:rPr>
              <a:t>all_http_methods_demo</a:t>
            </a: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650231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CB1B-B584-B61B-A1C0-9A1071AEB566}"/>
              </a:ext>
            </a:extLst>
          </p:cNvPr>
          <p:cNvSpPr>
            <a:spLocks noGrp="1"/>
          </p:cNvSpPr>
          <p:nvPr>
            <p:ph type="title"/>
          </p:nvPr>
        </p:nvSpPr>
        <p:spPr/>
        <p:txBody>
          <a:bodyPr/>
          <a:lstStyle/>
          <a:p>
            <a:r>
              <a:rPr lang="en-GB" dirty="0"/>
              <a:t>JavaScript Message Handling</a:t>
            </a:r>
          </a:p>
        </p:txBody>
      </p:sp>
      <p:sp>
        <p:nvSpPr>
          <p:cNvPr id="3" name="Text Placeholder 2">
            <a:extLst>
              <a:ext uri="{FF2B5EF4-FFF2-40B4-BE49-F238E27FC236}">
                <a16:creationId xmlns:a16="http://schemas.microsoft.com/office/drawing/2014/main" id="{3AF7D2B5-73FA-5576-30C7-6A3F5EEF3A1A}"/>
              </a:ext>
            </a:extLst>
          </p:cNvPr>
          <p:cNvSpPr>
            <a:spLocks noGrp="1"/>
          </p:cNvSpPr>
          <p:nvPr>
            <p:ph type="body" idx="1"/>
          </p:nvPr>
        </p:nvSpPr>
        <p:spPr/>
        <p:txBody>
          <a:bodyPr/>
          <a:lstStyle/>
          <a:p>
            <a:r>
              <a:rPr lang="en-GB" dirty="0"/>
              <a:t>Due to the single thread, executing a lengthy function will freeze the UI</a:t>
            </a:r>
          </a:p>
          <a:p>
            <a:r>
              <a:rPr lang="en-GB" dirty="0"/>
              <a:t>To avoid this, we can use asynchronous functions to sort of multi-thread</a:t>
            </a:r>
          </a:p>
          <a:p>
            <a:pPr lvl="1"/>
            <a:r>
              <a:rPr lang="en-GB" dirty="0"/>
              <a:t>The asynchronous function is suspended so the main thread can continue</a:t>
            </a:r>
          </a:p>
          <a:p>
            <a:pPr lvl="1"/>
            <a:r>
              <a:rPr lang="en-GB" dirty="0"/>
              <a:t>The asynchronous functionality in the background runs in C on threads within C, not JavaScript</a:t>
            </a:r>
          </a:p>
          <a:p>
            <a:pPr lvl="1"/>
            <a:r>
              <a:rPr lang="en-GB" dirty="0"/>
              <a:t>Once complete, the asynchronous function adds a callback to the event queue</a:t>
            </a:r>
          </a:p>
          <a:p>
            <a:pPr lvl="1"/>
            <a:r>
              <a:rPr lang="en-GB" dirty="0"/>
              <a:t>We need a diagram for this …</a:t>
            </a:r>
          </a:p>
          <a:p>
            <a:endParaRPr lang="en-GB" dirty="0"/>
          </a:p>
        </p:txBody>
      </p:sp>
      <p:sp>
        <p:nvSpPr>
          <p:cNvPr id="4" name="Slide Number Placeholder 3">
            <a:extLst>
              <a:ext uri="{FF2B5EF4-FFF2-40B4-BE49-F238E27FC236}">
                <a16:creationId xmlns:a16="http://schemas.microsoft.com/office/drawing/2014/main" id="{E9DDAD75-B7A1-6A17-D053-B4916D30E23F}"/>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30127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C6FC278-0D14-363E-5DDE-79EC64BD1C0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1EE0BB7-D426-A010-BF61-2443C024E01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0E0192-C642-4D4F-AE82-A0D0DC02E26B}" type="slidenum">
              <a:rPr kumimoji="0" lang="en-GB" sz="1200" b="0" i="0" u="none" strike="noStrike" kern="1200" cap="none" spc="0" normalizeH="0" baseline="0" noProof="0" smtClean="0">
                <a:ln>
                  <a:noFill/>
                </a:ln>
                <a:solidFill>
                  <a:srgbClr val="3A3F5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3A3F50">
                  <a:tint val="75000"/>
                </a:srgbClr>
              </a:solidFill>
              <a:effectLst/>
              <a:uLnTx/>
              <a:uFillTx/>
              <a:latin typeface="Arial"/>
              <a:ea typeface="+mn-ea"/>
              <a:cs typeface="+mn-cs"/>
            </a:endParaRPr>
          </a:p>
        </p:txBody>
      </p:sp>
      <p:pic>
        <p:nvPicPr>
          <p:cNvPr id="6" name="Picture 5">
            <a:extLst>
              <a:ext uri="{FF2B5EF4-FFF2-40B4-BE49-F238E27FC236}">
                <a16:creationId xmlns:a16="http://schemas.microsoft.com/office/drawing/2014/main" id="{ED7F3F8E-CBDC-9B79-56AC-CAF58E77D9DC}"/>
              </a:ext>
            </a:extLst>
          </p:cNvPr>
          <p:cNvPicPr>
            <a:picLocks noChangeAspect="1"/>
          </p:cNvPicPr>
          <p:nvPr/>
        </p:nvPicPr>
        <p:blipFill>
          <a:blip r:embed="rId3"/>
          <a:stretch>
            <a:fillRect/>
          </a:stretch>
        </p:blipFill>
        <p:spPr>
          <a:xfrm>
            <a:off x="290209" y="333089"/>
            <a:ext cx="3573752" cy="3362611"/>
          </a:xfrm>
          <a:prstGeom prst="rect">
            <a:avLst/>
          </a:prstGeom>
          <a:ln>
            <a:solidFill>
              <a:schemeClr val="accent1"/>
            </a:solidFill>
          </a:ln>
        </p:spPr>
      </p:pic>
      <p:sp>
        <p:nvSpPr>
          <p:cNvPr id="7" name="Rectangle 6">
            <a:extLst>
              <a:ext uri="{FF2B5EF4-FFF2-40B4-BE49-F238E27FC236}">
                <a16:creationId xmlns:a16="http://schemas.microsoft.com/office/drawing/2014/main" id="{0497E964-8463-3315-2411-98252BCBDE2B}"/>
              </a:ext>
            </a:extLst>
          </p:cNvPr>
          <p:cNvSpPr/>
          <p:nvPr/>
        </p:nvSpPr>
        <p:spPr>
          <a:xfrm>
            <a:off x="4476749" y="962025"/>
            <a:ext cx="3343275" cy="2733675"/>
          </a:xfrm>
          <a:prstGeom prst="rect">
            <a:avLst/>
          </a:prstGeom>
          <a:solidFill>
            <a:schemeClr val="bg1"/>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5DD"/>
              </a:solidFill>
              <a:effectLst/>
              <a:uLnTx/>
              <a:uFillTx/>
              <a:latin typeface="Arial"/>
              <a:ea typeface="+mn-ea"/>
              <a:cs typeface="+mn-cs"/>
            </a:endParaRPr>
          </a:p>
        </p:txBody>
      </p:sp>
      <p:pic>
        <p:nvPicPr>
          <p:cNvPr id="9" name="lbLevel1">
            <a:extLst>
              <a:ext uri="{FF2B5EF4-FFF2-40B4-BE49-F238E27FC236}">
                <a16:creationId xmlns:a16="http://schemas.microsoft.com/office/drawing/2014/main" id="{D91181FE-8E52-F28A-F536-A4DB90BAB671}"/>
              </a:ext>
            </a:extLst>
          </p:cNvPr>
          <p:cNvPicPr>
            <a:picLocks noChangeAspect="1"/>
          </p:cNvPicPr>
          <p:nvPr/>
        </p:nvPicPr>
        <p:blipFill rotWithShape="1">
          <a:blip r:embed="rId4"/>
          <a:srcRect l="6970" t="27586" b="18984"/>
          <a:stretch/>
        </p:blipFill>
        <p:spPr>
          <a:xfrm>
            <a:off x="299834" y="3471889"/>
            <a:ext cx="921685" cy="147608"/>
          </a:xfrm>
          <a:prstGeom prst="rect">
            <a:avLst/>
          </a:prstGeom>
        </p:spPr>
      </p:pic>
      <p:pic>
        <p:nvPicPr>
          <p:cNvPr id="11" name="lbLevel2">
            <a:extLst>
              <a:ext uri="{FF2B5EF4-FFF2-40B4-BE49-F238E27FC236}">
                <a16:creationId xmlns:a16="http://schemas.microsoft.com/office/drawing/2014/main" id="{35E1371F-03E8-5236-DAEE-EDE08A6FE7F3}"/>
              </a:ext>
            </a:extLst>
          </p:cNvPr>
          <p:cNvPicPr>
            <a:picLocks noChangeAspect="1"/>
          </p:cNvPicPr>
          <p:nvPr/>
        </p:nvPicPr>
        <p:blipFill>
          <a:blip r:embed="rId5"/>
          <a:stretch>
            <a:fillRect/>
          </a:stretch>
        </p:blipFill>
        <p:spPr>
          <a:xfrm>
            <a:off x="466729" y="528580"/>
            <a:ext cx="990738" cy="257211"/>
          </a:xfrm>
          <a:prstGeom prst="rect">
            <a:avLst/>
          </a:prstGeom>
        </p:spPr>
      </p:pic>
      <p:pic>
        <p:nvPicPr>
          <p:cNvPr id="13" name="lbLevel3">
            <a:extLst>
              <a:ext uri="{FF2B5EF4-FFF2-40B4-BE49-F238E27FC236}">
                <a16:creationId xmlns:a16="http://schemas.microsoft.com/office/drawing/2014/main" id="{E6C464F6-CA64-1E62-3A3F-466E582D2A02}"/>
              </a:ext>
            </a:extLst>
          </p:cNvPr>
          <p:cNvPicPr>
            <a:picLocks noChangeAspect="1"/>
          </p:cNvPicPr>
          <p:nvPr/>
        </p:nvPicPr>
        <p:blipFill>
          <a:blip r:embed="rId6"/>
          <a:stretch>
            <a:fillRect/>
          </a:stretch>
        </p:blipFill>
        <p:spPr>
          <a:xfrm>
            <a:off x="476255" y="1266530"/>
            <a:ext cx="971686" cy="247685"/>
          </a:xfrm>
          <a:prstGeom prst="rect">
            <a:avLst/>
          </a:prstGeom>
        </p:spPr>
      </p:pic>
      <p:sp>
        <p:nvSpPr>
          <p:cNvPr id="16" name="Rectangle 15">
            <a:extLst>
              <a:ext uri="{FF2B5EF4-FFF2-40B4-BE49-F238E27FC236}">
                <a16:creationId xmlns:a16="http://schemas.microsoft.com/office/drawing/2014/main" id="{7F79FA64-8BAE-5623-A55F-7711DA48ED4E}"/>
              </a:ext>
            </a:extLst>
          </p:cNvPr>
          <p:cNvSpPr/>
          <p:nvPr/>
        </p:nvSpPr>
        <p:spPr>
          <a:xfrm>
            <a:off x="8064933" y="962025"/>
            <a:ext cx="3343274" cy="1666875"/>
          </a:xfrm>
          <a:prstGeom prst="rect">
            <a:avLst/>
          </a:prstGeom>
          <a:solidFill>
            <a:schemeClr val="bg1"/>
          </a:solidFill>
          <a:ln w="9525"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5DD"/>
              </a:solidFill>
              <a:effectLst/>
              <a:uLnTx/>
              <a:uFillTx/>
              <a:latin typeface="Arial"/>
              <a:ea typeface="+mn-ea"/>
              <a:cs typeface="+mn-cs"/>
            </a:endParaRPr>
          </a:p>
        </p:txBody>
      </p:sp>
      <p:pic>
        <p:nvPicPr>
          <p:cNvPr id="22" name="lbTimeout">
            <a:extLst>
              <a:ext uri="{FF2B5EF4-FFF2-40B4-BE49-F238E27FC236}">
                <a16:creationId xmlns:a16="http://schemas.microsoft.com/office/drawing/2014/main" id="{766E683E-0D86-02D2-2859-EEA93D66B2C5}"/>
              </a:ext>
            </a:extLst>
          </p:cNvPr>
          <p:cNvPicPr>
            <a:picLocks noChangeAspect="1"/>
          </p:cNvPicPr>
          <p:nvPr/>
        </p:nvPicPr>
        <p:blipFill>
          <a:blip r:embed="rId7"/>
          <a:stretch>
            <a:fillRect/>
          </a:stretch>
        </p:blipFill>
        <p:spPr>
          <a:xfrm>
            <a:off x="476661" y="2014394"/>
            <a:ext cx="3200847" cy="200053"/>
          </a:xfrm>
          <a:prstGeom prst="rect">
            <a:avLst/>
          </a:prstGeom>
        </p:spPr>
      </p:pic>
      <p:pic>
        <p:nvPicPr>
          <p:cNvPr id="23" name="fnSetTime">
            <a:extLst>
              <a:ext uri="{FF2B5EF4-FFF2-40B4-BE49-F238E27FC236}">
                <a16:creationId xmlns:a16="http://schemas.microsoft.com/office/drawing/2014/main" id="{772C0F1A-8094-FAF4-4D4D-74D4D2F1E021}"/>
              </a:ext>
            </a:extLst>
          </p:cNvPr>
          <p:cNvPicPr>
            <a:picLocks noChangeAspect="1"/>
          </p:cNvPicPr>
          <p:nvPr/>
        </p:nvPicPr>
        <p:blipFill>
          <a:blip r:embed="rId7"/>
          <a:stretch>
            <a:fillRect/>
          </a:stretch>
        </p:blipFill>
        <p:spPr>
          <a:xfrm>
            <a:off x="8102586" y="1085635"/>
            <a:ext cx="3200847" cy="200053"/>
          </a:xfrm>
          <a:prstGeom prst="rect">
            <a:avLst/>
          </a:prstGeom>
        </p:spPr>
      </p:pic>
      <p:sp>
        <p:nvSpPr>
          <p:cNvPr id="24" name="TextBox 23">
            <a:extLst>
              <a:ext uri="{FF2B5EF4-FFF2-40B4-BE49-F238E27FC236}">
                <a16:creationId xmlns:a16="http://schemas.microsoft.com/office/drawing/2014/main" id="{81937614-3101-359E-A844-B121C323C126}"/>
              </a:ext>
            </a:extLst>
          </p:cNvPr>
          <p:cNvSpPr txBox="1"/>
          <p:nvPr/>
        </p:nvSpPr>
        <p:spPr>
          <a:xfrm>
            <a:off x="8064933" y="1285688"/>
            <a:ext cx="3200847"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Fetch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err="1">
                <a:ln>
                  <a:noFill/>
                </a:ln>
                <a:solidFill>
                  <a:srgbClr val="3A3F50"/>
                </a:solidFill>
                <a:effectLst/>
                <a:uLnTx/>
                <a:uFillTx/>
                <a:latin typeface="Courier New" panose="02070309020205020404" pitchFamily="49" charset="0"/>
                <a:ea typeface="+mn-ea"/>
                <a:cs typeface="Courier New" panose="02070309020205020404" pitchFamily="49" charset="0"/>
              </a:rPr>
              <a:t>AudioData</a:t>
            </a:r>
            <a:endPar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console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crypto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 hundreds more</a:t>
            </a:r>
          </a:p>
        </p:txBody>
      </p:sp>
      <p:sp>
        <p:nvSpPr>
          <p:cNvPr id="25" name="Rectangle 24">
            <a:extLst>
              <a:ext uri="{FF2B5EF4-FFF2-40B4-BE49-F238E27FC236}">
                <a16:creationId xmlns:a16="http://schemas.microsoft.com/office/drawing/2014/main" id="{B7F9E0FE-4920-1B4C-B216-170E6597612F}"/>
              </a:ext>
            </a:extLst>
          </p:cNvPr>
          <p:cNvSpPr/>
          <p:nvPr/>
        </p:nvSpPr>
        <p:spPr>
          <a:xfrm>
            <a:off x="4476749" y="523875"/>
            <a:ext cx="3343274" cy="43815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Call Stack (LIFO)</a:t>
            </a:r>
          </a:p>
        </p:txBody>
      </p:sp>
      <p:sp>
        <p:nvSpPr>
          <p:cNvPr id="26" name="Rectangle 25">
            <a:extLst>
              <a:ext uri="{FF2B5EF4-FFF2-40B4-BE49-F238E27FC236}">
                <a16:creationId xmlns:a16="http://schemas.microsoft.com/office/drawing/2014/main" id="{F0249001-4C25-D4B3-64BE-1C4141151E6A}"/>
              </a:ext>
            </a:extLst>
          </p:cNvPr>
          <p:cNvSpPr/>
          <p:nvPr/>
        </p:nvSpPr>
        <p:spPr>
          <a:xfrm>
            <a:off x="8064933" y="514350"/>
            <a:ext cx="3343274" cy="43815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APIs</a:t>
            </a:r>
          </a:p>
        </p:txBody>
      </p:sp>
      <p:sp>
        <p:nvSpPr>
          <p:cNvPr id="27" name="argsHidden">
            <a:extLst>
              <a:ext uri="{FF2B5EF4-FFF2-40B4-BE49-F238E27FC236}">
                <a16:creationId xmlns:a16="http://schemas.microsoft.com/office/drawing/2014/main" id="{B9200B8F-E6E0-3BFD-8771-EEA69EDCF585}"/>
              </a:ext>
            </a:extLst>
          </p:cNvPr>
          <p:cNvSpPr/>
          <p:nvPr/>
        </p:nvSpPr>
        <p:spPr>
          <a:xfrm>
            <a:off x="9258100" y="1085635"/>
            <a:ext cx="1809750" cy="180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7D1C0FC7-2EA2-D74B-9630-89F1766A74F3}"/>
              </a:ext>
            </a:extLst>
          </p:cNvPr>
          <p:cNvSpPr/>
          <p:nvPr/>
        </p:nvSpPr>
        <p:spPr>
          <a:xfrm>
            <a:off x="4476749" y="4752975"/>
            <a:ext cx="7055284" cy="17811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0" name="event1">
            <a:extLst>
              <a:ext uri="{FF2B5EF4-FFF2-40B4-BE49-F238E27FC236}">
                <a16:creationId xmlns:a16="http://schemas.microsoft.com/office/drawing/2014/main" id="{4039C7D6-AD18-4A9D-86B4-F1F965379B03}"/>
              </a:ext>
            </a:extLst>
          </p:cNvPr>
          <p:cNvSpPr/>
          <p:nvPr/>
        </p:nvSpPr>
        <p:spPr>
          <a:xfrm rot="16200000">
            <a:off x="3933825" y="5421406"/>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CheckboxClick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31" name="event2">
            <a:extLst>
              <a:ext uri="{FF2B5EF4-FFF2-40B4-BE49-F238E27FC236}">
                <a16:creationId xmlns:a16="http://schemas.microsoft.com/office/drawing/2014/main" id="{BFB1F313-A587-888A-A109-B35438B3BA54}"/>
              </a:ext>
            </a:extLst>
          </p:cNvPr>
          <p:cNvSpPr/>
          <p:nvPr/>
        </p:nvSpPr>
        <p:spPr>
          <a:xfrm rot="16200000">
            <a:off x="4456019" y="5421405"/>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ButtonClick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32" name="Arrow: Curved Right 31">
            <a:extLst>
              <a:ext uri="{FF2B5EF4-FFF2-40B4-BE49-F238E27FC236}">
                <a16:creationId xmlns:a16="http://schemas.microsoft.com/office/drawing/2014/main" id="{3ECBA05B-16C1-34FC-6909-621DF18CEBBA}"/>
              </a:ext>
            </a:extLst>
          </p:cNvPr>
          <p:cNvSpPr/>
          <p:nvPr/>
        </p:nvSpPr>
        <p:spPr>
          <a:xfrm>
            <a:off x="4162425" y="3914775"/>
            <a:ext cx="314324" cy="5652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3" name="Arrow: Curved Right 32">
            <a:extLst>
              <a:ext uri="{FF2B5EF4-FFF2-40B4-BE49-F238E27FC236}">
                <a16:creationId xmlns:a16="http://schemas.microsoft.com/office/drawing/2014/main" id="{B82AB74C-8F95-667D-31F0-AF1CAE9092AA}"/>
              </a:ext>
            </a:extLst>
          </p:cNvPr>
          <p:cNvSpPr/>
          <p:nvPr/>
        </p:nvSpPr>
        <p:spPr>
          <a:xfrm flipH="1" flipV="1">
            <a:off x="4484592" y="3881436"/>
            <a:ext cx="314324" cy="5652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01E7C0D2-10BA-E977-F5E5-A1C290F89CEB}"/>
              </a:ext>
            </a:extLst>
          </p:cNvPr>
          <p:cNvSpPr/>
          <p:nvPr/>
        </p:nvSpPr>
        <p:spPr>
          <a:xfrm>
            <a:off x="2876550" y="3887820"/>
            <a:ext cx="1190625" cy="5652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Message Handler</a:t>
            </a:r>
          </a:p>
        </p:txBody>
      </p:sp>
      <p:sp>
        <p:nvSpPr>
          <p:cNvPr id="35" name="eventcb">
            <a:extLst>
              <a:ext uri="{FF2B5EF4-FFF2-40B4-BE49-F238E27FC236}">
                <a16:creationId xmlns:a16="http://schemas.microsoft.com/office/drawing/2014/main" id="{325C4C4D-8605-1BAF-1984-B662604B75C1}"/>
              </a:ext>
            </a:extLst>
          </p:cNvPr>
          <p:cNvSpPr/>
          <p:nvPr/>
        </p:nvSpPr>
        <p:spPr>
          <a:xfrm rot="16200000">
            <a:off x="4978213" y="5429615"/>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callbackDemo</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37" name="Straight Arrow Connector 36">
            <a:extLst>
              <a:ext uri="{FF2B5EF4-FFF2-40B4-BE49-F238E27FC236}">
                <a16:creationId xmlns:a16="http://schemas.microsoft.com/office/drawing/2014/main" id="{88B78276-4C97-D991-2520-A35F6ED0A742}"/>
              </a:ext>
            </a:extLst>
          </p:cNvPr>
          <p:cNvCxnSpPr>
            <a:cxnSpLocks/>
          </p:cNvCxnSpPr>
          <p:nvPr/>
        </p:nvCxnSpPr>
        <p:spPr>
          <a:xfrm flipV="1">
            <a:off x="6756935" y="1266530"/>
            <a:ext cx="2810577" cy="639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0CE53C2-5374-D9FD-48CC-68E3B39C8422}"/>
              </a:ext>
            </a:extLst>
          </p:cNvPr>
          <p:cNvCxnSpPr>
            <a:cxnSpLocks/>
            <a:stCxn id="24" idx="0"/>
          </p:cNvCxnSpPr>
          <p:nvPr/>
        </p:nvCxnSpPr>
        <p:spPr>
          <a:xfrm flipH="1">
            <a:off x="5804034" y="1285688"/>
            <a:ext cx="3861323" cy="3467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event1b">
            <a:extLst>
              <a:ext uri="{FF2B5EF4-FFF2-40B4-BE49-F238E27FC236}">
                <a16:creationId xmlns:a16="http://schemas.microsoft.com/office/drawing/2014/main" id="{79E90819-7639-93D3-9485-60F1F0DAA344}"/>
              </a:ext>
            </a:extLst>
          </p:cNvPr>
          <p:cNvSpPr/>
          <p:nvPr/>
        </p:nvSpPr>
        <p:spPr>
          <a:xfrm>
            <a:off x="4527769" y="1044374"/>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CheckboxClick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45" name="Straight Arrow Connector 44">
            <a:extLst>
              <a:ext uri="{FF2B5EF4-FFF2-40B4-BE49-F238E27FC236}">
                <a16:creationId xmlns:a16="http://schemas.microsoft.com/office/drawing/2014/main" id="{C688AEC9-5617-A126-6DA6-5B28E465ED26}"/>
              </a:ext>
            </a:extLst>
          </p:cNvPr>
          <p:cNvCxnSpPr>
            <a:cxnSpLocks/>
            <a:endCxn id="44" idx="2"/>
          </p:cNvCxnSpPr>
          <p:nvPr/>
        </p:nvCxnSpPr>
        <p:spPr>
          <a:xfrm flipV="1">
            <a:off x="4743097" y="1488685"/>
            <a:ext cx="627635" cy="3208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event2b">
            <a:extLst>
              <a:ext uri="{FF2B5EF4-FFF2-40B4-BE49-F238E27FC236}">
                <a16:creationId xmlns:a16="http://schemas.microsoft.com/office/drawing/2014/main" id="{A90C4706-8BF3-C5EA-A521-BC2FA8D8CA8C}"/>
              </a:ext>
            </a:extLst>
          </p:cNvPr>
          <p:cNvSpPr/>
          <p:nvPr/>
        </p:nvSpPr>
        <p:spPr>
          <a:xfrm>
            <a:off x="4516912" y="1053907"/>
            <a:ext cx="1700402"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ButtonClick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48" name="Straight Arrow Connector 47">
            <a:extLst>
              <a:ext uri="{FF2B5EF4-FFF2-40B4-BE49-F238E27FC236}">
                <a16:creationId xmlns:a16="http://schemas.microsoft.com/office/drawing/2014/main" id="{30B2C2C6-EDE5-34F4-718E-9F40B094D34D}"/>
              </a:ext>
            </a:extLst>
          </p:cNvPr>
          <p:cNvCxnSpPr>
            <a:cxnSpLocks/>
          </p:cNvCxnSpPr>
          <p:nvPr/>
        </p:nvCxnSpPr>
        <p:spPr>
          <a:xfrm flipV="1">
            <a:off x="5329587" y="1514215"/>
            <a:ext cx="26298" cy="3182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95DA9455-6A22-055C-F7A6-3F77947C8970}"/>
              </a:ext>
            </a:extLst>
          </p:cNvPr>
          <p:cNvCxnSpPr>
            <a:cxnSpLocks/>
          </p:cNvCxnSpPr>
          <p:nvPr/>
        </p:nvCxnSpPr>
        <p:spPr>
          <a:xfrm flipH="1" flipV="1">
            <a:off x="5370732" y="1514215"/>
            <a:ext cx="433302" cy="3182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eventcbb">
            <a:extLst>
              <a:ext uri="{FF2B5EF4-FFF2-40B4-BE49-F238E27FC236}">
                <a16:creationId xmlns:a16="http://schemas.microsoft.com/office/drawing/2014/main" id="{A8282733-053A-6399-D5CF-7C263A4A5D18}"/>
              </a:ext>
            </a:extLst>
          </p:cNvPr>
          <p:cNvSpPr/>
          <p:nvPr/>
        </p:nvSpPr>
        <p:spPr>
          <a:xfrm>
            <a:off x="4524150" y="1049140"/>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callbackDemo</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AF1E147F-21C7-4E71-7565-C813A601A3F9}"/>
              </a:ext>
            </a:extLst>
          </p:cNvPr>
          <p:cNvSpPr/>
          <p:nvPr/>
        </p:nvSpPr>
        <p:spPr>
          <a:xfrm>
            <a:off x="6505171" y="4305200"/>
            <a:ext cx="3456975" cy="43815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Event queue (FIFO)</a:t>
            </a:r>
          </a:p>
        </p:txBody>
      </p:sp>
    </p:spTree>
    <p:extLst>
      <p:ext uri="{BB962C8B-B14F-4D97-AF65-F5344CB8AC3E}">
        <p14:creationId xmlns:p14="http://schemas.microsoft.com/office/powerpoint/2010/main" val="245970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469 0.00694 L 0.34922 -0.34352 " pathEditMode="relative" rAng="0" ptsTypes="AA">
                                      <p:cBhvr>
                                        <p:cTn id="6" dur="2000" fill="hold"/>
                                        <p:tgtEl>
                                          <p:spTgt spid="9"/>
                                        </p:tgtEl>
                                        <p:attrNameLst>
                                          <p:attrName>ppt_x</p:attrName>
                                          <p:attrName>ppt_y</p:attrName>
                                        </p:attrNameLst>
                                      </p:cBhvr>
                                      <p:rCtr x="17227" y="-17523"/>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3.75E-6 -3.33333E-6 L 0.33112 0.11459 " pathEditMode="relative" rAng="0" ptsTypes="AA">
                                      <p:cBhvr>
                                        <p:cTn id="10" dur="2000" fill="hold"/>
                                        <p:tgtEl>
                                          <p:spTgt spid="11"/>
                                        </p:tgtEl>
                                        <p:attrNameLst>
                                          <p:attrName>ppt_x</p:attrName>
                                          <p:attrName>ppt_y</p:attrName>
                                        </p:attrNameLst>
                                      </p:cBhvr>
                                      <p:rCtr x="16549" y="571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3.75E-6 2.22222E-6 L 0.33112 0.04514 " pathEditMode="relative" rAng="0" ptsTypes="AA">
                                      <p:cBhvr>
                                        <p:cTn id="14" dur="2000" fill="hold"/>
                                        <p:tgtEl>
                                          <p:spTgt spid="13"/>
                                        </p:tgtEl>
                                        <p:attrNameLst>
                                          <p:attrName>ppt_x</p:attrName>
                                          <p:attrName>ppt_y</p:attrName>
                                        </p:attrNameLst>
                                      </p:cBhvr>
                                      <p:rCtr x="16549" y="2245"/>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2.5E-6 -3.33333E-6 L 0.32969 -0.02037 " pathEditMode="relative" rAng="0" ptsTypes="AA">
                                      <p:cBhvr>
                                        <p:cTn id="18" dur="2000" fill="hold"/>
                                        <p:tgtEl>
                                          <p:spTgt spid="22"/>
                                        </p:tgtEl>
                                        <p:attrNameLst>
                                          <p:attrName>ppt_x</p:attrName>
                                          <p:attrName>ppt_y</p:attrName>
                                        </p:attrNameLst>
                                      </p:cBhvr>
                                      <p:rCtr x="16484" y="-1019"/>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500"/>
                            </p:stCondLst>
                            <p:childTnLst>
                              <p:par>
                                <p:cTn id="25" presetID="10" presetClass="exit" presetSubtype="0" fill="hold" grpId="0" nodeType="afterEffect">
                                  <p:stCondLst>
                                    <p:cond delay="0"/>
                                  </p:stCondLst>
                                  <p:childTnLst>
                                    <p:animEffect transition="out" filter="fade">
                                      <p:cBhvr>
                                        <p:cTn id="26" dur="500"/>
                                        <p:tgtEl>
                                          <p:spTgt spid="27"/>
                                        </p:tgtEl>
                                      </p:cBhvr>
                                    </p:animEffect>
                                    <p:set>
                                      <p:cBhvr>
                                        <p:cTn id="27" dur="1" fill="hold">
                                          <p:stCondLst>
                                            <p:cond delay="499"/>
                                          </p:stCondLst>
                                        </p:cTn>
                                        <p:tgtEl>
                                          <p:spTgt spid="27"/>
                                        </p:tgtEl>
                                        <p:attrNameLst>
                                          <p:attrName>style.visibility</p:attrName>
                                        </p:attrNameLst>
                                      </p:cBhvr>
                                      <p:to>
                                        <p:strVal val="hidden"/>
                                      </p:to>
                                    </p:set>
                                  </p:childTnLst>
                                </p:cTn>
                              </p:par>
                            </p:childTnLst>
                          </p:cTn>
                        </p:par>
                        <p:par>
                          <p:cTn id="28" fill="hold">
                            <p:stCondLst>
                              <p:cond delay="1000"/>
                            </p:stCondLst>
                            <p:childTnLst>
                              <p:par>
                                <p:cTn id="29" presetID="10" presetClass="exit" presetSubtype="0" fill="hold" nodeType="afterEffect">
                                  <p:stCondLst>
                                    <p:cond delay="0"/>
                                  </p:stCondLst>
                                  <p:childTnLst>
                                    <p:animEffect transition="out" filter="fade">
                                      <p:cBhvr>
                                        <p:cTn id="30" dur="500"/>
                                        <p:tgtEl>
                                          <p:spTgt spid="37"/>
                                        </p:tgtEl>
                                      </p:cBhvr>
                                    </p:animEffect>
                                    <p:set>
                                      <p:cBhvr>
                                        <p:cTn id="31" dur="1" fill="hold">
                                          <p:stCondLst>
                                            <p:cond delay="499"/>
                                          </p:stCondLst>
                                        </p:cTn>
                                        <p:tgtEl>
                                          <p:spTgt spid="3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nodeType="clickEffect">
                                  <p:stCondLst>
                                    <p:cond delay="0"/>
                                  </p:stCondLst>
                                  <p:childTnLst>
                                    <p:animEffect transition="out" filter="fade">
                                      <p:cBhvr>
                                        <p:cTn id="35" dur="500" tmFilter="0, 0; .2, .5; .8, .5; 1, 0"/>
                                        <p:tgtEl>
                                          <p:spTgt spid="23"/>
                                        </p:tgtEl>
                                      </p:cBhvr>
                                    </p:animEffect>
                                    <p:animScale>
                                      <p:cBhvr>
                                        <p:cTn id="36" dur="250" autoRev="1" fill="hold"/>
                                        <p:tgtEl>
                                          <p:spTgt spid="23"/>
                                        </p:tgtEl>
                                      </p:cBhvr>
                                      <p:by x="105000" y="105000"/>
                                    </p:animScale>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500"/>
                                        <p:tgtEl>
                                          <p:spTgt spid="11"/>
                                        </p:tgtEl>
                                      </p:cBhvr>
                                    </p:animEffect>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500"/>
                                        <p:tgtEl>
                                          <p:spTgt spid="40"/>
                                        </p:tgtEl>
                                      </p:cBhvr>
                                    </p:animEffect>
                                  </p:childTnLst>
                                </p:cTn>
                              </p:par>
                            </p:childTnLst>
                          </p:cTn>
                        </p:par>
                        <p:par>
                          <p:cTn id="67" fill="hold">
                            <p:stCondLst>
                              <p:cond delay="500"/>
                            </p:stCondLst>
                            <p:childTnLst>
                              <p:par>
                                <p:cTn id="68" presetID="10" presetClass="exit" presetSubtype="0" fill="hold" nodeType="afterEffect">
                                  <p:stCondLst>
                                    <p:cond delay="1000"/>
                                  </p:stCondLst>
                                  <p:childTnLst>
                                    <p:animEffect transition="out" filter="fade">
                                      <p:cBhvr>
                                        <p:cTn id="69" dur="500"/>
                                        <p:tgtEl>
                                          <p:spTgt spid="40"/>
                                        </p:tgtEl>
                                      </p:cBhvr>
                                    </p:animEffect>
                                    <p:set>
                                      <p:cBhvr>
                                        <p:cTn id="70" dur="1" fill="hold">
                                          <p:stCondLst>
                                            <p:cond delay="499"/>
                                          </p:stCondLst>
                                        </p:cTn>
                                        <p:tgtEl>
                                          <p:spTgt spid="40"/>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9"/>
                                        </p:tgtEl>
                                      </p:cBhvr>
                                    </p:animEffect>
                                    <p:set>
                                      <p:cBhvr>
                                        <p:cTn id="77" dur="1" fill="hold">
                                          <p:stCondLst>
                                            <p:cond delay="499"/>
                                          </p:stCondLst>
                                        </p:cTn>
                                        <p:tgtEl>
                                          <p:spTgt spid="9"/>
                                        </p:tgtEl>
                                        <p:attrNameLst>
                                          <p:attrName>style.visibility</p:attrName>
                                        </p:attrNameLst>
                                      </p:cBhvr>
                                      <p:to>
                                        <p:strVal val="hidden"/>
                                      </p:to>
                                    </p:set>
                                  </p:childTnLst>
                                </p:cTn>
                              </p:par>
                            </p:childTnLst>
                          </p:cTn>
                        </p:par>
                        <p:par>
                          <p:cTn id="78" fill="hold">
                            <p:stCondLst>
                              <p:cond delay="500"/>
                            </p:stCondLst>
                            <p:childTnLst>
                              <p:par>
                                <p:cTn id="79" presetID="10" presetClass="entr" presetSubtype="0" fill="hold" nodeType="after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500"/>
                                        <p:tgtEl>
                                          <p:spTgt spid="45"/>
                                        </p:tgtEl>
                                      </p:cBhvr>
                                    </p:animEffect>
                                  </p:childTnLst>
                                </p:cTn>
                              </p:par>
                            </p:childTnLst>
                          </p:cTn>
                        </p:par>
                        <p:par>
                          <p:cTn id="82" fill="hold">
                            <p:stCondLst>
                              <p:cond delay="1000"/>
                            </p:stCondLst>
                            <p:childTnLst>
                              <p:par>
                                <p:cTn id="83" presetID="10" presetClass="exit" presetSubtype="0" fill="hold" nodeType="afterEffect">
                                  <p:stCondLst>
                                    <p:cond delay="0"/>
                                  </p:stCondLst>
                                  <p:childTnLst>
                                    <p:animEffect transition="out" filter="fade">
                                      <p:cBhvr>
                                        <p:cTn id="84" dur="1000"/>
                                        <p:tgtEl>
                                          <p:spTgt spid="45"/>
                                        </p:tgtEl>
                                      </p:cBhvr>
                                    </p:animEffect>
                                    <p:set>
                                      <p:cBhvr>
                                        <p:cTn id="85" dur="1" fill="hold">
                                          <p:stCondLst>
                                            <p:cond delay="999"/>
                                          </p:stCondLst>
                                        </p:cTn>
                                        <p:tgtEl>
                                          <p:spTgt spid="45"/>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30"/>
                                        </p:tgtEl>
                                      </p:cBhvr>
                                    </p:animEffect>
                                    <p:set>
                                      <p:cBhvr>
                                        <p:cTn id="88" dur="1" fill="hold">
                                          <p:stCondLst>
                                            <p:cond delay="499"/>
                                          </p:stCondLst>
                                        </p:cTn>
                                        <p:tgtEl>
                                          <p:spTgt spid="30"/>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childTnLst>
                                </p:cTn>
                              </p:par>
                            </p:childTnLst>
                          </p:cTn>
                        </p:par>
                      </p:childTnLst>
                    </p:cTn>
                  </p:par>
                  <p:par>
                    <p:cTn id="92" fill="hold">
                      <p:stCondLst>
                        <p:cond delay="indefinite"/>
                      </p:stCondLst>
                      <p:childTnLst>
                        <p:par>
                          <p:cTn id="93" fill="hold">
                            <p:stCondLst>
                              <p:cond delay="0"/>
                            </p:stCondLst>
                            <p:childTnLst>
                              <p:par>
                                <p:cTn id="94" presetID="26" presetClass="emph" presetSubtype="0" fill="hold" grpId="1" nodeType="clickEffect">
                                  <p:stCondLst>
                                    <p:cond delay="0"/>
                                  </p:stCondLst>
                                  <p:childTnLst>
                                    <p:animEffect transition="out" filter="fade">
                                      <p:cBhvr>
                                        <p:cTn id="95" dur="500" tmFilter="0, 0; .2, .5; .8, .5; 1, 0"/>
                                        <p:tgtEl>
                                          <p:spTgt spid="44"/>
                                        </p:tgtEl>
                                      </p:cBhvr>
                                    </p:animEffect>
                                    <p:animScale>
                                      <p:cBhvr>
                                        <p:cTn id="96" dur="250" autoRev="1" fill="hold"/>
                                        <p:tgtEl>
                                          <p:spTgt spid="44"/>
                                        </p:tgtEl>
                                      </p:cBhvr>
                                      <p:by x="105000" y="105000"/>
                                    </p:animScale>
                                  </p:childTnLst>
                                </p:cTn>
                              </p:par>
                            </p:childTnLst>
                          </p:cTn>
                        </p:par>
                        <p:par>
                          <p:cTn id="97" fill="hold">
                            <p:stCondLst>
                              <p:cond delay="500"/>
                            </p:stCondLst>
                            <p:childTnLst>
                              <p:par>
                                <p:cTn id="98" presetID="10" presetClass="exit" presetSubtype="0" fill="hold" grpId="2" nodeType="afterEffect">
                                  <p:stCondLst>
                                    <p:cond delay="0"/>
                                  </p:stCondLst>
                                  <p:childTnLst>
                                    <p:animEffect transition="out" filter="fade">
                                      <p:cBhvr>
                                        <p:cTn id="99" dur="500"/>
                                        <p:tgtEl>
                                          <p:spTgt spid="44"/>
                                        </p:tgtEl>
                                      </p:cBhvr>
                                    </p:animEffect>
                                    <p:set>
                                      <p:cBhvr>
                                        <p:cTn id="100" dur="1" fill="hold">
                                          <p:stCondLst>
                                            <p:cond delay="499"/>
                                          </p:stCondLst>
                                        </p:cTn>
                                        <p:tgtEl>
                                          <p:spTgt spid="44"/>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500"/>
                                        <p:tgtEl>
                                          <p:spTgt spid="48"/>
                                        </p:tgtEl>
                                      </p:cBhvr>
                                    </p:animEffect>
                                  </p:childTnLst>
                                </p:cTn>
                              </p:par>
                            </p:childTnLst>
                          </p:cTn>
                        </p:par>
                        <p:par>
                          <p:cTn id="106" fill="hold">
                            <p:stCondLst>
                              <p:cond delay="500"/>
                            </p:stCondLst>
                            <p:childTnLst>
                              <p:par>
                                <p:cTn id="107" presetID="10" presetClass="exit" presetSubtype="0" fill="hold" grpId="1" nodeType="afterEffect">
                                  <p:stCondLst>
                                    <p:cond delay="0"/>
                                  </p:stCondLst>
                                  <p:childTnLst>
                                    <p:animEffect transition="out" filter="fade">
                                      <p:cBhvr>
                                        <p:cTn id="108" dur="500"/>
                                        <p:tgtEl>
                                          <p:spTgt spid="31"/>
                                        </p:tgtEl>
                                      </p:cBhvr>
                                    </p:animEffect>
                                    <p:set>
                                      <p:cBhvr>
                                        <p:cTn id="109" dur="1" fill="hold">
                                          <p:stCondLst>
                                            <p:cond delay="499"/>
                                          </p:stCondLst>
                                        </p:cTn>
                                        <p:tgtEl>
                                          <p:spTgt spid="31"/>
                                        </p:tgtEl>
                                        <p:attrNameLst>
                                          <p:attrName>style.visibility</p:attrName>
                                        </p:attrNameLst>
                                      </p:cBhvr>
                                      <p:to>
                                        <p:strVal val="hidden"/>
                                      </p:to>
                                    </p:set>
                                  </p:childTnLst>
                                </p:cTn>
                              </p:par>
                            </p:childTnLst>
                          </p:cTn>
                        </p:par>
                        <p:par>
                          <p:cTn id="110" fill="hold">
                            <p:stCondLst>
                              <p:cond delay="1000"/>
                            </p:stCondLst>
                            <p:childTnLst>
                              <p:par>
                                <p:cTn id="111" presetID="10" presetClass="entr" presetSubtype="0" fill="hold" grpId="0" nodeType="after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childTnLst>
                          </p:cTn>
                        </p:par>
                        <p:par>
                          <p:cTn id="114" fill="hold">
                            <p:stCondLst>
                              <p:cond delay="1500"/>
                            </p:stCondLst>
                            <p:childTnLst>
                              <p:par>
                                <p:cTn id="115" presetID="10" presetClass="exit" presetSubtype="0" fill="hold" nodeType="afterEffect">
                                  <p:stCondLst>
                                    <p:cond delay="0"/>
                                  </p:stCondLst>
                                  <p:childTnLst>
                                    <p:animEffect transition="out" filter="fade">
                                      <p:cBhvr>
                                        <p:cTn id="116" dur="1000"/>
                                        <p:tgtEl>
                                          <p:spTgt spid="48"/>
                                        </p:tgtEl>
                                      </p:cBhvr>
                                    </p:animEffect>
                                    <p:set>
                                      <p:cBhvr>
                                        <p:cTn id="117" dur="1" fill="hold">
                                          <p:stCondLst>
                                            <p:cond delay="999"/>
                                          </p:stCondLst>
                                        </p:cTn>
                                        <p:tgtEl>
                                          <p:spTgt spid="48"/>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26" presetClass="emph" presetSubtype="0" fill="hold" grpId="1" nodeType="clickEffect">
                                  <p:stCondLst>
                                    <p:cond delay="0"/>
                                  </p:stCondLst>
                                  <p:childTnLst>
                                    <p:animEffect transition="out" filter="fade">
                                      <p:cBhvr>
                                        <p:cTn id="121" dur="500" tmFilter="0, 0; .2, .5; .8, .5; 1, 0"/>
                                        <p:tgtEl>
                                          <p:spTgt spid="47"/>
                                        </p:tgtEl>
                                      </p:cBhvr>
                                    </p:animEffect>
                                    <p:animScale>
                                      <p:cBhvr>
                                        <p:cTn id="122" dur="250" autoRev="1" fill="hold"/>
                                        <p:tgtEl>
                                          <p:spTgt spid="47"/>
                                        </p:tgtEl>
                                      </p:cBhvr>
                                      <p:by x="105000" y="105000"/>
                                    </p:animScale>
                                  </p:childTnLst>
                                </p:cTn>
                              </p:par>
                            </p:childTnLst>
                          </p:cTn>
                        </p:par>
                        <p:par>
                          <p:cTn id="123" fill="hold">
                            <p:stCondLst>
                              <p:cond delay="500"/>
                            </p:stCondLst>
                            <p:childTnLst>
                              <p:par>
                                <p:cTn id="124" presetID="10" presetClass="exit" presetSubtype="0" fill="hold" grpId="2" nodeType="afterEffect">
                                  <p:stCondLst>
                                    <p:cond delay="0"/>
                                  </p:stCondLst>
                                  <p:childTnLst>
                                    <p:animEffect transition="out" filter="fade">
                                      <p:cBhvr>
                                        <p:cTn id="125" dur="500"/>
                                        <p:tgtEl>
                                          <p:spTgt spid="47"/>
                                        </p:tgtEl>
                                      </p:cBhvr>
                                    </p:animEffect>
                                    <p:set>
                                      <p:cBhvr>
                                        <p:cTn id="126" dur="1" fill="hold">
                                          <p:stCondLst>
                                            <p:cond delay="499"/>
                                          </p:stCondLst>
                                        </p:cTn>
                                        <p:tgtEl>
                                          <p:spTgt spid="47"/>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500"/>
                                        <p:tgtEl>
                                          <p:spTgt spid="51"/>
                                        </p:tgtEl>
                                      </p:cBhvr>
                                    </p:animEffect>
                                  </p:childTnLst>
                                </p:cTn>
                              </p:par>
                            </p:childTnLst>
                          </p:cTn>
                        </p:par>
                        <p:par>
                          <p:cTn id="132" fill="hold">
                            <p:stCondLst>
                              <p:cond delay="500"/>
                            </p:stCondLst>
                            <p:childTnLst>
                              <p:par>
                                <p:cTn id="133" presetID="1" presetClass="entr" presetSubtype="0" fill="hold" grpId="0" nodeType="after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childTnLst>
                          </p:cTn>
                        </p:par>
                        <p:par>
                          <p:cTn id="135" fill="hold">
                            <p:stCondLst>
                              <p:cond delay="500"/>
                            </p:stCondLst>
                            <p:childTnLst>
                              <p:par>
                                <p:cTn id="136" presetID="10" presetClass="exit" presetSubtype="0" fill="hold" grpId="1" nodeType="afterEffect">
                                  <p:stCondLst>
                                    <p:cond delay="0"/>
                                  </p:stCondLst>
                                  <p:childTnLst>
                                    <p:animEffect transition="out" filter="fade">
                                      <p:cBhvr>
                                        <p:cTn id="137" dur="500"/>
                                        <p:tgtEl>
                                          <p:spTgt spid="35"/>
                                        </p:tgtEl>
                                      </p:cBhvr>
                                    </p:animEffect>
                                    <p:set>
                                      <p:cBhvr>
                                        <p:cTn id="138" dur="1" fill="hold">
                                          <p:stCondLst>
                                            <p:cond delay="499"/>
                                          </p:stCondLst>
                                        </p:cTn>
                                        <p:tgtEl>
                                          <p:spTgt spid="35"/>
                                        </p:tgtEl>
                                        <p:attrNameLst>
                                          <p:attrName>style.visibility</p:attrName>
                                        </p:attrNameLst>
                                      </p:cBhvr>
                                      <p:to>
                                        <p:strVal val="hidden"/>
                                      </p:to>
                                    </p:set>
                                  </p:childTnLst>
                                </p:cTn>
                              </p:par>
                            </p:childTnLst>
                          </p:cTn>
                        </p:par>
                        <p:par>
                          <p:cTn id="139" fill="hold">
                            <p:stCondLst>
                              <p:cond delay="1000"/>
                            </p:stCondLst>
                            <p:childTnLst>
                              <p:par>
                                <p:cTn id="140" presetID="10" presetClass="exit" presetSubtype="0" fill="hold" nodeType="afterEffect">
                                  <p:stCondLst>
                                    <p:cond delay="0"/>
                                  </p:stCondLst>
                                  <p:childTnLst>
                                    <p:animEffect transition="out" filter="fade">
                                      <p:cBhvr>
                                        <p:cTn id="141" dur="1000"/>
                                        <p:tgtEl>
                                          <p:spTgt spid="51"/>
                                        </p:tgtEl>
                                      </p:cBhvr>
                                    </p:animEffect>
                                    <p:set>
                                      <p:cBhvr>
                                        <p:cTn id="142" dur="1" fill="hold">
                                          <p:stCondLst>
                                            <p:cond delay="999"/>
                                          </p:stCondLst>
                                        </p:cTn>
                                        <p:tgtEl>
                                          <p:spTgt spid="51"/>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26" presetClass="emph" presetSubtype="0" fill="hold" grpId="2" nodeType="clickEffect">
                                  <p:stCondLst>
                                    <p:cond delay="0"/>
                                  </p:stCondLst>
                                  <p:childTnLst>
                                    <p:animEffect transition="out" filter="fade">
                                      <p:cBhvr>
                                        <p:cTn id="146" dur="500" tmFilter="0, 0; .2, .5; .8, .5; 1, 0"/>
                                        <p:tgtEl>
                                          <p:spTgt spid="54"/>
                                        </p:tgtEl>
                                      </p:cBhvr>
                                    </p:animEffect>
                                    <p:animScale>
                                      <p:cBhvr>
                                        <p:cTn id="147" dur="250" autoRev="1" fill="hold"/>
                                        <p:tgtEl>
                                          <p:spTgt spid="54"/>
                                        </p:tgtEl>
                                      </p:cBhvr>
                                      <p:by x="105000" y="105000"/>
                                    </p:animScale>
                                  </p:childTnLst>
                                </p:cTn>
                              </p:par>
                            </p:childTnLst>
                          </p:cTn>
                        </p:par>
                        <p:par>
                          <p:cTn id="148" fill="hold">
                            <p:stCondLst>
                              <p:cond delay="500"/>
                            </p:stCondLst>
                            <p:childTnLst>
                              <p:par>
                                <p:cTn id="149" presetID="10" presetClass="exit" presetSubtype="0" fill="hold" grpId="1" nodeType="afterEffect">
                                  <p:stCondLst>
                                    <p:cond delay="0"/>
                                  </p:stCondLst>
                                  <p:childTnLst>
                                    <p:animEffect transition="out" filter="fade">
                                      <p:cBhvr>
                                        <p:cTn id="150" dur="1000"/>
                                        <p:tgtEl>
                                          <p:spTgt spid="54"/>
                                        </p:tgtEl>
                                      </p:cBhvr>
                                    </p:animEffect>
                                    <p:set>
                                      <p:cBhvr>
                                        <p:cTn id="151" dur="1" fill="hold">
                                          <p:stCondLst>
                                            <p:cond delay="999"/>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0" grpId="1" animBg="1"/>
      <p:bldP spid="31" grpId="0" animBg="1"/>
      <p:bldP spid="31" grpId="1" animBg="1"/>
      <p:bldP spid="35" grpId="0" animBg="1"/>
      <p:bldP spid="35" grpId="1" animBg="1"/>
      <p:bldP spid="44" grpId="0" animBg="1"/>
      <p:bldP spid="44" grpId="1" animBg="1"/>
      <p:bldP spid="44" grpId="2" animBg="1"/>
      <p:bldP spid="47" grpId="0" animBg="1"/>
      <p:bldP spid="47" grpId="1" animBg="1"/>
      <p:bldP spid="47" grpId="2" animBg="1"/>
      <p:bldP spid="54" grpId="0" animBg="1"/>
      <p:bldP spid="54" grpId="1" animBg="1"/>
      <p:bldP spid="54"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BBEEE79-587E-4DC6-67F6-34CD1935C3C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E9D53B7-7C68-8E8A-DDE0-9D8D3AA088ED}"/>
              </a:ext>
            </a:extLst>
          </p:cNvPr>
          <p:cNvSpPr>
            <a:spLocks noGrp="1"/>
          </p:cNvSpPr>
          <p:nvPr>
            <p:ph type="title"/>
          </p:nvPr>
        </p:nvSpPr>
        <p:spPr/>
        <p:txBody>
          <a:bodyPr/>
          <a:lstStyle/>
          <a:p>
            <a:r>
              <a:rPr lang="en-GB" noProof="0" dirty="0"/>
              <a:t>Asynchronous approaches</a:t>
            </a:r>
          </a:p>
        </p:txBody>
      </p:sp>
      <p:sp>
        <p:nvSpPr>
          <p:cNvPr id="3" name="Text Placeholder 2">
            <a:extLst>
              <a:ext uri="{FF2B5EF4-FFF2-40B4-BE49-F238E27FC236}">
                <a16:creationId xmlns:a16="http://schemas.microsoft.com/office/drawing/2014/main" id="{C8A42ED6-F3D7-00DD-DFA4-AE6BD05E6CF4}"/>
              </a:ext>
            </a:extLst>
          </p:cNvPr>
          <p:cNvSpPr>
            <a:spLocks noGrp="1"/>
          </p:cNvSpPr>
          <p:nvPr>
            <p:ph type="body" idx="1"/>
          </p:nvPr>
        </p:nvSpPr>
        <p:spPr/>
        <p:txBody>
          <a:bodyPr/>
          <a:lstStyle/>
          <a:p>
            <a:r>
              <a:rPr lang="en-GB" noProof="0" dirty="0"/>
              <a:t>We've seen how callback functions like </a:t>
            </a:r>
            <a:r>
              <a:rPr lang="en-GB" noProof="0" dirty="0" err="1"/>
              <a:t>setTimeout</a:t>
            </a:r>
            <a:r>
              <a:rPr lang="en-GB" noProof="0" dirty="0"/>
              <a:t> work in JavaScript to make an async call</a:t>
            </a:r>
          </a:p>
          <a:p>
            <a:r>
              <a:rPr lang="en-GB" noProof="0" dirty="0"/>
              <a:t>But, multiple callbacks within callbacks can get quite complex, especially in error conditions, so the concept of a </a:t>
            </a:r>
            <a:r>
              <a:rPr lang="en-GB" b="1" noProof="0" dirty="0"/>
              <a:t>promise</a:t>
            </a:r>
            <a:r>
              <a:rPr lang="en-GB" noProof="0" dirty="0"/>
              <a:t>, was added to the language. Callbacks are still used</a:t>
            </a:r>
          </a:p>
          <a:p>
            <a:r>
              <a:rPr lang="en-GB" noProof="0" dirty="0"/>
              <a:t>A further addition to the language is </a:t>
            </a:r>
            <a:r>
              <a:rPr lang="en-GB" b="1" noProof="0" dirty="0"/>
              <a:t>async</a:t>
            </a:r>
            <a:r>
              <a:rPr lang="en-GB" noProof="0" dirty="0"/>
              <a:t> and </a:t>
            </a:r>
            <a:r>
              <a:rPr lang="en-GB" b="1" noProof="0" dirty="0"/>
              <a:t>await</a:t>
            </a:r>
            <a:r>
              <a:rPr lang="en-GB" noProof="0" dirty="0"/>
              <a:t>. These further simplify the coding of asynchronous operations using promises</a:t>
            </a:r>
          </a:p>
          <a:p>
            <a:r>
              <a:rPr lang="en-GB" noProof="0" dirty="0"/>
              <a:t>Callback, promise and async / await are a little tricky to get your head around at first and are areas that interviewers often ask about to differentiate basic JavaScript programmers from those with an understanding of asynchronous operations handled by these JavaScript language features</a:t>
            </a:r>
          </a:p>
          <a:p>
            <a:r>
              <a:rPr lang="en-GB" noProof="0" dirty="0"/>
              <a:t>To reiterate: a callback is a function which is passed to another function as an argument. The function "registers" the callback. i.e. it notes the function's execution address. If the function is asynchronous, when the main function, e.g. fetch or </a:t>
            </a:r>
            <a:r>
              <a:rPr lang="en-GB" noProof="0" dirty="0" err="1"/>
              <a:t>setTimeout</a:t>
            </a:r>
            <a:r>
              <a:rPr lang="en-GB" noProof="0" dirty="0"/>
              <a:t>, is ready, e.g., reading data from a file or database or whatever it is that's likely to take time, it will pass the registered callback function to the event queue to be executed when the thread is available. Using a promise is just a syntactically better way of achieving the same result</a:t>
            </a:r>
          </a:p>
          <a:p>
            <a:r>
              <a:rPr lang="en-GB" noProof="0" dirty="0"/>
              <a:t>If the callback is not asynchronous, when the parent function is ready, it will execute the callback synchronously</a:t>
            </a:r>
          </a:p>
        </p:txBody>
      </p:sp>
      <p:sp>
        <p:nvSpPr>
          <p:cNvPr id="4" name="Slide Number Placeholder 3">
            <a:extLst>
              <a:ext uri="{FF2B5EF4-FFF2-40B4-BE49-F238E27FC236}">
                <a16:creationId xmlns:a16="http://schemas.microsoft.com/office/drawing/2014/main" id="{10E00341-5BAE-2FBB-03AC-5EB99FA07CD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13280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5242B05-DD5E-A622-E5B1-93DE3086245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92AC43-00FC-412F-955C-607A3EB3E9EA}"/>
              </a:ext>
            </a:extLst>
          </p:cNvPr>
          <p:cNvSpPr>
            <a:spLocks noGrp="1"/>
          </p:cNvSpPr>
          <p:nvPr>
            <p:ph type="title"/>
          </p:nvPr>
        </p:nvSpPr>
        <p:spPr/>
        <p:txBody>
          <a:bodyPr/>
          <a:lstStyle/>
          <a:p>
            <a:r>
              <a:rPr lang="en-GB" noProof="0" dirty="0"/>
              <a:t>Promises</a:t>
            </a:r>
          </a:p>
        </p:txBody>
      </p:sp>
      <p:sp>
        <p:nvSpPr>
          <p:cNvPr id="3" name="Text Placeholder 2">
            <a:extLst>
              <a:ext uri="{FF2B5EF4-FFF2-40B4-BE49-F238E27FC236}">
                <a16:creationId xmlns:a16="http://schemas.microsoft.com/office/drawing/2014/main" id="{613465AB-5664-4AB1-AE0B-83766DBDEC46}"/>
              </a:ext>
            </a:extLst>
          </p:cNvPr>
          <p:cNvSpPr>
            <a:spLocks noGrp="1"/>
          </p:cNvSpPr>
          <p:nvPr>
            <p:ph type="body" idx="1"/>
          </p:nvPr>
        </p:nvSpPr>
        <p:spPr/>
        <p:txBody>
          <a:bodyPr/>
          <a:lstStyle/>
          <a:p>
            <a:r>
              <a:rPr lang="en-GB" noProof="0" dirty="0"/>
              <a:t>A promise is called that because it is a promise, agreed now, but to do something later. A promise is an </a:t>
            </a:r>
            <a:r>
              <a:rPr lang="en-GB" b="1" noProof="0" dirty="0"/>
              <a:t>object</a:t>
            </a:r>
            <a:r>
              <a:rPr lang="en-GB" noProof="0" dirty="0"/>
              <a:t> with two key properties: state and result. It has three states: pending, fulfilled or rejected. Whilst it waits for an asynchronous event to complete, it has a status of “pending”. This is just a newer way of implementing asynchronous operations instead of callbacks</a:t>
            </a:r>
          </a:p>
          <a:p>
            <a:r>
              <a:rPr lang="en-GB" noProof="0" dirty="0"/>
              <a:t>We can create promise-based code and we use promise-based code from others</a:t>
            </a:r>
          </a:p>
          <a:p>
            <a:endParaRPr lang="en-GB" noProof="0" dirty="0"/>
          </a:p>
          <a:p>
            <a:endParaRPr lang="en-GB" noProof="0" dirty="0"/>
          </a:p>
          <a:p>
            <a:endParaRPr lang="en-GB" noProof="0" dirty="0"/>
          </a:p>
          <a:p>
            <a:endParaRPr lang="en-GB" noProof="0" dirty="0"/>
          </a:p>
          <a:p>
            <a:endParaRPr lang="en-GB" noProof="0" dirty="0"/>
          </a:p>
          <a:p>
            <a:pPr marL="152396" indent="0">
              <a:buNone/>
            </a:pPr>
            <a:endParaRPr lang="en-GB" noProof="0" dirty="0"/>
          </a:p>
          <a:p>
            <a:endParaRPr lang="en-GB" noProof="0" dirty="0"/>
          </a:p>
          <a:p>
            <a:endParaRPr lang="en-GB" noProof="0" dirty="0"/>
          </a:p>
        </p:txBody>
      </p:sp>
      <p:sp>
        <p:nvSpPr>
          <p:cNvPr id="4" name="Slide Number Placeholder 3">
            <a:extLst>
              <a:ext uri="{FF2B5EF4-FFF2-40B4-BE49-F238E27FC236}">
                <a16:creationId xmlns:a16="http://schemas.microsoft.com/office/drawing/2014/main" id="{10817709-7E1D-4350-94B6-D3A711AF0C5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69EC5CC5-FD4D-4F7B-89A0-95A69F957491}"/>
              </a:ext>
            </a:extLst>
          </p:cNvPr>
          <p:cNvPicPr/>
          <p:nvPr/>
        </p:nvPicPr>
        <p:blipFill>
          <a:blip r:embed="rId3"/>
          <a:stretch>
            <a:fillRect/>
          </a:stretch>
        </p:blipFill>
        <p:spPr>
          <a:xfrm>
            <a:off x="3283438" y="3133819"/>
            <a:ext cx="4501319" cy="2338832"/>
          </a:xfrm>
          <a:prstGeom prst="rect">
            <a:avLst/>
          </a:prstGeom>
        </p:spPr>
      </p:pic>
    </p:spTree>
    <p:extLst>
      <p:ext uri="{BB962C8B-B14F-4D97-AF65-F5344CB8AC3E}">
        <p14:creationId xmlns:p14="http://schemas.microsoft.com/office/powerpoint/2010/main" val="75533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83212B-7460-1F53-426F-1CFC3E0CB5F4}"/>
              </a:ext>
            </a:extLst>
          </p:cNvPr>
          <p:cNvPicPr/>
          <p:nvPr/>
        </p:nvPicPr>
        <p:blipFill>
          <a:blip r:embed="rId3"/>
          <a:stretch>
            <a:fillRect/>
          </a:stretch>
        </p:blipFill>
        <p:spPr>
          <a:xfrm>
            <a:off x="4741894" y="4622303"/>
            <a:ext cx="2959996" cy="2043651"/>
          </a:xfrm>
          <a:prstGeom prst="rect">
            <a:avLst/>
          </a:prstGeom>
        </p:spPr>
      </p:pic>
      <p:pic>
        <p:nvPicPr>
          <p:cNvPr id="5" name="Picture 4">
            <a:extLst>
              <a:ext uri="{FF2B5EF4-FFF2-40B4-BE49-F238E27FC236}">
                <a16:creationId xmlns:a16="http://schemas.microsoft.com/office/drawing/2014/main" id="{E622EF09-1EC3-294F-1AC3-9F13A240BA2D}"/>
              </a:ext>
            </a:extLst>
          </p:cNvPr>
          <p:cNvPicPr>
            <a:picLocks noChangeAspect="1"/>
          </p:cNvPicPr>
          <p:nvPr/>
        </p:nvPicPr>
        <p:blipFill>
          <a:blip r:embed="rId4"/>
          <a:stretch>
            <a:fillRect/>
          </a:stretch>
        </p:blipFill>
        <p:spPr>
          <a:xfrm>
            <a:off x="7672439" y="584212"/>
            <a:ext cx="4207884" cy="1558476"/>
          </a:xfrm>
          <a:prstGeom prst="rect">
            <a:avLst/>
          </a:prstGeom>
        </p:spPr>
      </p:pic>
      <p:pic>
        <p:nvPicPr>
          <p:cNvPr id="78" name="Picture 77">
            <a:extLst>
              <a:ext uri="{FF2B5EF4-FFF2-40B4-BE49-F238E27FC236}">
                <a16:creationId xmlns:a16="http://schemas.microsoft.com/office/drawing/2014/main" id="{4C12B3E4-F6DB-835E-87C4-E3B896F58179}"/>
              </a:ext>
            </a:extLst>
          </p:cNvPr>
          <p:cNvPicPr>
            <a:picLocks noChangeAspect="1"/>
          </p:cNvPicPr>
          <p:nvPr/>
        </p:nvPicPr>
        <p:blipFill>
          <a:blip r:embed="rId5"/>
          <a:stretch>
            <a:fillRect/>
          </a:stretch>
        </p:blipFill>
        <p:spPr>
          <a:xfrm>
            <a:off x="76520" y="1430370"/>
            <a:ext cx="5458587" cy="1428949"/>
          </a:xfrm>
          <a:prstGeom prst="rect">
            <a:avLst/>
          </a:prstGeom>
        </p:spPr>
      </p:pic>
      <p:sp>
        <p:nvSpPr>
          <p:cNvPr id="3" name="Text Placeholder 2">
            <a:extLst>
              <a:ext uri="{FF2B5EF4-FFF2-40B4-BE49-F238E27FC236}">
                <a16:creationId xmlns:a16="http://schemas.microsoft.com/office/drawing/2014/main" id="{9C83429A-9C50-E6F5-7FF3-8F17C34092F0}"/>
              </a:ext>
            </a:extLst>
          </p:cNvPr>
          <p:cNvSpPr>
            <a:spLocks noGrp="1"/>
          </p:cNvSpPr>
          <p:nvPr>
            <p:ph type="body" idx="1"/>
          </p:nvPr>
        </p:nvSpPr>
        <p:spPr>
          <a:xfrm>
            <a:off x="95555" y="4415246"/>
            <a:ext cx="5524660" cy="2063932"/>
          </a:xfrm>
        </p:spPr>
        <p:txBody>
          <a:bodyPr/>
          <a:lstStyle/>
          <a:p>
            <a:r>
              <a:rPr lang="en-GB" noProof="0" dirty="0"/>
              <a:t>Written using full functions to illustrate sequence</a:t>
            </a:r>
          </a:p>
          <a:p>
            <a:r>
              <a:rPr lang="en-GB" noProof="0" dirty="0"/>
              <a:t>Typically use arrow functions</a:t>
            </a:r>
          </a:p>
          <a:p>
            <a:r>
              <a:rPr lang="en-GB" noProof="0" dirty="0"/>
              <a:t>Typically create promise in a function</a:t>
            </a:r>
          </a:p>
        </p:txBody>
      </p:sp>
      <p:sp>
        <p:nvSpPr>
          <p:cNvPr id="4" name="Slide Number Placeholder 3">
            <a:extLst>
              <a:ext uri="{FF2B5EF4-FFF2-40B4-BE49-F238E27FC236}">
                <a16:creationId xmlns:a16="http://schemas.microsoft.com/office/drawing/2014/main" id="{6E9028BC-0117-E31D-9804-6E9CE96001D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8" name="Picture 7">
            <a:extLst>
              <a:ext uri="{FF2B5EF4-FFF2-40B4-BE49-F238E27FC236}">
                <a16:creationId xmlns:a16="http://schemas.microsoft.com/office/drawing/2014/main" id="{BD452933-6500-8A64-2077-3C0F25F969BC}"/>
              </a:ext>
            </a:extLst>
          </p:cNvPr>
          <p:cNvPicPr>
            <a:picLocks noChangeAspect="1"/>
          </p:cNvPicPr>
          <p:nvPr/>
        </p:nvPicPr>
        <p:blipFill>
          <a:blip r:embed="rId6"/>
          <a:stretch>
            <a:fillRect/>
          </a:stretch>
        </p:blipFill>
        <p:spPr>
          <a:xfrm>
            <a:off x="7961331" y="2312180"/>
            <a:ext cx="3317445" cy="1045223"/>
          </a:xfrm>
          <a:prstGeom prst="rect">
            <a:avLst/>
          </a:prstGeom>
        </p:spPr>
      </p:pic>
      <p:pic>
        <p:nvPicPr>
          <p:cNvPr id="10" name="Picture 9">
            <a:extLst>
              <a:ext uri="{FF2B5EF4-FFF2-40B4-BE49-F238E27FC236}">
                <a16:creationId xmlns:a16="http://schemas.microsoft.com/office/drawing/2014/main" id="{4EC175B8-915B-FF79-711C-62FBDDD62295}"/>
              </a:ext>
            </a:extLst>
          </p:cNvPr>
          <p:cNvPicPr>
            <a:picLocks noChangeAspect="1"/>
          </p:cNvPicPr>
          <p:nvPr/>
        </p:nvPicPr>
        <p:blipFill>
          <a:blip r:embed="rId7"/>
          <a:stretch>
            <a:fillRect/>
          </a:stretch>
        </p:blipFill>
        <p:spPr>
          <a:xfrm>
            <a:off x="7974723" y="3503364"/>
            <a:ext cx="3341772" cy="1045223"/>
          </a:xfrm>
          <a:prstGeom prst="rect">
            <a:avLst/>
          </a:prstGeom>
        </p:spPr>
      </p:pic>
      <p:pic>
        <p:nvPicPr>
          <p:cNvPr id="12" name="Picture 11">
            <a:extLst>
              <a:ext uri="{FF2B5EF4-FFF2-40B4-BE49-F238E27FC236}">
                <a16:creationId xmlns:a16="http://schemas.microsoft.com/office/drawing/2014/main" id="{B4CE18FB-12BD-5937-72F1-EEC5F3D5D562}"/>
              </a:ext>
            </a:extLst>
          </p:cNvPr>
          <p:cNvPicPr>
            <a:picLocks noChangeAspect="1"/>
          </p:cNvPicPr>
          <p:nvPr/>
        </p:nvPicPr>
        <p:blipFill>
          <a:blip r:embed="rId8"/>
          <a:stretch>
            <a:fillRect/>
          </a:stretch>
        </p:blipFill>
        <p:spPr>
          <a:xfrm>
            <a:off x="7952207" y="4787971"/>
            <a:ext cx="4019018" cy="929568"/>
          </a:xfrm>
          <a:prstGeom prst="rect">
            <a:avLst/>
          </a:prstGeom>
        </p:spPr>
      </p:pic>
      <p:sp>
        <p:nvSpPr>
          <p:cNvPr id="42" name="Arc 41">
            <a:extLst>
              <a:ext uri="{FF2B5EF4-FFF2-40B4-BE49-F238E27FC236}">
                <a16:creationId xmlns:a16="http://schemas.microsoft.com/office/drawing/2014/main" id="{013DE6C6-64FE-C2F1-EF56-27F809417A82}"/>
              </a:ext>
            </a:extLst>
          </p:cNvPr>
          <p:cNvSpPr/>
          <p:nvPr/>
        </p:nvSpPr>
        <p:spPr>
          <a:xfrm>
            <a:off x="4600280" y="2065885"/>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nvGrpSpPr>
          <p:cNvPr id="73" name="Group 72">
            <a:extLst>
              <a:ext uri="{FF2B5EF4-FFF2-40B4-BE49-F238E27FC236}">
                <a16:creationId xmlns:a16="http://schemas.microsoft.com/office/drawing/2014/main" id="{A44D0F4C-752A-7247-3989-374672C94C3C}"/>
              </a:ext>
            </a:extLst>
          </p:cNvPr>
          <p:cNvGrpSpPr/>
          <p:nvPr/>
        </p:nvGrpSpPr>
        <p:grpSpPr>
          <a:xfrm>
            <a:off x="1444588" y="73573"/>
            <a:ext cx="7069997" cy="1877092"/>
            <a:chOff x="1457213" y="75084"/>
            <a:chExt cx="7374368" cy="1877092"/>
          </a:xfrm>
        </p:grpSpPr>
        <p:sp>
          <p:nvSpPr>
            <p:cNvPr id="47" name="Rectangle 46">
              <a:extLst>
                <a:ext uri="{FF2B5EF4-FFF2-40B4-BE49-F238E27FC236}">
                  <a16:creationId xmlns:a16="http://schemas.microsoft.com/office/drawing/2014/main" id="{1190ECD4-0FA9-7A38-A175-35BB840D3AD6}"/>
                </a:ext>
              </a:extLst>
            </p:cNvPr>
            <p:cNvSpPr/>
            <p:nvPr/>
          </p:nvSpPr>
          <p:spPr>
            <a:xfrm>
              <a:off x="1457213" y="1695000"/>
              <a:ext cx="1000237"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46" name="Freeform: Shape 45">
              <a:extLst>
                <a:ext uri="{FF2B5EF4-FFF2-40B4-BE49-F238E27FC236}">
                  <a16:creationId xmlns:a16="http://schemas.microsoft.com/office/drawing/2014/main" id="{3E0C9432-4306-9D45-2264-BD7CBC5A5593}"/>
                </a:ext>
              </a:extLst>
            </p:cNvPr>
            <p:cNvSpPr/>
            <p:nvPr/>
          </p:nvSpPr>
          <p:spPr>
            <a:xfrm>
              <a:off x="1810929" y="75084"/>
              <a:ext cx="7020652" cy="1629002"/>
            </a:xfrm>
            <a:custGeom>
              <a:avLst/>
              <a:gdLst>
                <a:gd name="connsiteX0" fmla="*/ 0 w 5467546"/>
                <a:gd name="connsiteY0" fmla="*/ 1880956 h 1880956"/>
                <a:gd name="connsiteX1" fmla="*/ 2960016 w 5467546"/>
                <a:gd name="connsiteY1" fmla="*/ 23875 h 1880956"/>
                <a:gd name="connsiteX2" fmla="*/ 5467546 w 5467546"/>
                <a:gd name="connsiteY2" fmla="*/ 778019 h 1880956"/>
                <a:gd name="connsiteX3" fmla="*/ 5467546 w 5467546"/>
                <a:gd name="connsiteY3" fmla="*/ 778019 h 1880956"/>
              </a:gdLst>
              <a:ahLst/>
              <a:cxnLst>
                <a:cxn ang="0">
                  <a:pos x="connsiteX0" y="connsiteY0"/>
                </a:cxn>
                <a:cxn ang="0">
                  <a:pos x="connsiteX1" y="connsiteY1"/>
                </a:cxn>
                <a:cxn ang="0">
                  <a:pos x="connsiteX2" y="connsiteY2"/>
                </a:cxn>
                <a:cxn ang="0">
                  <a:pos x="connsiteX3" y="connsiteY3"/>
                </a:cxn>
              </a:cxnLst>
              <a:rect l="l" t="t" r="r" b="b"/>
              <a:pathLst>
                <a:path w="5467546" h="1880956">
                  <a:moveTo>
                    <a:pt x="0" y="1880956"/>
                  </a:moveTo>
                  <a:cubicBezTo>
                    <a:pt x="1024379" y="1044327"/>
                    <a:pt x="2048758" y="207698"/>
                    <a:pt x="2960016" y="23875"/>
                  </a:cubicBezTo>
                  <a:cubicBezTo>
                    <a:pt x="3871274" y="-159948"/>
                    <a:pt x="5467546" y="778019"/>
                    <a:pt x="5467546" y="778019"/>
                  </a:cubicBezTo>
                  <a:lnTo>
                    <a:pt x="5467546" y="778019"/>
                  </a:ln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grpSp>
        <p:nvGrpSpPr>
          <p:cNvPr id="74" name="Group 73">
            <a:extLst>
              <a:ext uri="{FF2B5EF4-FFF2-40B4-BE49-F238E27FC236}">
                <a16:creationId xmlns:a16="http://schemas.microsoft.com/office/drawing/2014/main" id="{90D09E14-E37D-0286-4FD4-D16262D7CCF0}"/>
              </a:ext>
            </a:extLst>
          </p:cNvPr>
          <p:cNvGrpSpPr/>
          <p:nvPr/>
        </p:nvGrpSpPr>
        <p:grpSpPr>
          <a:xfrm>
            <a:off x="874067" y="1213871"/>
            <a:ext cx="8727798" cy="1185411"/>
            <a:chOff x="879400" y="1213506"/>
            <a:chExt cx="8727798" cy="1185411"/>
          </a:xfrm>
        </p:grpSpPr>
        <p:sp>
          <p:nvSpPr>
            <p:cNvPr id="58" name="Rectangle 57">
              <a:extLst>
                <a:ext uri="{FF2B5EF4-FFF2-40B4-BE49-F238E27FC236}">
                  <a16:creationId xmlns:a16="http://schemas.microsoft.com/office/drawing/2014/main" id="{1E12F940-81CC-2530-5AC8-25CE70F22891}"/>
                </a:ext>
              </a:extLst>
            </p:cNvPr>
            <p:cNvSpPr/>
            <p:nvPr/>
          </p:nvSpPr>
          <p:spPr>
            <a:xfrm>
              <a:off x="879400" y="1992828"/>
              <a:ext cx="825576"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D55E099A-8E76-0D91-38C8-143BEB6D6236}"/>
                </a:ext>
              </a:extLst>
            </p:cNvPr>
            <p:cNvSpPr/>
            <p:nvPr/>
          </p:nvSpPr>
          <p:spPr>
            <a:xfrm>
              <a:off x="1719488" y="1213506"/>
              <a:ext cx="7887710" cy="1185411"/>
            </a:xfrm>
            <a:custGeom>
              <a:avLst/>
              <a:gdLst>
                <a:gd name="connsiteX0" fmla="*/ 0 w 8067675"/>
                <a:gd name="connsiteY0" fmla="*/ 900271 h 1252696"/>
                <a:gd name="connsiteX1" fmla="*/ 5010150 w 8067675"/>
                <a:gd name="connsiteY1" fmla="*/ 4921 h 1252696"/>
                <a:gd name="connsiteX2" fmla="*/ 8067675 w 8067675"/>
                <a:gd name="connsiteY2" fmla="*/ 1252696 h 1252696"/>
                <a:gd name="connsiteX3" fmla="*/ 8067675 w 8067675"/>
                <a:gd name="connsiteY3" fmla="*/ 1252696 h 1252696"/>
              </a:gdLst>
              <a:ahLst/>
              <a:cxnLst>
                <a:cxn ang="0">
                  <a:pos x="connsiteX0" y="connsiteY0"/>
                </a:cxn>
                <a:cxn ang="0">
                  <a:pos x="connsiteX1" y="connsiteY1"/>
                </a:cxn>
                <a:cxn ang="0">
                  <a:pos x="connsiteX2" y="connsiteY2"/>
                </a:cxn>
                <a:cxn ang="0">
                  <a:pos x="connsiteX3" y="connsiteY3"/>
                </a:cxn>
              </a:cxnLst>
              <a:rect l="l" t="t" r="r" b="b"/>
              <a:pathLst>
                <a:path w="8067675" h="1252696">
                  <a:moveTo>
                    <a:pt x="0" y="900271"/>
                  </a:moveTo>
                  <a:cubicBezTo>
                    <a:pt x="1832769" y="423227"/>
                    <a:pt x="3665538" y="-53816"/>
                    <a:pt x="5010150" y="4921"/>
                  </a:cubicBezTo>
                  <a:cubicBezTo>
                    <a:pt x="6354762" y="63658"/>
                    <a:pt x="8067675" y="1252696"/>
                    <a:pt x="8067675" y="1252696"/>
                  </a:cubicBezTo>
                  <a:lnTo>
                    <a:pt x="8067675" y="1252696"/>
                  </a:ln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75" name="Group 74">
            <a:extLst>
              <a:ext uri="{FF2B5EF4-FFF2-40B4-BE49-F238E27FC236}">
                <a16:creationId xmlns:a16="http://schemas.microsoft.com/office/drawing/2014/main" id="{6F5AE27B-1227-5CCF-1098-542670B41D0A}"/>
              </a:ext>
            </a:extLst>
          </p:cNvPr>
          <p:cNvGrpSpPr/>
          <p:nvPr/>
        </p:nvGrpSpPr>
        <p:grpSpPr>
          <a:xfrm>
            <a:off x="1031800" y="2230953"/>
            <a:ext cx="8655125" cy="1398072"/>
            <a:chOff x="1031800" y="2230953"/>
            <a:chExt cx="8655125" cy="1398072"/>
          </a:xfrm>
        </p:grpSpPr>
        <p:sp>
          <p:nvSpPr>
            <p:cNvPr id="61" name="Rectangle 60">
              <a:extLst>
                <a:ext uri="{FF2B5EF4-FFF2-40B4-BE49-F238E27FC236}">
                  <a16:creationId xmlns:a16="http://schemas.microsoft.com/office/drawing/2014/main" id="{F04B3177-D389-A8DC-B725-650E4FC94607}"/>
                </a:ext>
              </a:extLst>
            </p:cNvPr>
            <p:cNvSpPr/>
            <p:nvPr/>
          </p:nvSpPr>
          <p:spPr>
            <a:xfrm>
              <a:off x="1031800" y="2230953"/>
              <a:ext cx="825576"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E986C3AB-23A1-011D-0288-8063F8C98AF2}"/>
                </a:ext>
              </a:extLst>
            </p:cNvPr>
            <p:cNvSpPr/>
            <p:nvPr/>
          </p:nvSpPr>
          <p:spPr>
            <a:xfrm>
              <a:off x="1838325" y="2257425"/>
              <a:ext cx="7848600" cy="1371600"/>
            </a:xfrm>
            <a:custGeom>
              <a:avLst/>
              <a:gdLst>
                <a:gd name="connsiteX0" fmla="*/ 0 w 7848600"/>
                <a:gd name="connsiteY0" fmla="*/ 0 h 1371600"/>
                <a:gd name="connsiteX1" fmla="*/ 5924550 w 7848600"/>
                <a:gd name="connsiteY1" fmla="*/ 342900 h 1371600"/>
                <a:gd name="connsiteX2" fmla="*/ 7848600 w 7848600"/>
                <a:gd name="connsiteY2" fmla="*/ 1371600 h 1371600"/>
              </a:gdLst>
              <a:ahLst/>
              <a:cxnLst>
                <a:cxn ang="0">
                  <a:pos x="connsiteX0" y="connsiteY0"/>
                </a:cxn>
                <a:cxn ang="0">
                  <a:pos x="connsiteX1" y="connsiteY1"/>
                </a:cxn>
                <a:cxn ang="0">
                  <a:pos x="connsiteX2" y="connsiteY2"/>
                </a:cxn>
              </a:cxnLst>
              <a:rect l="l" t="t" r="r" b="b"/>
              <a:pathLst>
                <a:path w="7848600" h="1371600">
                  <a:moveTo>
                    <a:pt x="0" y="0"/>
                  </a:moveTo>
                  <a:cubicBezTo>
                    <a:pt x="2308225" y="57150"/>
                    <a:pt x="4616450" y="114300"/>
                    <a:pt x="5924550" y="342900"/>
                  </a:cubicBezTo>
                  <a:cubicBezTo>
                    <a:pt x="7232650" y="571500"/>
                    <a:pt x="7537450" y="1206500"/>
                    <a:pt x="7848600" y="1371600"/>
                  </a:cubicBez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76" name="Group 75">
            <a:extLst>
              <a:ext uri="{FF2B5EF4-FFF2-40B4-BE49-F238E27FC236}">
                <a16:creationId xmlns:a16="http://schemas.microsoft.com/office/drawing/2014/main" id="{C8E8108E-C31D-3862-CE4A-2D13C85D6AAE}"/>
              </a:ext>
            </a:extLst>
          </p:cNvPr>
          <p:cNvGrpSpPr/>
          <p:nvPr/>
        </p:nvGrpSpPr>
        <p:grpSpPr>
          <a:xfrm>
            <a:off x="1252222" y="2498551"/>
            <a:ext cx="7946029" cy="2332760"/>
            <a:chOff x="1252222" y="2498551"/>
            <a:chExt cx="7946029" cy="2332760"/>
          </a:xfrm>
        </p:grpSpPr>
        <p:sp>
          <p:nvSpPr>
            <p:cNvPr id="60" name="Rectangle 59">
              <a:extLst>
                <a:ext uri="{FF2B5EF4-FFF2-40B4-BE49-F238E27FC236}">
                  <a16:creationId xmlns:a16="http://schemas.microsoft.com/office/drawing/2014/main" id="{CCE05586-BE80-4F4C-CDB3-C71955F12619}"/>
                </a:ext>
              </a:extLst>
            </p:cNvPr>
            <p:cNvSpPr/>
            <p:nvPr/>
          </p:nvSpPr>
          <p:spPr>
            <a:xfrm>
              <a:off x="1252222" y="2498551"/>
              <a:ext cx="1033778"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3" name="Freeform: Shape 62">
              <a:extLst>
                <a:ext uri="{FF2B5EF4-FFF2-40B4-BE49-F238E27FC236}">
                  <a16:creationId xmlns:a16="http://schemas.microsoft.com/office/drawing/2014/main" id="{6B71021B-1445-9922-BEAB-024E963FAF12}"/>
                </a:ext>
              </a:extLst>
            </p:cNvPr>
            <p:cNvSpPr/>
            <p:nvPr/>
          </p:nvSpPr>
          <p:spPr>
            <a:xfrm>
              <a:off x="2286000" y="2638301"/>
              <a:ext cx="6912251" cy="2193010"/>
            </a:xfrm>
            <a:custGeom>
              <a:avLst/>
              <a:gdLst>
                <a:gd name="connsiteX0" fmla="*/ 0 w 7848600"/>
                <a:gd name="connsiteY0" fmla="*/ 0 h 1371600"/>
                <a:gd name="connsiteX1" fmla="*/ 5924550 w 7848600"/>
                <a:gd name="connsiteY1" fmla="*/ 342900 h 1371600"/>
                <a:gd name="connsiteX2" fmla="*/ 7848600 w 7848600"/>
                <a:gd name="connsiteY2" fmla="*/ 1371600 h 1371600"/>
              </a:gdLst>
              <a:ahLst/>
              <a:cxnLst>
                <a:cxn ang="0">
                  <a:pos x="connsiteX0" y="connsiteY0"/>
                </a:cxn>
                <a:cxn ang="0">
                  <a:pos x="connsiteX1" y="connsiteY1"/>
                </a:cxn>
                <a:cxn ang="0">
                  <a:pos x="connsiteX2" y="connsiteY2"/>
                </a:cxn>
              </a:cxnLst>
              <a:rect l="l" t="t" r="r" b="b"/>
              <a:pathLst>
                <a:path w="7848600" h="1371600">
                  <a:moveTo>
                    <a:pt x="0" y="0"/>
                  </a:moveTo>
                  <a:cubicBezTo>
                    <a:pt x="2308225" y="57150"/>
                    <a:pt x="4616450" y="114300"/>
                    <a:pt x="5924550" y="342900"/>
                  </a:cubicBezTo>
                  <a:cubicBezTo>
                    <a:pt x="7232650" y="571500"/>
                    <a:pt x="7537450" y="1206500"/>
                    <a:pt x="7848600" y="1371600"/>
                  </a:cubicBez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86" name="Group 85">
            <a:extLst>
              <a:ext uri="{FF2B5EF4-FFF2-40B4-BE49-F238E27FC236}">
                <a16:creationId xmlns:a16="http://schemas.microsoft.com/office/drawing/2014/main" id="{3E7B578D-9377-5FB0-72CE-400684531E92}"/>
              </a:ext>
            </a:extLst>
          </p:cNvPr>
          <p:cNvGrpSpPr/>
          <p:nvPr/>
        </p:nvGrpSpPr>
        <p:grpSpPr>
          <a:xfrm>
            <a:off x="9964392" y="1137644"/>
            <a:ext cx="1895921" cy="1228240"/>
            <a:chOff x="10136267" y="1137644"/>
            <a:chExt cx="1895921" cy="1228240"/>
          </a:xfrm>
        </p:grpSpPr>
        <p:sp>
          <p:nvSpPr>
            <p:cNvPr id="64" name="Rectangle 63">
              <a:extLst>
                <a:ext uri="{FF2B5EF4-FFF2-40B4-BE49-F238E27FC236}">
                  <a16:creationId xmlns:a16="http://schemas.microsoft.com/office/drawing/2014/main" id="{E45D97FF-1989-FC4B-0B0B-2D029E1BA9D5}"/>
                </a:ext>
              </a:extLst>
            </p:cNvPr>
            <p:cNvSpPr/>
            <p:nvPr/>
          </p:nvSpPr>
          <p:spPr>
            <a:xfrm>
              <a:off x="10136267" y="1137644"/>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14" name="Straight Arrow Connector 13">
              <a:extLst>
                <a:ext uri="{FF2B5EF4-FFF2-40B4-BE49-F238E27FC236}">
                  <a16:creationId xmlns:a16="http://schemas.microsoft.com/office/drawing/2014/main" id="{59A731D5-ECDB-F8D4-51B4-2D2579D0D1A1}"/>
                </a:ext>
              </a:extLst>
            </p:cNvPr>
            <p:cNvCxnSpPr>
              <a:cxnSpLocks/>
            </p:cNvCxnSpPr>
            <p:nvPr/>
          </p:nvCxnSpPr>
          <p:spPr>
            <a:xfrm flipH="1">
              <a:off x="10947803" y="1412952"/>
              <a:ext cx="609960" cy="952932"/>
            </a:xfrm>
            <a:prstGeom prst="straightConnector1">
              <a:avLst/>
            </a:prstGeom>
            <a:ln w="38100">
              <a:tailEnd type="triangle"/>
            </a:ln>
          </p:spPr>
          <p:style>
            <a:lnRef idx="2">
              <a:schemeClr val="accent4"/>
            </a:lnRef>
            <a:fillRef idx="0">
              <a:schemeClr val="accent4"/>
            </a:fillRef>
            <a:effectRef idx="1">
              <a:schemeClr val="accent4"/>
            </a:effectRef>
            <a:fontRef idx="minor">
              <a:schemeClr val="tx1"/>
            </a:fontRef>
          </p:style>
        </p:cxnSp>
      </p:grpSp>
      <p:grpSp>
        <p:nvGrpSpPr>
          <p:cNvPr id="88" name="Group 87">
            <a:extLst>
              <a:ext uri="{FF2B5EF4-FFF2-40B4-BE49-F238E27FC236}">
                <a16:creationId xmlns:a16="http://schemas.microsoft.com/office/drawing/2014/main" id="{E42F6A00-730D-2ABC-D39C-7FEE3448F48C}"/>
              </a:ext>
            </a:extLst>
          </p:cNvPr>
          <p:cNvGrpSpPr/>
          <p:nvPr/>
        </p:nvGrpSpPr>
        <p:grpSpPr>
          <a:xfrm>
            <a:off x="8764671" y="1647620"/>
            <a:ext cx="2126116" cy="1964981"/>
            <a:chOff x="8764671" y="1647620"/>
            <a:chExt cx="2126116" cy="1964981"/>
          </a:xfrm>
        </p:grpSpPr>
        <p:sp>
          <p:nvSpPr>
            <p:cNvPr id="65" name="Rectangle 64">
              <a:extLst>
                <a:ext uri="{FF2B5EF4-FFF2-40B4-BE49-F238E27FC236}">
                  <a16:creationId xmlns:a16="http://schemas.microsoft.com/office/drawing/2014/main" id="{76E6A5A4-E242-ABF7-B46D-1AA18F9C1116}"/>
                </a:ext>
              </a:extLst>
            </p:cNvPr>
            <p:cNvSpPr/>
            <p:nvPr/>
          </p:nvSpPr>
          <p:spPr>
            <a:xfrm>
              <a:off x="8764671" y="1647620"/>
              <a:ext cx="2126116"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68" name="Straight Arrow Connector 67">
              <a:extLst>
                <a:ext uri="{FF2B5EF4-FFF2-40B4-BE49-F238E27FC236}">
                  <a16:creationId xmlns:a16="http://schemas.microsoft.com/office/drawing/2014/main" id="{B441DBD0-A242-177A-9534-E458EADE7D6D}"/>
                </a:ext>
              </a:extLst>
            </p:cNvPr>
            <p:cNvCxnSpPr>
              <a:cxnSpLocks/>
            </p:cNvCxnSpPr>
            <p:nvPr/>
          </p:nvCxnSpPr>
          <p:spPr>
            <a:xfrm>
              <a:off x="10220070" y="1915829"/>
              <a:ext cx="0" cy="1696772"/>
            </a:xfrm>
            <a:prstGeom prst="straightConnector1">
              <a:avLst/>
            </a:prstGeom>
            <a:ln w="38100">
              <a:tailEnd type="triangle"/>
            </a:ln>
          </p:spPr>
          <p:style>
            <a:lnRef idx="2">
              <a:schemeClr val="accent4"/>
            </a:lnRef>
            <a:fillRef idx="0">
              <a:schemeClr val="accent4"/>
            </a:fillRef>
            <a:effectRef idx="1">
              <a:schemeClr val="accent4"/>
            </a:effectRef>
            <a:fontRef idx="minor">
              <a:schemeClr val="tx1"/>
            </a:fontRef>
          </p:style>
        </p:cxnSp>
      </p:grpSp>
      <p:pic>
        <p:nvPicPr>
          <p:cNvPr id="71" name="Picture 70">
            <a:extLst>
              <a:ext uri="{FF2B5EF4-FFF2-40B4-BE49-F238E27FC236}">
                <a16:creationId xmlns:a16="http://schemas.microsoft.com/office/drawing/2014/main" id="{915E196F-30F9-5BB8-9CD1-33304215A73E}"/>
              </a:ext>
            </a:extLst>
          </p:cNvPr>
          <p:cNvPicPr>
            <a:picLocks noChangeAspect="1"/>
          </p:cNvPicPr>
          <p:nvPr/>
        </p:nvPicPr>
        <p:blipFill>
          <a:blip r:embed="rId9"/>
          <a:stretch>
            <a:fillRect/>
          </a:stretch>
        </p:blipFill>
        <p:spPr>
          <a:xfrm>
            <a:off x="95555" y="3331259"/>
            <a:ext cx="2133898" cy="390580"/>
          </a:xfrm>
          <a:prstGeom prst="rect">
            <a:avLst/>
          </a:prstGeom>
        </p:spPr>
      </p:pic>
      <p:sp>
        <p:nvSpPr>
          <p:cNvPr id="72" name="Rectangle 71">
            <a:extLst>
              <a:ext uri="{FF2B5EF4-FFF2-40B4-BE49-F238E27FC236}">
                <a16:creationId xmlns:a16="http://schemas.microsoft.com/office/drawing/2014/main" id="{8021A5CE-FE58-094E-A12F-9BA41B45E3BD}"/>
              </a:ext>
            </a:extLst>
          </p:cNvPr>
          <p:cNvSpPr/>
          <p:nvPr/>
        </p:nvSpPr>
        <p:spPr>
          <a:xfrm>
            <a:off x="143417" y="3380590"/>
            <a:ext cx="2038045"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3" name="Rectangle 82">
            <a:extLst>
              <a:ext uri="{FF2B5EF4-FFF2-40B4-BE49-F238E27FC236}">
                <a16:creationId xmlns:a16="http://schemas.microsoft.com/office/drawing/2014/main" id="{4D1E487F-FB0A-5146-12EF-5E9CB9CA7CDA}"/>
              </a:ext>
            </a:extLst>
          </p:cNvPr>
          <p:cNvSpPr/>
          <p:nvPr/>
        </p:nvSpPr>
        <p:spPr>
          <a:xfrm>
            <a:off x="9104210" y="2363951"/>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4" name="Rectangle 83">
            <a:extLst>
              <a:ext uri="{FF2B5EF4-FFF2-40B4-BE49-F238E27FC236}">
                <a16:creationId xmlns:a16="http://schemas.microsoft.com/office/drawing/2014/main" id="{D1DAC760-F051-2A56-2395-1B2BB18E4D62}"/>
              </a:ext>
            </a:extLst>
          </p:cNvPr>
          <p:cNvSpPr/>
          <p:nvPr/>
        </p:nvSpPr>
        <p:spPr>
          <a:xfrm>
            <a:off x="9104209" y="3612601"/>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7B56456C-744B-3164-0A9D-40F5AC0C047D}"/>
              </a:ext>
            </a:extLst>
          </p:cNvPr>
          <p:cNvSpPr/>
          <p:nvPr/>
        </p:nvSpPr>
        <p:spPr>
          <a:xfrm>
            <a:off x="8994866" y="4813154"/>
            <a:ext cx="1316083"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9" name="Rectangle 88">
            <a:extLst>
              <a:ext uri="{FF2B5EF4-FFF2-40B4-BE49-F238E27FC236}">
                <a16:creationId xmlns:a16="http://schemas.microsoft.com/office/drawing/2014/main" id="{3B16EF5E-58E9-0729-1903-443CE042EE37}"/>
              </a:ext>
            </a:extLst>
          </p:cNvPr>
          <p:cNvSpPr/>
          <p:nvPr/>
        </p:nvSpPr>
        <p:spPr>
          <a:xfrm>
            <a:off x="8541634" y="624876"/>
            <a:ext cx="1060232"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9CF0D468-E401-A9D0-0A24-91E02807B190}"/>
              </a:ext>
            </a:extLst>
          </p:cNvPr>
          <p:cNvSpPr txBox="1"/>
          <p:nvPr/>
        </p:nvSpPr>
        <p:spPr>
          <a:xfrm>
            <a:off x="8854328" y="5909958"/>
            <a:ext cx="214580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 demos/async/promise1.js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 demos/async/promise1b.js</a:t>
            </a:r>
          </a:p>
        </p:txBody>
      </p:sp>
    </p:spTree>
    <p:extLst>
      <p:ext uri="{BB962C8B-B14F-4D97-AF65-F5344CB8AC3E}">
        <p14:creationId xmlns:p14="http://schemas.microsoft.com/office/powerpoint/2010/main" val="296665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3"/>
                                        </p:tgtEl>
                                      </p:cBhvr>
                                    </p:animEffect>
                                    <p:set>
                                      <p:cBhvr>
                                        <p:cTn id="12" dur="1" fill="hold">
                                          <p:stCondLst>
                                            <p:cond delay="499"/>
                                          </p:stCondLst>
                                        </p:cTn>
                                        <p:tgtEl>
                                          <p:spTgt spid="73"/>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fade">
                                      <p:cBhvr>
                                        <p:cTn id="16" dur="500"/>
                                        <p:tgtEl>
                                          <p:spTgt spid="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74"/>
                                        </p:tgtEl>
                                      </p:cBhvr>
                                    </p:animEffect>
                                    <p:set>
                                      <p:cBhvr>
                                        <p:cTn id="21" dur="1" fill="hold">
                                          <p:stCondLst>
                                            <p:cond delay="499"/>
                                          </p:stCondLst>
                                        </p:cTn>
                                        <p:tgtEl>
                                          <p:spTgt spid="74"/>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75"/>
                                        </p:tgtEl>
                                      </p:cBhvr>
                                    </p:animEffect>
                                    <p:set>
                                      <p:cBhvr>
                                        <p:cTn id="30" dur="1" fill="hold">
                                          <p:stCondLst>
                                            <p:cond delay="499"/>
                                          </p:stCondLst>
                                        </p:cTn>
                                        <p:tgtEl>
                                          <p:spTgt spid="75"/>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500"/>
                                        <p:tgtEl>
                                          <p:spTgt spid="7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76"/>
                                        </p:tgtEl>
                                      </p:cBhvr>
                                    </p:animEffect>
                                    <p:set>
                                      <p:cBhvr>
                                        <p:cTn id="39" dur="1" fill="hold">
                                          <p:stCondLst>
                                            <p:cond delay="499"/>
                                          </p:stCondLst>
                                        </p:cTn>
                                        <p:tgtEl>
                                          <p:spTgt spid="76"/>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72"/>
                                        </p:tgtEl>
                                      </p:cBhvr>
                                    </p:animEffect>
                                    <p:set>
                                      <p:cBhvr>
                                        <p:cTn id="48" dur="1" fill="hold">
                                          <p:stCondLst>
                                            <p:cond delay="499"/>
                                          </p:stCondLst>
                                        </p:cTn>
                                        <p:tgtEl>
                                          <p:spTgt spid="72"/>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fade">
                                      <p:cBhvr>
                                        <p:cTn id="52" dur="500"/>
                                        <p:tgtEl>
                                          <p:spTgt spid="8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fade">
                                      <p:cBhvr>
                                        <p:cTn id="57" dur="500"/>
                                        <p:tgtEl>
                                          <p:spTgt spid="86"/>
                                        </p:tgtEl>
                                      </p:cBhvr>
                                    </p:animEffect>
                                  </p:childTnLst>
                                </p:cTn>
                              </p:par>
                            </p:childTnLst>
                          </p:cTn>
                        </p:par>
                        <p:par>
                          <p:cTn id="58" fill="hold">
                            <p:stCondLst>
                              <p:cond delay="500"/>
                            </p:stCondLst>
                            <p:childTnLst>
                              <p:par>
                                <p:cTn id="59" presetID="10" presetClass="exit" presetSubtype="0" fill="hold" grpId="1" nodeType="afterEffect">
                                  <p:stCondLst>
                                    <p:cond delay="0"/>
                                  </p:stCondLst>
                                  <p:childTnLst>
                                    <p:animEffect transition="out" filter="fade">
                                      <p:cBhvr>
                                        <p:cTn id="60" dur="500"/>
                                        <p:tgtEl>
                                          <p:spTgt spid="89"/>
                                        </p:tgtEl>
                                      </p:cBhvr>
                                    </p:animEffect>
                                    <p:set>
                                      <p:cBhvr>
                                        <p:cTn id="61" dur="1" fill="hold">
                                          <p:stCondLst>
                                            <p:cond delay="499"/>
                                          </p:stCondLst>
                                        </p:cTn>
                                        <p:tgtEl>
                                          <p:spTgt spid="89"/>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fade">
                                      <p:cBhvr>
                                        <p:cTn id="66" dur="500"/>
                                        <p:tgtEl>
                                          <p:spTgt spid="83"/>
                                        </p:tgtEl>
                                      </p:cBhvr>
                                    </p:animEffect>
                                  </p:childTnLst>
                                </p:cTn>
                              </p:par>
                            </p:childTnLst>
                          </p:cTn>
                        </p:par>
                        <p:par>
                          <p:cTn id="67" fill="hold">
                            <p:stCondLst>
                              <p:cond delay="500"/>
                            </p:stCondLst>
                            <p:childTnLst>
                              <p:par>
                                <p:cTn id="68" presetID="10" presetClass="exit" presetSubtype="0" fill="hold" nodeType="afterEffect">
                                  <p:stCondLst>
                                    <p:cond delay="0"/>
                                  </p:stCondLst>
                                  <p:childTnLst>
                                    <p:animEffect transition="out" filter="fade">
                                      <p:cBhvr>
                                        <p:cTn id="69" dur="500"/>
                                        <p:tgtEl>
                                          <p:spTgt spid="86"/>
                                        </p:tgtEl>
                                      </p:cBhvr>
                                    </p:animEffect>
                                    <p:set>
                                      <p:cBhvr>
                                        <p:cTn id="70" dur="1" fill="hold">
                                          <p:stCondLst>
                                            <p:cond delay="499"/>
                                          </p:stCondLst>
                                        </p:cTn>
                                        <p:tgtEl>
                                          <p:spTgt spid="8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500"/>
                                        <p:tgtEl>
                                          <p:spTgt spid="83"/>
                                        </p:tgtEl>
                                      </p:cBhvr>
                                    </p:animEffect>
                                    <p:set>
                                      <p:cBhvr>
                                        <p:cTn id="75" dur="1" fill="hold">
                                          <p:stCondLst>
                                            <p:cond delay="499"/>
                                          </p:stCondLst>
                                        </p:cTn>
                                        <p:tgtEl>
                                          <p:spTgt spid="83"/>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grpId="0" nodeType="after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fade">
                                      <p:cBhvr>
                                        <p:cTn id="79" dur="500"/>
                                        <p:tgtEl>
                                          <p:spTgt spid="8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grpId="1" nodeType="clickEffect">
                                  <p:stCondLst>
                                    <p:cond delay="0"/>
                                  </p:stCondLst>
                                  <p:childTnLst>
                                    <p:animEffect transition="out" filter="fade">
                                      <p:cBhvr>
                                        <p:cTn id="83" dur="500"/>
                                        <p:tgtEl>
                                          <p:spTgt spid="85"/>
                                        </p:tgtEl>
                                      </p:cBhvr>
                                    </p:animEffect>
                                    <p:set>
                                      <p:cBhvr>
                                        <p:cTn id="84" dur="1" fill="hold">
                                          <p:stCondLst>
                                            <p:cond delay="499"/>
                                          </p:stCondLst>
                                        </p:cTn>
                                        <p:tgtEl>
                                          <p:spTgt spid="85"/>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88"/>
                                        </p:tgtEl>
                                        <p:attrNameLst>
                                          <p:attrName>style.visibility</p:attrName>
                                        </p:attrNameLst>
                                      </p:cBhvr>
                                      <p:to>
                                        <p:strVal val="visible"/>
                                      </p:to>
                                    </p:set>
                                    <p:animEffect transition="in" filter="fade">
                                      <p:cBhvr>
                                        <p:cTn id="89" dur="500"/>
                                        <p:tgtEl>
                                          <p:spTgt spid="88"/>
                                        </p:tgtEl>
                                      </p:cBhvr>
                                    </p:animEffect>
                                  </p:childTnLst>
                                </p:cTn>
                              </p:par>
                            </p:childTnLst>
                          </p:cTn>
                        </p:par>
                        <p:par>
                          <p:cTn id="90" fill="hold">
                            <p:stCondLst>
                              <p:cond delay="500"/>
                            </p:stCondLst>
                            <p:childTnLst>
                              <p:par>
                                <p:cTn id="91" presetID="10" presetClass="entr" presetSubtype="0" fill="hold" grpId="0" nodeType="afterEffect">
                                  <p:stCondLst>
                                    <p:cond delay="0"/>
                                  </p:stCondLst>
                                  <p:childTnLst>
                                    <p:set>
                                      <p:cBhvr>
                                        <p:cTn id="92" dur="1" fill="hold">
                                          <p:stCondLst>
                                            <p:cond delay="0"/>
                                          </p:stCondLst>
                                        </p:cTn>
                                        <p:tgtEl>
                                          <p:spTgt spid="84"/>
                                        </p:tgtEl>
                                        <p:attrNameLst>
                                          <p:attrName>style.visibility</p:attrName>
                                        </p:attrNameLst>
                                      </p:cBhvr>
                                      <p:to>
                                        <p:strVal val="visible"/>
                                      </p:to>
                                    </p:set>
                                    <p:animEffect transition="in" filter="fade">
                                      <p:cBhvr>
                                        <p:cTn id="93" dur="500"/>
                                        <p:tgtEl>
                                          <p:spTgt spid="8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xit" presetSubtype="0" fill="hold" nodeType="clickEffect">
                                  <p:stCondLst>
                                    <p:cond delay="0"/>
                                  </p:stCondLst>
                                  <p:childTnLst>
                                    <p:animEffect transition="out" filter="fade">
                                      <p:cBhvr>
                                        <p:cTn id="97" dur="500"/>
                                        <p:tgtEl>
                                          <p:spTgt spid="88"/>
                                        </p:tgtEl>
                                      </p:cBhvr>
                                    </p:animEffect>
                                    <p:set>
                                      <p:cBhvr>
                                        <p:cTn id="98" dur="1" fill="hold">
                                          <p:stCondLst>
                                            <p:cond delay="499"/>
                                          </p:stCondLst>
                                        </p:cTn>
                                        <p:tgtEl>
                                          <p:spTgt spid="8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500"/>
                                        <p:tgtEl>
                                          <p:spTgt spid="84"/>
                                        </p:tgtEl>
                                      </p:cBhvr>
                                    </p:animEffect>
                                    <p:set>
                                      <p:cBhvr>
                                        <p:cTn id="103" dur="1" fill="hold">
                                          <p:stCondLst>
                                            <p:cond delay="499"/>
                                          </p:stCondLst>
                                        </p:cTn>
                                        <p:tgtEl>
                                          <p:spTgt spid="84"/>
                                        </p:tgtEl>
                                        <p:attrNameLst>
                                          <p:attrName>style.visibility</p:attrName>
                                        </p:attrNameLst>
                                      </p:cBhvr>
                                      <p:to>
                                        <p:strVal val="hidden"/>
                                      </p:to>
                                    </p:set>
                                  </p:childTnLst>
                                </p:cTn>
                              </p:par>
                            </p:childTnLst>
                          </p:cTn>
                        </p:par>
                        <p:par>
                          <p:cTn id="104" fill="hold">
                            <p:stCondLst>
                              <p:cond delay="500"/>
                            </p:stCondLst>
                            <p:childTnLst>
                              <p:par>
                                <p:cTn id="105" presetID="10" presetClass="entr" presetSubtype="0" fill="hold" grpId="2" nodeType="afterEffect">
                                  <p:stCondLst>
                                    <p:cond delay="0"/>
                                  </p:stCondLst>
                                  <p:childTnLst>
                                    <p:set>
                                      <p:cBhvr>
                                        <p:cTn id="106" dur="1" fill="hold">
                                          <p:stCondLst>
                                            <p:cond delay="0"/>
                                          </p:stCondLst>
                                        </p:cTn>
                                        <p:tgtEl>
                                          <p:spTgt spid="85"/>
                                        </p:tgtEl>
                                        <p:attrNameLst>
                                          <p:attrName>style.visibility</p:attrName>
                                        </p:attrNameLst>
                                      </p:cBhvr>
                                      <p:to>
                                        <p:strVal val="visible"/>
                                      </p:to>
                                    </p:set>
                                    <p:animEffect transition="in" filter="fade">
                                      <p:cBhvr>
                                        <p:cTn id="107" dur="500"/>
                                        <p:tgtEl>
                                          <p:spTgt spid="8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3" nodeType="clickEffect">
                                  <p:stCondLst>
                                    <p:cond delay="0"/>
                                  </p:stCondLst>
                                  <p:childTnLst>
                                    <p:animEffect transition="out" filter="fade">
                                      <p:cBhvr>
                                        <p:cTn id="111" dur="500"/>
                                        <p:tgtEl>
                                          <p:spTgt spid="85"/>
                                        </p:tgtEl>
                                      </p:cBhvr>
                                    </p:animEffect>
                                    <p:set>
                                      <p:cBhvr>
                                        <p:cTn id="112" dur="1" fill="hold">
                                          <p:stCondLst>
                                            <p:cond delay="499"/>
                                          </p:stCondLst>
                                        </p:cTn>
                                        <p:tgtEl>
                                          <p:spTgt spid="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2" grpId="1" animBg="1"/>
      <p:bldP spid="83" grpId="0" animBg="1"/>
      <p:bldP spid="83" grpId="1" animBg="1"/>
      <p:bldP spid="84" grpId="0" animBg="1"/>
      <p:bldP spid="84" grpId="1" animBg="1"/>
      <p:bldP spid="85" grpId="0" animBg="1"/>
      <p:bldP spid="85" grpId="1" animBg="1"/>
      <p:bldP spid="85" grpId="2" animBg="1"/>
      <p:bldP spid="85" grpId="3" animBg="1"/>
      <p:bldP spid="89" grpId="0" animBg="1"/>
      <p:bldP spid="8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4C2B315-694A-A977-1835-287B765A833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5510B16-2B14-4149-BDFB-F9536B4F42A5}"/>
              </a:ext>
            </a:extLst>
          </p:cNvPr>
          <p:cNvSpPr>
            <a:spLocks noGrp="1"/>
          </p:cNvSpPr>
          <p:nvPr>
            <p:ph type="title"/>
          </p:nvPr>
        </p:nvSpPr>
        <p:spPr/>
        <p:txBody>
          <a:bodyPr/>
          <a:lstStyle/>
          <a:p>
            <a:r>
              <a:rPr lang="en-GB" noProof="0" dirty="0"/>
              <a:t>Async /Await</a:t>
            </a:r>
          </a:p>
        </p:txBody>
      </p:sp>
      <p:sp>
        <p:nvSpPr>
          <p:cNvPr id="3" name="Text Placeholder 2">
            <a:extLst>
              <a:ext uri="{FF2B5EF4-FFF2-40B4-BE49-F238E27FC236}">
                <a16:creationId xmlns:a16="http://schemas.microsoft.com/office/drawing/2014/main" id="{614522DE-0884-4264-A6FD-12736C00445B}"/>
              </a:ext>
            </a:extLst>
          </p:cNvPr>
          <p:cNvSpPr>
            <a:spLocks noGrp="1"/>
          </p:cNvSpPr>
          <p:nvPr>
            <p:ph type="body" idx="1"/>
          </p:nvPr>
        </p:nvSpPr>
        <p:spPr/>
        <p:txBody>
          <a:bodyPr/>
          <a:lstStyle/>
          <a:p>
            <a:r>
              <a:rPr lang="en-GB" noProof="0" dirty="0"/>
              <a:t>Promises were introduced to simplify callbacks but they are still not particularly intuitive as code is executed out of sequence so you need to think differently when dealing with asynchronous processing. Async / await has been introduced to simplify things even more by enabling you to make the code look more like synchronous code</a:t>
            </a:r>
          </a:p>
          <a:p>
            <a:r>
              <a:rPr lang="en-GB" noProof="0" dirty="0"/>
              <a:t>A promise needs to be set into a state from pending to have its </a:t>
            </a:r>
            <a:r>
              <a:rPr lang="en-GB" b="1" noProof="0" dirty="0"/>
              <a:t>.then() or .catch() </a:t>
            </a:r>
            <a:r>
              <a:rPr lang="en-GB" noProof="0" dirty="0"/>
              <a:t>function callback called to handle the response to the asynchronous event.  Async / await enables some, arguably better readability by enabling the result of the async function to be dealt with in what looks like a more synchronous manner. Async / await uses promises but is abstracted further from the detail</a:t>
            </a:r>
          </a:p>
          <a:p>
            <a:r>
              <a:rPr lang="en-GB" noProof="0" dirty="0"/>
              <a:t>Async/await is an option, not a replacement – there are situations where you may prefer to use one over the other, or both - it’s up to you</a:t>
            </a:r>
          </a:p>
          <a:p>
            <a:r>
              <a:rPr lang="en-GB" noProof="0" dirty="0"/>
              <a:t>Many library functions now support promises - fetch is one of them</a:t>
            </a:r>
          </a:p>
          <a:p>
            <a:r>
              <a:rPr lang="en-GB" noProof="0" dirty="0"/>
              <a:t>Note: to be able to </a:t>
            </a:r>
            <a:r>
              <a:rPr lang="en-GB" b="1" noProof="0" dirty="0"/>
              <a:t>await</a:t>
            </a:r>
            <a:r>
              <a:rPr lang="en-GB" noProof="0" dirty="0"/>
              <a:t> a response, await must be within an </a:t>
            </a:r>
            <a:r>
              <a:rPr lang="en-GB" b="1" noProof="0" dirty="0"/>
              <a:t>async</a:t>
            </a:r>
            <a:r>
              <a:rPr lang="en-GB" noProof="0" dirty="0"/>
              <a:t> function</a:t>
            </a:r>
          </a:p>
          <a:p>
            <a:endParaRPr lang="en-GB" noProof="0" dirty="0"/>
          </a:p>
        </p:txBody>
      </p:sp>
      <p:sp>
        <p:nvSpPr>
          <p:cNvPr id="4" name="Slide Number Placeholder 3">
            <a:extLst>
              <a:ext uri="{FF2B5EF4-FFF2-40B4-BE49-F238E27FC236}">
                <a16:creationId xmlns:a16="http://schemas.microsoft.com/office/drawing/2014/main" id="{3AC65C8B-A9A8-43B1-95B5-5C59B1D8377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745166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1BEE87-A1C0-7047-E363-2B7F0EAC6A1F}"/>
              </a:ext>
            </a:extLst>
          </p:cNvPr>
          <p:cNvSpPr>
            <a:spLocks noGrp="1"/>
          </p:cNvSpPr>
          <p:nvPr>
            <p:ph type="body" idx="1"/>
          </p:nvPr>
        </p:nvSpPr>
        <p:spPr>
          <a:xfrm>
            <a:off x="773608" y="4879511"/>
            <a:ext cx="5069421" cy="990006"/>
          </a:xfrm>
        </p:spPr>
        <p:txBody>
          <a:bodyPr/>
          <a:lstStyle/>
          <a:p>
            <a:r>
              <a:rPr lang="en-GB" noProof="0" dirty="0"/>
              <a:t>Looking at the same example</a:t>
            </a:r>
          </a:p>
          <a:p>
            <a:r>
              <a:rPr lang="en-GB" noProof="0" dirty="0"/>
              <a:t>Still uses a promise but async await syntax</a:t>
            </a:r>
          </a:p>
        </p:txBody>
      </p:sp>
      <p:sp>
        <p:nvSpPr>
          <p:cNvPr id="4" name="Slide Number Placeholder 3">
            <a:extLst>
              <a:ext uri="{FF2B5EF4-FFF2-40B4-BE49-F238E27FC236}">
                <a16:creationId xmlns:a16="http://schemas.microsoft.com/office/drawing/2014/main" id="{01161A22-46F7-C48E-F6EC-142D0950666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6" name="Picture 5">
            <a:extLst>
              <a:ext uri="{FF2B5EF4-FFF2-40B4-BE49-F238E27FC236}">
                <a16:creationId xmlns:a16="http://schemas.microsoft.com/office/drawing/2014/main" id="{F63521A8-6BCF-F6A0-9FCA-EB3B38413DB7}"/>
              </a:ext>
            </a:extLst>
          </p:cNvPr>
          <p:cNvPicPr>
            <a:picLocks noChangeAspect="1"/>
          </p:cNvPicPr>
          <p:nvPr/>
        </p:nvPicPr>
        <p:blipFill>
          <a:blip r:embed="rId2"/>
          <a:stretch>
            <a:fillRect/>
          </a:stretch>
        </p:blipFill>
        <p:spPr>
          <a:xfrm>
            <a:off x="6512980" y="342044"/>
            <a:ext cx="5144218" cy="6134956"/>
          </a:xfrm>
          <a:prstGeom prst="rect">
            <a:avLst/>
          </a:prstGeom>
        </p:spPr>
      </p:pic>
      <p:pic>
        <p:nvPicPr>
          <p:cNvPr id="8" name="Picture 7">
            <a:extLst>
              <a:ext uri="{FF2B5EF4-FFF2-40B4-BE49-F238E27FC236}">
                <a16:creationId xmlns:a16="http://schemas.microsoft.com/office/drawing/2014/main" id="{05B9CDB9-5DCC-B9A9-E493-961E05F123B3}"/>
              </a:ext>
            </a:extLst>
          </p:cNvPr>
          <p:cNvPicPr>
            <a:picLocks noChangeAspect="1"/>
          </p:cNvPicPr>
          <p:nvPr/>
        </p:nvPicPr>
        <p:blipFill>
          <a:blip r:embed="rId3"/>
          <a:stretch>
            <a:fillRect/>
          </a:stretch>
        </p:blipFill>
        <p:spPr>
          <a:xfrm>
            <a:off x="1084444" y="381000"/>
            <a:ext cx="2476846" cy="809738"/>
          </a:xfrm>
          <a:prstGeom prst="rect">
            <a:avLst/>
          </a:prstGeom>
        </p:spPr>
      </p:pic>
      <p:cxnSp>
        <p:nvCxnSpPr>
          <p:cNvPr id="18" name="Straight Arrow Connector 17">
            <a:extLst>
              <a:ext uri="{FF2B5EF4-FFF2-40B4-BE49-F238E27FC236}">
                <a16:creationId xmlns:a16="http://schemas.microsoft.com/office/drawing/2014/main" id="{14D11859-BB32-6B6B-10C7-B69EE7FA6F9E}"/>
              </a:ext>
            </a:extLst>
          </p:cNvPr>
          <p:cNvCxnSpPr>
            <a:cxnSpLocks/>
          </p:cNvCxnSpPr>
          <p:nvPr/>
        </p:nvCxnSpPr>
        <p:spPr>
          <a:xfrm flipH="1">
            <a:off x="7622561" y="2166897"/>
            <a:ext cx="353466" cy="3995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E2A07564-D7D5-C090-A9E5-54E2D36369E4}"/>
              </a:ext>
            </a:extLst>
          </p:cNvPr>
          <p:cNvGrpSpPr/>
          <p:nvPr/>
        </p:nvGrpSpPr>
        <p:grpSpPr>
          <a:xfrm>
            <a:off x="3219610" y="653143"/>
            <a:ext cx="5666224" cy="2912249"/>
            <a:chOff x="3219610" y="653143"/>
            <a:chExt cx="5666224" cy="2912249"/>
          </a:xfrm>
        </p:grpSpPr>
        <p:cxnSp>
          <p:nvCxnSpPr>
            <p:cNvPr id="11" name="Straight Arrow Connector 10">
              <a:extLst>
                <a:ext uri="{FF2B5EF4-FFF2-40B4-BE49-F238E27FC236}">
                  <a16:creationId xmlns:a16="http://schemas.microsoft.com/office/drawing/2014/main" id="{2B010158-AC29-FEF9-CAE0-5AFAEBCCE6B5}"/>
                </a:ext>
              </a:extLst>
            </p:cNvPr>
            <p:cNvCxnSpPr/>
            <p:nvPr/>
          </p:nvCxnSpPr>
          <p:spPr>
            <a:xfrm>
              <a:off x="3219610" y="653143"/>
              <a:ext cx="3373291" cy="29122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A547010-0264-19ED-0E77-D8A250FE35D1}"/>
                </a:ext>
              </a:extLst>
            </p:cNvPr>
            <p:cNvSpPr txBox="1"/>
            <p:nvPr/>
          </p:nvSpPr>
          <p:spPr>
            <a:xfrm>
              <a:off x="6520489" y="3236212"/>
              <a:ext cx="2365345"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Needs to be async to use await</a:t>
              </a:r>
            </a:p>
          </p:txBody>
        </p:sp>
      </p:grpSp>
      <p:grpSp>
        <p:nvGrpSpPr>
          <p:cNvPr id="47" name="Group 46">
            <a:extLst>
              <a:ext uri="{FF2B5EF4-FFF2-40B4-BE49-F238E27FC236}">
                <a16:creationId xmlns:a16="http://schemas.microsoft.com/office/drawing/2014/main" id="{670580FB-DC4F-F65E-F9DF-8377F3B512C5}"/>
              </a:ext>
            </a:extLst>
          </p:cNvPr>
          <p:cNvGrpSpPr/>
          <p:nvPr/>
        </p:nvGrpSpPr>
        <p:grpSpPr>
          <a:xfrm>
            <a:off x="6831106" y="653143"/>
            <a:ext cx="3542339" cy="3400438"/>
            <a:chOff x="6831106" y="653143"/>
            <a:chExt cx="3542339" cy="3400438"/>
          </a:xfrm>
        </p:grpSpPr>
        <p:cxnSp>
          <p:nvCxnSpPr>
            <p:cNvPr id="12" name="Straight Arrow Connector 11">
              <a:extLst>
                <a:ext uri="{FF2B5EF4-FFF2-40B4-BE49-F238E27FC236}">
                  <a16:creationId xmlns:a16="http://schemas.microsoft.com/office/drawing/2014/main" id="{8DA59B5A-95A0-EE13-B9F3-9B3168CD6759}"/>
                </a:ext>
              </a:extLst>
            </p:cNvPr>
            <p:cNvCxnSpPr>
              <a:cxnSpLocks/>
            </p:cNvCxnSpPr>
            <p:nvPr/>
          </p:nvCxnSpPr>
          <p:spPr>
            <a:xfrm flipH="1" flipV="1">
              <a:off x="6831106" y="653143"/>
              <a:ext cx="3542339" cy="3400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E2B0AFF-ED46-9120-F7FE-89A5B01B9AD2}"/>
                </a:ext>
              </a:extLst>
            </p:cNvPr>
            <p:cNvSpPr txBox="1"/>
            <p:nvPr/>
          </p:nvSpPr>
          <p:spPr>
            <a:xfrm rot="2668934">
              <a:off x="8457300" y="2702191"/>
              <a:ext cx="152195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Call function returning promise</a:t>
              </a:r>
            </a:p>
          </p:txBody>
        </p:sp>
      </p:grpSp>
      <p:grpSp>
        <p:nvGrpSpPr>
          <p:cNvPr id="63" name="Group 62">
            <a:extLst>
              <a:ext uri="{FF2B5EF4-FFF2-40B4-BE49-F238E27FC236}">
                <a16:creationId xmlns:a16="http://schemas.microsoft.com/office/drawing/2014/main" id="{7C42548E-11CB-2DC1-EE21-1027AF7E9F07}"/>
              </a:ext>
            </a:extLst>
          </p:cNvPr>
          <p:cNvGrpSpPr/>
          <p:nvPr/>
        </p:nvGrpSpPr>
        <p:grpSpPr>
          <a:xfrm>
            <a:off x="8052867" y="539607"/>
            <a:ext cx="3604331" cy="520790"/>
            <a:chOff x="8052867" y="539607"/>
            <a:chExt cx="3604331" cy="520790"/>
          </a:xfrm>
        </p:grpSpPr>
        <p:cxnSp>
          <p:nvCxnSpPr>
            <p:cNvPr id="15" name="Straight Arrow Connector 14">
              <a:extLst>
                <a:ext uri="{FF2B5EF4-FFF2-40B4-BE49-F238E27FC236}">
                  <a16:creationId xmlns:a16="http://schemas.microsoft.com/office/drawing/2014/main" id="{D52D0683-700D-00E6-2111-416BE867E1DF}"/>
                </a:ext>
              </a:extLst>
            </p:cNvPr>
            <p:cNvCxnSpPr>
              <a:cxnSpLocks/>
            </p:cNvCxnSpPr>
            <p:nvPr/>
          </p:nvCxnSpPr>
          <p:spPr>
            <a:xfrm flipH="1">
              <a:off x="8052867" y="653143"/>
              <a:ext cx="906716" cy="40725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3F55D11-87E2-5496-831F-48369F95A737}"/>
                </a:ext>
              </a:extLst>
            </p:cNvPr>
            <p:cNvSpPr txBox="1"/>
            <p:nvPr/>
          </p:nvSpPr>
          <p:spPr>
            <a:xfrm>
              <a:off x="8911560" y="539607"/>
              <a:ext cx="274563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Immediate execution of the callback</a:t>
              </a:r>
            </a:p>
          </p:txBody>
        </p:sp>
      </p:grpSp>
      <p:sp>
        <p:nvSpPr>
          <p:cNvPr id="49" name="TextBox 48">
            <a:extLst>
              <a:ext uri="{FF2B5EF4-FFF2-40B4-BE49-F238E27FC236}">
                <a16:creationId xmlns:a16="http://schemas.microsoft.com/office/drawing/2014/main" id="{2581EFD7-1AF4-0E0B-98BE-2B60FAE73D93}"/>
              </a:ext>
            </a:extLst>
          </p:cNvPr>
          <p:cNvSpPr txBox="1"/>
          <p:nvPr/>
        </p:nvSpPr>
        <p:spPr>
          <a:xfrm>
            <a:off x="9196450" y="989205"/>
            <a:ext cx="246074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Reg timer callback - not executed</a:t>
            </a:r>
          </a:p>
        </p:txBody>
      </p:sp>
      <p:grpSp>
        <p:nvGrpSpPr>
          <p:cNvPr id="64" name="Group 63">
            <a:extLst>
              <a:ext uri="{FF2B5EF4-FFF2-40B4-BE49-F238E27FC236}">
                <a16:creationId xmlns:a16="http://schemas.microsoft.com/office/drawing/2014/main" id="{7BA934BF-82BA-7853-5F46-D868158BF0D9}"/>
              </a:ext>
            </a:extLst>
          </p:cNvPr>
          <p:cNvGrpSpPr/>
          <p:nvPr/>
        </p:nvGrpSpPr>
        <p:grpSpPr>
          <a:xfrm>
            <a:off x="7891503" y="2619287"/>
            <a:ext cx="1068080" cy="1671572"/>
            <a:chOff x="7891503" y="2619287"/>
            <a:chExt cx="1068080" cy="1671572"/>
          </a:xfrm>
        </p:grpSpPr>
        <p:cxnSp>
          <p:nvCxnSpPr>
            <p:cNvPr id="21" name="Straight Arrow Connector 20">
              <a:extLst>
                <a:ext uri="{FF2B5EF4-FFF2-40B4-BE49-F238E27FC236}">
                  <a16:creationId xmlns:a16="http://schemas.microsoft.com/office/drawing/2014/main" id="{CF40BBC3-D272-74CD-F1FF-57567F2C04AC}"/>
                </a:ext>
              </a:extLst>
            </p:cNvPr>
            <p:cNvCxnSpPr>
              <a:cxnSpLocks/>
            </p:cNvCxnSpPr>
            <p:nvPr/>
          </p:nvCxnSpPr>
          <p:spPr>
            <a:xfrm>
              <a:off x="7891503" y="2773936"/>
              <a:ext cx="1068080" cy="12796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D1DD0F4-71A1-6F7D-08D9-1506664B5BCE}"/>
                </a:ext>
              </a:extLst>
            </p:cNvPr>
            <p:cNvSpPr txBox="1"/>
            <p:nvPr/>
          </p:nvSpPr>
          <p:spPr>
            <a:xfrm rot="2943440">
              <a:off x="7792508" y="3316573"/>
              <a:ext cx="167157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Return pending - wait</a:t>
              </a:r>
            </a:p>
          </p:txBody>
        </p:sp>
      </p:grpSp>
      <p:grpSp>
        <p:nvGrpSpPr>
          <p:cNvPr id="56" name="Group 55">
            <a:extLst>
              <a:ext uri="{FF2B5EF4-FFF2-40B4-BE49-F238E27FC236}">
                <a16:creationId xmlns:a16="http://schemas.microsoft.com/office/drawing/2014/main" id="{AB4CA710-B8AF-D117-4537-873A84BA9C31}"/>
              </a:ext>
            </a:extLst>
          </p:cNvPr>
          <p:cNvGrpSpPr/>
          <p:nvPr/>
        </p:nvGrpSpPr>
        <p:grpSpPr>
          <a:xfrm>
            <a:off x="2889197" y="1160290"/>
            <a:ext cx="4172088" cy="3065928"/>
            <a:chOff x="2889197" y="1160290"/>
            <a:chExt cx="4172088" cy="3065928"/>
          </a:xfrm>
        </p:grpSpPr>
        <p:cxnSp>
          <p:nvCxnSpPr>
            <p:cNvPr id="32" name="Straight Arrow Connector 31">
              <a:extLst>
                <a:ext uri="{FF2B5EF4-FFF2-40B4-BE49-F238E27FC236}">
                  <a16:creationId xmlns:a16="http://schemas.microsoft.com/office/drawing/2014/main" id="{3087BC5F-F025-AC87-F7D7-C2082522EAA2}"/>
                </a:ext>
              </a:extLst>
            </p:cNvPr>
            <p:cNvCxnSpPr>
              <a:cxnSpLocks/>
            </p:cNvCxnSpPr>
            <p:nvPr/>
          </p:nvCxnSpPr>
          <p:spPr>
            <a:xfrm>
              <a:off x="2889197" y="1160290"/>
              <a:ext cx="4172088" cy="306592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416AA6B-5E73-D707-306B-1190F73E8485}"/>
                </a:ext>
              </a:extLst>
            </p:cNvPr>
            <p:cNvSpPr txBox="1"/>
            <p:nvPr/>
          </p:nvSpPr>
          <p:spPr>
            <a:xfrm rot="2153052">
              <a:off x="2906728" y="2374920"/>
              <a:ext cx="3970540"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When promise resolved, continue with suspended code</a:t>
              </a:r>
            </a:p>
          </p:txBody>
        </p:sp>
      </p:grpSp>
      <p:grpSp>
        <p:nvGrpSpPr>
          <p:cNvPr id="59" name="Group 58">
            <a:extLst>
              <a:ext uri="{FF2B5EF4-FFF2-40B4-BE49-F238E27FC236}">
                <a16:creationId xmlns:a16="http://schemas.microsoft.com/office/drawing/2014/main" id="{5C930531-C6E9-1B37-F27C-7396EEE30E9F}"/>
              </a:ext>
            </a:extLst>
          </p:cNvPr>
          <p:cNvGrpSpPr/>
          <p:nvPr/>
        </p:nvGrpSpPr>
        <p:grpSpPr>
          <a:xfrm>
            <a:off x="8513603" y="4226218"/>
            <a:ext cx="2374672" cy="353816"/>
            <a:chOff x="8513603" y="4226218"/>
            <a:chExt cx="2374672" cy="353816"/>
          </a:xfrm>
        </p:grpSpPr>
        <p:cxnSp>
          <p:nvCxnSpPr>
            <p:cNvPr id="35" name="Straight Arrow Connector 34">
              <a:extLst>
                <a:ext uri="{FF2B5EF4-FFF2-40B4-BE49-F238E27FC236}">
                  <a16:creationId xmlns:a16="http://schemas.microsoft.com/office/drawing/2014/main" id="{22D07615-637E-B91D-7A9D-4241AC51C1CA}"/>
                </a:ext>
              </a:extLst>
            </p:cNvPr>
            <p:cNvCxnSpPr>
              <a:cxnSpLocks/>
            </p:cNvCxnSpPr>
            <p:nvPr/>
          </p:nvCxnSpPr>
          <p:spPr>
            <a:xfrm>
              <a:off x="8513603" y="4226218"/>
              <a:ext cx="445980" cy="1608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6F576E8-EA33-4E6A-4F80-5A7F0E44A18F}"/>
                </a:ext>
              </a:extLst>
            </p:cNvPr>
            <p:cNvSpPr txBox="1"/>
            <p:nvPr/>
          </p:nvSpPr>
          <p:spPr>
            <a:xfrm>
              <a:off x="9998131" y="4303035"/>
              <a:ext cx="89014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Resolved</a:t>
              </a:r>
            </a:p>
          </p:txBody>
        </p:sp>
      </p:grpSp>
      <p:grpSp>
        <p:nvGrpSpPr>
          <p:cNvPr id="61" name="Group 60">
            <a:extLst>
              <a:ext uri="{FF2B5EF4-FFF2-40B4-BE49-F238E27FC236}">
                <a16:creationId xmlns:a16="http://schemas.microsoft.com/office/drawing/2014/main" id="{25748474-375D-308C-CCE8-32AC64142444}"/>
              </a:ext>
            </a:extLst>
          </p:cNvPr>
          <p:cNvGrpSpPr/>
          <p:nvPr/>
        </p:nvGrpSpPr>
        <p:grpSpPr>
          <a:xfrm>
            <a:off x="8052867" y="4234231"/>
            <a:ext cx="1539888" cy="675309"/>
            <a:chOff x="8052867" y="4234231"/>
            <a:chExt cx="1539888" cy="675309"/>
          </a:xfrm>
        </p:grpSpPr>
        <p:cxnSp>
          <p:nvCxnSpPr>
            <p:cNvPr id="51" name="Straight Arrow Connector 50">
              <a:extLst>
                <a:ext uri="{FF2B5EF4-FFF2-40B4-BE49-F238E27FC236}">
                  <a16:creationId xmlns:a16="http://schemas.microsoft.com/office/drawing/2014/main" id="{ACFEFA0D-60E7-0CC9-B7BC-645318677B04}"/>
                </a:ext>
              </a:extLst>
            </p:cNvPr>
            <p:cNvCxnSpPr>
              <a:cxnSpLocks/>
            </p:cNvCxnSpPr>
            <p:nvPr/>
          </p:nvCxnSpPr>
          <p:spPr>
            <a:xfrm>
              <a:off x="8052867" y="4234231"/>
              <a:ext cx="0" cy="414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BDACF54-A862-ADEB-226F-AF0A04DFCE54}"/>
                </a:ext>
              </a:extLst>
            </p:cNvPr>
            <p:cNvSpPr txBox="1"/>
            <p:nvPr/>
          </p:nvSpPr>
          <p:spPr>
            <a:xfrm>
              <a:off x="8702611" y="4632541"/>
              <a:ext cx="89014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Rejected</a:t>
              </a:r>
            </a:p>
          </p:txBody>
        </p:sp>
      </p:grpSp>
      <p:sp>
        <p:nvSpPr>
          <p:cNvPr id="62" name="TextBox 61">
            <a:extLst>
              <a:ext uri="{FF2B5EF4-FFF2-40B4-BE49-F238E27FC236}">
                <a16:creationId xmlns:a16="http://schemas.microsoft.com/office/drawing/2014/main" id="{7A88538A-7857-8918-92A4-588F54FD81F8}"/>
              </a:ext>
            </a:extLst>
          </p:cNvPr>
          <p:cNvSpPr txBox="1"/>
          <p:nvPr/>
        </p:nvSpPr>
        <p:spPr>
          <a:xfrm>
            <a:off x="8885834" y="5333598"/>
            <a:ext cx="1803186"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Do this regardless</a:t>
            </a:r>
          </a:p>
        </p:txBody>
      </p:sp>
      <p:grpSp>
        <p:nvGrpSpPr>
          <p:cNvPr id="68" name="Group 67">
            <a:extLst>
              <a:ext uri="{FF2B5EF4-FFF2-40B4-BE49-F238E27FC236}">
                <a16:creationId xmlns:a16="http://schemas.microsoft.com/office/drawing/2014/main" id="{55139B58-3AD3-2B7E-AA14-8D023F6EEFA2}"/>
              </a:ext>
            </a:extLst>
          </p:cNvPr>
          <p:cNvGrpSpPr/>
          <p:nvPr/>
        </p:nvGrpSpPr>
        <p:grpSpPr>
          <a:xfrm>
            <a:off x="3103908" y="1160290"/>
            <a:ext cx="6706249" cy="2957131"/>
            <a:chOff x="3103908" y="1160290"/>
            <a:chExt cx="6706249" cy="2957131"/>
          </a:xfrm>
        </p:grpSpPr>
        <p:grpSp>
          <p:nvGrpSpPr>
            <p:cNvPr id="66" name="Group 65">
              <a:extLst>
                <a:ext uri="{FF2B5EF4-FFF2-40B4-BE49-F238E27FC236}">
                  <a16:creationId xmlns:a16="http://schemas.microsoft.com/office/drawing/2014/main" id="{B8AD86F2-023B-4C1B-D777-AC97BD532F72}"/>
                </a:ext>
              </a:extLst>
            </p:cNvPr>
            <p:cNvGrpSpPr/>
            <p:nvPr/>
          </p:nvGrpSpPr>
          <p:grpSpPr>
            <a:xfrm>
              <a:off x="3103908" y="1160290"/>
              <a:ext cx="5781926" cy="2893291"/>
              <a:chOff x="3103908" y="1160290"/>
              <a:chExt cx="5781926" cy="2893291"/>
            </a:xfrm>
          </p:grpSpPr>
          <p:cxnSp>
            <p:nvCxnSpPr>
              <p:cNvPr id="27" name="Straight Arrow Connector 26">
                <a:extLst>
                  <a:ext uri="{FF2B5EF4-FFF2-40B4-BE49-F238E27FC236}">
                    <a16:creationId xmlns:a16="http://schemas.microsoft.com/office/drawing/2014/main" id="{E429F065-7339-699D-3F4B-D715B082DDCC}"/>
                  </a:ext>
                </a:extLst>
              </p:cNvPr>
              <p:cNvCxnSpPr>
                <a:cxnSpLocks/>
              </p:cNvCxnSpPr>
              <p:nvPr/>
            </p:nvCxnSpPr>
            <p:spPr>
              <a:xfrm flipH="1" flipV="1">
                <a:off x="3103908" y="1160290"/>
                <a:ext cx="5781926" cy="2893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18CD818C-82DE-98C8-2A7F-9040063E5164}"/>
                  </a:ext>
                </a:extLst>
              </p:cNvPr>
              <p:cNvSpPr txBox="1"/>
              <p:nvPr/>
            </p:nvSpPr>
            <p:spPr>
              <a:xfrm rot="1626359">
                <a:off x="3841123" y="1923148"/>
                <a:ext cx="2583126"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Continue with main whilst waiting</a:t>
                </a:r>
              </a:p>
            </p:txBody>
          </p:sp>
        </p:grpSp>
        <p:sp>
          <p:nvSpPr>
            <p:cNvPr id="67" name="TextBox 66">
              <a:extLst>
                <a:ext uri="{FF2B5EF4-FFF2-40B4-BE49-F238E27FC236}">
                  <a16:creationId xmlns:a16="http://schemas.microsoft.com/office/drawing/2014/main" id="{440BB34B-D219-8071-B1A5-ED6BD684A56D}"/>
                </a:ext>
              </a:extLst>
            </p:cNvPr>
            <p:cNvSpPr txBox="1"/>
            <p:nvPr/>
          </p:nvSpPr>
          <p:spPr>
            <a:xfrm>
              <a:off x="8920013" y="3840422"/>
              <a:ext cx="89014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FF00"/>
                  </a:solidFill>
                  <a:effectLst/>
                  <a:uLnTx/>
                  <a:uFillTx/>
                  <a:latin typeface="Arial"/>
                  <a:ea typeface="+mn-ea"/>
                  <a:cs typeface="+mn-cs"/>
                </a:rPr>
                <a:t>Pending</a:t>
              </a:r>
            </a:p>
          </p:txBody>
        </p:sp>
      </p:grpSp>
      <p:pic>
        <p:nvPicPr>
          <p:cNvPr id="2" name="Picture 1">
            <a:extLst>
              <a:ext uri="{FF2B5EF4-FFF2-40B4-BE49-F238E27FC236}">
                <a16:creationId xmlns:a16="http://schemas.microsoft.com/office/drawing/2014/main" id="{C43E2D82-E7B7-13FB-9D21-A55FB4572664}"/>
              </a:ext>
            </a:extLst>
          </p:cNvPr>
          <p:cNvPicPr/>
          <p:nvPr/>
        </p:nvPicPr>
        <p:blipFill>
          <a:blip r:embed="rId4"/>
          <a:stretch>
            <a:fillRect/>
          </a:stretch>
        </p:blipFill>
        <p:spPr>
          <a:xfrm>
            <a:off x="994090" y="2339987"/>
            <a:ext cx="2959996" cy="2043651"/>
          </a:xfrm>
          <a:prstGeom prst="rect">
            <a:avLst/>
          </a:prstGeom>
        </p:spPr>
      </p:pic>
      <p:sp>
        <p:nvSpPr>
          <p:cNvPr id="5" name="TextBox 4">
            <a:extLst>
              <a:ext uri="{FF2B5EF4-FFF2-40B4-BE49-F238E27FC236}">
                <a16:creationId xmlns:a16="http://schemas.microsoft.com/office/drawing/2014/main" id="{7F3816F3-5843-066E-3152-75BF17AF4370}"/>
              </a:ext>
            </a:extLst>
          </p:cNvPr>
          <p:cNvSpPr txBox="1"/>
          <p:nvPr/>
        </p:nvSpPr>
        <p:spPr>
          <a:xfrm>
            <a:off x="8828842" y="6526062"/>
            <a:ext cx="2188226"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demos/async/asyncAwait1b.js</a:t>
            </a:r>
          </a:p>
        </p:txBody>
      </p:sp>
    </p:spTree>
    <p:extLst>
      <p:ext uri="{BB962C8B-B14F-4D97-AF65-F5344CB8AC3E}">
        <p14:creationId xmlns:p14="http://schemas.microsoft.com/office/powerpoint/2010/main" val="289690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4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6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64"/>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6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06CB3DB-EBE3-F7F6-5764-A2EE5B7BD54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B8B8561-8658-4022-89DE-2F90A240FB0D}"/>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EB033319-6296-4291-A281-AD86C815B549}"/>
              </a:ext>
            </a:extLst>
          </p:cNvPr>
          <p:cNvSpPr>
            <a:spLocks noGrp="1"/>
          </p:cNvSpPr>
          <p:nvPr>
            <p:ph type="body" idx="1"/>
          </p:nvPr>
        </p:nvSpPr>
        <p:spPr/>
        <p:txBody>
          <a:bodyPr/>
          <a:lstStyle/>
          <a:p>
            <a:r>
              <a:rPr lang="en-GB" noProof="0" dirty="0"/>
              <a:t>Note: if you’re a detail person, there is also a microtask queue:</a:t>
            </a:r>
          </a:p>
          <a:p>
            <a:pPr>
              <a:buNone/>
            </a:pPr>
            <a:endParaRPr lang="en-GB" noProof="0" dirty="0"/>
          </a:p>
          <a:p>
            <a:r>
              <a:rPr lang="en-GB" noProof="0" dirty="0"/>
              <a:t>JavaScript uses an </a:t>
            </a:r>
            <a:r>
              <a:rPr lang="en-GB" b="1" noProof="0" dirty="0"/>
              <a:t>event loop</a:t>
            </a:r>
            <a:r>
              <a:rPr lang="en-GB" noProof="0" dirty="0"/>
              <a:t> to manage asynchronous operations. It has </a:t>
            </a:r>
            <a:r>
              <a:rPr lang="en-GB" b="1" noProof="0" dirty="0"/>
              <a:t>two main queues</a:t>
            </a:r>
            <a:r>
              <a:rPr lang="en-GB" noProof="0" dirty="0"/>
              <a:t>:</a:t>
            </a:r>
          </a:p>
          <a:p>
            <a:pPr lvl="1"/>
            <a:r>
              <a:rPr lang="en-GB" b="1" dirty="0"/>
              <a:t>Microtask queue</a:t>
            </a:r>
            <a:r>
              <a:rPr lang="en-GB" dirty="0"/>
              <a:t>:</a:t>
            </a:r>
          </a:p>
          <a:p>
            <a:pPr lvl="1"/>
            <a:r>
              <a:rPr lang="en-GB" dirty="0"/>
              <a:t>Includes: Promise callbacks (.then, .catch, .finally) and a few others (e.g. fetch()).</a:t>
            </a:r>
          </a:p>
          <a:p>
            <a:pPr lvl="1"/>
            <a:r>
              <a:rPr lang="en-GB" dirty="0"/>
              <a:t>These are </a:t>
            </a:r>
            <a:r>
              <a:rPr lang="en-GB" b="1" dirty="0"/>
              <a:t>all</a:t>
            </a:r>
            <a:r>
              <a:rPr lang="en-GB" dirty="0"/>
              <a:t> processed </a:t>
            </a:r>
            <a:r>
              <a:rPr lang="en-GB" b="1" dirty="0"/>
              <a:t>immediately after the call stack clears</a:t>
            </a:r>
            <a:r>
              <a:rPr lang="en-GB" dirty="0"/>
              <a:t>, </a:t>
            </a:r>
            <a:r>
              <a:rPr lang="en-GB" b="1" dirty="0"/>
              <a:t>before</a:t>
            </a:r>
            <a:r>
              <a:rPr lang="en-GB" dirty="0"/>
              <a:t> any </a:t>
            </a:r>
            <a:r>
              <a:rPr lang="en-GB" dirty="0" err="1"/>
              <a:t>macrotasks</a:t>
            </a:r>
            <a:endParaRPr lang="en-GB" dirty="0"/>
          </a:p>
          <a:p>
            <a:endParaRPr lang="en-GB" noProof="0" dirty="0"/>
          </a:p>
          <a:p>
            <a:pPr lvl="1"/>
            <a:r>
              <a:rPr lang="en-GB" b="1" noProof="0" dirty="0" err="1"/>
              <a:t>Macrotask</a:t>
            </a:r>
            <a:r>
              <a:rPr lang="en-GB" b="1" noProof="0" dirty="0"/>
              <a:t> queue</a:t>
            </a:r>
            <a:r>
              <a:rPr lang="en-GB" noProof="0" dirty="0"/>
              <a:t> (task queue or event queue on the diagram)</a:t>
            </a:r>
          </a:p>
          <a:p>
            <a:pPr lvl="1"/>
            <a:r>
              <a:rPr lang="en-GB" noProof="0" dirty="0"/>
              <a:t>Includes: </a:t>
            </a:r>
            <a:r>
              <a:rPr lang="en-GB" noProof="0" dirty="0" err="1"/>
              <a:t>setTimeout</a:t>
            </a:r>
            <a:r>
              <a:rPr lang="en-GB" noProof="0" dirty="0"/>
              <a:t>(), </a:t>
            </a:r>
            <a:r>
              <a:rPr lang="en-GB" noProof="0" dirty="0" err="1"/>
              <a:t>setInterval</a:t>
            </a:r>
            <a:r>
              <a:rPr lang="en-GB" noProof="0" dirty="0"/>
              <a:t>(), I/O, UI events</a:t>
            </a:r>
          </a:p>
          <a:p>
            <a:pPr lvl="1"/>
            <a:r>
              <a:rPr lang="en-GB" noProof="0" dirty="0"/>
              <a:t>Scheduled to run </a:t>
            </a:r>
            <a:r>
              <a:rPr lang="en-GB" b="1" noProof="0" dirty="0"/>
              <a:t>after all microtasks</a:t>
            </a:r>
            <a:r>
              <a:rPr lang="en-GB" noProof="0" dirty="0"/>
              <a:t> have been processed</a:t>
            </a:r>
          </a:p>
          <a:p>
            <a:pPr lvl="1"/>
            <a:r>
              <a:rPr lang="en-US" dirty="0"/>
              <a:t>Because only one </a:t>
            </a:r>
            <a:r>
              <a:rPr lang="en-US" dirty="0" err="1"/>
              <a:t>macrotask</a:t>
            </a:r>
            <a:r>
              <a:rPr lang="en-US" dirty="0"/>
              <a:t> runs per loop tick, and microtasks always run first, a large number of microtasks or long-running synchronous code can delay UI updates and make the interface appear frozen</a:t>
            </a:r>
            <a:endParaRPr lang="en-GB" noProof="0" dirty="0"/>
          </a:p>
          <a:p>
            <a:pPr lvl="1"/>
            <a:endParaRPr lang="en-GB" dirty="0"/>
          </a:p>
          <a:p>
            <a:pPr lvl="1"/>
            <a:r>
              <a:rPr lang="en-GB" dirty="0"/>
              <a:t>Practical comparison of async/await and .then .catch for API access in the following demos</a:t>
            </a:r>
            <a:endParaRPr lang="en-GB" noProof="0" dirty="0"/>
          </a:p>
          <a:p>
            <a:endParaRPr lang="en-GB" noProof="0" dirty="0"/>
          </a:p>
        </p:txBody>
      </p:sp>
      <p:sp>
        <p:nvSpPr>
          <p:cNvPr id="4" name="Slide Number Placeholder 3">
            <a:extLst>
              <a:ext uri="{FF2B5EF4-FFF2-40B4-BE49-F238E27FC236}">
                <a16:creationId xmlns:a16="http://schemas.microsoft.com/office/drawing/2014/main" id="{558F71BF-79CD-4250-BD8B-9BB2979170B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3DD5B504-F993-7837-0458-BBFDAF8EB967}"/>
              </a:ext>
            </a:extLst>
          </p:cNvPr>
          <p:cNvSpPr txBox="1"/>
          <p:nvPr/>
        </p:nvSpPr>
        <p:spPr>
          <a:xfrm>
            <a:off x="9523708" y="6039874"/>
            <a:ext cx="163999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a:t>
            </a:r>
            <a:r>
              <a:rPr kumimoji="0" lang="en-GB" sz="1200" b="0" i="0" u="none" strike="noStrike" kern="1200" cap="none" spc="0" normalizeH="0" baseline="0" noProof="0" dirty="0" err="1">
                <a:ln>
                  <a:noFill/>
                </a:ln>
                <a:solidFill>
                  <a:srgbClr val="FF0000"/>
                </a:solidFill>
                <a:effectLst/>
                <a:uLnTx/>
                <a:uFillTx/>
                <a:latin typeface="Arial"/>
                <a:ea typeface="+mn-ea"/>
                <a:cs typeface="+mn-cs"/>
              </a:rPr>
              <a:t>api</a:t>
            </a:r>
            <a:r>
              <a:rPr kumimoji="0" lang="en-GB" sz="1200" b="0" i="0" u="none" strike="noStrike" kern="1200" cap="none" spc="0" normalizeH="0" baseline="0" noProof="0" dirty="0">
                <a:ln>
                  <a:noFill/>
                </a:ln>
                <a:solidFill>
                  <a:srgbClr val="FF0000"/>
                </a:solidFill>
                <a:effectLst/>
                <a:uLnTx/>
                <a:uFillTx/>
                <a:latin typeface="Arial"/>
                <a:ea typeface="+mn-ea"/>
                <a:cs typeface="+mn-cs"/>
              </a:rPr>
              <a:t>/basic/jokes.html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a:t>
            </a:r>
            <a:r>
              <a:rPr kumimoji="0" lang="en-GB" sz="1200" b="0" i="0" u="none" strike="noStrike" kern="1200" cap="none" spc="0" normalizeH="0" baseline="0" noProof="0" dirty="0" err="1">
                <a:ln>
                  <a:noFill/>
                </a:ln>
                <a:solidFill>
                  <a:srgbClr val="FF0000"/>
                </a:solidFill>
                <a:effectLst/>
                <a:uLnTx/>
                <a:uFillTx/>
                <a:latin typeface="Arial"/>
                <a:ea typeface="+mn-ea"/>
                <a:cs typeface="+mn-cs"/>
              </a:rPr>
              <a:t>api</a:t>
            </a:r>
            <a:r>
              <a:rPr kumimoji="0" lang="en-GB" sz="1200" b="0" i="0" u="none" strike="noStrike" kern="1200" cap="none" spc="0" normalizeH="0" baseline="0" noProof="0" dirty="0">
                <a:ln>
                  <a:noFill/>
                </a:ln>
                <a:solidFill>
                  <a:srgbClr val="FF0000"/>
                </a:solidFill>
                <a:effectLst/>
                <a:uLnTx/>
                <a:uFillTx/>
                <a:latin typeface="Arial"/>
                <a:ea typeface="+mn-ea"/>
                <a:cs typeface="+mn-cs"/>
              </a:rPr>
              <a:t>/basic/jokes2.html</a:t>
            </a:r>
          </a:p>
        </p:txBody>
      </p:sp>
    </p:spTree>
    <p:extLst>
      <p:ext uri="{BB962C8B-B14F-4D97-AF65-F5344CB8AC3E}">
        <p14:creationId xmlns:p14="http://schemas.microsoft.com/office/powerpoint/2010/main" val="203370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85C05-C8E6-C1CC-89BD-46602CF7A671}"/>
              </a:ext>
            </a:extLst>
          </p:cNvPr>
          <p:cNvSpPr>
            <a:spLocks noGrp="1"/>
          </p:cNvSpPr>
          <p:nvPr>
            <p:ph type="title"/>
          </p:nvPr>
        </p:nvSpPr>
        <p:spPr/>
        <p:txBody>
          <a:bodyPr/>
          <a:lstStyle/>
          <a:p>
            <a:r>
              <a:rPr lang="en-GB" dirty="0"/>
              <a:t>Promise Practical Use-case</a:t>
            </a:r>
          </a:p>
        </p:txBody>
      </p:sp>
      <p:sp>
        <p:nvSpPr>
          <p:cNvPr id="3" name="Text Placeholder 2">
            <a:extLst>
              <a:ext uri="{FF2B5EF4-FFF2-40B4-BE49-F238E27FC236}">
                <a16:creationId xmlns:a16="http://schemas.microsoft.com/office/drawing/2014/main" id="{7EF762F3-D26E-FF7F-3C7C-590141D9F9F1}"/>
              </a:ext>
            </a:extLst>
          </p:cNvPr>
          <p:cNvSpPr>
            <a:spLocks noGrp="1"/>
          </p:cNvSpPr>
          <p:nvPr>
            <p:ph type="body" idx="1"/>
          </p:nvPr>
        </p:nvSpPr>
        <p:spPr/>
        <p:txBody>
          <a:bodyPr/>
          <a:lstStyle/>
          <a:p>
            <a:r>
              <a:rPr lang="en-GB" dirty="0"/>
              <a:t>Open a file asynchronously as it may be a slow process</a:t>
            </a:r>
          </a:p>
          <a:p>
            <a:r>
              <a:rPr lang="en-GB" dirty="0"/>
              <a:t>On the plus side, this won't hog the thread</a:t>
            </a:r>
          </a:p>
          <a:p>
            <a:r>
              <a:rPr lang="en-GB" dirty="0"/>
              <a:t>On the downside you basically need to wrap the rest of the whole program into the callback</a:t>
            </a:r>
          </a:p>
          <a:p>
            <a:r>
              <a:rPr lang="en-GB" dirty="0"/>
              <a:t>Async / await and promises still execute out of sequence but are much more readable</a:t>
            </a:r>
          </a:p>
          <a:p>
            <a:r>
              <a:rPr lang="en-GB" dirty="0"/>
              <a:t>Let's look at some examples</a:t>
            </a:r>
          </a:p>
        </p:txBody>
      </p:sp>
      <p:sp>
        <p:nvSpPr>
          <p:cNvPr id="4" name="Slide Number Placeholder 3">
            <a:extLst>
              <a:ext uri="{FF2B5EF4-FFF2-40B4-BE49-F238E27FC236}">
                <a16:creationId xmlns:a16="http://schemas.microsoft.com/office/drawing/2014/main" id="{9C8D28C9-154C-E90E-1AA0-DCCEA26C872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12DBA708-7D3E-EB87-8DB3-248E264A5097}"/>
              </a:ext>
            </a:extLst>
          </p:cNvPr>
          <p:cNvSpPr txBox="1"/>
          <p:nvPr/>
        </p:nvSpPr>
        <p:spPr>
          <a:xfrm>
            <a:off x="8712909" y="5193104"/>
            <a:ext cx="2196435"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demos/files/traditional-fail1.js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demos/files/traditional-fail2.js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demos/files/traditional-pass.js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demos/files/file-promise1.js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 file-promise2.js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demos/files/ file-sync.js</a:t>
            </a:r>
          </a:p>
        </p:txBody>
      </p:sp>
    </p:spTree>
    <p:extLst>
      <p:ext uri="{BB962C8B-B14F-4D97-AF65-F5344CB8AC3E}">
        <p14:creationId xmlns:p14="http://schemas.microsoft.com/office/powerpoint/2010/main" val="3741672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52B64-02CD-FFE2-A031-304849D85A51}"/>
              </a:ext>
            </a:extLst>
          </p:cNvPr>
          <p:cNvSpPr>
            <a:spLocks noGrp="1"/>
          </p:cNvSpPr>
          <p:nvPr>
            <p:ph type="ctrTitle"/>
          </p:nvPr>
        </p:nvSpPr>
        <p:spPr>
          <a:xfrm>
            <a:off x="1435099" y="2484800"/>
            <a:ext cx="7166207" cy="1888400"/>
          </a:xfrm>
        </p:spPr>
        <p:txBody>
          <a:bodyPr/>
          <a:lstStyle/>
          <a:p>
            <a:r>
              <a:rPr lang="en-GB" noProof="0" dirty="0"/>
              <a:t>Express and Middleware</a:t>
            </a:r>
          </a:p>
        </p:txBody>
      </p:sp>
    </p:spTree>
    <p:extLst>
      <p:ext uri="{BB962C8B-B14F-4D97-AF65-F5344CB8AC3E}">
        <p14:creationId xmlns:p14="http://schemas.microsoft.com/office/powerpoint/2010/main" val="413344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B76F-C5A1-10CC-31BA-5D6378CEF2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C5E184E-E57E-3A88-501D-300C66650CA7}"/>
              </a:ext>
            </a:extLst>
          </p:cNvPr>
          <p:cNvSpPr/>
          <p:nvPr/>
        </p:nvSpPr>
        <p:spPr>
          <a:xfrm>
            <a:off x="2042419" y="665138"/>
            <a:ext cx="9516193" cy="5182495"/>
          </a:xfrm>
          <a:prstGeom prst="rect">
            <a:avLst/>
          </a:prstGeom>
          <a:ln>
            <a:solidFill>
              <a:schemeClr val="tx1">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09813217-E302-156F-91C3-D19C652F696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0E0192-C642-4D4F-AE82-A0D0DC02E26B}" type="slidenum">
              <a:rPr kumimoji="0" lang="en-GB" sz="1200" b="0" i="0" u="none" strike="noStrike" kern="1200" cap="none" spc="0" normalizeH="0" baseline="0" noProof="0" smtClean="0">
                <a:ln>
                  <a:noFill/>
                </a:ln>
                <a:solidFill>
                  <a:srgbClr val="3A3F5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srgbClr val="3A3F50">
                  <a:tint val="75000"/>
                </a:srgbClr>
              </a:solidFill>
              <a:effectLst/>
              <a:uLnTx/>
              <a:uFillTx/>
              <a:latin typeface="Arial"/>
              <a:ea typeface="+mn-ea"/>
              <a:cs typeface="+mn-cs"/>
            </a:endParaRPr>
          </a:p>
        </p:txBody>
      </p:sp>
      <p:sp>
        <p:nvSpPr>
          <p:cNvPr id="3" name="Rectangle 2">
            <a:extLst>
              <a:ext uri="{FF2B5EF4-FFF2-40B4-BE49-F238E27FC236}">
                <a16:creationId xmlns:a16="http://schemas.microsoft.com/office/drawing/2014/main" id="{287BCFD7-19F2-FFA1-6537-ED2B70DCA0A3}"/>
              </a:ext>
            </a:extLst>
          </p:cNvPr>
          <p:cNvSpPr/>
          <p:nvPr/>
        </p:nvSpPr>
        <p:spPr>
          <a:xfrm>
            <a:off x="353591" y="1128147"/>
            <a:ext cx="782189" cy="4669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Browser</a:t>
            </a:r>
          </a:p>
        </p:txBody>
      </p:sp>
      <p:sp>
        <p:nvSpPr>
          <p:cNvPr id="6" name="Flowchart: Decision 5">
            <a:extLst>
              <a:ext uri="{FF2B5EF4-FFF2-40B4-BE49-F238E27FC236}">
                <a16:creationId xmlns:a16="http://schemas.microsoft.com/office/drawing/2014/main" id="{DA554BAC-01E3-2626-64E6-783DE71932DC}"/>
              </a:ext>
            </a:extLst>
          </p:cNvPr>
          <p:cNvSpPr/>
          <p:nvPr/>
        </p:nvSpPr>
        <p:spPr>
          <a:xfrm>
            <a:off x="2998119" y="3272310"/>
            <a:ext cx="1072443" cy="798689"/>
          </a:xfrm>
          <a:prstGeom prst="flowChartDecision">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3000</a:t>
            </a:r>
          </a:p>
        </p:txBody>
      </p:sp>
      <p:sp>
        <p:nvSpPr>
          <p:cNvPr id="7" name="Rectangle 6">
            <a:extLst>
              <a:ext uri="{FF2B5EF4-FFF2-40B4-BE49-F238E27FC236}">
                <a16:creationId xmlns:a16="http://schemas.microsoft.com/office/drawing/2014/main" id="{66C1D6C7-4F0C-BCEE-7EF7-D4BC67AC42B4}"/>
              </a:ext>
            </a:extLst>
          </p:cNvPr>
          <p:cNvSpPr/>
          <p:nvPr/>
        </p:nvSpPr>
        <p:spPr>
          <a:xfrm>
            <a:off x="2539880" y="1441872"/>
            <a:ext cx="1988922" cy="873664"/>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26" name="Straight Arrow Connector 25">
            <a:extLst>
              <a:ext uri="{FF2B5EF4-FFF2-40B4-BE49-F238E27FC236}">
                <a16:creationId xmlns:a16="http://schemas.microsoft.com/office/drawing/2014/main" id="{FDA93F10-70FC-040A-938F-A803702072F0}"/>
              </a:ext>
            </a:extLst>
          </p:cNvPr>
          <p:cNvCxnSpPr>
            <a:cxnSpLocks/>
            <a:stCxn id="7" idx="3"/>
          </p:cNvCxnSpPr>
          <p:nvPr/>
        </p:nvCxnSpPr>
        <p:spPr>
          <a:xfrm>
            <a:off x="4528802" y="1878704"/>
            <a:ext cx="10682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C18F5C0-849D-B991-B3B5-C5F310982B96}"/>
              </a:ext>
            </a:extLst>
          </p:cNvPr>
          <p:cNvCxnSpPr>
            <a:cxnSpLocks/>
          </p:cNvCxnSpPr>
          <p:nvPr/>
        </p:nvCxnSpPr>
        <p:spPr>
          <a:xfrm>
            <a:off x="9041634" y="3223972"/>
            <a:ext cx="2427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6B6A8F4-C140-47EE-3BF1-935A8CA4C9C4}"/>
              </a:ext>
            </a:extLst>
          </p:cNvPr>
          <p:cNvCxnSpPr>
            <a:cxnSpLocks/>
            <a:stCxn id="11" idx="2"/>
          </p:cNvCxnSpPr>
          <p:nvPr/>
        </p:nvCxnSpPr>
        <p:spPr>
          <a:xfrm>
            <a:off x="10270751" y="3359700"/>
            <a:ext cx="0" cy="1555756"/>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D711CB6-8EA4-3859-DDFE-2C9B448908CE}"/>
              </a:ext>
            </a:extLst>
          </p:cNvPr>
          <p:cNvCxnSpPr>
            <a:cxnSpLocks/>
          </p:cNvCxnSpPr>
          <p:nvPr/>
        </p:nvCxnSpPr>
        <p:spPr>
          <a:xfrm>
            <a:off x="1135780" y="3671655"/>
            <a:ext cx="18623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0D0313F-5A4B-BB3D-6DDA-BC5E59DF42F9}"/>
              </a:ext>
            </a:extLst>
          </p:cNvPr>
          <p:cNvCxnSpPr>
            <a:cxnSpLocks/>
          </p:cNvCxnSpPr>
          <p:nvPr/>
        </p:nvCxnSpPr>
        <p:spPr>
          <a:xfrm flipH="1">
            <a:off x="1161553" y="4915456"/>
            <a:ext cx="91091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FA508CD-F984-30B1-411D-3B4BCC218FE5}"/>
              </a:ext>
            </a:extLst>
          </p:cNvPr>
          <p:cNvCxnSpPr>
            <a:cxnSpLocks/>
            <a:stCxn id="6" idx="0"/>
            <a:endCxn id="7" idx="2"/>
          </p:cNvCxnSpPr>
          <p:nvPr/>
        </p:nvCxnSpPr>
        <p:spPr>
          <a:xfrm flipV="1">
            <a:off x="3534341" y="2315536"/>
            <a:ext cx="0" cy="9567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664E39F0-B9E8-3635-B600-D1C6117586E7}"/>
              </a:ext>
            </a:extLst>
          </p:cNvPr>
          <p:cNvSpPr/>
          <p:nvPr/>
        </p:nvSpPr>
        <p:spPr>
          <a:xfrm>
            <a:off x="1103392" y="3429000"/>
            <a:ext cx="1479117" cy="1964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...:3000/results/</a:t>
            </a:r>
            <a:r>
              <a:rPr kumimoji="0" lang="en-GB" sz="1200" b="0" i="0" u="none" strike="noStrike" kern="1200" cap="none" spc="0" normalizeH="0" baseline="0" noProof="0" dirty="0" err="1">
                <a:ln>
                  <a:noFill/>
                </a:ln>
                <a:solidFill>
                  <a:srgbClr val="3A3F50"/>
                </a:solidFill>
                <a:effectLst/>
                <a:uLnTx/>
                <a:uFillTx/>
                <a:latin typeface="Arial"/>
                <a:ea typeface="+mn-ea"/>
                <a:cs typeface="+mn-cs"/>
              </a:rPr>
              <a:t>jim</a:t>
            </a: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p:txBody>
      </p:sp>
      <p:sp>
        <p:nvSpPr>
          <p:cNvPr id="64" name="Rectangle 63">
            <a:extLst>
              <a:ext uri="{FF2B5EF4-FFF2-40B4-BE49-F238E27FC236}">
                <a16:creationId xmlns:a16="http://schemas.microsoft.com/office/drawing/2014/main" id="{5F8D6A16-6B89-606D-FCF1-793B936F94ED}"/>
              </a:ext>
            </a:extLst>
          </p:cNvPr>
          <p:cNvSpPr/>
          <p:nvPr/>
        </p:nvSpPr>
        <p:spPr>
          <a:xfrm>
            <a:off x="3051087" y="2930460"/>
            <a:ext cx="559809"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sp>
        <p:nvSpPr>
          <p:cNvPr id="65" name="Rectangle 64">
            <a:extLst>
              <a:ext uri="{FF2B5EF4-FFF2-40B4-BE49-F238E27FC236}">
                <a16:creationId xmlns:a16="http://schemas.microsoft.com/office/drawing/2014/main" id="{8A9181D5-F6E7-A54A-41F0-8483AEC910A5}"/>
              </a:ext>
            </a:extLst>
          </p:cNvPr>
          <p:cNvSpPr/>
          <p:nvPr/>
        </p:nvSpPr>
        <p:spPr>
          <a:xfrm>
            <a:off x="2655544" y="1433531"/>
            <a:ext cx="1804769" cy="9117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req</a:t>
            </a:r>
            <a:r>
              <a:rPr kumimoji="0" lang="en-GB" sz="1200" b="0" i="0" u="none" strike="noStrike" kern="1200" cap="none" spc="0" normalizeH="0" baseline="0" noProof="0" dirty="0">
                <a:ln>
                  <a:noFill/>
                </a:ln>
                <a:solidFill>
                  <a:srgbClr val="3A3F50"/>
                </a:solidFill>
                <a:effectLst/>
                <a:uLnTx/>
                <a:uFillTx/>
                <a:latin typeface="Arial"/>
                <a:ea typeface="+mn-ea"/>
                <a:cs typeface="+mn-cs"/>
              </a:rPr>
              <a:t> </a:t>
            </a:r>
            <a:r>
              <a:rPr kumimoji="0" lang="en-GB" sz="1200" b="0" i="0" u="none" strike="noStrike" kern="1200" cap="none" spc="0" normalizeH="0" baseline="0" noProof="0" dirty="0" err="1">
                <a:ln>
                  <a:noFill/>
                </a:ln>
                <a:solidFill>
                  <a:srgbClr val="3A3F50"/>
                </a:solidFill>
                <a:effectLst/>
                <a:uLnTx/>
                <a:uFillTx/>
                <a:latin typeface="Arial"/>
                <a:ea typeface="+mn-ea"/>
                <a:cs typeface="+mn-cs"/>
              </a:rPr>
              <a:t>obj</a:t>
            </a:r>
            <a:r>
              <a:rPr kumimoji="0" lang="en-GB" sz="1200" b="0" i="0" u="none" strike="noStrike" kern="1200" cap="none" spc="0" normalizeH="0" baseline="0" noProof="0" dirty="0">
                <a:ln>
                  <a:noFill/>
                </a:ln>
                <a:solidFill>
                  <a:srgbClr val="3A3F50"/>
                </a:solidFill>
                <a:effectLst/>
                <a:uLnTx/>
                <a:uFillTx/>
                <a:latin typeface="Arial"/>
                <a:ea typeface="+mn-ea"/>
                <a:cs typeface="+mn-cs"/>
              </a:rPr>
              <a:t> assigned parsed </a:t>
            </a:r>
            <a:r>
              <a:rPr kumimoji="0" lang="en-GB" sz="1200" b="0" i="0" u="none" strike="noStrike" kern="1200" cap="none" spc="0" normalizeH="0" baseline="0" noProof="0" dirty="0" err="1">
                <a:ln>
                  <a:noFill/>
                </a:ln>
                <a:solidFill>
                  <a:srgbClr val="3A3F50"/>
                </a:solidFill>
                <a:effectLst/>
                <a:uLnTx/>
                <a:uFillTx/>
                <a:latin typeface="Arial"/>
                <a:ea typeface="+mn-ea"/>
                <a:cs typeface="+mn-cs"/>
              </a:rPr>
              <a:t>url,headers</a:t>
            </a:r>
            <a:r>
              <a:rPr kumimoji="0" lang="en-GB" sz="1200" b="0" i="0" u="none" strike="noStrike" kern="1200" cap="none" spc="0" normalizeH="0" baseline="0" noProof="0" dirty="0">
                <a:ln>
                  <a:noFill/>
                </a:ln>
                <a:solidFill>
                  <a:srgbClr val="3A3F50"/>
                </a:solidFill>
                <a:effectLst/>
                <a:uLnTx/>
                <a:uFillTx/>
                <a:latin typeface="Arial"/>
                <a:ea typeface="+mn-ea"/>
                <a:cs typeface="+mn-cs"/>
              </a:rPr>
              <a:t>, method and more (not body)</a:t>
            </a:r>
          </a:p>
        </p:txBody>
      </p:sp>
      <p:sp>
        <p:nvSpPr>
          <p:cNvPr id="66" name="Arrow: Right 65">
            <a:extLst>
              <a:ext uri="{FF2B5EF4-FFF2-40B4-BE49-F238E27FC236}">
                <a16:creationId xmlns:a16="http://schemas.microsoft.com/office/drawing/2014/main" id="{C73B8DB0-F7D5-1DD5-5F4C-197BF9DABAED}"/>
              </a:ext>
            </a:extLst>
          </p:cNvPr>
          <p:cNvSpPr/>
          <p:nvPr/>
        </p:nvSpPr>
        <p:spPr>
          <a:xfrm rot="5400000">
            <a:off x="4853148" y="2590157"/>
            <a:ext cx="1070433" cy="197195"/>
          </a:xfrm>
          <a:prstGeom prst="right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C1FDA188-C184-6C22-E536-C996A86AD0A2}"/>
              </a:ext>
            </a:extLst>
          </p:cNvPr>
          <p:cNvSpPr/>
          <p:nvPr/>
        </p:nvSpPr>
        <p:spPr>
          <a:xfrm rot="5400000">
            <a:off x="4771243" y="2609339"/>
            <a:ext cx="901074" cy="155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search</a:t>
            </a:r>
          </a:p>
        </p:txBody>
      </p:sp>
      <p:sp>
        <p:nvSpPr>
          <p:cNvPr id="83" name="Rectangle 82">
            <a:extLst>
              <a:ext uri="{FF2B5EF4-FFF2-40B4-BE49-F238E27FC236}">
                <a16:creationId xmlns:a16="http://schemas.microsoft.com/office/drawing/2014/main" id="{8DD42917-5F03-6723-3A97-51C35B1F9F41}"/>
              </a:ext>
            </a:extLst>
          </p:cNvPr>
          <p:cNvSpPr/>
          <p:nvPr/>
        </p:nvSpPr>
        <p:spPr>
          <a:xfrm rot="16200000">
            <a:off x="1226796" y="2074151"/>
            <a:ext cx="1337732"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Express</a:t>
            </a:r>
          </a:p>
        </p:txBody>
      </p:sp>
      <p:sp>
        <p:nvSpPr>
          <p:cNvPr id="87" name="Rectangle 86">
            <a:extLst>
              <a:ext uri="{FF2B5EF4-FFF2-40B4-BE49-F238E27FC236}">
                <a16:creationId xmlns:a16="http://schemas.microsoft.com/office/drawing/2014/main" id="{749E12F4-4342-3C3E-9079-B3307750E3E4}"/>
              </a:ext>
            </a:extLst>
          </p:cNvPr>
          <p:cNvSpPr/>
          <p:nvPr/>
        </p:nvSpPr>
        <p:spPr>
          <a:xfrm>
            <a:off x="5242017" y="1905443"/>
            <a:ext cx="185812"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3A3F50"/>
              </a:solidFill>
              <a:effectLst/>
              <a:uLnTx/>
              <a:uFillTx/>
              <a:latin typeface="Arial"/>
              <a:ea typeface="+mn-ea"/>
              <a:cs typeface="+mn-cs"/>
            </a:endParaRPr>
          </a:p>
        </p:txBody>
      </p:sp>
      <p:sp>
        <p:nvSpPr>
          <p:cNvPr id="82" name="Rectangle 81">
            <a:extLst>
              <a:ext uri="{FF2B5EF4-FFF2-40B4-BE49-F238E27FC236}">
                <a16:creationId xmlns:a16="http://schemas.microsoft.com/office/drawing/2014/main" id="{67438D17-10C0-FAC8-D870-C879C7F7F91D}"/>
              </a:ext>
            </a:extLst>
          </p:cNvPr>
          <p:cNvSpPr/>
          <p:nvPr/>
        </p:nvSpPr>
        <p:spPr>
          <a:xfrm>
            <a:off x="1161553" y="4596719"/>
            <a:ext cx="1171251"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http response</a:t>
            </a:r>
          </a:p>
        </p:txBody>
      </p:sp>
      <p:sp>
        <p:nvSpPr>
          <p:cNvPr id="4" name="TextBox 3">
            <a:extLst>
              <a:ext uri="{FF2B5EF4-FFF2-40B4-BE49-F238E27FC236}">
                <a16:creationId xmlns:a16="http://schemas.microsoft.com/office/drawing/2014/main" id="{A52C98CD-B9D1-AC68-D56A-61C9FBB214A0}"/>
              </a:ext>
            </a:extLst>
          </p:cNvPr>
          <p:cNvSpPr txBox="1"/>
          <p:nvPr/>
        </p:nvSpPr>
        <p:spPr>
          <a:xfrm>
            <a:off x="9435714" y="5437522"/>
            <a:ext cx="192120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/demos/API/</a:t>
            </a:r>
            <a:r>
              <a:rPr kumimoji="0" lang="en-GB" sz="1200" b="0" i="0" u="none" strike="noStrike" kern="1200" cap="none" spc="0" normalizeH="0" baseline="0" noProof="0" dirty="0" err="1">
                <a:ln>
                  <a:noFill/>
                </a:ln>
                <a:solidFill>
                  <a:srgbClr val="FF0000"/>
                </a:solidFill>
                <a:effectLst/>
                <a:uLnTx/>
                <a:uFillTx/>
                <a:latin typeface="Arial"/>
                <a:ea typeface="+mn-ea"/>
                <a:cs typeface="+mn-cs"/>
              </a:rPr>
              <a:t>simpleAPI</a:t>
            </a: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p:txBody>
      </p:sp>
      <p:cxnSp>
        <p:nvCxnSpPr>
          <p:cNvPr id="40" name="Straight Arrow Connector 39">
            <a:extLst>
              <a:ext uri="{FF2B5EF4-FFF2-40B4-BE49-F238E27FC236}">
                <a16:creationId xmlns:a16="http://schemas.microsoft.com/office/drawing/2014/main" id="{D87EE26E-84DB-CC1C-639E-B2A141E6AC8E}"/>
              </a:ext>
            </a:extLst>
          </p:cNvPr>
          <p:cNvCxnSpPr>
            <a:cxnSpLocks/>
          </p:cNvCxnSpPr>
          <p:nvPr/>
        </p:nvCxnSpPr>
        <p:spPr>
          <a:xfrm>
            <a:off x="9041634" y="2132501"/>
            <a:ext cx="2427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354DDF5D-6E1D-FDBF-7F9F-4493BAFD816E}"/>
              </a:ext>
            </a:extLst>
          </p:cNvPr>
          <p:cNvSpPr/>
          <p:nvPr/>
        </p:nvSpPr>
        <p:spPr>
          <a:xfrm>
            <a:off x="4623628" y="1563709"/>
            <a:ext cx="743324"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req</a:t>
            </a:r>
            <a:r>
              <a:rPr kumimoji="0" lang="en-GB" sz="1200" b="0" i="0" u="none" strike="noStrike" kern="1200" cap="none" spc="0" normalizeH="0" baseline="0" noProof="0" dirty="0">
                <a:ln>
                  <a:noFill/>
                </a:ln>
                <a:solidFill>
                  <a:srgbClr val="3A3F50"/>
                </a:solidFill>
                <a:effectLst/>
                <a:uLnTx/>
                <a:uFillTx/>
                <a:latin typeface="Arial"/>
                <a:ea typeface="+mn-ea"/>
                <a:cs typeface="+mn-cs"/>
              </a:rPr>
              <a:t>, res</a:t>
            </a:r>
          </a:p>
        </p:txBody>
      </p:sp>
      <p:graphicFrame>
        <p:nvGraphicFramePr>
          <p:cNvPr id="8" name="Table 10">
            <a:extLst>
              <a:ext uri="{FF2B5EF4-FFF2-40B4-BE49-F238E27FC236}">
                <a16:creationId xmlns:a16="http://schemas.microsoft.com/office/drawing/2014/main" id="{F28CED8E-6213-0E81-3216-BE1992354764}"/>
              </a:ext>
            </a:extLst>
          </p:cNvPr>
          <p:cNvGraphicFramePr>
            <a:graphicFrameLocks noGrp="1"/>
          </p:cNvGraphicFramePr>
          <p:nvPr/>
        </p:nvGraphicFramePr>
        <p:xfrm>
          <a:off x="5597090" y="1425603"/>
          <a:ext cx="3444544" cy="2225040"/>
        </p:xfrm>
        <a:graphic>
          <a:graphicData uri="http://schemas.openxmlformats.org/drawingml/2006/table">
            <a:tbl>
              <a:tblPr firstRow="1" bandRow="1">
                <a:tableStyleId>{5C22544A-7EE6-4342-B048-85BDC9FD1C3A}</a:tableStyleId>
              </a:tblPr>
              <a:tblGrid>
                <a:gridCol w="1340920">
                  <a:extLst>
                    <a:ext uri="{9D8B030D-6E8A-4147-A177-3AD203B41FA5}">
                      <a16:colId xmlns:a16="http://schemas.microsoft.com/office/drawing/2014/main" val="856217269"/>
                    </a:ext>
                  </a:extLst>
                </a:gridCol>
                <a:gridCol w="788670">
                  <a:extLst>
                    <a:ext uri="{9D8B030D-6E8A-4147-A177-3AD203B41FA5}">
                      <a16:colId xmlns:a16="http://schemas.microsoft.com/office/drawing/2014/main" val="1849175920"/>
                    </a:ext>
                  </a:extLst>
                </a:gridCol>
                <a:gridCol w="1314954">
                  <a:extLst>
                    <a:ext uri="{9D8B030D-6E8A-4147-A177-3AD203B41FA5}">
                      <a16:colId xmlns:a16="http://schemas.microsoft.com/office/drawing/2014/main" val="2184233891"/>
                    </a:ext>
                  </a:extLst>
                </a:gridCol>
              </a:tblGrid>
              <a:tr h="141739">
                <a:tc gridSpan="3">
                  <a:txBody>
                    <a:bodyPr/>
                    <a:lstStyle/>
                    <a:p>
                      <a:pPr algn="ctr"/>
                      <a:r>
                        <a:rPr lang="en-GB" sz="1400" noProof="0" dirty="0"/>
                        <a:t>Middleware Stack</a:t>
                      </a:r>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60214791"/>
                  </a:ext>
                </a:extLst>
              </a:tr>
              <a:tr h="141739">
                <a:tc>
                  <a:txBody>
                    <a:bodyPr/>
                    <a:lstStyle/>
                    <a:p>
                      <a:r>
                        <a:rPr lang="en-GB" sz="1200" noProof="0" dirty="0"/>
                        <a:t>Path</a:t>
                      </a:r>
                    </a:p>
                  </a:txBody>
                  <a:tcPr/>
                </a:tc>
                <a:tc>
                  <a:txBody>
                    <a:bodyPr/>
                    <a:lstStyle/>
                    <a:p>
                      <a:r>
                        <a:rPr lang="en-GB" sz="1200" noProof="0" dirty="0"/>
                        <a:t>Method</a:t>
                      </a:r>
                    </a:p>
                  </a:txBody>
                  <a:tcPr/>
                </a:tc>
                <a:tc>
                  <a:txBody>
                    <a:bodyPr/>
                    <a:lstStyle/>
                    <a:p>
                      <a:r>
                        <a:rPr lang="en-GB" sz="1200" noProof="0" dirty="0"/>
                        <a:t>Reference</a:t>
                      </a:r>
                    </a:p>
                  </a:txBody>
                  <a:tcPr/>
                </a:tc>
                <a:extLst>
                  <a:ext uri="{0D108BD9-81ED-4DB2-BD59-A6C34878D82A}">
                    <a16:rowId xmlns:a16="http://schemas.microsoft.com/office/drawing/2014/main" val="2428388723"/>
                  </a:ext>
                </a:extLst>
              </a:tr>
              <a:tr h="141739">
                <a:tc>
                  <a:txBody>
                    <a:bodyPr/>
                    <a:lstStyle/>
                    <a:p>
                      <a:r>
                        <a:rPr lang="en-GB" sz="1200" noProof="0" dirty="0"/>
                        <a:t>'/'</a:t>
                      </a:r>
                    </a:p>
                  </a:txBody>
                  <a:tcPr/>
                </a:tc>
                <a:tc>
                  <a:txBody>
                    <a:bodyPr/>
                    <a:lstStyle/>
                    <a:p>
                      <a:r>
                        <a:rPr lang="en-GB" sz="1200" noProof="0" dirty="0"/>
                        <a:t>null</a:t>
                      </a:r>
                    </a:p>
                  </a:txBody>
                  <a:tcPr/>
                </a:tc>
                <a:tc>
                  <a:txBody>
                    <a:bodyPr/>
                    <a:lstStyle/>
                    <a:p>
                      <a:r>
                        <a:rPr lang="en-GB" sz="1200" noProof="0" dirty="0"/>
                        <a:t>.</a:t>
                      </a:r>
                      <a:r>
                        <a:rPr lang="en-GB" sz="1200" noProof="0" dirty="0" err="1"/>
                        <a:t>json</a:t>
                      </a:r>
                      <a:endParaRPr lang="en-GB" sz="1200" noProof="0" dirty="0"/>
                    </a:p>
                  </a:txBody>
                  <a:tcPr/>
                </a:tc>
                <a:extLst>
                  <a:ext uri="{0D108BD9-81ED-4DB2-BD59-A6C34878D82A}">
                    <a16:rowId xmlns:a16="http://schemas.microsoft.com/office/drawing/2014/main" val="2161089648"/>
                  </a:ext>
                </a:extLst>
              </a:tr>
              <a:tr h="141739">
                <a:tc>
                  <a:txBody>
                    <a:bodyPr/>
                    <a:lstStyle/>
                    <a:p>
                      <a:r>
                        <a:rPr lang="en-GB" sz="1200" noProof="0" dirty="0"/>
                        <a:t>'/'</a:t>
                      </a:r>
                    </a:p>
                  </a:txBody>
                  <a:tcPr/>
                </a:tc>
                <a:tc>
                  <a:txBody>
                    <a:bodyPr/>
                    <a:lstStyle/>
                    <a:p>
                      <a:r>
                        <a:rPr lang="en-GB" sz="1200" noProof="0" dirty="0"/>
                        <a:t>GET</a:t>
                      </a:r>
                    </a:p>
                  </a:txBody>
                  <a:tcPr/>
                </a:tc>
                <a:tc>
                  <a:txBody>
                    <a:bodyPr/>
                    <a:lstStyle/>
                    <a:p>
                      <a:r>
                        <a:rPr lang="en-GB" sz="1200" noProof="0" dirty="0" err="1"/>
                        <a:t>rootPath</a:t>
                      </a:r>
                      <a:endParaRPr lang="en-GB" sz="1200" noProof="0" dirty="0"/>
                    </a:p>
                  </a:txBody>
                  <a:tcPr/>
                </a:tc>
                <a:extLst>
                  <a:ext uri="{0D108BD9-81ED-4DB2-BD59-A6C34878D82A}">
                    <a16:rowId xmlns:a16="http://schemas.microsoft.com/office/drawing/2014/main" val="3938346699"/>
                  </a:ext>
                </a:extLst>
              </a:tr>
              <a:tr h="1417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200" noProof="0" dirty="0"/>
                        <a:t>'/results'</a:t>
                      </a:r>
                    </a:p>
                  </a:txBody>
                  <a:tcPr/>
                </a:tc>
                <a:tc>
                  <a:txBody>
                    <a:bodyPr/>
                    <a:lstStyle/>
                    <a:p>
                      <a:r>
                        <a:rPr lang="en-GB" sz="1200" noProof="0" dirty="0"/>
                        <a:t>GET</a:t>
                      </a:r>
                    </a:p>
                  </a:txBody>
                  <a:tcPr/>
                </a:tc>
                <a:tc>
                  <a:txBody>
                    <a:bodyPr/>
                    <a:lstStyle/>
                    <a:p>
                      <a:r>
                        <a:rPr lang="en-GB" sz="1200" noProof="0" dirty="0" err="1"/>
                        <a:t>allResults</a:t>
                      </a:r>
                      <a:endParaRPr lang="en-GB" sz="1200" noProof="0" dirty="0"/>
                    </a:p>
                  </a:txBody>
                  <a:tcPr/>
                </a:tc>
                <a:extLst>
                  <a:ext uri="{0D108BD9-81ED-4DB2-BD59-A6C34878D82A}">
                    <a16:rowId xmlns:a16="http://schemas.microsoft.com/office/drawing/2014/main" val="2864743982"/>
                  </a:ext>
                </a:extLst>
              </a:tr>
              <a:tr h="1417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200" noProof="0" dirty="0"/>
                        <a:t>'/results'</a:t>
                      </a:r>
                    </a:p>
                  </a:txBody>
                  <a:tcPr/>
                </a:tc>
                <a:tc>
                  <a:txBody>
                    <a:bodyPr/>
                    <a:lstStyle/>
                    <a:p>
                      <a:r>
                        <a:rPr lang="en-GB" sz="1200" noProof="0" dirty="0"/>
                        <a:t>POST</a:t>
                      </a:r>
                    </a:p>
                  </a:txBody>
                  <a:tcPr/>
                </a:tc>
                <a:tc>
                  <a:txBody>
                    <a:bodyPr/>
                    <a:lstStyle/>
                    <a:p>
                      <a:r>
                        <a:rPr lang="en-GB" sz="1200" noProof="0" dirty="0" err="1"/>
                        <a:t>addStudents</a:t>
                      </a:r>
                      <a:endParaRPr lang="en-GB" sz="1200" noProof="0" dirty="0"/>
                    </a:p>
                  </a:txBody>
                  <a:tcPr/>
                </a:tc>
                <a:extLst>
                  <a:ext uri="{0D108BD9-81ED-4DB2-BD59-A6C34878D82A}">
                    <a16:rowId xmlns:a16="http://schemas.microsoft.com/office/drawing/2014/main" val="495208510"/>
                  </a:ext>
                </a:extLst>
              </a:tr>
              <a:tr h="141739">
                <a:tc>
                  <a:txBody>
                    <a:bodyPr/>
                    <a:lstStyle/>
                    <a:p>
                      <a:r>
                        <a:rPr lang="en-GB" sz="1200" noProof="0" dirty="0"/>
                        <a:t>'/results/name'</a:t>
                      </a:r>
                    </a:p>
                  </a:txBody>
                  <a:tcPr/>
                </a:tc>
                <a:tc>
                  <a:txBody>
                    <a:bodyPr/>
                    <a:lstStyle/>
                    <a:p>
                      <a:r>
                        <a:rPr lang="en-GB" sz="1200" noProof="0" dirty="0"/>
                        <a:t>GET</a:t>
                      </a:r>
                    </a:p>
                  </a:txBody>
                  <a:tcPr/>
                </a:tc>
                <a:tc>
                  <a:txBody>
                    <a:bodyPr/>
                    <a:lstStyle/>
                    <a:p>
                      <a:r>
                        <a:rPr lang="en-GB" sz="1200" noProof="0" dirty="0" err="1"/>
                        <a:t>resultsByName</a:t>
                      </a:r>
                      <a:endParaRPr lang="en-GB" sz="1200" noProof="0" dirty="0"/>
                    </a:p>
                  </a:txBody>
                  <a:tcPr/>
                </a:tc>
                <a:extLst>
                  <a:ext uri="{0D108BD9-81ED-4DB2-BD59-A6C34878D82A}">
                    <a16:rowId xmlns:a16="http://schemas.microsoft.com/office/drawing/2014/main" val="1552324319"/>
                  </a:ext>
                </a:extLst>
              </a:tr>
              <a:tr h="141739">
                <a:tc>
                  <a:txBody>
                    <a:bodyPr/>
                    <a:lstStyle/>
                    <a:p>
                      <a:r>
                        <a:rPr lang="en-GB" sz="1200" noProof="0" dirty="0"/>
                        <a:t>'/results/:id'</a:t>
                      </a:r>
                    </a:p>
                  </a:txBody>
                  <a:tcPr/>
                </a:tc>
                <a:tc>
                  <a:txBody>
                    <a:bodyPr/>
                    <a:lstStyle/>
                    <a:p>
                      <a:r>
                        <a:rPr lang="en-GB" sz="1200" noProof="0" dirty="0"/>
                        <a:t>GET</a:t>
                      </a:r>
                    </a:p>
                  </a:txBody>
                  <a:tcPr/>
                </a:tc>
                <a:tc>
                  <a:txBody>
                    <a:bodyPr/>
                    <a:lstStyle/>
                    <a:p>
                      <a:r>
                        <a:rPr lang="en-GB" sz="1200" noProof="0" dirty="0" err="1"/>
                        <a:t>resultsById</a:t>
                      </a:r>
                      <a:endParaRPr lang="en-GB" sz="1200" noProof="0" dirty="0"/>
                    </a:p>
                  </a:txBody>
                  <a:tcPr/>
                </a:tc>
                <a:extLst>
                  <a:ext uri="{0D108BD9-81ED-4DB2-BD59-A6C34878D82A}">
                    <a16:rowId xmlns:a16="http://schemas.microsoft.com/office/drawing/2014/main" val="3404318733"/>
                  </a:ext>
                </a:extLst>
              </a:tr>
            </a:tbl>
          </a:graphicData>
        </a:graphic>
      </p:graphicFrame>
      <p:sp>
        <p:nvSpPr>
          <p:cNvPr id="9" name="Rectangle 8">
            <a:extLst>
              <a:ext uri="{FF2B5EF4-FFF2-40B4-BE49-F238E27FC236}">
                <a16:creationId xmlns:a16="http://schemas.microsoft.com/office/drawing/2014/main" id="{C9487CE1-27CF-6EF0-4344-ED95D2E6E6C5}"/>
              </a:ext>
            </a:extLst>
          </p:cNvPr>
          <p:cNvSpPr/>
          <p:nvPr/>
        </p:nvSpPr>
        <p:spPr>
          <a:xfrm>
            <a:off x="9310146" y="1973656"/>
            <a:ext cx="1574335"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t>
            </a:r>
            <a:r>
              <a:rPr kumimoji="0" lang="en-GB" sz="1200" b="0" i="0" u="none" strike="noStrike" kern="1200" cap="none" spc="0" normalizeH="0" baseline="0" noProof="0" dirty="0" err="1">
                <a:ln>
                  <a:noFill/>
                </a:ln>
                <a:solidFill>
                  <a:srgbClr val="3A3F50"/>
                </a:solidFill>
                <a:effectLst/>
                <a:uLnTx/>
                <a:uFillTx/>
                <a:latin typeface="Arial"/>
                <a:ea typeface="+mn-ea"/>
                <a:cs typeface="+mn-cs"/>
              </a:rPr>
              <a:t>json</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r>
              <a:rPr kumimoji="0" lang="en-GB" sz="1200" b="0" i="0" u="none" strike="noStrike" kern="1200" cap="none" spc="0" normalizeH="0" baseline="0" noProof="0" dirty="0" err="1">
                <a:ln>
                  <a:noFill/>
                </a:ln>
                <a:solidFill>
                  <a:srgbClr val="3A3F50"/>
                </a:solidFill>
                <a:effectLst/>
                <a:uLnTx/>
                <a:uFillTx/>
                <a:latin typeface="Arial"/>
                <a:ea typeface="+mn-ea"/>
                <a:cs typeface="+mn-cs"/>
              </a:rPr>
              <a:t>req,res,next</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sp>
        <p:nvSpPr>
          <p:cNvPr id="11" name="Rectangle 10">
            <a:extLst>
              <a:ext uri="{FF2B5EF4-FFF2-40B4-BE49-F238E27FC236}">
                <a16:creationId xmlns:a16="http://schemas.microsoft.com/office/drawing/2014/main" id="{CEA5FB9D-AA03-E08F-32BE-82E19DEDC7B6}"/>
              </a:ext>
            </a:extLst>
          </p:cNvPr>
          <p:cNvSpPr/>
          <p:nvPr/>
        </p:nvSpPr>
        <p:spPr>
          <a:xfrm>
            <a:off x="9310146" y="3066188"/>
            <a:ext cx="1921209"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resultsByName</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r>
              <a:rPr kumimoji="0" lang="en-GB" sz="1200" b="0" i="0" u="none" strike="noStrike" kern="1200" cap="none" spc="0" normalizeH="0" baseline="0" noProof="0" dirty="0" err="1">
                <a:ln>
                  <a:noFill/>
                </a:ln>
                <a:solidFill>
                  <a:srgbClr val="3A3F50"/>
                </a:solidFill>
                <a:effectLst/>
                <a:uLnTx/>
                <a:uFillTx/>
                <a:latin typeface="Arial"/>
                <a:ea typeface="+mn-ea"/>
                <a:cs typeface="+mn-cs"/>
              </a:rPr>
              <a:t>req,res</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spTree>
    <p:extLst>
      <p:ext uri="{BB962C8B-B14F-4D97-AF65-F5344CB8AC3E}">
        <p14:creationId xmlns:p14="http://schemas.microsoft.com/office/powerpoint/2010/main" val="2032983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AB40F7E-CA3C-D4E9-C124-600AD735CC0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190BFE7-F957-46EB-843C-D4A9F4AA6092}"/>
              </a:ext>
            </a:extLst>
          </p:cNvPr>
          <p:cNvSpPr>
            <a:spLocks noGrp="1"/>
          </p:cNvSpPr>
          <p:nvPr>
            <p:ph type="title"/>
          </p:nvPr>
        </p:nvSpPr>
        <p:spPr/>
        <p:txBody>
          <a:bodyPr/>
          <a:lstStyle/>
          <a:p>
            <a:r>
              <a:rPr lang="en-GB" noProof="0" dirty="0"/>
              <a:t>Express Middleware</a:t>
            </a:r>
          </a:p>
        </p:txBody>
      </p:sp>
      <p:sp>
        <p:nvSpPr>
          <p:cNvPr id="3" name="Text Placeholder 2">
            <a:extLst>
              <a:ext uri="{FF2B5EF4-FFF2-40B4-BE49-F238E27FC236}">
                <a16:creationId xmlns:a16="http://schemas.microsoft.com/office/drawing/2014/main" id="{72561B78-6F41-4309-B953-8E1A78FDD5BD}"/>
              </a:ext>
            </a:extLst>
          </p:cNvPr>
          <p:cNvSpPr>
            <a:spLocks noGrp="1"/>
          </p:cNvSpPr>
          <p:nvPr>
            <p:ph type="body" idx="1"/>
          </p:nvPr>
        </p:nvSpPr>
        <p:spPr>
          <a:xfrm>
            <a:off x="609600" y="1089368"/>
            <a:ext cx="11163300" cy="5092965"/>
          </a:xfrm>
        </p:spPr>
        <p:txBody>
          <a:bodyPr/>
          <a:lstStyle/>
          <a:p>
            <a:r>
              <a:rPr lang="en-GB" sz="1600" noProof="0" dirty="0"/>
              <a:t>Middleware in this context is basically functionality that you have written or library packages that can be added to a call list (middleware stack) and have access to </a:t>
            </a:r>
            <a:r>
              <a:rPr lang="en-GB" sz="1600" noProof="0" dirty="0" err="1"/>
              <a:t>req</a:t>
            </a:r>
            <a:r>
              <a:rPr lang="en-GB" sz="1600" noProof="0" dirty="0"/>
              <a:t> and res</a:t>
            </a:r>
          </a:p>
          <a:p>
            <a:r>
              <a:rPr lang="en-GB" sz="1600" noProof="0" dirty="0"/>
              <a:t>Middleware is added to the middleware stack, typically using </a:t>
            </a:r>
            <a:r>
              <a:rPr lang="en-GB" sz="1600" noProof="0" dirty="0" err="1"/>
              <a:t>app.use</a:t>
            </a:r>
            <a:r>
              <a:rPr lang="en-GB" sz="1600" noProof="0" dirty="0"/>
              <a:t>() to add a function to the middleware stack</a:t>
            </a:r>
          </a:p>
          <a:p>
            <a:r>
              <a:rPr lang="en-GB" sz="1600" noProof="0" dirty="0"/>
              <a:t>Middleware is called in the order it appears on the stack. If a middleware completes, e.g., </a:t>
            </a:r>
            <a:r>
              <a:rPr lang="en-GB" sz="1600" noProof="0" dirty="0" err="1"/>
              <a:t>res.send</a:t>
            </a:r>
            <a:r>
              <a:rPr lang="en-GB" sz="1600" noProof="0" dirty="0"/>
              <a:t>() none of the others are called. However, middleware functions, if they can't complete the job, or they do something </a:t>
            </a:r>
            <a:r>
              <a:rPr lang="en-GB" sz="1600" noProof="0" dirty="0" err="1"/>
              <a:t>en</a:t>
            </a:r>
            <a:r>
              <a:rPr lang="en-GB" sz="1600" noProof="0" dirty="0"/>
              <a:t>-route to an endpoint, maybe add some stuff to the </a:t>
            </a:r>
            <a:r>
              <a:rPr lang="en-GB" sz="1600" noProof="0" dirty="0" err="1"/>
              <a:t>req</a:t>
            </a:r>
            <a:r>
              <a:rPr lang="en-GB" sz="1600" noProof="0" dirty="0"/>
              <a:t> or response object they need to call next() to pass control to the next middleware in the list etc.</a:t>
            </a:r>
          </a:p>
          <a:p>
            <a:r>
              <a:rPr lang="en-GB" sz="1600" noProof="0" dirty="0"/>
              <a:t>We won't get involved in anything complicated but will add some middleware that gets called before our route for pre-processing then generally pass control to the route's callback function to complete with a </a:t>
            </a:r>
            <a:r>
              <a:rPr lang="en-GB" sz="1600" noProof="0" dirty="0" err="1"/>
              <a:t>res.send</a:t>
            </a:r>
            <a:r>
              <a:rPr lang="en-GB" sz="1600" noProof="0" dirty="0"/>
              <a:t>() or similar</a:t>
            </a:r>
          </a:p>
          <a:p>
            <a:r>
              <a:rPr lang="en-GB" sz="1600" noProof="0" dirty="0"/>
              <a:t>The middleware stack has middleware added to it in the order it appears in the source file so be wary of that</a:t>
            </a:r>
          </a:p>
          <a:p>
            <a:endParaRPr lang="en-GB" sz="1600" noProof="0" dirty="0"/>
          </a:p>
          <a:p>
            <a:endParaRPr lang="en-GB" sz="1600" noProof="0" dirty="0"/>
          </a:p>
          <a:p>
            <a:endParaRPr lang="en-GB" noProof="0" dirty="0"/>
          </a:p>
        </p:txBody>
      </p:sp>
      <p:sp>
        <p:nvSpPr>
          <p:cNvPr id="4" name="Slide Number Placeholder 3">
            <a:extLst>
              <a:ext uri="{FF2B5EF4-FFF2-40B4-BE49-F238E27FC236}">
                <a16:creationId xmlns:a16="http://schemas.microsoft.com/office/drawing/2014/main" id="{684772E3-69C9-4F8C-AA39-D5A1246682F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412390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1CA3D-D658-09B9-1B37-BCF61F4663D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D0C8B8C-356E-B04A-2E0C-FBD3D5FC12ED}"/>
              </a:ext>
            </a:extLst>
          </p:cNvPr>
          <p:cNvSpPr/>
          <p:nvPr/>
        </p:nvSpPr>
        <p:spPr>
          <a:xfrm>
            <a:off x="2042419" y="665138"/>
            <a:ext cx="9516193" cy="51824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67E79DE4-E954-C7D7-766C-2816DF6D090F}"/>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0E0192-C642-4D4F-AE82-A0D0DC02E26B}" type="slidenum">
              <a:rPr kumimoji="0" lang="en-GB" sz="1200" b="0" i="0" u="none" strike="noStrike" kern="1200" cap="none" spc="0" normalizeH="0" baseline="0" noProof="0" smtClean="0">
                <a:ln>
                  <a:noFill/>
                </a:ln>
                <a:solidFill>
                  <a:srgbClr val="3A3F5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srgbClr val="3A3F50">
                  <a:tint val="75000"/>
                </a:srgbClr>
              </a:solidFill>
              <a:effectLst/>
              <a:uLnTx/>
              <a:uFillTx/>
              <a:latin typeface="Arial"/>
              <a:ea typeface="+mn-ea"/>
              <a:cs typeface="+mn-cs"/>
            </a:endParaRPr>
          </a:p>
        </p:txBody>
      </p:sp>
      <p:sp>
        <p:nvSpPr>
          <p:cNvPr id="3" name="Rectangle 2">
            <a:extLst>
              <a:ext uri="{FF2B5EF4-FFF2-40B4-BE49-F238E27FC236}">
                <a16:creationId xmlns:a16="http://schemas.microsoft.com/office/drawing/2014/main" id="{17A91FE0-4306-E4ED-7535-14703FA1E45B}"/>
              </a:ext>
            </a:extLst>
          </p:cNvPr>
          <p:cNvSpPr/>
          <p:nvPr/>
        </p:nvSpPr>
        <p:spPr>
          <a:xfrm>
            <a:off x="353591" y="1128147"/>
            <a:ext cx="782189" cy="4669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Browser</a:t>
            </a:r>
          </a:p>
        </p:txBody>
      </p:sp>
      <p:sp>
        <p:nvSpPr>
          <p:cNvPr id="6" name="Flowchart: Decision 5">
            <a:extLst>
              <a:ext uri="{FF2B5EF4-FFF2-40B4-BE49-F238E27FC236}">
                <a16:creationId xmlns:a16="http://schemas.microsoft.com/office/drawing/2014/main" id="{F74F595D-FB68-7ABD-E19F-8BB868725116}"/>
              </a:ext>
            </a:extLst>
          </p:cNvPr>
          <p:cNvSpPr/>
          <p:nvPr/>
        </p:nvSpPr>
        <p:spPr>
          <a:xfrm>
            <a:off x="2998119" y="3272310"/>
            <a:ext cx="1072443" cy="798689"/>
          </a:xfrm>
          <a:prstGeom prst="flowChartDecision">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3000</a:t>
            </a:r>
          </a:p>
        </p:txBody>
      </p:sp>
      <p:sp>
        <p:nvSpPr>
          <p:cNvPr id="7" name="Rectangle 6">
            <a:extLst>
              <a:ext uri="{FF2B5EF4-FFF2-40B4-BE49-F238E27FC236}">
                <a16:creationId xmlns:a16="http://schemas.microsoft.com/office/drawing/2014/main" id="{8A9B8463-A46F-7C71-E9DB-A500FCAC4765}"/>
              </a:ext>
            </a:extLst>
          </p:cNvPr>
          <p:cNvSpPr/>
          <p:nvPr/>
        </p:nvSpPr>
        <p:spPr>
          <a:xfrm>
            <a:off x="2539880" y="1441872"/>
            <a:ext cx="1988922" cy="873664"/>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p:txBody>
      </p:sp>
      <p:graphicFrame>
        <p:nvGraphicFramePr>
          <p:cNvPr id="10" name="Table 10">
            <a:extLst>
              <a:ext uri="{FF2B5EF4-FFF2-40B4-BE49-F238E27FC236}">
                <a16:creationId xmlns:a16="http://schemas.microsoft.com/office/drawing/2014/main" id="{83306E03-7117-C36F-3967-77851C34074E}"/>
              </a:ext>
            </a:extLst>
          </p:cNvPr>
          <p:cNvGraphicFramePr>
            <a:graphicFrameLocks noGrp="1"/>
          </p:cNvGraphicFramePr>
          <p:nvPr/>
        </p:nvGraphicFramePr>
        <p:xfrm>
          <a:off x="5568065" y="1422742"/>
          <a:ext cx="3473569" cy="3230880"/>
        </p:xfrm>
        <a:graphic>
          <a:graphicData uri="http://schemas.openxmlformats.org/drawingml/2006/table">
            <a:tbl>
              <a:tblPr firstRow="1" bandRow="1">
                <a:tableStyleId>{5C22544A-7EE6-4342-B048-85BDC9FD1C3A}</a:tableStyleId>
              </a:tblPr>
              <a:tblGrid>
                <a:gridCol w="1157856">
                  <a:extLst>
                    <a:ext uri="{9D8B030D-6E8A-4147-A177-3AD203B41FA5}">
                      <a16:colId xmlns:a16="http://schemas.microsoft.com/office/drawing/2014/main" val="856217269"/>
                    </a:ext>
                  </a:extLst>
                </a:gridCol>
                <a:gridCol w="689951">
                  <a:extLst>
                    <a:ext uri="{9D8B030D-6E8A-4147-A177-3AD203B41FA5}">
                      <a16:colId xmlns:a16="http://schemas.microsoft.com/office/drawing/2014/main" val="1849175920"/>
                    </a:ext>
                  </a:extLst>
                </a:gridCol>
                <a:gridCol w="1625762">
                  <a:extLst>
                    <a:ext uri="{9D8B030D-6E8A-4147-A177-3AD203B41FA5}">
                      <a16:colId xmlns:a16="http://schemas.microsoft.com/office/drawing/2014/main" val="2184233891"/>
                    </a:ext>
                  </a:extLst>
                </a:gridCol>
              </a:tblGrid>
              <a:tr h="141739">
                <a:tc gridSpan="3">
                  <a:txBody>
                    <a:bodyPr/>
                    <a:lstStyle/>
                    <a:p>
                      <a:pPr algn="ctr"/>
                      <a:r>
                        <a:rPr lang="en-GB" sz="1400" noProof="0" dirty="0"/>
                        <a:t>Middleware Stack</a:t>
                      </a:r>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60214791"/>
                  </a:ext>
                </a:extLst>
              </a:tr>
              <a:tr h="141739">
                <a:tc>
                  <a:txBody>
                    <a:bodyPr/>
                    <a:lstStyle/>
                    <a:p>
                      <a:r>
                        <a:rPr lang="en-GB" sz="1200" noProof="0" dirty="0"/>
                        <a:t>Path</a:t>
                      </a:r>
                    </a:p>
                  </a:txBody>
                  <a:tcPr/>
                </a:tc>
                <a:tc>
                  <a:txBody>
                    <a:bodyPr/>
                    <a:lstStyle/>
                    <a:p>
                      <a:r>
                        <a:rPr lang="en-GB" sz="1200" noProof="0" dirty="0"/>
                        <a:t>Method</a:t>
                      </a:r>
                    </a:p>
                  </a:txBody>
                  <a:tcPr/>
                </a:tc>
                <a:tc>
                  <a:txBody>
                    <a:bodyPr/>
                    <a:lstStyle/>
                    <a:p>
                      <a:r>
                        <a:rPr lang="en-GB" sz="1200" noProof="0" dirty="0"/>
                        <a:t>Reference</a:t>
                      </a:r>
                    </a:p>
                  </a:txBody>
                  <a:tcPr/>
                </a:tc>
                <a:extLst>
                  <a:ext uri="{0D108BD9-81ED-4DB2-BD59-A6C34878D82A}">
                    <a16:rowId xmlns:a16="http://schemas.microsoft.com/office/drawing/2014/main" val="2428388723"/>
                  </a:ext>
                </a:extLst>
              </a:tr>
              <a:tr h="141739">
                <a:tc>
                  <a:txBody>
                    <a:bodyPr/>
                    <a:lstStyle/>
                    <a:p>
                      <a:r>
                        <a:rPr lang="en-GB" sz="1200" noProof="0" dirty="0"/>
                        <a:t>'/'</a:t>
                      </a:r>
                    </a:p>
                  </a:txBody>
                  <a:tcPr/>
                </a:tc>
                <a:tc>
                  <a:txBody>
                    <a:bodyPr/>
                    <a:lstStyle/>
                    <a:p>
                      <a:r>
                        <a:rPr lang="en-GB" sz="1200" noProof="0" dirty="0"/>
                        <a:t>null</a:t>
                      </a:r>
                    </a:p>
                  </a:txBody>
                  <a:tcPr/>
                </a:tc>
                <a:tc>
                  <a:txBody>
                    <a:bodyPr/>
                    <a:lstStyle/>
                    <a:p>
                      <a:r>
                        <a:rPr lang="en-GB" sz="1200" noProof="0" dirty="0" err="1"/>
                        <a:t>checkPassword</a:t>
                      </a:r>
                      <a:endParaRPr lang="en-GB" sz="1200" noProof="0" dirty="0"/>
                    </a:p>
                  </a:txBody>
                  <a:tcPr/>
                </a:tc>
                <a:extLst>
                  <a:ext uri="{0D108BD9-81ED-4DB2-BD59-A6C34878D82A}">
                    <a16:rowId xmlns:a16="http://schemas.microsoft.com/office/drawing/2014/main" val="2161089648"/>
                  </a:ext>
                </a:extLst>
              </a:tr>
              <a:tr h="141739">
                <a:tc>
                  <a:txBody>
                    <a:bodyPr/>
                    <a:lstStyle/>
                    <a:p>
                      <a:r>
                        <a:rPr lang="en-GB" sz="1200" noProof="0" dirty="0"/>
                        <a:t>'/'</a:t>
                      </a:r>
                    </a:p>
                  </a:txBody>
                  <a:tcPr/>
                </a:tc>
                <a:tc>
                  <a:txBody>
                    <a:bodyPr/>
                    <a:lstStyle/>
                    <a:p>
                      <a:r>
                        <a:rPr lang="en-GB" sz="1200" noProof="0" dirty="0"/>
                        <a:t>null</a:t>
                      </a:r>
                    </a:p>
                  </a:txBody>
                  <a:tcPr/>
                </a:tc>
                <a:tc>
                  <a:txBody>
                    <a:bodyPr/>
                    <a:lstStyle/>
                    <a:p>
                      <a:r>
                        <a:rPr lang="en-GB" sz="1200" noProof="0" dirty="0"/>
                        <a:t>logger</a:t>
                      </a:r>
                    </a:p>
                  </a:txBody>
                  <a:tcPr/>
                </a:tc>
                <a:extLst>
                  <a:ext uri="{0D108BD9-81ED-4DB2-BD59-A6C34878D82A}">
                    <a16:rowId xmlns:a16="http://schemas.microsoft.com/office/drawing/2014/main" val="3938346699"/>
                  </a:ext>
                </a:extLst>
              </a:tr>
              <a:tr h="1417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200" noProof="0" dirty="0"/>
                        <a:t>'/'</a:t>
                      </a:r>
                    </a:p>
                  </a:txBody>
                  <a:tcPr/>
                </a:tc>
                <a:tc>
                  <a:txBody>
                    <a:bodyPr/>
                    <a:lstStyle/>
                    <a:p>
                      <a:r>
                        <a:rPr lang="en-GB" sz="1200" noProof="0" dirty="0"/>
                        <a:t>null</a:t>
                      </a:r>
                    </a:p>
                  </a:txBody>
                  <a:tcPr/>
                </a:tc>
                <a:tc>
                  <a:txBody>
                    <a:bodyPr/>
                    <a:lstStyle/>
                    <a:p>
                      <a:r>
                        <a:rPr lang="en-GB" sz="1200" noProof="0" dirty="0" err="1"/>
                        <a:t>putOnly</a:t>
                      </a:r>
                      <a:endParaRPr lang="en-GB" sz="1200" noProof="0" dirty="0"/>
                    </a:p>
                  </a:txBody>
                  <a:tcPr/>
                </a:tc>
                <a:extLst>
                  <a:ext uri="{0D108BD9-81ED-4DB2-BD59-A6C34878D82A}">
                    <a16:rowId xmlns:a16="http://schemas.microsoft.com/office/drawing/2014/main" val="2864743982"/>
                  </a:ext>
                </a:extLst>
              </a:tr>
              <a:tr h="1417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200" noProof="0" dirty="0"/>
                        <a:t>'/'</a:t>
                      </a:r>
                    </a:p>
                  </a:txBody>
                  <a:tcPr/>
                </a:tc>
                <a:tc>
                  <a:txBody>
                    <a:bodyPr/>
                    <a:lstStyle/>
                    <a:p>
                      <a:r>
                        <a:rPr lang="en-GB" sz="1200" noProof="0" dirty="0"/>
                        <a:t>null</a:t>
                      </a:r>
                    </a:p>
                  </a:txBody>
                  <a:tcPr/>
                </a:tc>
                <a:tc>
                  <a:txBody>
                    <a:bodyPr/>
                    <a:lstStyle/>
                    <a:p>
                      <a:r>
                        <a:rPr lang="en-GB" sz="1200" noProof="0" dirty="0"/>
                        <a:t>anonymous</a:t>
                      </a:r>
                    </a:p>
                  </a:txBody>
                  <a:tcPr/>
                </a:tc>
                <a:extLst>
                  <a:ext uri="{0D108BD9-81ED-4DB2-BD59-A6C34878D82A}">
                    <a16:rowId xmlns:a16="http://schemas.microsoft.com/office/drawing/2014/main" val="495208510"/>
                  </a:ext>
                </a:extLst>
              </a:tr>
              <a:tr h="141739">
                <a:tc>
                  <a:txBody>
                    <a:bodyPr/>
                    <a:lstStyle/>
                    <a:p>
                      <a:r>
                        <a:rPr lang="en-GB" sz="1200" noProof="0" dirty="0"/>
                        <a:t>'/'</a:t>
                      </a:r>
                    </a:p>
                  </a:txBody>
                  <a:tcPr/>
                </a:tc>
                <a:tc>
                  <a:txBody>
                    <a:bodyPr/>
                    <a:lstStyle/>
                    <a:p>
                      <a:r>
                        <a:rPr lang="en-GB" sz="1200" noProof="0" dirty="0"/>
                        <a:t>GET</a:t>
                      </a:r>
                    </a:p>
                  </a:txBody>
                  <a:tcPr/>
                </a:tc>
                <a:tc>
                  <a:txBody>
                    <a:bodyPr/>
                    <a:lstStyle/>
                    <a:p>
                      <a:r>
                        <a:rPr lang="en-GB" sz="1200" noProof="0" dirty="0"/>
                        <a:t>anonym ref</a:t>
                      </a:r>
                    </a:p>
                  </a:txBody>
                  <a:tcPr/>
                </a:tc>
                <a:extLst>
                  <a:ext uri="{0D108BD9-81ED-4DB2-BD59-A6C34878D82A}">
                    <a16:rowId xmlns:a16="http://schemas.microsoft.com/office/drawing/2014/main" val="1552324319"/>
                  </a:ext>
                </a:extLst>
              </a:tr>
              <a:tr h="141739">
                <a:tc>
                  <a:txBody>
                    <a:bodyPr/>
                    <a:lstStyle/>
                    <a:p>
                      <a:r>
                        <a:rPr lang="en-GB" sz="1200" noProof="0" dirty="0"/>
                        <a:t>'/login'</a:t>
                      </a:r>
                    </a:p>
                  </a:txBody>
                  <a:tcPr/>
                </a:tc>
                <a:tc>
                  <a:txBody>
                    <a:bodyPr/>
                    <a:lstStyle/>
                    <a:p>
                      <a:r>
                        <a:rPr lang="en-GB" sz="1200" noProof="0" dirty="0"/>
                        <a:t>GET</a:t>
                      </a:r>
                    </a:p>
                  </a:txBody>
                  <a:tcPr/>
                </a:tc>
                <a:tc>
                  <a:txBody>
                    <a:bodyPr/>
                    <a:lstStyle/>
                    <a:p>
                      <a:r>
                        <a:rPr lang="en-GB" sz="1200" noProof="0" dirty="0"/>
                        <a:t>anonym ref</a:t>
                      </a:r>
                    </a:p>
                  </a:txBody>
                  <a:tcPr/>
                </a:tc>
                <a:extLst>
                  <a:ext uri="{0D108BD9-81ED-4DB2-BD59-A6C34878D82A}">
                    <a16:rowId xmlns:a16="http://schemas.microsoft.com/office/drawing/2014/main" val="3404318733"/>
                  </a:ext>
                </a:extLst>
              </a:tr>
              <a:tr h="141739">
                <a:tc>
                  <a:txBody>
                    <a:bodyPr/>
                    <a:lstStyle/>
                    <a:p>
                      <a:r>
                        <a:rPr lang="en-GB" sz="1200" noProof="0" dirty="0"/>
                        <a:t>'/name/:name'</a:t>
                      </a:r>
                    </a:p>
                  </a:txBody>
                  <a:tcPr/>
                </a:tc>
                <a:tc>
                  <a:txBody>
                    <a:bodyPr/>
                    <a:lstStyle/>
                    <a:p>
                      <a:r>
                        <a:rPr lang="en-GB" sz="1200" noProof="0" dirty="0"/>
                        <a:t>PUT</a:t>
                      </a:r>
                    </a:p>
                  </a:txBody>
                  <a:tcPr/>
                </a:tc>
                <a:tc>
                  <a:txBody>
                    <a:bodyPr/>
                    <a:lstStyle/>
                    <a:p>
                      <a:r>
                        <a:rPr lang="en-GB" sz="1200" noProof="0" dirty="0" err="1"/>
                        <a:t>logParam</a:t>
                      </a:r>
                      <a:endParaRPr lang="en-GB" sz="1200" noProof="0" dirty="0"/>
                    </a:p>
                    <a:p>
                      <a:r>
                        <a:rPr lang="en-GB" sz="1200" noProof="0" dirty="0"/>
                        <a:t>anonym ref</a:t>
                      </a:r>
                    </a:p>
                  </a:txBody>
                  <a:tcPr/>
                </a:tc>
                <a:extLst>
                  <a:ext uri="{0D108BD9-81ED-4DB2-BD59-A6C34878D82A}">
                    <a16:rowId xmlns:a16="http://schemas.microsoft.com/office/drawing/2014/main" val="638160206"/>
                  </a:ext>
                </a:extLst>
              </a:tr>
              <a:tr h="141739">
                <a:tc>
                  <a:txBody>
                    <a:bodyPr/>
                    <a:lstStyle/>
                    <a:p>
                      <a:r>
                        <a:rPr lang="en-GB" sz="1200" noProof="0" dirty="0"/>
                        <a:t>*</a:t>
                      </a:r>
                    </a:p>
                  </a:txBody>
                  <a:tcPr/>
                </a:tc>
                <a:tc>
                  <a:txBody>
                    <a:bodyPr/>
                    <a:lstStyle/>
                    <a:p>
                      <a:r>
                        <a:rPr lang="en-GB" sz="1200" noProof="0" dirty="0"/>
                        <a:t>POST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200" noProof="0" dirty="0"/>
                        <a:t>anonym ref</a:t>
                      </a:r>
                    </a:p>
                  </a:txBody>
                  <a:tcPr/>
                </a:tc>
                <a:extLst>
                  <a:ext uri="{0D108BD9-81ED-4DB2-BD59-A6C34878D82A}">
                    <a16:rowId xmlns:a16="http://schemas.microsoft.com/office/drawing/2014/main" val="3788634698"/>
                  </a:ext>
                </a:extLst>
              </a:tr>
              <a:tr h="141739">
                <a:tc>
                  <a:txBody>
                    <a:bodyPr/>
                    <a:lstStyle/>
                    <a:p>
                      <a:r>
                        <a:rPr lang="en-GB" sz="1200" noProof="0" dirty="0"/>
                        <a:t>*</a:t>
                      </a:r>
                    </a:p>
                  </a:txBody>
                  <a:tcPr/>
                </a:tc>
                <a:tc>
                  <a:txBody>
                    <a:bodyPr/>
                    <a:lstStyle/>
                    <a:p>
                      <a:r>
                        <a:rPr lang="en-GB" sz="1200" noProof="0" dirty="0"/>
                        <a:t>null</a:t>
                      </a:r>
                    </a:p>
                  </a:txBody>
                  <a:tcPr/>
                </a:tc>
                <a:tc>
                  <a:txBody>
                    <a:bodyPr/>
                    <a:lstStyle/>
                    <a:p>
                      <a:r>
                        <a:rPr lang="en-GB" sz="1200" noProof="0" dirty="0"/>
                        <a:t>Anonym ref</a:t>
                      </a:r>
                    </a:p>
                  </a:txBody>
                  <a:tcPr/>
                </a:tc>
                <a:extLst>
                  <a:ext uri="{0D108BD9-81ED-4DB2-BD59-A6C34878D82A}">
                    <a16:rowId xmlns:a16="http://schemas.microsoft.com/office/drawing/2014/main" val="4271306169"/>
                  </a:ext>
                </a:extLst>
              </a:tr>
            </a:tbl>
          </a:graphicData>
        </a:graphic>
      </p:graphicFrame>
      <p:sp>
        <p:nvSpPr>
          <p:cNvPr id="21" name="Rectangle 20">
            <a:extLst>
              <a:ext uri="{FF2B5EF4-FFF2-40B4-BE49-F238E27FC236}">
                <a16:creationId xmlns:a16="http://schemas.microsoft.com/office/drawing/2014/main" id="{ED69B485-9125-87C8-D209-AD82A68DEB26}"/>
              </a:ext>
            </a:extLst>
          </p:cNvPr>
          <p:cNvSpPr/>
          <p:nvPr/>
        </p:nvSpPr>
        <p:spPr>
          <a:xfrm>
            <a:off x="9284373" y="3625418"/>
            <a:ext cx="1921209"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logParam</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r>
              <a:rPr kumimoji="0" lang="en-GB" sz="1200" b="0" i="0" u="none" strike="noStrike" kern="1200" cap="none" spc="0" normalizeH="0" baseline="0" noProof="0" dirty="0" err="1">
                <a:ln>
                  <a:noFill/>
                </a:ln>
                <a:solidFill>
                  <a:srgbClr val="3A3F50"/>
                </a:solidFill>
                <a:effectLst/>
                <a:uLnTx/>
                <a:uFillTx/>
                <a:latin typeface="Arial"/>
                <a:ea typeface="+mn-ea"/>
                <a:cs typeface="+mn-cs"/>
              </a:rPr>
              <a:t>req,res,next</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cxnSp>
        <p:nvCxnSpPr>
          <p:cNvPr id="26" name="Straight Arrow Connector 25">
            <a:extLst>
              <a:ext uri="{FF2B5EF4-FFF2-40B4-BE49-F238E27FC236}">
                <a16:creationId xmlns:a16="http://schemas.microsoft.com/office/drawing/2014/main" id="{FBE2FDF1-4716-BA28-4914-DB213D14A64A}"/>
              </a:ext>
            </a:extLst>
          </p:cNvPr>
          <p:cNvCxnSpPr>
            <a:cxnSpLocks/>
            <a:stCxn id="7" idx="3"/>
          </p:cNvCxnSpPr>
          <p:nvPr/>
        </p:nvCxnSpPr>
        <p:spPr>
          <a:xfrm>
            <a:off x="4528802" y="1878704"/>
            <a:ext cx="10682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EE871A2-005B-4FF4-BC32-B91C6E0B12E7}"/>
              </a:ext>
            </a:extLst>
          </p:cNvPr>
          <p:cNvCxnSpPr>
            <a:cxnSpLocks/>
          </p:cNvCxnSpPr>
          <p:nvPr/>
        </p:nvCxnSpPr>
        <p:spPr>
          <a:xfrm>
            <a:off x="9041634" y="3772173"/>
            <a:ext cx="2427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9DED8F7-169E-12B4-014B-BEFD4C31EC5F}"/>
              </a:ext>
            </a:extLst>
          </p:cNvPr>
          <p:cNvCxnSpPr>
            <a:cxnSpLocks/>
            <a:stCxn id="21" idx="2"/>
          </p:cNvCxnSpPr>
          <p:nvPr/>
        </p:nvCxnSpPr>
        <p:spPr>
          <a:xfrm flipH="1">
            <a:off x="10244977" y="3918930"/>
            <a:ext cx="1" cy="1007301"/>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614F6FF-39D2-D514-129E-A3C996C0AA24}"/>
              </a:ext>
            </a:extLst>
          </p:cNvPr>
          <p:cNvCxnSpPr>
            <a:cxnSpLocks/>
          </p:cNvCxnSpPr>
          <p:nvPr/>
        </p:nvCxnSpPr>
        <p:spPr>
          <a:xfrm>
            <a:off x="1135780" y="3671655"/>
            <a:ext cx="18623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1180ECD-6B87-46A1-1A8C-386134598E46}"/>
              </a:ext>
            </a:extLst>
          </p:cNvPr>
          <p:cNvCxnSpPr>
            <a:cxnSpLocks/>
          </p:cNvCxnSpPr>
          <p:nvPr/>
        </p:nvCxnSpPr>
        <p:spPr>
          <a:xfrm flipH="1">
            <a:off x="1161553" y="4915456"/>
            <a:ext cx="908342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D69EE34-3E72-4FC3-A9BF-D968F7A57EF1}"/>
              </a:ext>
            </a:extLst>
          </p:cNvPr>
          <p:cNvCxnSpPr>
            <a:cxnSpLocks/>
            <a:stCxn id="6" idx="0"/>
            <a:endCxn id="7" idx="2"/>
          </p:cNvCxnSpPr>
          <p:nvPr/>
        </p:nvCxnSpPr>
        <p:spPr>
          <a:xfrm flipV="1">
            <a:off x="3534341" y="2315536"/>
            <a:ext cx="0" cy="9567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25A1ED59-2F8F-C982-C1E3-2C56064B942B}"/>
              </a:ext>
            </a:extLst>
          </p:cNvPr>
          <p:cNvSpPr/>
          <p:nvPr/>
        </p:nvSpPr>
        <p:spPr>
          <a:xfrm>
            <a:off x="1060763" y="3427042"/>
            <a:ext cx="1072442" cy="1983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...:3000/</a:t>
            </a:r>
            <a:r>
              <a:rPr kumimoji="0" lang="en-GB" sz="1200" b="0" i="0" u="none" strike="noStrike" kern="1200" cap="none" spc="0" normalizeH="0" baseline="0" noProof="0" dirty="0" err="1">
                <a:ln>
                  <a:noFill/>
                </a:ln>
                <a:solidFill>
                  <a:srgbClr val="3A3F50"/>
                </a:solidFill>
                <a:effectLst/>
                <a:uLnTx/>
                <a:uFillTx/>
                <a:latin typeface="Arial"/>
                <a:ea typeface="+mn-ea"/>
                <a:cs typeface="+mn-cs"/>
              </a:rPr>
              <a:t>jim</a:t>
            </a: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p:txBody>
      </p:sp>
      <p:sp>
        <p:nvSpPr>
          <p:cNvPr id="64" name="Rectangle 63">
            <a:extLst>
              <a:ext uri="{FF2B5EF4-FFF2-40B4-BE49-F238E27FC236}">
                <a16:creationId xmlns:a16="http://schemas.microsoft.com/office/drawing/2014/main" id="{99266410-E15D-A2CA-81C8-0E9935D05BA1}"/>
              </a:ext>
            </a:extLst>
          </p:cNvPr>
          <p:cNvSpPr/>
          <p:nvPr/>
        </p:nvSpPr>
        <p:spPr>
          <a:xfrm>
            <a:off x="3051087" y="2930460"/>
            <a:ext cx="559809"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sp>
        <p:nvSpPr>
          <p:cNvPr id="65" name="Rectangle 64">
            <a:extLst>
              <a:ext uri="{FF2B5EF4-FFF2-40B4-BE49-F238E27FC236}">
                <a16:creationId xmlns:a16="http://schemas.microsoft.com/office/drawing/2014/main" id="{6D51C9AD-EE6C-7181-1E49-1DBAF2C28965}"/>
              </a:ext>
            </a:extLst>
          </p:cNvPr>
          <p:cNvSpPr/>
          <p:nvPr/>
        </p:nvSpPr>
        <p:spPr>
          <a:xfrm>
            <a:off x="2655544" y="1433531"/>
            <a:ext cx="1804769" cy="9117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req</a:t>
            </a:r>
            <a:r>
              <a:rPr kumimoji="0" lang="en-GB" sz="1200" b="0" i="0" u="none" strike="noStrike" kern="1200" cap="none" spc="0" normalizeH="0" baseline="0" noProof="0" dirty="0">
                <a:ln>
                  <a:noFill/>
                </a:ln>
                <a:solidFill>
                  <a:srgbClr val="3A3F50"/>
                </a:solidFill>
                <a:effectLst/>
                <a:uLnTx/>
                <a:uFillTx/>
                <a:latin typeface="Arial"/>
                <a:ea typeface="+mn-ea"/>
                <a:cs typeface="+mn-cs"/>
              </a:rPr>
              <a:t> </a:t>
            </a:r>
            <a:r>
              <a:rPr kumimoji="0" lang="en-GB" sz="1200" b="0" i="0" u="none" strike="noStrike" kern="1200" cap="none" spc="0" normalizeH="0" baseline="0" noProof="0" dirty="0" err="1">
                <a:ln>
                  <a:noFill/>
                </a:ln>
                <a:solidFill>
                  <a:srgbClr val="3A3F50"/>
                </a:solidFill>
                <a:effectLst/>
                <a:uLnTx/>
                <a:uFillTx/>
                <a:latin typeface="Arial"/>
                <a:ea typeface="+mn-ea"/>
                <a:cs typeface="+mn-cs"/>
              </a:rPr>
              <a:t>obj</a:t>
            </a:r>
            <a:r>
              <a:rPr kumimoji="0" lang="en-GB" sz="1200" b="0" i="0" u="none" strike="noStrike" kern="1200" cap="none" spc="0" normalizeH="0" baseline="0" noProof="0" dirty="0">
                <a:ln>
                  <a:noFill/>
                </a:ln>
                <a:solidFill>
                  <a:srgbClr val="3A3F50"/>
                </a:solidFill>
                <a:effectLst/>
                <a:uLnTx/>
                <a:uFillTx/>
                <a:latin typeface="Arial"/>
                <a:ea typeface="+mn-ea"/>
                <a:cs typeface="+mn-cs"/>
              </a:rPr>
              <a:t> assigned parsed </a:t>
            </a:r>
            <a:r>
              <a:rPr kumimoji="0" lang="en-GB" sz="1200" b="0" i="0" u="none" strike="noStrike" kern="1200" cap="none" spc="0" normalizeH="0" baseline="0" noProof="0" dirty="0" err="1">
                <a:ln>
                  <a:noFill/>
                </a:ln>
                <a:solidFill>
                  <a:srgbClr val="3A3F50"/>
                </a:solidFill>
                <a:effectLst/>
                <a:uLnTx/>
                <a:uFillTx/>
                <a:latin typeface="Arial"/>
                <a:ea typeface="+mn-ea"/>
                <a:cs typeface="+mn-cs"/>
              </a:rPr>
              <a:t>url,headers</a:t>
            </a:r>
            <a:r>
              <a:rPr kumimoji="0" lang="en-GB" sz="1200" b="0" i="0" u="none" strike="noStrike" kern="1200" cap="none" spc="0" normalizeH="0" baseline="0" noProof="0" dirty="0">
                <a:ln>
                  <a:noFill/>
                </a:ln>
                <a:solidFill>
                  <a:srgbClr val="3A3F50"/>
                </a:solidFill>
                <a:effectLst/>
                <a:uLnTx/>
                <a:uFillTx/>
                <a:latin typeface="Arial"/>
                <a:ea typeface="+mn-ea"/>
                <a:cs typeface="+mn-cs"/>
              </a:rPr>
              <a:t>, method and more (not body)</a:t>
            </a:r>
          </a:p>
        </p:txBody>
      </p:sp>
      <p:sp>
        <p:nvSpPr>
          <p:cNvPr id="66" name="Arrow: Right 65">
            <a:extLst>
              <a:ext uri="{FF2B5EF4-FFF2-40B4-BE49-F238E27FC236}">
                <a16:creationId xmlns:a16="http://schemas.microsoft.com/office/drawing/2014/main" id="{FC35C895-B81A-3230-4466-F7DF5D0B6FDF}"/>
              </a:ext>
            </a:extLst>
          </p:cNvPr>
          <p:cNvSpPr/>
          <p:nvPr/>
        </p:nvSpPr>
        <p:spPr>
          <a:xfrm rot="5400000">
            <a:off x="4340238" y="3103068"/>
            <a:ext cx="2091012" cy="191952"/>
          </a:xfrm>
          <a:prstGeom prst="right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E3338A67-D05B-576A-EA76-23807CE2A854}"/>
              </a:ext>
            </a:extLst>
          </p:cNvPr>
          <p:cNvSpPr/>
          <p:nvPr/>
        </p:nvSpPr>
        <p:spPr>
          <a:xfrm rot="5400000">
            <a:off x="4746653" y="2998176"/>
            <a:ext cx="901074" cy="155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search</a:t>
            </a:r>
          </a:p>
        </p:txBody>
      </p:sp>
      <p:sp>
        <p:nvSpPr>
          <p:cNvPr id="83" name="Rectangle 82">
            <a:extLst>
              <a:ext uri="{FF2B5EF4-FFF2-40B4-BE49-F238E27FC236}">
                <a16:creationId xmlns:a16="http://schemas.microsoft.com/office/drawing/2014/main" id="{B6D353F4-2F5C-A3AB-55C7-1A4E85A2C475}"/>
              </a:ext>
            </a:extLst>
          </p:cNvPr>
          <p:cNvSpPr/>
          <p:nvPr/>
        </p:nvSpPr>
        <p:spPr>
          <a:xfrm rot="16200000">
            <a:off x="1226796" y="2074151"/>
            <a:ext cx="1337732"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Express</a:t>
            </a:r>
          </a:p>
        </p:txBody>
      </p:sp>
      <p:sp>
        <p:nvSpPr>
          <p:cNvPr id="87" name="Rectangle 86">
            <a:extLst>
              <a:ext uri="{FF2B5EF4-FFF2-40B4-BE49-F238E27FC236}">
                <a16:creationId xmlns:a16="http://schemas.microsoft.com/office/drawing/2014/main" id="{5DC47E2B-4EF0-BBCD-1C42-4F4B2AFA4BAE}"/>
              </a:ext>
            </a:extLst>
          </p:cNvPr>
          <p:cNvSpPr/>
          <p:nvPr/>
        </p:nvSpPr>
        <p:spPr>
          <a:xfrm>
            <a:off x="5242017" y="1905443"/>
            <a:ext cx="185812"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3A3F50"/>
              </a:solidFill>
              <a:effectLst/>
              <a:uLnTx/>
              <a:uFillTx/>
              <a:latin typeface="Arial"/>
              <a:ea typeface="+mn-ea"/>
              <a:cs typeface="+mn-cs"/>
            </a:endParaRPr>
          </a:p>
        </p:txBody>
      </p:sp>
      <p:sp>
        <p:nvSpPr>
          <p:cNvPr id="82" name="Rectangle 81">
            <a:extLst>
              <a:ext uri="{FF2B5EF4-FFF2-40B4-BE49-F238E27FC236}">
                <a16:creationId xmlns:a16="http://schemas.microsoft.com/office/drawing/2014/main" id="{53831A9A-075A-F992-E511-4DC00E88552C}"/>
              </a:ext>
            </a:extLst>
          </p:cNvPr>
          <p:cNvSpPr/>
          <p:nvPr/>
        </p:nvSpPr>
        <p:spPr>
          <a:xfrm>
            <a:off x="2016646" y="4672396"/>
            <a:ext cx="1171251"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http response</a:t>
            </a:r>
          </a:p>
        </p:txBody>
      </p:sp>
      <p:sp>
        <p:nvSpPr>
          <p:cNvPr id="4" name="TextBox 3">
            <a:extLst>
              <a:ext uri="{FF2B5EF4-FFF2-40B4-BE49-F238E27FC236}">
                <a16:creationId xmlns:a16="http://schemas.microsoft.com/office/drawing/2014/main" id="{04D25380-2136-4F69-DB1F-A3A8B44B4C4D}"/>
              </a:ext>
            </a:extLst>
          </p:cNvPr>
          <p:cNvSpPr txBox="1"/>
          <p:nvPr/>
        </p:nvSpPr>
        <p:spPr>
          <a:xfrm>
            <a:off x="9133032" y="5437522"/>
            <a:ext cx="222389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/demos/API/middleware-intro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/demos/API/middleware</a:t>
            </a:r>
          </a:p>
        </p:txBody>
      </p:sp>
      <p:sp>
        <p:nvSpPr>
          <p:cNvPr id="39" name="Rectangle 38">
            <a:extLst>
              <a:ext uri="{FF2B5EF4-FFF2-40B4-BE49-F238E27FC236}">
                <a16:creationId xmlns:a16="http://schemas.microsoft.com/office/drawing/2014/main" id="{A98C2E84-15DD-1518-703C-98C241AB67FD}"/>
              </a:ext>
            </a:extLst>
          </p:cNvPr>
          <p:cNvSpPr/>
          <p:nvPr/>
        </p:nvSpPr>
        <p:spPr>
          <a:xfrm>
            <a:off x="9284373" y="1985745"/>
            <a:ext cx="2223892" cy="293512"/>
          </a:xfrm>
          <a:prstGeom prst="rect">
            <a:avLst/>
          </a:prstGeom>
          <a:solidFill>
            <a:srgbClr val="CBE5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checkPasword</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r>
              <a:rPr kumimoji="0" lang="en-GB" sz="1200" b="0" i="0" u="none" strike="noStrike" kern="1200" cap="none" spc="0" normalizeH="0" baseline="0" noProof="0" dirty="0" err="1">
                <a:ln>
                  <a:noFill/>
                </a:ln>
                <a:solidFill>
                  <a:srgbClr val="3A3F50"/>
                </a:solidFill>
                <a:effectLst/>
                <a:uLnTx/>
                <a:uFillTx/>
                <a:latin typeface="Arial"/>
                <a:ea typeface="+mn-ea"/>
                <a:cs typeface="+mn-cs"/>
              </a:rPr>
              <a:t>req,res,next</a:t>
            </a: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cxnSp>
        <p:nvCxnSpPr>
          <p:cNvPr id="40" name="Straight Arrow Connector 39">
            <a:extLst>
              <a:ext uri="{FF2B5EF4-FFF2-40B4-BE49-F238E27FC236}">
                <a16:creationId xmlns:a16="http://schemas.microsoft.com/office/drawing/2014/main" id="{4347A2C1-2A57-C931-D207-AAE77781F3AA}"/>
              </a:ext>
            </a:extLst>
          </p:cNvPr>
          <p:cNvCxnSpPr>
            <a:cxnSpLocks/>
            <a:endCxn id="39" idx="1"/>
          </p:cNvCxnSpPr>
          <p:nvPr/>
        </p:nvCxnSpPr>
        <p:spPr>
          <a:xfrm>
            <a:off x="9041634" y="2132501"/>
            <a:ext cx="24273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F0814FC-ABE4-7AB4-8F25-B5CB1DB17E9D}"/>
              </a:ext>
            </a:extLst>
          </p:cNvPr>
          <p:cNvSpPr/>
          <p:nvPr/>
        </p:nvSpPr>
        <p:spPr>
          <a:xfrm>
            <a:off x="4623628" y="1563709"/>
            <a:ext cx="743324" cy="293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3A3F50"/>
                </a:solidFill>
                <a:effectLst/>
                <a:uLnTx/>
                <a:uFillTx/>
                <a:latin typeface="Arial"/>
                <a:ea typeface="+mn-ea"/>
                <a:cs typeface="+mn-cs"/>
              </a:rPr>
              <a:t>req</a:t>
            </a:r>
            <a:r>
              <a:rPr kumimoji="0" lang="en-GB" sz="1200" b="0" i="0" u="none" strike="noStrike" kern="1200" cap="none" spc="0" normalizeH="0" baseline="0" noProof="0" dirty="0">
                <a:ln>
                  <a:noFill/>
                </a:ln>
                <a:solidFill>
                  <a:srgbClr val="3A3F50"/>
                </a:solidFill>
                <a:effectLst/>
                <a:uLnTx/>
                <a:uFillTx/>
                <a:latin typeface="Arial"/>
                <a:ea typeface="+mn-ea"/>
                <a:cs typeface="+mn-cs"/>
              </a:rPr>
              <a:t>, res</a:t>
            </a:r>
          </a:p>
        </p:txBody>
      </p:sp>
    </p:spTree>
    <p:extLst>
      <p:ext uri="{BB962C8B-B14F-4D97-AF65-F5344CB8AC3E}">
        <p14:creationId xmlns:p14="http://schemas.microsoft.com/office/powerpoint/2010/main" val="11108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26DA-1F34-C658-DCC8-BBD8EFB0D8B3}"/>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7FF37AD9-0C42-5DF4-78DA-22E466D313D8}"/>
              </a:ext>
            </a:extLst>
          </p:cNvPr>
          <p:cNvSpPr>
            <a:spLocks noGrp="1"/>
          </p:cNvSpPr>
          <p:nvPr>
            <p:ph type="body" idx="1"/>
          </p:nvPr>
        </p:nvSpPr>
        <p:spPr>
          <a:xfrm>
            <a:off x="609600" y="1089368"/>
            <a:ext cx="11163300" cy="5387632"/>
          </a:xfrm>
        </p:spPr>
        <p:txBody>
          <a:bodyPr/>
          <a:lstStyle/>
          <a:p>
            <a:r>
              <a:rPr lang="en-GB" noProof="0" dirty="0"/>
              <a:t>The middleware functions appear on the stack in the order they are defined</a:t>
            </a:r>
          </a:p>
          <a:p>
            <a:r>
              <a:rPr lang="en-GB" noProof="0" dirty="0"/>
              <a:t>Each is checked in order and if they don't terminate, call next to keep the search going</a:t>
            </a:r>
          </a:p>
          <a:p>
            <a:r>
              <a:rPr lang="en-GB" noProof="0" dirty="0"/>
              <a:t>The </a:t>
            </a:r>
            <a:r>
              <a:rPr lang="en-GB" noProof="0" dirty="0" err="1"/>
              <a:t>putOnly</a:t>
            </a:r>
            <a:r>
              <a:rPr lang="en-GB" noProof="0" dirty="0"/>
              <a:t> middleware isn't special, it is called for all methods but the called function only responds if the method it PUT</a:t>
            </a:r>
          </a:p>
          <a:p>
            <a:r>
              <a:rPr lang="en-GB" noProof="0" dirty="0" err="1"/>
              <a:t>app.use</a:t>
            </a:r>
            <a:r>
              <a:rPr lang="en-GB" noProof="0" dirty="0"/>
              <a:t>('/login', </a:t>
            </a:r>
            <a:r>
              <a:rPr lang="en-GB" noProof="0" dirty="0" err="1"/>
              <a:t>checkPassword</a:t>
            </a:r>
            <a:r>
              <a:rPr lang="en-GB" noProof="0" dirty="0"/>
              <a:t>) example, adds </a:t>
            </a:r>
            <a:r>
              <a:rPr lang="en-GB" noProof="0" dirty="0" err="1"/>
              <a:t>checkPassword</a:t>
            </a:r>
            <a:r>
              <a:rPr lang="en-GB" noProof="0" dirty="0"/>
              <a:t> to the /login route for ALL methods</a:t>
            </a:r>
          </a:p>
          <a:p>
            <a:r>
              <a:rPr lang="en-GB" noProof="0" dirty="0"/>
              <a:t>The /name/:name is different. As the middleware only applies to it explicitly, i.e. PUT /name/:name, it is added into the stack array element object and called before the path and on completion calls the route function by calling next(). There could be any number of these middleware functions passed as parameters in the path and they will be stacked in order from left to right</a:t>
            </a:r>
          </a:p>
          <a:p>
            <a:endParaRPr lang="en-GB" noProof="0" dirty="0"/>
          </a:p>
          <a:p>
            <a:r>
              <a:rPr lang="en-GB" noProof="0" dirty="0"/>
              <a:t>The middleware can modify the content of the request and response objects that it passes on</a:t>
            </a:r>
          </a:p>
          <a:p>
            <a:pPr lvl="1"/>
            <a:endParaRPr lang="en-GB" noProof="0" dirty="0"/>
          </a:p>
        </p:txBody>
      </p:sp>
      <p:sp>
        <p:nvSpPr>
          <p:cNvPr id="4" name="Slide Number Placeholder 3">
            <a:extLst>
              <a:ext uri="{FF2B5EF4-FFF2-40B4-BE49-F238E27FC236}">
                <a16:creationId xmlns:a16="http://schemas.microsoft.com/office/drawing/2014/main" id="{3AC96B75-913C-FD97-FD19-810A66B3D2F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70797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2888</Words>
  <Application>Microsoft Office PowerPoint</Application>
  <PresentationFormat>Widescreen</PresentationFormat>
  <Paragraphs>286</Paragraphs>
  <Slides>21</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Aptos</vt:lpstr>
      <vt:lpstr>Aptos Display</vt:lpstr>
      <vt:lpstr>Arial</vt:lpstr>
      <vt:lpstr>Calibri</vt:lpstr>
      <vt:lpstr>Courier New</vt:lpstr>
      <vt:lpstr>Raleway Thin</vt:lpstr>
      <vt:lpstr>Office Theme</vt:lpstr>
      <vt:lpstr>Gaoler template</vt:lpstr>
      <vt:lpstr>PowerPoint Presentation</vt:lpstr>
      <vt:lpstr>Consolidation point</vt:lpstr>
      <vt:lpstr>PowerPoint Presentation</vt:lpstr>
      <vt:lpstr>PowerPoint Presentation</vt:lpstr>
      <vt:lpstr>Data encoding</vt:lpstr>
      <vt:lpstr>PowerPoint Presentation</vt:lpstr>
      <vt:lpstr>HTML Form</vt:lpstr>
      <vt:lpstr>JavaScript Message Handling</vt:lpstr>
      <vt:lpstr>PowerPoint Presentation</vt:lpstr>
      <vt:lpstr>Asynchronous approaches</vt:lpstr>
      <vt:lpstr>Promises</vt:lpstr>
      <vt:lpstr>PowerPoint Presentation</vt:lpstr>
      <vt:lpstr>Async /Await</vt:lpstr>
      <vt:lpstr>PowerPoint Presentation</vt:lpstr>
      <vt:lpstr>PowerPoint Presentation</vt:lpstr>
      <vt:lpstr>Promise Practical Use-case</vt:lpstr>
      <vt:lpstr>Express and Middleware</vt:lpstr>
      <vt:lpstr>PowerPoint Presentation</vt:lpstr>
      <vt:lpstr>Express Middleware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Antony John Nicol (School of Engineering and Computing)</dc:creator>
  <cp:lastModifiedBy>Antony John Nicol (School of Engineering and Computing)</cp:lastModifiedBy>
  <cp:revision>1</cp:revision>
  <dcterms:created xsi:type="dcterms:W3CDTF">2026-04-21T19:03:55Z</dcterms:created>
  <dcterms:modified xsi:type="dcterms:W3CDTF">2026-04-21T19:05:43Z</dcterms:modified>
</cp:coreProperties>
</file>