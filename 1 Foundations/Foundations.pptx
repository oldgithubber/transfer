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6"/>
  </p:notesMasterIdLst>
  <p:sldIdLst>
    <p:sldId id="256" r:id="rId3"/>
    <p:sldId id="274" r:id="rId4"/>
    <p:sldId id="1873" r:id="rId5"/>
    <p:sldId id="852" r:id="rId6"/>
    <p:sldId id="854" r:id="rId7"/>
    <p:sldId id="853" r:id="rId8"/>
    <p:sldId id="855" r:id="rId9"/>
    <p:sldId id="856" r:id="rId10"/>
    <p:sldId id="1876" r:id="rId11"/>
    <p:sldId id="857" r:id="rId12"/>
    <p:sldId id="858" r:id="rId13"/>
    <p:sldId id="1877" r:id="rId14"/>
    <p:sldId id="861" r:id="rId15"/>
    <p:sldId id="862" r:id="rId16"/>
    <p:sldId id="1872" r:id="rId17"/>
    <p:sldId id="860" r:id="rId18"/>
    <p:sldId id="865" r:id="rId19"/>
    <p:sldId id="866" r:id="rId20"/>
    <p:sldId id="867" r:id="rId21"/>
    <p:sldId id="563" r:id="rId22"/>
    <p:sldId id="574" r:id="rId23"/>
    <p:sldId id="1878" r:id="rId24"/>
    <p:sldId id="869" r:id="rId25"/>
    <p:sldId id="1850" r:id="rId26"/>
    <p:sldId id="259" r:id="rId27"/>
    <p:sldId id="267" r:id="rId28"/>
    <p:sldId id="357" r:id="rId29"/>
    <p:sldId id="268" r:id="rId30"/>
    <p:sldId id="356" r:id="rId31"/>
    <p:sldId id="363" r:id="rId32"/>
    <p:sldId id="367" r:id="rId33"/>
    <p:sldId id="365" r:id="rId34"/>
    <p:sldId id="36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111" d="100"/>
          <a:sy n="111" d="100"/>
        </p:scale>
        <p:origin x="71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D09478-8A36-4E03-8134-A082792BF048}" type="datetimeFigureOut">
              <a:rPr lang="en-GB" smtClean="0"/>
              <a:t>08/03/2026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FD543D-F20C-4242-9E9C-68844B1F957A}" type="slidenum">
              <a:rPr lang="en-GB" smtClean="0"/>
              <a:t>‹#›</a:t>
            </a:fld>
            <a:endParaRPr lang="en-GB"/>
          </a:p>
        </p:txBody>
      </p:sp>
    </p:spTree>
    <p:extLst>
      <p:ext uri="{BB962C8B-B14F-4D97-AF65-F5344CB8AC3E}">
        <p14:creationId xmlns:p14="http://schemas.microsoft.com/office/powerpoint/2010/main" val="3678287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2815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have a front-end UI and a back-end in a data centre to run the service and connect to it via the internet</a:t>
            </a:r>
          </a:p>
          <a:p>
            <a:r>
              <a:rPr lang="en-GB" dirty="0"/>
              <a:t>This is fundamentally the same approach to any web-based application such as a shopping site. You request information, carry out actions, update data</a:t>
            </a:r>
          </a:p>
          <a:p>
            <a:r>
              <a:rPr lang="en-GB" dirty="0"/>
              <a:t>We need hardware and software to implement this - in this session I'll focus on hardware and first</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E0F958A-7F0B-4FC4-997D-E121C04EDAE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06565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convert the octal value </a:t>
            </a:r>
            <a:r>
              <a:rPr lang="en-US" b="1" dirty="0"/>
              <a:t>2345.67₈</a:t>
            </a:r>
            <a:r>
              <a:rPr lang="en-US" dirty="0"/>
              <a:t> into decimal</a:t>
            </a:r>
          </a:p>
          <a:p>
            <a:endParaRPr lang="en-GB" dirty="0"/>
          </a:p>
          <a:p>
            <a:r>
              <a:rPr lang="en-US" dirty="0"/>
              <a:t>Octal digits represent powers of 8:</a:t>
            </a:r>
          </a:p>
          <a:p>
            <a:r>
              <a:rPr lang="en-US" dirty="0"/>
              <a:t>2\times 8^3=2\times 512=1024</a:t>
            </a:r>
          </a:p>
          <a:p>
            <a:r>
              <a:rPr lang="en-US" dirty="0"/>
              <a:t>3\times 8^2=3\times 64=192</a:t>
            </a:r>
          </a:p>
          <a:p>
            <a:r>
              <a:rPr lang="en-US" dirty="0"/>
              <a:t>4\times 8^1=4\times 8=32</a:t>
            </a:r>
          </a:p>
          <a:p>
            <a:r>
              <a:rPr lang="en-US" dirty="0"/>
              <a:t>5\times 8^0=5\times 1=5</a:t>
            </a:r>
          </a:p>
          <a:p>
            <a:r>
              <a:rPr lang="en-US" b="1" dirty="0"/>
              <a:t>Integer total:</a:t>
            </a:r>
            <a:endParaRPr lang="en-US" dirty="0"/>
          </a:p>
          <a:p>
            <a:r>
              <a:rPr lang="en-US" dirty="0"/>
              <a:t>1024+192+32+5=1253</a:t>
            </a:r>
          </a:p>
          <a:p>
            <a:endParaRPr lang="en-US" dirty="0"/>
          </a:p>
          <a:p>
            <a:r>
              <a:rPr lang="en-US" dirty="0"/>
              <a:t>Fractional</a:t>
            </a:r>
          </a:p>
          <a:p>
            <a:r>
              <a:rPr lang="en-US" dirty="0"/>
              <a:t>6/8+7/64 = 0.859375</a:t>
            </a:r>
          </a:p>
          <a:p>
            <a:endParaRPr lang="en-GB" dirty="0"/>
          </a:p>
          <a:p>
            <a:r>
              <a:rPr lang="en-US" b="1" dirty="0"/>
              <a:t>2345.67₈ = 1253.859375</a:t>
            </a:r>
            <a:r>
              <a:rPr lang="en-US" b="1" baseline="-25000" dirty="0"/>
              <a:t>10</a:t>
            </a:r>
          </a:p>
          <a:p>
            <a:endParaRPr lang="en-US" b="1" baseline="-25000" dirty="0"/>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03517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uasm64.exe /c /Fl /Sa ./</a:t>
            </a:r>
            <a:r>
              <a:rPr lang="en-GB" dirty="0" err="1"/>
              <a:t>asmsrc</a:t>
            </a:r>
            <a:r>
              <a:rPr lang="en-GB" dirty="0"/>
              <a:t>/demo.asm</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1815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E0F958A-7F0B-4FC4-997D-E121C04EDAE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7049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753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D:\VMs\Vmware\ubuntu22</a:t>
            </a:r>
          </a:p>
          <a:p>
            <a:endParaRPr lang="en-GB" dirty="0"/>
          </a:p>
          <a:p>
            <a:r>
              <a:rPr lang="en-GB" dirty="0"/>
              <a:t>Show creation of a new one using windows iso on D</a:t>
            </a:r>
          </a:p>
          <a:p>
            <a:r>
              <a:rPr lang="en-GB" dirty="0"/>
              <a:t>Kill it when up to language</a:t>
            </a:r>
          </a:p>
          <a:p>
            <a:r>
              <a:rPr lang="en-GB" dirty="0"/>
              <a:t>Show ubuntu and windows working as </a:t>
            </a:r>
            <a:r>
              <a:rPr lang="en-GB" dirty="0" err="1"/>
              <a:t>vms</a:t>
            </a:r>
            <a:endParaRPr lang="en-GB" dirty="0"/>
          </a:p>
          <a:p>
            <a:r>
              <a:rPr lang="en-GB" dirty="0"/>
              <a:t>Shut ubuntu down - copy files and install second VM</a:t>
            </a:r>
          </a:p>
          <a:p>
            <a:r>
              <a:rPr lang="en-GB" dirty="0"/>
              <a:t>Show all 3 and win 11 al working together and reference the diagram</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7650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E0F958A-7F0B-4FC4-997D-E121C04EDAE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00065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Explain that on-prem is the same as cloud except for asset ownership</a:t>
            </a:r>
          </a:p>
          <a:p>
            <a:r>
              <a:rPr lang="en-GB" dirty="0"/>
              <a:t>We are moving to avoid cap-ex and enable elasticity and pass some of the responsibility for buying and setting to work the servers and networking to the cloud provider</a:t>
            </a:r>
          </a:p>
          <a:p>
            <a:r>
              <a:rPr lang="en-GB" dirty="0"/>
              <a:t>We need less infrastructure experts and no need t pay for hardware refresh every 4-5 years</a:t>
            </a:r>
          </a:p>
          <a:p>
            <a:r>
              <a:rPr lang="en-GB" dirty="0"/>
              <a:t>Cloud hosts provide many services including databases, storage, etc Many services low level services, the ones we will cover work pretty much the same in all cloud environments but many are proprietary so are not transferrable across cloud providers so we are said to suffer vendor lock-in. On the other hand, proprietary services are designed to work well together as the are designed by the same company – e.g. </a:t>
            </a:r>
            <a:r>
              <a:rPr lang="en-GB" dirty="0" err="1"/>
              <a:t>powerBI</a:t>
            </a:r>
            <a:r>
              <a:rPr lang="en-GB" dirty="0"/>
              <a:t> and Microsoft fabric. </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E0F958A-7F0B-4FC4-997D-E121C04EDAE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2928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9864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DOn't</a:t>
            </a:r>
            <a:r>
              <a:rPr lang="en-GB" dirty="0"/>
              <a:t> want to have to pay for 448 vCPUs when we only need 1 or 2</a:t>
            </a:r>
          </a:p>
          <a:p>
            <a:r>
              <a:rPr lang="en-GB" dirty="0" err="1"/>
              <a:t>lswh</a:t>
            </a:r>
            <a:endParaRPr lang="en-GB" dirty="0"/>
          </a:p>
          <a:p>
            <a:r>
              <a:rPr lang="en-GB" dirty="0" err="1"/>
              <a:t>lsb_release</a:t>
            </a:r>
            <a:r>
              <a:rPr lang="en-GB" dirty="0"/>
              <a:t> -a</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E0F958A-7F0B-4FC4-997D-E121C04EDAE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86741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7596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Azure or AWS - both do more or less the same things in the same ways. I'll not use both to avoid confusion. Azure is best for managing the free account</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8255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913844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71137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3B92A4-5827-4F0C-917B-AA63754F031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5228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9374F-11A0-D0E0-9023-DEE4D8FA077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5384F250-476A-107F-706B-67A558CB2F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65FCF8ED-82CC-9A0C-09AB-3454BBD7DC85}"/>
              </a:ext>
            </a:extLst>
          </p:cNvPr>
          <p:cNvSpPr>
            <a:spLocks noGrp="1"/>
          </p:cNvSpPr>
          <p:nvPr>
            <p:ph type="dt" sz="half" idx="10"/>
          </p:nvPr>
        </p:nvSpPr>
        <p:spPr/>
        <p:txBody>
          <a:bodyPr/>
          <a:lstStyle/>
          <a:p>
            <a:fld id="{A1BC3F94-355B-4EB0-95CF-088A569A00D0}" type="datetimeFigureOut">
              <a:rPr lang="en-GB" smtClean="0"/>
              <a:t>08/03/2026</a:t>
            </a:fld>
            <a:endParaRPr lang="en-GB"/>
          </a:p>
        </p:txBody>
      </p:sp>
      <p:sp>
        <p:nvSpPr>
          <p:cNvPr id="5" name="Footer Placeholder 4">
            <a:extLst>
              <a:ext uri="{FF2B5EF4-FFF2-40B4-BE49-F238E27FC236}">
                <a16:creationId xmlns:a16="http://schemas.microsoft.com/office/drawing/2014/main" id="{BA6AAA9D-228E-737C-0D73-CCB33E5A691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B58FB7-0CD9-792B-A44F-6081C74AF4A8}"/>
              </a:ext>
            </a:extLst>
          </p:cNvPr>
          <p:cNvSpPr>
            <a:spLocks noGrp="1"/>
          </p:cNvSpPr>
          <p:nvPr>
            <p:ph type="sldNum" sz="quarter" idx="12"/>
          </p:nvPr>
        </p:nvSpPr>
        <p:spPr/>
        <p:txBody>
          <a:bodyPr/>
          <a:lstStyle/>
          <a:p>
            <a:fld id="{14DEA20C-5E25-479A-833E-5C0D6EFFA74D}" type="slidenum">
              <a:rPr lang="en-GB" smtClean="0"/>
              <a:t>‹#›</a:t>
            </a:fld>
            <a:endParaRPr lang="en-GB"/>
          </a:p>
        </p:txBody>
      </p:sp>
    </p:spTree>
    <p:extLst>
      <p:ext uri="{BB962C8B-B14F-4D97-AF65-F5344CB8AC3E}">
        <p14:creationId xmlns:p14="http://schemas.microsoft.com/office/powerpoint/2010/main" val="2156003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2AE33-F6CC-2860-A5C2-55BEC79F2EA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2DA7E893-EC9C-BF6B-6131-759A0EB836F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4E5266E-CCA6-1C99-FC51-617BAD42F1AE}"/>
              </a:ext>
            </a:extLst>
          </p:cNvPr>
          <p:cNvSpPr>
            <a:spLocks noGrp="1"/>
          </p:cNvSpPr>
          <p:nvPr>
            <p:ph type="dt" sz="half" idx="10"/>
          </p:nvPr>
        </p:nvSpPr>
        <p:spPr/>
        <p:txBody>
          <a:bodyPr/>
          <a:lstStyle/>
          <a:p>
            <a:fld id="{A1BC3F94-355B-4EB0-95CF-088A569A00D0}" type="datetimeFigureOut">
              <a:rPr lang="en-GB" smtClean="0"/>
              <a:t>08/03/2026</a:t>
            </a:fld>
            <a:endParaRPr lang="en-GB"/>
          </a:p>
        </p:txBody>
      </p:sp>
      <p:sp>
        <p:nvSpPr>
          <p:cNvPr id="5" name="Footer Placeholder 4">
            <a:extLst>
              <a:ext uri="{FF2B5EF4-FFF2-40B4-BE49-F238E27FC236}">
                <a16:creationId xmlns:a16="http://schemas.microsoft.com/office/drawing/2014/main" id="{4F1648E6-7C24-44BB-2CA0-3AF78D2F632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C059F5B-88B4-A5C6-EBE6-8AA558501001}"/>
              </a:ext>
            </a:extLst>
          </p:cNvPr>
          <p:cNvSpPr>
            <a:spLocks noGrp="1"/>
          </p:cNvSpPr>
          <p:nvPr>
            <p:ph type="sldNum" sz="quarter" idx="12"/>
          </p:nvPr>
        </p:nvSpPr>
        <p:spPr/>
        <p:txBody>
          <a:bodyPr/>
          <a:lstStyle/>
          <a:p>
            <a:fld id="{14DEA20C-5E25-479A-833E-5C0D6EFFA74D}" type="slidenum">
              <a:rPr lang="en-GB" smtClean="0"/>
              <a:t>‹#›</a:t>
            </a:fld>
            <a:endParaRPr lang="en-GB"/>
          </a:p>
        </p:txBody>
      </p:sp>
    </p:spTree>
    <p:extLst>
      <p:ext uri="{BB962C8B-B14F-4D97-AF65-F5344CB8AC3E}">
        <p14:creationId xmlns:p14="http://schemas.microsoft.com/office/powerpoint/2010/main" val="2602810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10CD1-9E42-B031-D31E-BD2FBA703F2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90C80E81-8E34-F301-D6D5-7F9BD0B528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D12CE94-F53F-9D46-139D-389EF78F7CDC}"/>
              </a:ext>
            </a:extLst>
          </p:cNvPr>
          <p:cNvSpPr>
            <a:spLocks noGrp="1"/>
          </p:cNvSpPr>
          <p:nvPr>
            <p:ph type="dt" sz="half" idx="10"/>
          </p:nvPr>
        </p:nvSpPr>
        <p:spPr/>
        <p:txBody>
          <a:bodyPr/>
          <a:lstStyle/>
          <a:p>
            <a:fld id="{A1BC3F94-355B-4EB0-95CF-088A569A00D0}" type="datetimeFigureOut">
              <a:rPr lang="en-GB" smtClean="0"/>
              <a:t>08/03/2026</a:t>
            </a:fld>
            <a:endParaRPr lang="en-GB"/>
          </a:p>
        </p:txBody>
      </p:sp>
      <p:sp>
        <p:nvSpPr>
          <p:cNvPr id="5" name="Footer Placeholder 4">
            <a:extLst>
              <a:ext uri="{FF2B5EF4-FFF2-40B4-BE49-F238E27FC236}">
                <a16:creationId xmlns:a16="http://schemas.microsoft.com/office/drawing/2014/main" id="{119D242E-E6A1-E143-6FF5-339B2066FE4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BDDC96-25C3-164A-9C25-18EA5A806EC9}"/>
              </a:ext>
            </a:extLst>
          </p:cNvPr>
          <p:cNvSpPr>
            <a:spLocks noGrp="1"/>
          </p:cNvSpPr>
          <p:nvPr>
            <p:ph type="sldNum" sz="quarter" idx="12"/>
          </p:nvPr>
        </p:nvSpPr>
        <p:spPr/>
        <p:txBody>
          <a:bodyPr/>
          <a:lstStyle/>
          <a:p>
            <a:fld id="{14DEA20C-5E25-479A-833E-5C0D6EFFA74D}" type="slidenum">
              <a:rPr lang="en-GB" smtClean="0"/>
              <a:t>‹#›</a:t>
            </a:fld>
            <a:endParaRPr lang="en-GB"/>
          </a:p>
        </p:txBody>
      </p:sp>
    </p:spTree>
    <p:extLst>
      <p:ext uri="{BB962C8B-B14F-4D97-AF65-F5344CB8AC3E}">
        <p14:creationId xmlns:p14="http://schemas.microsoft.com/office/powerpoint/2010/main" val="3144112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405BD-5CA7-D799-EF4C-8D580ED08B3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2E8C592-8D9D-F366-6706-04A64C25007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F857844-2F90-6D0B-7676-629D0205EC3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08F4F353-2F16-7F46-0ADC-22A0C1796121}"/>
              </a:ext>
            </a:extLst>
          </p:cNvPr>
          <p:cNvSpPr>
            <a:spLocks noGrp="1"/>
          </p:cNvSpPr>
          <p:nvPr>
            <p:ph type="dt" sz="half" idx="10"/>
          </p:nvPr>
        </p:nvSpPr>
        <p:spPr/>
        <p:txBody>
          <a:bodyPr/>
          <a:lstStyle/>
          <a:p>
            <a:fld id="{A1BC3F94-355B-4EB0-95CF-088A569A00D0}" type="datetimeFigureOut">
              <a:rPr lang="en-GB" smtClean="0"/>
              <a:t>08/03/2026</a:t>
            </a:fld>
            <a:endParaRPr lang="en-GB"/>
          </a:p>
        </p:txBody>
      </p:sp>
      <p:sp>
        <p:nvSpPr>
          <p:cNvPr id="6" name="Footer Placeholder 5">
            <a:extLst>
              <a:ext uri="{FF2B5EF4-FFF2-40B4-BE49-F238E27FC236}">
                <a16:creationId xmlns:a16="http://schemas.microsoft.com/office/drawing/2014/main" id="{145F1140-2714-0CDE-CB88-377F0C40CCC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A79D849-14A9-888D-7B7D-80E414EE537A}"/>
              </a:ext>
            </a:extLst>
          </p:cNvPr>
          <p:cNvSpPr>
            <a:spLocks noGrp="1"/>
          </p:cNvSpPr>
          <p:nvPr>
            <p:ph type="sldNum" sz="quarter" idx="12"/>
          </p:nvPr>
        </p:nvSpPr>
        <p:spPr/>
        <p:txBody>
          <a:bodyPr/>
          <a:lstStyle/>
          <a:p>
            <a:fld id="{14DEA20C-5E25-479A-833E-5C0D6EFFA74D}" type="slidenum">
              <a:rPr lang="en-GB" smtClean="0"/>
              <a:t>‹#›</a:t>
            </a:fld>
            <a:endParaRPr lang="en-GB"/>
          </a:p>
        </p:txBody>
      </p:sp>
    </p:spTree>
    <p:extLst>
      <p:ext uri="{BB962C8B-B14F-4D97-AF65-F5344CB8AC3E}">
        <p14:creationId xmlns:p14="http://schemas.microsoft.com/office/powerpoint/2010/main" val="3317276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6D0A1-D803-FAD9-7B18-01FF802D8F3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C8AE49C9-CC33-1997-B05E-548F88311F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A18C478-8B66-5C27-9DA2-21FB2E43FA6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DA9D4A90-64C2-3275-0BB5-19B2846374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0A06B4F-6F58-3ECB-A549-C63BB65C7A3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C91EC6E9-80A2-D0AF-D899-283DB9B379D4}"/>
              </a:ext>
            </a:extLst>
          </p:cNvPr>
          <p:cNvSpPr>
            <a:spLocks noGrp="1"/>
          </p:cNvSpPr>
          <p:nvPr>
            <p:ph type="dt" sz="half" idx="10"/>
          </p:nvPr>
        </p:nvSpPr>
        <p:spPr/>
        <p:txBody>
          <a:bodyPr/>
          <a:lstStyle/>
          <a:p>
            <a:fld id="{A1BC3F94-355B-4EB0-95CF-088A569A00D0}" type="datetimeFigureOut">
              <a:rPr lang="en-GB" smtClean="0"/>
              <a:t>08/03/2026</a:t>
            </a:fld>
            <a:endParaRPr lang="en-GB"/>
          </a:p>
        </p:txBody>
      </p:sp>
      <p:sp>
        <p:nvSpPr>
          <p:cNvPr id="8" name="Footer Placeholder 7">
            <a:extLst>
              <a:ext uri="{FF2B5EF4-FFF2-40B4-BE49-F238E27FC236}">
                <a16:creationId xmlns:a16="http://schemas.microsoft.com/office/drawing/2014/main" id="{908957FE-AD1F-3AD4-9724-005E1BAD51C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6E8DB62-3E2F-4875-1432-E4A68CB30A02}"/>
              </a:ext>
            </a:extLst>
          </p:cNvPr>
          <p:cNvSpPr>
            <a:spLocks noGrp="1"/>
          </p:cNvSpPr>
          <p:nvPr>
            <p:ph type="sldNum" sz="quarter" idx="12"/>
          </p:nvPr>
        </p:nvSpPr>
        <p:spPr/>
        <p:txBody>
          <a:bodyPr/>
          <a:lstStyle/>
          <a:p>
            <a:fld id="{14DEA20C-5E25-479A-833E-5C0D6EFFA74D}" type="slidenum">
              <a:rPr lang="en-GB" smtClean="0"/>
              <a:t>‹#›</a:t>
            </a:fld>
            <a:endParaRPr lang="en-GB"/>
          </a:p>
        </p:txBody>
      </p:sp>
    </p:spTree>
    <p:extLst>
      <p:ext uri="{BB962C8B-B14F-4D97-AF65-F5344CB8AC3E}">
        <p14:creationId xmlns:p14="http://schemas.microsoft.com/office/powerpoint/2010/main" val="927164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E0659-0CA7-A446-E19E-BB97EA9EE0E8}"/>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0C050926-9FDE-EA91-8363-73504EF89D50}"/>
              </a:ext>
            </a:extLst>
          </p:cNvPr>
          <p:cNvSpPr>
            <a:spLocks noGrp="1"/>
          </p:cNvSpPr>
          <p:nvPr>
            <p:ph type="dt" sz="half" idx="10"/>
          </p:nvPr>
        </p:nvSpPr>
        <p:spPr/>
        <p:txBody>
          <a:bodyPr/>
          <a:lstStyle/>
          <a:p>
            <a:fld id="{A1BC3F94-355B-4EB0-95CF-088A569A00D0}" type="datetimeFigureOut">
              <a:rPr lang="en-GB" smtClean="0"/>
              <a:t>08/03/2026</a:t>
            </a:fld>
            <a:endParaRPr lang="en-GB"/>
          </a:p>
        </p:txBody>
      </p:sp>
      <p:sp>
        <p:nvSpPr>
          <p:cNvPr id="4" name="Footer Placeholder 3">
            <a:extLst>
              <a:ext uri="{FF2B5EF4-FFF2-40B4-BE49-F238E27FC236}">
                <a16:creationId xmlns:a16="http://schemas.microsoft.com/office/drawing/2014/main" id="{5302B5A1-C56E-0B47-A252-105D20F7E88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02F8AA6-9DAA-8A82-523A-8FE5EC04929A}"/>
              </a:ext>
            </a:extLst>
          </p:cNvPr>
          <p:cNvSpPr>
            <a:spLocks noGrp="1"/>
          </p:cNvSpPr>
          <p:nvPr>
            <p:ph type="sldNum" sz="quarter" idx="12"/>
          </p:nvPr>
        </p:nvSpPr>
        <p:spPr/>
        <p:txBody>
          <a:bodyPr/>
          <a:lstStyle/>
          <a:p>
            <a:fld id="{14DEA20C-5E25-479A-833E-5C0D6EFFA74D}" type="slidenum">
              <a:rPr lang="en-GB" smtClean="0"/>
              <a:t>‹#›</a:t>
            </a:fld>
            <a:endParaRPr lang="en-GB"/>
          </a:p>
        </p:txBody>
      </p:sp>
    </p:spTree>
    <p:extLst>
      <p:ext uri="{BB962C8B-B14F-4D97-AF65-F5344CB8AC3E}">
        <p14:creationId xmlns:p14="http://schemas.microsoft.com/office/powerpoint/2010/main" val="1789269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3D50B2-33DD-15BD-92B9-BDF72D7D7576}"/>
              </a:ext>
            </a:extLst>
          </p:cNvPr>
          <p:cNvSpPr>
            <a:spLocks noGrp="1"/>
          </p:cNvSpPr>
          <p:nvPr>
            <p:ph type="dt" sz="half" idx="10"/>
          </p:nvPr>
        </p:nvSpPr>
        <p:spPr/>
        <p:txBody>
          <a:bodyPr/>
          <a:lstStyle/>
          <a:p>
            <a:fld id="{A1BC3F94-355B-4EB0-95CF-088A569A00D0}" type="datetimeFigureOut">
              <a:rPr lang="en-GB" smtClean="0"/>
              <a:t>08/03/2026</a:t>
            </a:fld>
            <a:endParaRPr lang="en-GB"/>
          </a:p>
        </p:txBody>
      </p:sp>
      <p:sp>
        <p:nvSpPr>
          <p:cNvPr id="3" name="Footer Placeholder 2">
            <a:extLst>
              <a:ext uri="{FF2B5EF4-FFF2-40B4-BE49-F238E27FC236}">
                <a16:creationId xmlns:a16="http://schemas.microsoft.com/office/drawing/2014/main" id="{215EF07B-20AC-23A8-2052-8627A37C4B6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8D56415-6856-00F0-292A-627572A9C3BC}"/>
              </a:ext>
            </a:extLst>
          </p:cNvPr>
          <p:cNvSpPr>
            <a:spLocks noGrp="1"/>
          </p:cNvSpPr>
          <p:nvPr>
            <p:ph type="sldNum" sz="quarter" idx="12"/>
          </p:nvPr>
        </p:nvSpPr>
        <p:spPr/>
        <p:txBody>
          <a:bodyPr/>
          <a:lstStyle/>
          <a:p>
            <a:fld id="{14DEA20C-5E25-479A-833E-5C0D6EFFA74D}" type="slidenum">
              <a:rPr lang="en-GB" smtClean="0"/>
              <a:t>‹#›</a:t>
            </a:fld>
            <a:endParaRPr lang="en-GB"/>
          </a:p>
        </p:txBody>
      </p:sp>
    </p:spTree>
    <p:extLst>
      <p:ext uri="{BB962C8B-B14F-4D97-AF65-F5344CB8AC3E}">
        <p14:creationId xmlns:p14="http://schemas.microsoft.com/office/powerpoint/2010/main" val="2692739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D8F0F-A581-4CE6-7542-24F21D7A817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98D11D4-33B7-C02B-F06E-C949513C03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DB30B7A-EC1C-B79C-72AF-FE121CBC0F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3011B0F-178D-26F7-C7DC-6DC1842E8323}"/>
              </a:ext>
            </a:extLst>
          </p:cNvPr>
          <p:cNvSpPr>
            <a:spLocks noGrp="1"/>
          </p:cNvSpPr>
          <p:nvPr>
            <p:ph type="dt" sz="half" idx="10"/>
          </p:nvPr>
        </p:nvSpPr>
        <p:spPr/>
        <p:txBody>
          <a:bodyPr/>
          <a:lstStyle/>
          <a:p>
            <a:fld id="{A1BC3F94-355B-4EB0-95CF-088A569A00D0}" type="datetimeFigureOut">
              <a:rPr lang="en-GB" smtClean="0"/>
              <a:t>08/03/2026</a:t>
            </a:fld>
            <a:endParaRPr lang="en-GB"/>
          </a:p>
        </p:txBody>
      </p:sp>
      <p:sp>
        <p:nvSpPr>
          <p:cNvPr id="6" name="Footer Placeholder 5">
            <a:extLst>
              <a:ext uri="{FF2B5EF4-FFF2-40B4-BE49-F238E27FC236}">
                <a16:creationId xmlns:a16="http://schemas.microsoft.com/office/drawing/2014/main" id="{181F6F44-1900-DE7A-EA22-B0EC8DE181F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7CDC775-A74F-9D84-FB71-3FA7107A2A9A}"/>
              </a:ext>
            </a:extLst>
          </p:cNvPr>
          <p:cNvSpPr>
            <a:spLocks noGrp="1"/>
          </p:cNvSpPr>
          <p:nvPr>
            <p:ph type="sldNum" sz="quarter" idx="12"/>
          </p:nvPr>
        </p:nvSpPr>
        <p:spPr/>
        <p:txBody>
          <a:bodyPr/>
          <a:lstStyle/>
          <a:p>
            <a:fld id="{14DEA20C-5E25-479A-833E-5C0D6EFFA74D}" type="slidenum">
              <a:rPr lang="en-GB" smtClean="0"/>
              <a:t>‹#›</a:t>
            </a:fld>
            <a:endParaRPr lang="en-GB"/>
          </a:p>
        </p:txBody>
      </p:sp>
    </p:spTree>
    <p:extLst>
      <p:ext uri="{BB962C8B-B14F-4D97-AF65-F5344CB8AC3E}">
        <p14:creationId xmlns:p14="http://schemas.microsoft.com/office/powerpoint/2010/main" val="3640844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3A822-98E7-E9E2-BF5A-D5DEC42E10D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B3BDD678-E966-48D6-EC36-30559CE505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92D5B5D-1E3D-56B1-1CC8-D171207ED0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C3C63D0-8C17-ED51-917F-59A64F736D73}"/>
              </a:ext>
            </a:extLst>
          </p:cNvPr>
          <p:cNvSpPr>
            <a:spLocks noGrp="1"/>
          </p:cNvSpPr>
          <p:nvPr>
            <p:ph type="dt" sz="half" idx="10"/>
          </p:nvPr>
        </p:nvSpPr>
        <p:spPr/>
        <p:txBody>
          <a:bodyPr/>
          <a:lstStyle/>
          <a:p>
            <a:fld id="{A1BC3F94-355B-4EB0-95CF-088A569A00D0}" type="datetimeFigureOut">
              <a:rPr lang="en-GB" smtClean="0"/>
              <a:t>08/03/2026</a:t>
            </a:fld>
            <a:endParaRPr lang="en-GB"/>
          </a:p>
        </p:txBody>
      </p:sp>
      <p:sp>
        <p:nvSpPr>
          <p:cNvPr id="6" name="Footer Placeholder 5">
            <a:extLst>
              <a:ext uri="{FF2B5EF4-FFF2-40B4-BE49-F238E27FC236}">
                <a16:creationId xmlns:a16="http://schemas.microsoft.com/office/drawing/2014/main" id="{F2E41740-51CC-0B16-3959-1CB1E7E5DDE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4F7833D-EE08-E4C5-6616-F467733F588E}"/>
              </a:ext>
            </a:extLst>
          </p:cNvPr>
          <p:cNvSpPr>
            <a:spLocks noGrp="1"/>
          </p:cNvSpPr>
          <p:nvPr>
            <p:ph type="sldNum" sz="quarter" idx="12"/>
          </p:nvPr>
        </p:nvSpPr>
        <p:spPr/>
        <p:txBody>
          <a:bodyPr/>
          <a:lstStyle/>
          <a:p>
            <a:fld id="{14DEA20C-5E25-479A-833E-5C0D6EFFA74D}" type="slidenum">
              <a:rPr lang="en-GB" smtClean="0"/>
              <a:t>‹#›</a:t>
            </a:fld>
            <a:endParaRPr lang="en-GB"/>
          </a:p>
        </p:txBody>
      </p:sp>
    </p:spTree>
    <p:extLst>
      <p:ext uri="{BB962C8B-B14F-4D97-AF65-F5344CB8AC3E}">
        <p14:creationId xmlns:p14="http://schemas.microsoft.com/office/powerpoint/2010/main" val="2675991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A9B31-4E2A-40E7-A821-DC075A643849}"/>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D2407EE7-C6F6-37A4-62D2-6ADB9FFC097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197E195-40EA-486B-C07C-DDFB3A448EC4}"/>
              </a:ext>
            </a:extLst>
          </p:cNvPr>
          <p:cNvSpPr>
            <a:spLocks noGrp="1"/>
          </p:cNvSpPr>
          <p:nvPr>
            <p:ph type="dt" sz="half" idx="10"/>
          </p:nvPr>
        </p:nvSpPr>
        <p:spPr/>
        <p:txBody>
          <a:bodyPr/>
          <a:lstStyle/>
          <a:p>
            <a:fld id="{A1BC3F94-355B-4EB0-95CF-088A569A00D0}" type="datetimeFigureOut">
              <a:rPr lang="en-GB" smtClean="0"/>
              <a:t>08/03/2026</a:t>
            </a:fld>
            <a:endParaRPr lang="en-GB"/>
          </a:p>
        </p:txBody>
      </p:sp>
      <p:sp>
        <p:nvSpPr>
          <p:cNvPr id="5" name="Footer Placeholder 4">
            <a:extLst>
              <a:ext uri="{FF2B5EF4-FFF2-40B4-BE49-F238E27FC236}">
                <a16:creationId xmlns:a16="http://schemas.microsoft.com/office/drawing/2014/main" id="{365F6093-731B-FDB1-6D4C-B0CDDC19414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336105-8851-C62C-DAAC-591F778823F1}"/>
              </a:ext>
            </a:extLst>
          </p:cNvPr>
          <p:cNvSpPr>
            <a:spLocks noGrp="1"/>
          </p:cNvSpPr>
          <p:nvPr>
            <p:ph type="sldNum" sz="quarter" idx="12"/>
          </p:nvPr>
        </p:nvSpPr>
        <p:spPr/>
        <p:txBody>
          <a:bodyPr/>
          <a:lstStyle/>
          <a:p>
            <a:fld id="{14DEA20C-5E25-479A-833E-5C0D6EFFA74D}" type="slidenum">
              <a:rPr lang="en-GB" smtClean="0"/>
              <a:t>‹#›</a:t>
            </a:fld>
            <a:endParaRPr lang="en-GB"/>
          </a:p>
        </p:txBody>
      </p:sp>
    </p:spTree>
    <p:extLst>
      <p:ext uri="{BB962C8B-B14F-4D97-AF65-F5344CB8AC3E}">
        <p14:creationId xmlns:p14="http://schemas.microsoft.com/office/powerpoint/2010/main" val="413606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F1CD4F-CEB5-1552-EE8C-5D245A402FC1}"/>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EDD55B1F-C94D-B9B0-023F-B58F60EF561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D49A54C-1312-0F63-ADAB-C020B4988242}"/>
              </a:ext>
            </a:extLst>
          </p:cNvPr>
          <p:cNvSpPr>
            <a:spLocks noGrp="1"/>
          </p:cNvSpPr>
          <p:nvPr>
            <p:ph type="dt" sz="half" idx="10"/>
          </p:nvPr>
        </p:nvSpPr>
        <p:spPr/>
        <p:txBody>
          <a:bodyPr/>
          <a:lstStyle/>
          <a:p>
            <a:fld id="{A1BC3F94-355B-4EB0-95CF-088A569A00D0}" type="datetimeFigureOut">
              <a:rPr lang="en-GB" smtClean="0"/>
              <a:t>08/03/2026</a:t>
            </a:fld>
            <a:endParaRPr lang="en-GB"/>
          </a:p>
        </p:txBody>
      </p:sp>
      <p:sp>
        <p:nvSpPr>
          <p:cNvPr id="5" name="Footer Placeholder 4">
            <a:extLst>
              <a:ext uri="{FF2B5EF4-FFF2-40B4-BE49-F238E27FC236}">
                <a16:creationId xmlns:a16="http://schemas.microsoft.com/office/drawing/2014/main" id="{ED8C5274-982B-3FCC-A1CF-79B8B9A6B44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68F3344-164B-89D1-B7A5-CC5F005215D2}"/>
              </a:ext>
            </a:extLst>
          </p:cNvPr>
          <p:cNvSpPr>
            <a:spLocks noGrp="1"/>
          </p:cNvSpPr>
          <p:nvPr>
            <p:ph type="sldNum" sz="quarter" idx="12"/>
          </p:nvPr>
        </p:nvSpPr>
        <p:spPr/>
        <p:txBody>
          <a:bodyPr/>
          <a:lstStyle/>
          <a:p>
            <a:fld id="{14DEA20C-5E25-479A-833E-5C0D6EFFA74D}" type="slidenum">
              <a:rPr lang="en-GB" smtClean="0"/>
              <a:t>‹#›</a:t>
            </a:fld>
            <a:endParaRPr lang="en-GB"/>
          </a:p>
        </p:txBody>
      </p:sp>
    </p:spTree>
    <p:extLst>
      <p:ext uri="{BB962C8B-B14F-4D97-AF65-F5344CB8AC3E}">
        <p14:creationId xmlns:p14="http://schemas.microsoft.com/office/powerpoint/2010/main" val="26886232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r>
              <a:rPr lang="en-US"/>
              <a:t>Click to edit Master title style</a:t>
            </a:r>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547070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2"/>
        <p:cNvGrpSpPr/>
        <p:nvPr/>
      </p:nvGrpSpPr>
      <p:grpSpPr>
        <a:xfrm>
          <a:off x="0" y="0"/>
          <a:ext cx="0" cy="0"/>
          <a:chOff x="0" y="0"/>
          <a:chExt cx="0" cy="0"/>
        </a:xfrm>
      </p:grpSpPr>
      <p:sp>
        <p:nvSpPr>
          <p:cNvPr id="23" name="Google Shape;23;p5"/>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5"/>
          <p:cNvSpPr/>
          <p:nvPr/>
        </p:nvSpPr>
        <p:spPr>
          <a:xfrm rot="5400000">
            <a:off x="-133800" y="598367"/>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5"/>
          <p:cNvSpPr txBox="1">
            <a:spLocks noGrp="1"/>
          </p:cNvSpPr>
          <p:nvPr>
            <p:ph type="title"/>
          </p:nvPr>
        </p:nvSpPr>
        <p:spPr>
          <a:xfrm>
            <a:off x="609600" y="464567"/>
            <a:ext cx="11163300" cy="421258"/>
          </a:xfrm>
          <a:prstGeom prst="rect">
            <a:avLst/>
          </a:prstGeom>
        </p:spPr>
        <p:txBody>
          <a:bodyPr spcFirstLastPara="1" wrap="square" lIns="0" tIns="0" rIns="0" bIns="0" anchor="ctr" anchorCtr="0">
            <a:noAutofit/>
          </a:bodyPr>
          <a:lstStyle>
            <a:lvl1pPr lvl="0">
              <a:spcBef>
                <a:spcPts val="0"/>
              </a:spcBef>
              <a:spcAft>
                <a:spcPts val="0"/>
              </a:spcAft>
              <a:buSzPts val="4800"/>
              <a:buNone/>
              <a:defRPr sz="32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r>
              <a:rPr lang="en-US"/>
              <a:t>Click to edit Master title style</a:t>
            </a:r>
            <a:endParaRPr/>
          </a:p>
        </p:txBody>
      </p:sp>
      <p:sp>
        <p:nvSpPr>
          <p:cNvPr id="26" name="Google Shape;26;p5"/>
          <p:cNvSpPr txBox="1">
            <a:spLocks noGrp="1"/>
          </p:cNvSpPr>
          <p:nvPr>
            <p:ph type="body" idx="1"/>
          </p:nvPr>
        </p:nvSpPr>
        <p:spPr>
          <a:xfrm>
            <a:off x="609600" y="1089368"/>
            <a:ext cx="11163300" cy="5387632"/>
          </a:xfrm>
          <a:prstGeom prst="rect">
            <a:avLst/>
          </a:prstGeom>
        </p:spPr>
        <p:txBody>
          <a:bodyPr spcFirstLastPara="1" wrap="square" lIns="0" tIns="0" rIns="0" bIns="0" anchor="t" anchorCtr="0">
            <a:noAutofit/>
          </a:bodyPr>
          <a:lstStyle>
            <a:lvl1pPr marL="609585" lvl="0" indent="-457189">
              <a:spcBef>
                <a:spcPts val="800"/>
              </a:spcBef>
              <a:spcAft>
                <a:spcPts val="0"/>
              </a:spcAft>
              <a:buClr>
                <a:schemeClr val="tx2"/>
              </a:buClr>
              <a:buSzPts val="1800"/>
              <a:buChar char="▸"/>
              <a:defRPr sz="1800">
                <a:solidFill>
                  <a:schemeClr val="tx1">
                    <a:lumMod val="20000"/>
                    <a:lumOff val="80000"/>
                  </a:schemeClr>
                </a:solidFill>
              </a:defRPr>
            </a:lvl1pPr>
            <a:lvl2pPr marL="1219170" lvl="1" indent="-457189">
              <a:spcBef>
                <a:spcPts val="800"/>
              </a:spcBef>
              <a:spcAft>
                <a:spcPts val="0"/>
              </a:spcAft>
              <a:buClr>
                <a:schemeClr val="bg2">
                  <a:lumMod val="20000"/>
                  <a:lumOff val="80000"/>
                </a:schemeClr>
              </a:buClr>
              <a:buSzPts val="1800"/>
              <a:buChar char="▹"/>
              <a:defRPr sz="1600">
                <a:solidFill>
                  <a:schemeClr val="tx1">
                    <a:lumMod val="20000"/>
                    <a:lumOff val="80000"/>
                  </a:schemeClr>
                </a:solidFill>
              </a:defRPr>
            </a:lvl2pPr>
            <a:lvl3pPr marL="1828754" lvl="2" indent="-457189">
              <a:spcBef>
                <a:spcPts val="800"/>
              </a:spcBef>
              <a:spcAft>
                <a:spcPts val="0"/>
              </a:spcAft>
              <a:buClr>
                <a:schemeClr val="tx2">
                  <a:lumMod val="90000"/>
                </a:schemeClr>
              </a:buClr>
              <a:buSzPts val="1800"/>
              <a:buChar char="▹"/>
              <a:defRPr sz="1400">
                <a:solidFill>
                  <a:schemeClr val="tx1">
                    <a:lumMod val="20000"/>
                    <a:lumOff val="80000"/>
                  </a:schemeClr>
                </a:solidFill>
              </a:defRPr>
            </a:lvl3pPr>
            <a:lvl4pPr marL="2438339" lvl="3" indent="-474121">
              <a:spcBef>
                <a:spcPts val="800"/>
              </a:spcBef>
              <a:spcAft>
                <a:spcPts val="0"/>
              </a:spcAft>
              <a:buClr>
                <a:schemeClr val="tx2">
                  <a:lumMod val="90000"/>
                </a:schemeClr>
              </a:buClr>
              <a:buSzPts val="2000"/>
              <a:buChar char="▹"/>
              <a:defRPr sz="1200">
                <a:solidFill>
                  <a:schemeClr val="tx1">
                    <a:lumMod val="20000"/>
                    <a:lumOff val="80000"/>
                  </a:schemeClr>
                </a:solidFill>
              </a:defRPr>
            </a:lvl4pPr>
            <a:lvl5pPr marL="3047924" lvl="4" indent="-474121">
              <a:spcBef>
                <a:spcPts val="800"/>
              </a:spcBef>
              <a:spcAft>
                <a:spcPts val="0"/>
              </a:spcAft>
              <a:buSzPts val="2000"/>
              <a:buChar char="▹"/>
              <a:defRPr/>
            </a:lvl5pPr>
            <a:lvl6pPr marL="3657509" lvl="5" indent="-474121">
              <a:spcBef>
                <a:spcPts val="800"/>
              </a:spcBef>
              <a:spcAft>
                <a:spcPts val="0"/>
              </a:spcAft>
              <a:buSzPts val="2000"/>
              <a:buChar char="▹"/>
              <a:defRPr/>
            </a:lvl6pPr>
            <a:lvl7pPr marL="4267093" lvl="6" indent="-474121">
              <a:spcBef>
                <a:spcPts val="800"/>
              </a:spcBef>
              <a:spcAft>
                <a:spcPts val="0"/>
              </a:spcAft>
              <a:buSzPts val="2000"/>
              <a:buChar char="▹"/>
              <a:defRPr/>
            </a:lvl7pPr>
            <a:lvl8pPr marL="4876678" lvl="7" indent="-474121">
              <a:spcBef>
                <a:spcPts val="800"/>
              </a:spcBef>
              <a:spcAft>
                <a:spcPts val="0"/>
              </a:spcAft>
              <a:buSzPts val="2000"/>
              <a:buChar char="▹"/>
              <a:defRPr/>
            </a:lvl8pPr>
            <a:lvl9pPr marL="5486263" lvl="8" indent="-474121">
              <a:spcBef>
                <a:spcPts val="800"/>
              </a:spcBef>
              <a:spcAft>
                <a:spcPts val="0"/>
              </a:spcAft>
              <a:buSzPts val="2000"/>
              <a:buChar char="▹"/>
              <a:defRPr/>
            </a:lvl9pPr>
          </a:lstStyle>
          <a:p>
            <a:pPr lvl="0"/>
            <a:r>
              <a:rPr lang="en-US" dirty="0"/>
              <a:t>Click to edit Master text styles</a:t>
            </a:r>
          </a:p>
          <a:p>
            <a:pPr lvl="1"/>
            <a:r>
              <a:rPr lang="en-US" dirty="0"/>
              <a:t>Level 2</a:t>
            </a:r>
          </a:p>
          <a:p>
            <a:pPr lvl="2"/>
            <a:r>
              <a:rPr lang="en-US" dirty="0"/>
              <a:t>Level 3</a:t>
            </a:r>
          </a:p>
          <a:p>
            <a:pPr lvl="3"/>
            <a:r>
              <a:rPr lang="en-US" dirty="0"/>
              <a:t>Level 4</a:t>
            </a:r>
          </a:p>
        </p:txBody>
      </p:sp>
      <p:sp>
        <p:nvSpPr>
          <p:cNvPr id="27" name="Google Shape;27;p5"/>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solidFill>
                  <a:schemeClr val="bg1"/>
                </a:solidFil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4D7F6AC-1EEB-4ABB-AD80-109EC6FDCCF3}" type="slidenum">
              <a:rPr lang="en-GB" smtClean="0"/>
              <a:pPr/>
              <a:t>‹#›</a:t>
            </a:fld>
            <a:endParaRPr lang="en-GB"/>
          </a:p>
        </p:txBody>
      </p:sp>
    </p:spTree>
    <p:extLst>
      <p:ext uri="{BB962C8B-B14F-4D97-AF65-F5344CB8AC3E}">
        <p14:creationId xmlns:p14="http://schemas.microsoft.com/office/powerpoint/2010/main" val="2465657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1000" fill="hold"/>
                                        <p:tgtEl>
                                          <p:spTgt spid="26">
                                            <p:txEl>
                                              <p:pRg st="0" end="0"/>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0" end="0"/>
                                            </p:txEl>
                                          </p:spTgt>
                                        </p:tgtEl>
                                        <p:attrNameLst>
                                          <p:attrName>ppt_c</p:attrName>
                                        </p:attrNameLst>
                                      </p:cBhvr>
                                      <p:to>
                                        <a:schemeClr val="tx2"/>
                                      </p:to>
                                    </p:animClr>
                                  </p:subTnLst>
                                </p:cTn>
                              </p:par>
                            </p:childTnLst>
                          </p:cTn>
                        </p:par>
                      </p:childTnLst>
                    </p:cTn>
                  </p:par>
                  <p:par>
                    <p:cTn id="7" fill="hold">
                      <p:stCondLst>
                        <p:cond delay="indefinite"/>
                      </p:stCondLst>
                      <p:childTnLst>
                        <p:par>
                          <p:cTn id="8" fill="hold">
                            <p:stCondLst>
                              <p:cond delay="0"/>
                            </p:stCondLst>
                            <p:childTnLst>
                              <p:par>
                                <p:cTn id="9" presetID="3" presetClass="emph" presetSubtype="2" fill="hold" grpId="0" nodeType="clickEffect">
                                  <p:stCondLst>
                                    <p:cond delay="0"/>
                                  </p:stCondLst>
                                  <p:childTnLst>
                                    <p:animClr clrSpc="rgb" dir="cw">
                                      <p:cBhvr override="childStyle">
                                        <p:cTn id="10" dur="1000" fill="hold"/>
                                        <p:tgtEl>
                                          <p:spTgt spid="26">
                                            <p:txEl>
                                              <p:pRg st="1" end="1"/>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1" end="1"/>
                                            </p:txEl>
                                          </p:spTgt>
                                        </p:tgtEl>
                                        <p:attrNameLst>
                                          <p:attrName>ppt_c</p:attrName>
                                        </p:attrNameLst>
                                      </p:cBhvr>
                                      <p:to>
                                        <a:schemeClr val="tx2"/>
                                      </p:to>
                                    </p:animClr>
                                  </p:subTnLst>
                                </p:cTn>
                              </p:par>
                            </p:childTnLst>
                          </p:cTn>
                        </p:par>
                      </p:childTnLst>
                    </p:cTn>
                  </p:par>
                  <p:par>
                    <p:cTn id="11" fill="hold">
                      <p:stCondLst>
                        <p:cond delay="indefinite"/>
                      </p:stCondLst>
                      <p:childTnLst>
                        <p:par>
                          <p:cTn id="12" fill="hold">
                            <p:stCondLst>
                              <p:cond delay="0"/>
                            </p:stCondLst>
                            <p:childTnLst>
                              <p:par>
                                <p:cTn id="13" presetID="3" presetClass="emph" presetSubtype="2" fill="hold" grpId="0" nodeType="clickEffect">
                                  <p:stCondLst>
                                    <p:cond delay="0"/>
                                  </p:stCondLst>
                                  <p:childTnLst>
                                    <p:animClr clrSpc="rgb" dir="cw">
                                      <p:cBhvr override="childStyle">
                                        <p:cTn id="14" dur="1000" fill="hold"/>
                                        <p:tgtEl>
                                          <p:spTgt spid="26">
                                            <p:txEl>
                                              <p:pRg st="2" end="2"/>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2" end="2"/>
                                            </p:txEl>
                                          </p:spTgt>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3" presetClass="emph" presetSubtype="2" fill="hold" grpId="0" nodeType="clickEffect">
                                  <p:stCondLst>
                                    <p:cond delay="0"/>
                                  </p:stCondLst>
                                  <p:childTnLst>
                                    <p:animClr clrSpc="rgb" dir="cw">
                                      <p:cBhvr override="childStyle">
                                        <p:cTn id="18" dur="1000" fill="hold"/>
                                        <p:tgtEl>
                                          <p:spTgt spid="26">
                                            <p:txEl>
                                              <p:pRg st="3" end="3"/>
                                            </p:txEl>
                                          </p:spTgt>
                                        </p:tgtEl>
                                        <p:attrNameLst>
                                          <p:attrName>style.color</p:attrName>
                                        </p:attrNameLst>
                                      </p:cBhvr>
                                      <p:to>
                                        <a:srgbClr val="0000FF"/>
                                      </p:to>
                                    </p:animClr>
                                  </p:childTnLst>
                                  <p:subTnLst>
                                    <p:animClr clrSpc="rgb" dir="cw">
                                      <p:cBhvr override="childStyle">
                                        <p:cTn dur="1" fill="hold" display="0" masterRel="nextClick" afterEffect="1"/>
                                        <p:tgtEl>
                                          <p:spTgt spid="26">
                                            <p:txEl>
                                              <p:pRg st="3" end="3"/>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uiExpand="1" build="p">
        <p:tmplLst>
          <p:tmpl lvl="1">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 lvl="2">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 lvl="3">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 lvl="4">
            <p:tnLst>
              <p:par>
                <p:cTn presetID="3" presetClass="emph" presetSubtype="2" fill="hold" nodeType="clickEffect">
                  <p:stCondLst>
                    <p:cond delay="0"/>
                  </p:stCondLst>
                  <p:childTnLst>
                    <p:animClr clrSpc="rgb" dir="cw">
                      <p:cBhvr override="childStyle">
                        <p:cTn dur="1000" fill="hold"/>
                        <p:tgtEl>
                          <p:spTgt spid="26"/>
                        </p:tgtEl>
                        <p:attrNameLst>
                          <p:attrName>style.color</p:attrName>
                        </p:attrNameLst>
                      </p:cBhvr>
                      <p:to>
                        <a:srgbClr val="0000FF"/>
                      </p:to>
                    </p:animClr>
                  </p:childTnLst>
                  <p:subTnLst>
                    <p:animClr clrSpc="rgb" dir="cw">
                      <p:cBhvr override="childStyle">
                        <p:cTn dur="1" fill="hold" display="0" masterRel="nextClick" afterEffect="1"/>
                        <p:tgtEl>
                          <p:spTgt spid="26"/>
                        </p:tgtEl>
                        <p:attrNameLst>
                          <p:attrName>ppt_c</p:attrName>
                        </p:attrNameLst>
                      </p:cBhvr>
                      <p:to>
                        <a:schemeClr val="tx2"/>
                      </p:to>
                    </p:animClr>
                  </p:sub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8"/>
        <p:cNvGrpSpPr/>
        <p:nvPr/>
      </p:nvGrpSpPr>
      <p:grpSpPr>
        <a:xfrm>
          <a:off x="0" y="0"/>
          <a:ext cx="0" cy="0"/>
          <a:chOff x="0" y="0"/>
          <a:chExt cx="0" cy="0"/>
        </a:xfrm>
      </p:grpSpPr>
      <p:sp>
        <p:nvSpPr>
          <p:cNvPr id="49" name="Google Shape;49;p9"/>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0" name="Google Shape;50;p9"/>
          <p:cNvSpPr/>
          <p:nvPr/>
        </p:nvSpPr>
        <p:spPr>
          <a:xfrm rot="5400000">
            <a:off x="-133800" y="59316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 name="Google Shape;51;p9"/>
          <p:cNvSpPr txBox="1">
            <a:spLocks noGrp="1"/>
          </p:cNvSpPr>
          <p:nvPr>
            <p:ph type="body" idx="1"/>
          </p:nvPr>
        </p:nvSpPr>
        <p:spPr>
          <a:xfrm>
            <a:off x="609600" y="5875079"/>
            <a:ext cx="10972800" cy="692800"/>
          </a:xfrm>
          <a:prstGeom prst="rect">
            <a:avLst/>
          </a:prstGeom>
        </p:spPr>
        <p:txBody>
          <a:bodyPr spcFirstLastPara="1" wrap="square" lIns="0" tIns="0" rIns="0" bIns="0" anchor="t" anchorCtr="0">
            <a:noAutofit/>
          </a:bodyPr>
          <a:lstStyle>
            <a:lvl1pPr marL="609585" lvl="0" indent="-304792">
              <a:spcBef>
                <a:spcPts val="480"/>
              </a:spcBef>
              <a:spcAft>
                <a:spcPts val="0"/>
              </a:spcAft>
              <a:buSzPts val="1800"/>
              <a:buNone/>
              <a:defRPr sz="2400"/>
            </a:lvl1pPr>
          </a:lstStyle>
          <a:p>
            <a:pPr lvl="0"/>
            <a:r>
              <a:rPr lang="en-US"/>
              <a:t>Click to edit Master text styles</a:t>
            </a:r>
          </a:p>
        </p:txBody>
      </p:sp>
      <p:sp>
        <p:nvSpPr>
          <p:cNvPr id="52" name="Google Shape;52;p9"/>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4D7F6AC-1EEB-4ABB-AD80-109EC6FDCCF3}" type="slidenum">
              <a:rPr lang="en-GB" smtClean="0"/>
              <a:t>‹#›</a:t>
            </a:fld>
            <a:endParaRPr lang="en-GB"/>
          </a:p>
        </p:txBody>
      </p:sp>
    </p:spTree>
    <p:extLst>
      <p:ext uri="{BB962C8B-B14F-4D97-AF65-F5344CB8AC3E}">
        <p14:creationId xmlns:p14="http://schemas.microsoft.com/office/powerpoint/2010/main" val="24440618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dark">
  <p:cSld name="Blank dark">
    <p:spTree>
      <p:nvGrpSpPr>
        <p:cNvPr id="1" name="Shape 56"/>
        <p:cNvGrpSpPr/>
        <p:nvPr/>
      </p:nvGrpSpPr>
      <p:grpSpPr>
        <a:xfrm>
          <a:off x="0" y="0"/>
          <a:ext cx="0" cy="0"/>
          <a:chOff x="0" y="0"/>
          <a:chExt cx="0" cy="0"/>
        </a:xfrm>
      </p:grpSpPr>
      <p:sp>
        <p:nvSpPr>
          <p:cNvPr id="57" name="Google Shape;57;p11"/>
          <p:cNvSpPr/>
          <p:nvPr/>
        </p:nvSpPr>
        <p:spPr>
          <a:xfrm flipH="1">
            <a:off x="11582400" y="6233133"/>
            <a:ext cx="624800" cy="624800"/>
          </a:xfrm>
          <a:prstGeom prst="rtTriangl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 name="Google Shape;58;p11"/>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fld id="{14D7F6AC-1EEB-4ABB-AD80-109EC6FDCCF3}" type="slidenum">
              <a:rPr lang="en-GB" smtClean="0"/>
              <a:t>‹#›</a:t>
            </a:fld>
            <a:endParaRPr lang="en-GB"/>
          </a:p>
        </p:txBody>
      </p:sp>
    </p:spTree>
    <p:extLst>
      <p:ext uri="{BB962C8B-B14F-4D97-AF65-F5344CB8AC3E}">
        <p14:creationId xmlns:p14="http://schemas.microsoft.com/office/powerpoint/2010/main" val="236526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8"/>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 name="Google Shape;45;p8"/>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 name="Google Shape;46;p8"/>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r>
              <a:rPr lang="en-US"/>
              <a:t>Click to edit Master title style</a:t>
            </a:r>
            <a:endParaRPr/>
          </a:p>
        </p:txBody>
      </p:sp>
      <p:sp>
        <p:nvSpPr>
          <p:cNvPr id="47" name="Google Shape;47;p8"/>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14D7F6AC-1EEB-4ABB-AD80-109EC6FDCCF3}" type="slidenum">
              <a:rPr lang="en-GB" smtClean="0"/>
              <a:t>‹#›</a:t>
            </a:fld>
            <a:endParaRPr lang="en-GB"/>
          </a:p>
        </p:txBody>
      </p:sp>
    </p:spTree>
    <p:extLst>
      <p:ext uri="{BB962C8B-B14F-4D97-AF65-F5344CB8AC3E}">
        <p14:creationId xmlns:p14="http://schemas.microsoft.com/office/powerpoint/2010/main" val="2602770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BC5BE6-E402-EC05-471D-D1E958E06B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A5BDE9FB-DCDD-B5D8-3252-1574EE6220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CC9F6C7-52FA-6372-E64A-DE8BF73CB8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BC3F94-355B-4EB0-95CF-088A569A00D0}" type="datetimeFigureOut">
              <a:rPr lang="en-GB" smtClean="0"/>
              <a:t>08/03/2026</a:t>
            </a:fld>
            <a:endParaRPr lang="en-GB"/>
          </a:p>
        </p:txBody>
      </p:sp>
      <p:sp>
        <p:nvSpPr>
          <p:cNvPr id="5" name="Footer Placeholder 4">
            <a:extLst>
              <a:ext uri="{FF2B5EF4-FFF2-40B4-BE49-F238E27FC236}">
                <a16:creationId xmlns:a16="http://schemas.microsoft.com/office/drawing/2014/main" id="{B0885A1C-E115-BD1B-0E30-AC0C98C2D3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8A5BF60-41FD-60B4-688C-6E53F3CC8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DEA20C-5E25-479A-833E-5C0D6EFFA74D}" type="slidenum">
              <a:rPr lang="en-GB" smtClean="0"/>
              <a:t>‹#›</a:t>
            </a:fld>
            <a:endParaRPr lang="en-GB"/>
          </a:p>
        </p:txBody>
      </p:sp>
    </p:spTree>
    <p:extLst>
      <p:ext uri="{BB962C8B-B14F-4D97-AF65-F5344CB8AC3E}">
        <p14:creationId xmlns:p14="http://schemas.microsoft.com/office/powerpoint/2010/main" val="639581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807467"/>
            <a:ext cx="7521200" cy="14436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1pPr>
            <a:lvl2pPr lvl="1">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2pPr>
            <a:lvl3pPr lvl="2">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3pPr>
            <a:lvl4pPr lvl="3">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4pPr>
            <a:lvl5pPr lvl="4">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5pPr>
            <a:lvl6pPr lvl="5">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6pPr>
            <a:lvl7pPr lvl="6">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7pPr>
            <a:lvl8pPr lvl="7">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8pPr>
            <a:lvl9pPr lvl="8">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9pPr>
          </a:lstStyle>
          <a:p>
            <a:endParaRPr/>
          </a:p>
        </p:txBody>
      </p:sp>
      <p:sp>
        <p:nvSpPr>
          <p:cNvPr id="2" name="Slide Number Placeholder 1">
            <a:extLst>
              <a:ext uri="{FF2B5EF4-FFF2-40B4-BE49-F238E27FC236}">
                <a16:creationId xmlns:a16="http://schemas.microsoft.com/office/drawing/2014/main" id="{D2E12C27-DB2B-AA97-3BBD-0CF8EAE7B2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F9C93A-B808-4F92-9D9D-4CEB4D584F4F}" type="slidenum">
              <a:rPr lang="en-GB" smtClean="0"/>
              <a:t>‹#›</a:t>
            </a:fld>
            <a:endParaRPr lang="en-GB"/>
          </a:p>
        </p:txBody>
      </p:sp>
    </p:spTree>
    <p:extLst>
      <p:ext uri="{BB962C8B-B14F-4D97-AF65-F5344CB8AC3E}">
        <p14:creationId xmlns:p14="http://schemas.microsoft.com/office/powerpoint/2010/main" val="117097120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ransition>
    <p:fade thruBlk="1"/>
  </p:transition>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3200" b="0" i="0" u="none" strike="noStrike" cap="none">
          <a:solidFill>
            <a:srgbClr val="0000FF"/>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14300" marR="0" lvl="0" indent="0" algn="l" rtl="0" eaLnBrk="1" hangingPunct="1">
        <a:lnSpc>
          <a:spcPct val="100000"/>
        </a:lnSpc>
        <a:spcBef>
          <a:spcPts val="0"/>
        </a:spcBef>
        <a:spcAft>
          <a:spcPts val="0"/>
        </a:spcAft>
        <a:buClr>
          <a:srgbClr val="000000"/>
        </a:buClr>
        <a:buFont typeface="Arial"/>
        <a:buNone/>
        <a:defRPr sz="1800" b="0" i="0" u="none" strike="noStrike" cap="none" baseline="0">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pixabay.com/en/computer-notebook-laptop-technology-304146/"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3.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hyperlink" Target="https://pixabay.com/pt/nuvem-branco-condi%C3%A7%C3%B5es-nublado-296722/" TargetMode="External"/><Relationship Id="rId5" Type="http://schemas.openxmlformats.org/officeDocument/2006/relationships/image" Target="../media/image15.png"/><Relationship Id="rId4" Type="http://schemas.openxmlformats.org/officeDocument/2006/relationships/hyperlink" Target="https://pixabay.com/en/computer-notebook-laptop-technology-304146/" TargetMode="External"/></Relationships>
</file>

<file path=ppt/slides/_rels/slide2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jpeg"/><Relationship Id="rId7"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microsoft.com/office/2007/relationships/hdphoto" Target="../media/hdphoto2.wdp"/><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jpeg"/><Relationship Id="rId9"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8" Type="http://schemas.openxmlformats.org/officeDocument/2006/relationships/hyperlink" Target="https://azure.microsoft.com/en-us/Free" TargetMode="External"/><Relationship Id="rId3" Type="http://schemas.openxmlformats.org/officeDocument/2006/relationships/image" Target="../media/image24.png"/><Relationship Id="rId7" Type="http://schemas.openxmlformats.org/officeDocument/2006/relationships/hyperlink" Target="https://pixabay.com/en/computer-notebook-laptop-technology-304146/" TargetMode="External"/><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hyperlink" Target="https://pixabay.com/pt/nuvem-branco-condi%C3%A7%C3%B5es-nublado-296722/" TargetMode="External"/><Relationship Id="rId4" Type="http://schemas.openxmlformats.org/officeDocument/2006/relationships/image" Target="../media/image15.png"/><Relationship Id="rId9" Type="http://schemas.openxmlformats.org/officeDocument/2006/relationships/hyperlink" Target="https://aws.amazon.com/free"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E9F63-6456-F448-0659-EB213205EAAE}"/>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50D7F6C1-4845-1ECA-8E3A-D8F811171BB0}"/>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022779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C0A4087-A31E-6B1B-98DC-9D1FE4023FEC}"/>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17527CE-0D76-DA5E-6BB2-A2EF6689DD8C}"/>
              </a:ext>
            </a:extLst>
          </p:cNvPr>
          <p:cNvSpPr>
            <a:spLocks noGrp="1"/>
          </p:cNvSpPr>
          <p:nvPr>
            <p:ph type="ctrTitle"/>
          </p:nvPr>
        </p:nvSpPr>
        <p:spPr>
          <a:xfrm>
            <a:off x="1435099" y="2484800"/>
            <a:ext cx="7565465" cy="1888400"/>
          </a:xfrm>
        </p:spPr>
        <p:txBody>
          <a:bodyPr/>
          <a:lstStyle/>
          <a:p>
            <a:r>
              <a:rPr lang="en-GB" noProof="0" dirty="0"/>
              <a:t>Engineering Foundations</a:t>
            </a:r>
            <a:br>
              <a:rPr lang="en-GB" noProof="0" dirty="0"/>
            </a:br>
            <a:br>
              <a:rPr lang="en-GB" noProof="0" dirty="0"/>
            </a:br>
            <a:r>
              <a:rPr lang="en-GB" sz="1600" noProof="0" dirty="0"/>
              <a:t>An overview</a:t>
            </a:r>
          </a:p>
        </p:txBody>
      </p:sp>
      <p:sp>
        <p:nvSpPr>
          <p:cNvPr id="4" name="Subtitle 2">
            <a:extLst>
              <a:ext uri="{FF2B5EF4-FFF2-40B4-BE49-F238E27FC236}">
                <a16:creationId xmlns:a16="http://schemas.microsoft.com/office/drawing/2014/main" id="{F884236E-7C61-54A2-CAE1-A0AC81213860}"/>
              </a:ext>
            </a:extLst>
          </p:cNvPr>
          <p:cNvSpPr txBox="1">
            <a:spLocks/>
          </p:cNvSpPr>
          <p:nvPr/>
        </p:nvSpPr>
        <p:spPr>
          <a:xfrm>
            <a:off x="10259278" y="6066431"/>
            <a:ext cx="1020597" cy="279778"/>
          </a:xfrm>
          <a:prstGeom prst="rect">
            <a:avLst/>
          </a:prstGeom>
        </p:spPr>
        <p:txBody>
          <a:bodyPr/>
          <a:lstStyle>
            <a:defPPr marR="0" lvl="0" algn="l" rtl="0">
              <a:lnSpc>
                <a:spcPct val="100000"/>
              </a:lnSpc>
              <a:spcBef>
                <a:spcPts val="0"/>
              </a:spcBef>
              <a:spcAft>
                <a:spcPts val="0"/>
              </a:spcAft>
            </a:defPPr>
            <a:lvl1pPr marL="114300" marR="0" lvl="0" indent="0" algn="l" rtl="0" eaLnBrk="1" hangingPunct="1">
              <a:lnSpc>
                <a:spcPct val="100000"/>
              </a:lnSpc>
              <a:spcBef>
                <a:spcPts val="0"/>
              </a:spcBef>
              <a:spcAft>
                <a:spcPts val="0"/>
              </a:spcAft>
              <a:buClr>
                <a:srgbClr val="000000"/>
              </a:buClr>
              <a:buFont typeface="Arial"/>
              <a:buNone/>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1430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1200" b="0" i="0" u="none" strike="noStrike" kern="0" cap="none" spc="0" normalizeH="0" baseline="0" noProof="0" dirty="0">
                <a:ln>
                  <a:noFill/>
                </a:ln>
                <a:solidFill>
                  <a:srgbClr val="3A3F50">
                    <a:lumMod val="40000"/>
                    <a:lumOff val="60000"/>
                  </a:srgbClr>
                </a:solidFill>
                <a:effectLst/>
                <a:uLnTx/>
                <a:uFillTx/>
                <a:latin typeface="Arial"/>
                <a:cs typeface="Arial"/>
                <a:sym typeface="Arial"/>
              </a:rPr>
              <a:t>Tony Nicol</a:t>
            </a:r>
          </a:p>
        </p:txBody>
      </p:sp>
    </p:spTree>
    <p:extLst>
      <p:ext uri="{BB962C8B-B14F-4D97-AF65-F5344CB8AC3E}">
        <p14:creationId xmlns:p14="http://schemas.microsoft.com/office/powerpoint/2010/main" val="1726830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385CE-71B4-E954-BA2D-600CC69A2A43}"/>
              </a:ext>
            </a:extLst>
          </p:cNvPr>
          <p:cNvSpPr>
            <a:spLocks noGrp="1"/>
          </p:cNvSpPr>
          <p:nvPr>
            <p:ph type="ctrTitle"/>
          </p:nvPr>
        </p:nvSpPr>
        <p:spPr>
          <a:xfrm>
            <a:off x="1435099" y="2484800"/>
            <a:ext cx="9128049" cy="1888400"/>
          </a:xfrm>
        </p:spPr>
        <p:txBody>
          <a:bodyPr/>
          <a:lstStyle/>
          <a:p>
            <a:r>
              <a:rPr lang="en-GB" noProof="0" dirty="0"/>
              <a:t>Engineering Foundations</a:t>
            </a:r>
            <a:br>
              <a:rPr lang="en-GB" noProof="0" dirty="0"/>
            </a:br>
            <a:r>
              <a:rPr lang="en-GB" sz="2400" noProof="0" dirty="0"/>
              <a:t>Hardware overview</a:t>
            </a:r>
          </a:p>
        </p:txBody>
      </p:sp>
    </p:spTree>
    <p:extLst>
      <p:ext uri="{BB962C8B-B14F-4D97-AF65-F5344CB8AC3E}">
        <p14:creationId xmlns:p14="http://schemas.microsoft.com/office/powerpoint/2010/main" val="1442108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1CCCBB2-14C2-120A-610F-06AAE718BD63}"/>
              </a:ext>
            </a:extLst>
          </p:cNvPr>
          <p:cNvSpPr>
            <a:spLocks noGrp="1"/>
          </p:cNvSpPr>
          <p:nvPr>
            <p:ph type="title"/>
          </p:nvPr>
        </p:nvSpPr>
        <p:spPr/>
        <p:txBody>
          <a:bodyPr/>
          <a:lstStyle/>
          <a:p>
            <a:r>
              <a:rPr lang="en-GB" noProof="0" dirty="0"/>
              <a:t>Web-based systems</a:t>
            </a:r>
          </a:p>
        </p:txBody>
      </p:sp>
      <p:sp>
        <p:nvSpPr>
          <p:cNvPr id="9" name="Text Placeholder 8">
            <a:extLst>
              <a:ext uri="{FF2B5EF4-FFF2-40B4-BE49-F238E27FC236}">
                <a16:creationId xmlns:a16="http://schemas.microsoft.com/office/drawing/2014/main" id="{4A8A1CD0-52EA-3B12-5FAC-71E157E199C8}"/>
              </a:ext>
            </a:extLst>
          </p:cNvPr>
          <p:cNvSpPr>
            <a:spLocks noGrp="1"/>
          </p:cNvSpPr>
          <p:nvPr>
            <p:ph type="body" idx="1"/>
          </p:nvPr>
        </p:nvSpPr>
        <p:spPr>
          <a:xfrm>
            <a:off x="609600" y="6180306"/>
            <a:ext cx="11163300" cy="296694"/>
          </a:xfrm>
        </p:spPr>
        <p:txBody>
          <a:bodyPr/>
          <a:lstStyle/>
          <a:p>
            <a:endParaRPr lang="en-GB" noProof="0" dirty="0"/>
          </a:p>
        </p:txBody>
      </p:sp>
      <p:pic>
        <p:nvPicPr>
          <p:cNvPr id="39" name="Picture 38" descr="A computer with a blue screen&#10;&#10;Description automatically generated">
            <a:extLst>
              <a:ext uri="{FF2B5EF4-FFF2-40B4-BE49-F238E27FC236}">
                <a16:creationId xmlns:a16="http://schemas.microsoft.com/office/drawing/2014/main" id="{1CA28AA5-1E83-D32A-2200-241395F0CF8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flipH="1">
            <a:off x="2237623" y="1584186"/>
            <a:ext cx="1160828" cy="1013911"/>
          </a:xfrm>
          <a:prstGeom prst="rect">
            <a:avLst/>
          </a:prstGeom>
        </p:spPr>
      </p:pic>
      <p:pic>
        <p:nvPicPr>
          <p:cNvPr id="43" name="Picture 42" descr="A computer with a blue screen&#10;&#10;Description automatically generated">
            <a:extLst>
              <a:ext uri="{FF2B5EF4-FFF2-40B4-BE49-F238E27FC236}">
                <a16:creationId xmlns:a16="http://schemas.microsoft.com/office/drawing/2014/main" id="{84ADF013-7236-7F51-63C9-87EAC3ED2935}"/>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8698633" y="4741022"/>
            <a:ext cx="1160828" cy="1013911"/>
          </a:xfrm>
          <a:prstGeom prst="rect">
            <a:avLst/>
          </a:prstGeom>
        </p:spPr>
      </p:pic>
      <p:cxnSp>
        <p:nvCxnSpPr>
          <p:cNvPr id="44" name="Straight Connector 43">
            <a:extLst>
              <a:ext uri="{FF2B5EF4-FFF2-40B4-BE49-F238E27FC236}">
                <a16:creationId xmlns:a16="http://schemas.microsoft.com/office/drawing/2014/main" id="{3DBBD2D6-A9B2-1764-E98D-20B45D58D148}"/>
              </a:ext>
            </a:extLst>
          </p:cNvPr>
          <p:cNvCxnSpPr>
            <a:cxnSpLocks/>
            <a:endCxn id="16" idx="1"/>
          </p:cNvCxnSpPr>
          <p:nvPr/>
        </p:nvCxnSpPr>
        <p:spPr>
          <a:xfrm flipV="1">
            <a:off x="3439091" y="1698470"/>
            <a:ext cx="1371006" cy="173472"/>
          </a:xfrm>
          <a:prstGeom prst="line">
            <a:avLst/>
          </a:prstGeom>
          <a:ln>
            <a:solidFill>
              <a:srgbClr val="00B5DD"/>
            </a:solidFill>
          </a:ln>
        </p:spPr>
        <p:style>
          <a:lnRef idx="2">
            <a:schemeClr val="accent4"/>
          </a:lnRef>
          <a:fillRef idx="0">
            <a:schemeClr val="accent4"/>
          </a:fillRef>
          <a:effectRef idx="1">
            <a:schemeClr val="accent4"/>
          </a:effectRef>
          <a:fontRef idx="minor">
            <a:schemeClr val="tx1"/>
          </a:fontRef>
        </p:style>
      </p:cxnSp>
      <p:cxnSp>
        <p:nvCxnSpPr>
          <p:cNvPr id="45" name="Straight Connector 44">
            <a:extLst>
              <a:ext uri="{FF2B5EF4-FFF2-40B4-BE49-F238E27FC236}">
                <a16:creationId xmlns:a16="http://schemas.microsoft.com/office/drawing/2014/main" id="{A21A0C64-A2DF-0947-D956-16D1C1187E82}"/>
              </a:ext>
            </a:extLst>
          </p:cNvPr>
          <p:cNvCxnSpPr>
            <a:cxnSpLocks/>
            <a:stCxn id="16" idx="3"/>
            <a:endCxn id="42" idx="1"/>
          </p:cNvCxnSpPr>
          <p:nvPr/>
        </p:nvCxnSpPr>
        <p:spPr>
          <a:xfrm>
            <a:off x="5923936" y="1698470"/>
            <a:ext cx="2774697" cy="313136"/>
          </a:xfrm>
          <a:prstGeom prst="line">
            <a:avLst/>
          </a:prstGeom>
          <a:ln>
            <a:solidFill>
              <a:srgbClr val="00B5DD"/>
            </a:solidFill>
          </a:ln>
        </p:spPr>
        <p:style>
          <a:lnRef idx="2">
            <a:schemeClr val="accent4"/>
          </a:lnRef>
          <a:fillRef idx="0">
            <a:schemeClr val="accent4"/>
          </a:fillRef>
          <a:effectRef idx="1">
            <a:schemeClr val="accent4"/>
          </a:effectRef>
          <a:fontRef idx="minor">
            <a:schemeClr val="tx1"/>
          </a:fontRef>
        </p:style>
      </p:cxnSp>
      <p:cxnSp>
        <p:nvCxnSpPr>
          <p:cNvPr id="46" name="Straight Connector 45">
            <a:extLst>
              <a:ext uri="{FF2B5EF4-FFF2-40B4-BE49-F238E27FC236}">
                <a16:creationId xmlns:a16="http://schemas.microsoft.com/office/drawing/2014/main" id="{FF3A3B32-BB2D-0C9E-DB89-26FEBD67F66F}"/>
              </a:ext>
            </a:extLst>
          </p:cNvPr>
          <p:cNvCxnSpPr>
            <a:cxnSpLocks/>
          </p:cNvCxnSpPr>
          <p:nvPr/>
        </p:nvCxnSpPr>
        <p:spPr>
          <a:xfrm flipH="1" flipV="1">
            <a:off x="5923936" y="1895173"/>
            <a:ext cx="2774697" cy="2956970"/>
          </a:xfrm>
          <a:prstGeom prst="line">
            <a:avLst/>
          </a:prstGeom>
          <a:ln>
            <a:solidFill>
              <a:srgbClr val="00B5DD"/>
            </a:solidFill>
          </a:ln>
        </p:spPr>
        <p:style>
          <a:lnRef idx="2">
            <a:schemeClr val="accent4"/>
          </a:lnRef>
          <a:fillRef idx="0">
            <a:schemeClr val="accent4"/>
          </a:fillRef>
          <a:effectRef idx="1">
            <a:schemeClr val="accent4"/>
          </a:effectRef>
          <a:fontRef idx="minor">
            <a:schemeClr val="tx1"/>
          </a:fontRef>
        </p:style>
      </p:cxnSp>
      <p:cxnSp>
        <p:nvCxnSpPr>
          <p:cNvPr id="47" name="Straight Connector 46">
            <a:extLst>
              <a:ext uri="{FF2B5EF4-FFF2-40B4-BE49-F238E27FC236}">
                <a16:creationId xmlns:a16="http://schemas.microsoft.com/office/drawing/2014/main" id="{3E486E67-A1D7-A9DB-6737-A92A0CAD729C}"/>
              </a:ext>
            </a:extLst>
          </p:cNvPr>
          <p:cNvCxnSpPr>
            <a:cxnSpLocks/>
            <a:stCxn id="16" idx="2"/>
          </p:cNvCxnSpPr>
          <p:nvPr/>
        </p:nvCxnSpPr>
        <p:spPr>
          <a:xfrm>
            <a:off x="5367017" y="2047031"/>
            <a:ext cx="20319" cy="1009348"/>
          </a:xfrm>
          <a:prstGeom prst="line">
            <a:avLst/>
          </a:prstGeom>
          <a:ln>
            <a:solidFill>
              <a:srgbClr val="00B5DD"/>
            </a:solidFill>
          </a:ln>
        </p:spPr>
        <p:style>
          <a:lnRef idx="2">
            <a:schemeClr val="accent4"/>
          </a:lnRef>
          <a:fillRef idx="0">
            <a:schemeClr val="accent4"/>
          </a:fillRef>
          <a:effectRef idx="1">
            <a:schemeClr val="accent4"/>
          </a:effectRef>
          <a:fontRef idx="minor">
            <a:schemeClr val="tx1"/>
          </a:fontRef>
        </p:style>
      </p:cxnSp>
      <p:grpSp>
        <p:nvGrpSpPr>
          <p:cNvPr id="3" name="Group 2">
            <a:extLst>
              <a:ext uri="{FF2B5EF4-FFF2-40B4-BE49-F238E27FC236}">
                <a16:creationId xmlns:a16="http://schemas.microsoft.com/office/drawing/2014/main" id="{A1110F44-D5C8-04BB-B0A2-3ED2AD336844}"/>
              </a:ext>
            </a:extLst>
          </p:cNvPr>
          <p:cNvGrpSpPr/>
          <p:nvPr/>
        </p:nvGrpSpPr>
        <p:grpSpPr>
          <a:xfrm>
            <a:off x="4172896" y="3056379"/>
            <a:ext cx="2428880" cy="2591411"/>
            <a:chOff x="6099322" y="1920239"/>
            <a:chExt cx="2428880" cy="2591411"/>
          </a:xfrm>
        </p:grpSpPr>
        <p:sp>
          <p:nvSpPr>
            <p:cNvPr id="38" name="Rectangle 37">
              <a:extLst>
                <a:ext uri="{FF2B5EF4-FFF2-40B4-BE49-F238E27FC236}">
                  <a16:creationId xmlns:a16="http://schemas.microsoft.com/office/drawing/2014/main" id="{18AC7DD6-8ED5-A269-0AFE-6D9E12957556}"/>
                </a:ext>
              </a:extLst>
            </p:cNvPr>
            <p:cNvSpPr/>
            <p:nvPr/>
          </p:nvSpPr>
          <p:spPr>
            <a:xfrm>
              <a:off x="6099322" y="1920239"/>
              <a:ext cx="2428880" cy="2591411"/>
            </a:xfrm>
            <a:prstGeom prst="rect">
              <a:avLst/>
            </a:prstGeom>
            <a:solidFill>
              <a:schemeClr val="accent1">
                <a:lumMod val="60000"/>
                <a:lumOff val="40000"/>
                <a:alpha val="18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pic>
          <p:nvPicPr>
            <p:cNvPr id="41" name="Picture 40" descr="A computer server with colorful lights&#10;&#10;AI-generated content may be incorrect.">
              <a:extLst>
                <a:ext uri="{FF2B5EF4-FFF2-40B4-BE49-F238E27FC236}">
                  <a16:creationId xmlns:a16="http://schemas.microsoft.com/office/drawing/2014/main" id="{634BAFE3-5D42-E5CE-7675-C40C0DAC91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65380" y="2777925"/>
              <a:ext cx="854891" cy="1145583"/>
            </a:xfrm>
            <a:prstGeom prst="rect">
              <a:avLst/>
            </a:prstGeom>
          </p:spPr>
        </p:pic>
        <p:sp>
          <p:nvSpPr>
            <p:cNvPr id="48" name="TextBox 47">
              <a:extLst>
                <a:ext uri="{FF2B5EF4-FFF2-40B4-BE49-F238E27FC236}">
                  <a16:creationId xmlns:a16="http://schemas.microsoft.com/office/drawing/2014/main" id="{47DCE49B-4AEB-BAAC-0A7F-2DF8FF21F85F}"/>
                </a:ext>
              </a:extLst>
            </p:cNvPr>
            <p:cNvSpPr txBox="1"/>
            <p:nvPr/>
          </p:nvSpPr>
          <p:spPr>
            <a:xfrm>
              <a:off x="6657849" y="3979556"/>
              <a:ext cx="1284052"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Physical or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Virtual Machine</a:t>
              </a:r>
            </a:p>
          </p:txBody>
        </p:sp>
        <p:sp>
          <p:nvSpPr>
            <p:cNvPr id="59" name="TextBox 58">
              <a:extLst>
                <a:ext uri="{FF2B5EF4-FFF2-40B4-BE49-F238E27FC236}">
                  <a16:creationId xmlns:a16="http://schemas.microsoft.com/office/drawing/2014/main" id="{35B2008F-FA7A-CD5B-A9C0-A17FF0D70F6A}"/>
                </a:ext>
              </a:extLst>
            </p:cNvPr>
            <p:cNvSpPr txBox="1"/>
            <p:nvPr/>
          </p:nvSpPr>
          <p:spPr>
            <a:xfrm>
              <a:off x="6265538" y="2092816"/>
              <a:ext cx="220932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Azure, AWS, Google, Oracle Cloud Services, on-prem</a:t>
              </a:r>
            </a:p>
          </p:txBody>
        </p:sp>
      </p:grpSp>
      <p:grpSp>
        <p:nvGrpSpPr>
          <p:cNvPr id="2" name="Group 1">
            <a:extLst>
              <a:ext uri="{FF2B5EF4-FFF2-40B4-BE49-F238E27FC236}">
                <a16:creationId xmlns:a16="http://schemas.microsoft.com/office/drawing/2014/main" id="{87BCF4DA-B16A-A956-5648-D256EEE159DB}"/>
              </a:ext>
            </a:extLst>
          </p:cNvPr>
          <p:cNvGrpSpPr/>
          <p:nvPr/>
        </p:nvGrpSpPr>
        <p:grpSpPr>
          <a:xfrm flipH="1">
            <a:off x="8698633" y="1472895"/>
            <a:ext cx="1783958" cy="1045666"/>
            <a:chOff x="1063557" y="2886006"/>
            <a:chExt cx="1783958" cy="1045666"/>
          </a:xfrm>
        </p:grpSpPr>
        <p:pic>
          <p:nvPicPr>
            <p:cNvPr id="42" name="Picture 41" descr="A computer with a blue screen&#10;&#10;Description automatically generated">
              <a:extLst>
                <a:ext uri="{FF2B5EF4-FFF2-40B4-BE49-F238E27FC236}">
                  <a16:creationId xmlns:a16="http://schemas.microsoft.com/office/drawing/2014/main" id="{869C9BD2-1A96-542D-16B7-7D0DE4BE5EC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flipH="1">
              <a:off x="1686687" y="2917761"/>
              <a:ext cx="1160828" cy="1013911"/>
            </a:xfrm>
            <a:prstGeom prst="rect">
              <a:avLst/>
            </a:prstGeom>
          </p:spPr>
        </p:pic>
        <p:sp>
          <p:nvSpPr>
            <p:cNvPr id="60" name="TextBox 59">
              <a:extLst>
                <a:ext uri="{FF2B5EF4-FFF2-40B4-BE49-F238E27FC236}">
                  <a16:creationId xmlns:a16="http://schemas.microsoft.com/office/drawing/2014/main" id="{21F6FE86-D459-2CE8-7C47-DD906C83F28B}"/>
                </a:ext>
              </a:extLst>
            </p:cNvPr>
            <p:cNvSpPr txBox="1"/>
            <p:nvPr/>
          </p:nvSpPr>
          <p:spPr>
            <a:xfrm>
              <a:off x="1063557" y="2886006"/>
              <a:ext cx="1002904"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US User</a:t>
              </a:r>
            </a:p>
          </p:txBody>
        </p:sp>
      </p:grpSp>
      <p:sp>
        <p:nvSpPr>
          <p:cNvPr id="61" name="TextBox 60">
            <a:extLst>
              <a:ext uri="{FF2B5EF4-FFF2-40B4-BE49-F238E27FC236}">
                <a16:creationId xmlns:a16="http://schemas.microsoft.com/office/drawing/2014/main" id="{5643C6C6-5DE6-B0E4-74A2-7679258260EC}"/>
              </a:ext>
            </a:extLst>
          </p:cNvPr>
          <p:cNvSpPr txBox="1"/>
          <p:nvPr/>
        </p:nvSpPr>
        <p:spPr>
          <a:xfrm>
            <a:off x="607007" y="3749125"/>
            <a:ext cx="80941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German User</a:t>
            </a:r>
          </a:p>
        </p:txBody>
      </p:sp>
      <p:sp>
        <p:nvSpPr>
          <p:cNvPr id="62" name="TextBox 61">
            <a:extLst>
              <a:ext uri="{FF2B5EF4-FFF2-40B4-BE49-F238E27FC236}">
                <a16:creationId xmlns:a16="http://schemas.microsoft.com/office/drawing/2014/main" id="{8BE2B6A6-73EF-BEEF-0769-ED7CBE546CBE}"/>
              </a:ext>
            </a:extLst>
          </p:cNvPr>
          <p:cNvSpPr txBox="1"/>
          <p:nvPr/>
        </p:nvSpPr>
        <p:spPr>
          <a:xfrm>
            <a:off x="9469954" y="4732524"/>
            <a:ext cx="95315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Australian user</a:t>
            </a:r>
          </a:p>
        </p:txBody>
      </p:sp>
      <p:sp>
        <p:nvSpPr>
          <p:cNvPr id="63" name="Slide Number Placeholder 62">
            <a:extLst>
              <a:ext uri="{FF2B5EF4-FFF2-40B4-BE49-F238E27FC236}">
                <a16:creationId xmlns:a16="http://schemas.microsoft.com/office/drawing/2014/main" id="{FCF2A6AF-9B30-AA30-73CF-41C78F7DCA11}"/>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09167D-FCC9-444D-BA38-7DB2AAFEB7A1}"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16" name="Picture 15" descr="A black and white cloud&#10;&#10;AI-generated content may be incorrect.">
            <a:extLst>
              <a:ext uri="{FF2B5EF4-FFF2-40B4-BE49-F238E27FC236}">
                <a16:creationId xmlns:a16="http://schemas.microsoft.com/office/drawing/2014/main" id="{62F2E016-256A-6AB0-516D-ECEFFFB6F69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10097" y="1349908"/>
            <a:ext cx="1113839" cy="697123"/>
          </a:xfrm>
          <a:prstGeom prst="rect">
            <a:avLst/>
          </a:prstGeom>
        </p:spPr>
      </p:pic>
      <p:pic>
        <p:nvPicPr>
          <p:cNvPr id="21" name="Picture 20" descr="A computer with a blue screen&#10;&#10;Description automatically generated">
            <a:extLst>
              <a:ext uri="{FF2B5EF4-FFF2-40B4-BE49-F238E27FC236}">
                <a16:creationId xmlns:a16="http://schemas.microsoft.com/office/drawing/2014/main" id="{CF464046-AEE9-B304-AF33-04B70CC7EDCD}"/>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flipH="1">
            <a:off x="1076795" y="3727111"/>
            <a:ext cx="1160828" cy="1013911"/>
          </a:xfrm>
          <a:prstGeom prst="rect">
            <a:avLst/>
          </a:prstGeom>
        </p:spPr>
      </p:pic>
      <p:sp>
        <p:nvSpPr>
          <p:cNvPr id="23" name="TextBox 22">
            <a:extLst>
              <a:ext uri="{FF2B5EF4-FFF2-40B4-BE49-F238E27FC236}">
                <a16:creationId xmlns:a16="http://schemas.microsoft.com/office/drawing/2014/main" id="{31B664E5-065C-E99B-4EE3-0C1E4F243283}"/>
              </a:ext>
            </a:extLst>
          </p:cNvPr>
          <p:cNvSpPr txBox="1"/>
          <p:nvPr/>
        </p:nvSpPr>
        <p:spPr>
          <a:xfrm>
            <a:off x="1793796" y="1530307"/>
            <a:ext cx="809419"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UK User</a:t>
            </a:r>
          </a:p>
        </p:txBody>
      </p:sp>
      <p:cxnSp>
        <p:nvCxnSpPr>
          <p:cNvPr id="24" name="Straight Connector 23">
            <a:extLst>
              <a:ext uri="{FF2B5EF4-FFF2-40B4-BE49-F238E27FC236}">
                <a16:creationId xmlns:a16="http://schemas.microsoft.com/office/drawing/2014/main" id="{46565AB9-56F1-C203-0AEE-D99D2AE9CE6B}"/>
              </a:ext>
            </a:extLst>
          </p:cNvPr>
          <p:cNvCxnSpPr>
            <a:cxnSpLocks/>
          </p:cNvCxnSpPr>
          <p:nvPr/>
        </p:nvCxnSpPr>
        <p:spPr>
          <a:xfrm flipV="1">
            <a:off x="2198505" y="1986226"/>
            <a:ext cx="2724297" cy="2056270"/>
          </a:xfrm>
          <a:prstGeom prst="line">
            <a:avLst/>
          </a:prstGeom>
          <a:ln>
            <a:solidFill>
              <a:srgbClr val="00B5DD"/>
            </a:solidFill>
          </a:ln>
        </p:spPr>
        <p:style>
          <a:lnRef idx="2">
            <a:schemeClr val="accent4"/>
          </a:lnRef>
          <a:fillRef idx="0">
            <a:schemeClr val="accent4"/>
          </a:fillRef>
          <a:effectRef idx="1">
            <a:schemeClr val="accent4"/>
          </a:effectRef>
          <a:fontRef idx="minor">
            <a:schemeClr val="tx1"/>
          </a:fontRef>
        </p:style>
      </p:cxnSp>
      <p:sp>
        <p:nvSpPr>
          <p:cNvPr id="27" name="TextBox 26">
            <a:extLst>
              <a:ext uri="{FF2B5EF4-FFF2-40B4-BE49-F238E27FC236}">
                <a16:creationId xmlns:a16="http://schemas.microsoft.com/office/drawing/2014/main" id="{C3C1353B-FF75-F1CA-0895-6690E6B5503F}"/>
              </a:ext>
            </a:extLst>
          </p:cNvPr>
          <p:cNvSpPr txBox="1"/>
          <p:nvPr/>
        </p:nvSpPr>
        <p:spPr>
          <a:xfrm>
            <a:off x="4938106" y="1571976"/>
            <a:ext cx="809419"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Internet</a:t>
            </a:r>
          </a:p>
        </p:txBody>
      </p:sp>
    </p:spTree>
    <p:extLst>
      <p:ext uri="{BB962C8B-B14F-4D97-AF65-F5344CB8AC3E}">
        <p14:creationId xmlns:p14="http://schemas.microsoft.com/office/powerpoint/2010/main" val="1912489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11006-4888-B265-6831-D6638F8BBA4F}"/>
              </a:ext>
            </a:extLst>
          </p:cNvPr>
          <p:cNvSpPr>
            <a:spLocks noGrp="1"/>
          </p:cNvSpPr>
          <p:nvPr>
            <p:ph type="title"/>
          </p:nvPr>
        </p:nvSpPr>
        <p:spPr/>
        <p:txBody>
          <a:bodyPr/>
          <a:lstStyle/>
          <a:p>
            <a:r>
              <a:rPr lang="en-GB" noProof="0" dirty="0"/>
              <a:t>Hardware: Basic Architecture</a:t>
            </a:r>
          </a:p>
        </p:txBody>
      </p:sp>
      <p:sp>
        <p:nvSpPr>
          <p:cNvPr id="3" name="Text Placeholder 2">
            <a:extLst>
              <a:ext uri="{FF2B5EF4-FFF2-40B4-BE49-F238E27FC236}">
                <a16:creationId xmlns:a16="http://schemas.microsoft.com/office/drawing/2014/main" id="{3053A2CE-9F4F-4443-AFAF-BA6D3B64D79E}"/>
              </a:ext>
            </a:extLst>
          </p:cNvPr>
          <p:cNvSpPr>
            <a:spLocks noGrp="1"/>
          </p:cNvSpPr>
          <p:nvPr>
            <p:ph type="body" idx="1"/>
          </p:nvPr>
        </p:nvSpPr>
        <p:spPr>
          <a:xfrm>
            <a:off x="4158562" y="1089368"/>
            <a:ext cx="7614338" cy="5387632"/>
          </a:xfrm>
        </p:spPr>
        <p:txBody>
          <a:bodyPr/>
          <a:lstStyle/>
          <a:p>
            <a:pPr marL="152396" indent="0">
              <a:buNone/>
            </a:pPr>
            <a:r>
              <a:rPr lang="en-GB" sz="1600" noProof="0" dirty="0"/>
              <a:t>Hardware: physical components of a computer system including</a:t>
            </a:r>
          </a:p>
          <a:p>
            <a:r>
              <a:rPr lang="en-GB" sz="1600" noProof="0" dirty="0"/>
              <a:t>Input Devices: Examples include keyboard, mouse, scanner</a:t>
            </a:r>
          </a:p>
          <a:p>
            <a:r>
              <a:rPr lang="en-GB" sz="1600" noProof="0" dirty="0"/>
              <a:t>Output Devices: Examples include monitor, printer, speakers</a:t>
            </a:r>
          </a:p>
          <a:p>
            <a:r>
              <a:rPr lang="en-GB" sz="1600" noProof="0" dirty="0"/>
              <a:t>Primary storage (RAM, ROM/Flash)</a:t>
            </a:r>
          </a:p>
          <a:p>
            <a:r>
              <a:rPr lang="en-GB" sz="1600" noProof="0" dirty="0"/>
              <a:t>Secondary storage (Hard Disk Drives (HDD), Solid State Drive (SSD)</a:t>
            </a:r>
          </a:p>
          <a:p>
            <a:r>
              <a:rPr lang="en-GB" sz="1600" noProof="0" dirty="0"/>
              <a:t>Processing Unit</a:t>
            </a:r>
          </a:p>
          <a:p>
            <a:pPr lvl="1"/>
            <a:r>
              <a:rPr lang="en-GB" sz="1400" noProof="0" dirty="0"/>
              <a:t>CPU (Central Processing Unit)</a:t>
            </a:r>
          </a:p>
          <a:p>
            <a:pPr lvl="1"/>
            <a:r>
              <a:rPr lang="en-GB" sz="1400" noProof="0" dirty="0"/>
              <a:t>GPU (Graphics Processing Unit)</a:t>
            </a:r>
          </a:p>
          <a:p>
            <a:r>
              <a:rPr lang="en-GB" sz="1600" noProof="0" dirty="0"/>
              <a:t>Motherboard: Connects all components together</a:t>
            </a:r>
          </a:p>
          <a:p>
            <a:r>
              <a:rPr lang="en-GB" sz="1600" noProof="0" dirty="0"/>
              <a:t>Power Supply: Provides electricity to the system</a:t>
            </a:r>
          </a:p>
          <a:p>
            <a:r>
              <a:rPr lang="en-GB" sz="1600" noProof="0" dirty="0"/>
              <a:t>Servers are a little different in that they have less stuff but are more powerful</a:t>
            </a:r>
          </a:p>
          <a:p>
            <a:endParaRPr lang="en-GB" noProof="0" dirty="0"/>
          </a:p>
        </p:txBody>
      </p:sp>
      <p:sp>
        <p:nvSpPr>
          <p:cNvPr id="4" name="Slide Number Placeholder 3">
            <a:extLst>
              <a:ext uri="{FF2B5EF4-FFF2-40B4-BE49-F238E27FC236}">
                <a16:creationId xmlns:a16="http://schemas.microsoft.com/office/drawing/2014/main" id="{215666DD-0B29-332C-6D86-BC0D41F91D93}"/>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30" name="Group 29">
            <a:extLst>
              <a:ext uri="{FF2B5EF4-FFF2-40B4-BE49-F238E27FC236}">
                <a16:creationId xmlns:a16="http://schemas.microsoft.com/office/drawing/2014/main" id="{67218ABA-F081-8D9C-188B-8EA9B881CDEF}"/>
              </a:ext>
            </a:extLst>
          </p:cNvPr>
          <p:cNvGrpSpPr/>
          <p:nvPr/>
        </p:nvGrpSpPr>
        <p:grpSpPr>
          <a:xfrm>
            <a:off x="609600" y="1366231"/>
            <a:ext cx="3284352" cy="4580238"/>
            <a:chOff x="609600" y="1366231"/>
            <a:chExt cx="3284352" cy="4580238"/>
          </a:xfrm>
        </p:grpSpPr>
        <p:sp>
          <p:nvSpPr>
            <p:cNvPr id="5" name="Rectangle 4">
              <a:extLst>
                <a:ext uri="{FF2B5EF4-FFF2-40B4-BE49-F238E27FC236}">
                  <a16:creationId xmlns:a16="http://schemas.microsoft.com/office/drawing/2014/main" id="{2D36DEFD-CA0D-C872-759D-3B7ADF71FB6D}"/>
                </a:ext>
              </a:extLst>
            </p:cNvPr>
            <p:cNvSpPr/>
            <p:nvPr/>
          </p:nvSpPr>
          <p:spPr>
            <a:xfrm>
              <a:off x="609600" y="5481031"/>
              <a:ext cx="827903" cy="465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Input</a:t>
              </a:r>
            </a:p>
          </p:txBody>
        </p:sp>
        <p:sp>
          <p:nvSpPr>
            <p:cNvPr id="6" name="Rectangle 5">
              <a:extLst>
                <a:ext uri="{FF2B5EF4-FFF2-40B4-BE49-F238E27FC236}">
                  <a16:creationId xmlns:a16="http://schemas.microsoft.com/office/drawing/2014/main" id="{4AFFAC0B-4462-BEE4-5D8D-45789144696C}"/>
                </a:ext>
              </a:extLst>
            </p:cNvPr>
            <p:cNvSpPr/>
            <p:nvPr/>
          </p:nvSpPr>
          <p:spPr>
            <a:xfrm>
              <a:off x="1737666" y="5481032"/>
              <a:ext cx="827903" cy="465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Output</a:t>
              </a:r>
            </a:p>
          </p:txBody>
        </p:sp>
        <p:sp>
          <p:nvSpPr>
            <p:cNvPr id="7" name="Rectangle 6">
              <a:extLst>
                <a:ext uri="{FF2B5EF4-FFF2-40B4-BE49-F238E27FC236}">
                  <a16:creationId xmlns:a16="http://schemas.microsoft.com/office/drawing/2014/main" id="{0BBB451D-6645-D096-4C3C-CF276D63AB08}"/>
                </a:ext>
              </a:extLst>
            </p:cNvPr>
            <p:cNvSpPr/>
            <p:nvPr/>
          </p:nvSpPr>
          <p:spPr>
            <a:xfrm>
              <a:off x="2934212" y="5481031"/>
              <a:ext cx="827903" cy="465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Network</a:t>
              </a:r>
            </a:p>
          </p:txBody>
        </p:sp>
        <p:sp>
          <p:nvSpPr>
            <p:cNvPr id="8" name="Rectangle 7">
              <a:extLst>
                <a:ext uri="{FF2B5EF4-FFF2-40B4-BE49-F238E27FC236}">
                  <a16:creationId xmlns:a16="http://schemas.microsoft.com/office/drawing/2014/main" id="{18F395F3-B39C-7F24-DB05-A655728E1B46}"/>
                </a:ext>
              </a:extLst>
            </p:cNvPr>
            <p:cNvSpPr/>
            <p:nvPr/>
          </p:nvSpPr>
          <p:spPr>
            <a:xfrm>
              <a:off x="3330658" y="3913782"/>
              <a:ext cx="563294" cy="8279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Drive</a:t>
              </a:r>
            </a:p>
          </p:txBody>
        </p:sp>
        <p:cxnSp>
          <p:nvCxnSpPr>
            <p:cNvPr id="9" name="Straight Arrow Connector 8">
              <a:extLst>
                <a:ext uri="{FF2B5EF4-FFF2-40B4-BE49-F238E27FC236}">
                  <a16:creationId xmlns:a16="http://schemas.microsoft.com/office/drawing/2014/main" id="{34023708-0817-81EB-9F51-B0D74125A161}"/>
                </a:ext>
              </a:extLst>
            </p:cNvPr>
            <p:cNvCxnSpPr>
              <a:cxnSpLocks/>
            </p:cNvCxnSpPr>
            <p:nvPr/>
          </p:nvCxnSpPr>
          <p:spPr>
            <a:xfrm>
              <a:off x="2565570" y="4537798"/>
              <a:ext cx="765088" cy="0"/>
            </a:xfrm>
            <a:prstGeom prst="straightConnector1">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C4BBB98-FFBC-1407-F43C-FC4FB902134E}"/>
                </a:ext>
              </a:extLst>
            </p:cNvPr>
            <p:cNvCxnSpPr>
              <a:cxnSpLocks/>
            </p:cNvCxnSpPr>
            <p:nvPr/>
          </p:nvCxnSpPr>
          <p:spPr>
            <a:xfrm>
              <a:off x="2565570" y="2247679"/>
              <a:ext cx="592030"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78784BB-D364-3236-135E-ED0C630457C9}"/>
                </a:ext>
              </a:extLst>
            </p:cNvPr>
            <p:cNvCxnSpPr>
              <a:cxnSpLocks/>
            </p:cNvCxnSpPr>
            <p:nvPr/>
          </p:nvCxnSpPr>
          <p:spPr>
            <a:xfrm>
              <a:off x="3138100" y="2247679"/>
              <a:ext cx="0" cy="2080054"/>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0FE4B054-79BF-E580-7D69-86049659DDC4}"/>
                </a:ext>
              </a:extLst>
            </p:cNvPr>
            <p:cNvSpPr/>
            <p:nvPr/>
          </p:nvSpPr>
          <p:spPr>
            <a:xfrm>
              <a:off x="1737666" y="1366231"/>
              <a:ext cx="827903" cy="1762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RAM</a:t>
              </a:r>
            </a:p>
          </p:txBody>
        </p:sp>
        <p:cxnSp>
          <p:nvCxnSpPr>
            <p:cNvPr id="13" name="Straight Arrow Connector 12">
              <a:extLst>
                <a:ext uri="{FF2B5EF4-FFF2-40B4-BE49-F238E27FC236}">
                  <a16:creationId xmlns:a16="http://schemas.microsoft.com/office/drawing/2014/main" id="{1671758E-A049-BE7C-8B32-AD831D08CEF6}"/>
                </a:ext>
              </a:extLst>
            </p:cNvPr>
            <p:cNvCxnSpPr>
              <a:cxnSpLocks/>
            </p:cNvCxnSpPr>
            <p:nvPr/>
          </p:nvCxnSpPr>
          <p:spPr>
            <a:xfrm>
              <a:off x="2565570" y="4327733"/>
              <a:ext cx="592030"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6857DF0-BF97-07FF-BE68-D02266160C5A}"/>
                </a:ext>
              </a:extLst>
            </p:cNvPr>
            <p:cNvCxnSpPr>
              <a:cxnSpLocks/>
              <a:stCxn id="17" idx="3"/>
            </p:cNvCxnSpPr>
            <p:nvPr/>
          </p:nvCxnSpPr>
          <p:spPr>
            <a:xfrm flipV="1">
              <a:off x="2565569" y="3521454"/>
              <a:ext cx="296016" cy="1"/>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4C8370A-00B4-7871-E344-8A0D652D31EC}"/>
                </a:ext>
              </a:extLst>
            </p:cNvPr>
            <p:cNvCxnSpPr>
              <a:cxnSpLocks/>
            </p:cNvCxnSpPr>
            <p:nvPr/>
          </p:nvCxnSpPr>
          <p:spPr>
            <a:xfrm>
              <a:off x="2873490" y="3502533"/>
              <a:ext cx="0" cy="601878"/>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94BDE8A-797E-28A7-8A20-5C5D47E8E73A}"/>
                </a:ext>
              </a:extLst>
            </p:cNvPr>
            <p:cNvCxnSpPr>
              <a:cxnSpLocks/>
            </p:cNvCxnSpPr>
            <p:nvPr/>
          </p:nvCxnSpPr>
          <p:spPr>
            <a:xfrm>
              <a:off x="2565569" y="4104411"/>
              <a:ext cx="328245"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D63EEC0A-9126-D8C8-9E7E-C6ACD5BF40BF}"/>
                </a:ext>
              </a:extLst>
            </p:cNvPr>
            <p:cNvSpPr/>
            <p:nvPr/>
          </p:nvSpPr>
          <p:spPr>
            <a:xfrm>
              <a:off x="1737666" y="3288736"/>
              <a:ext cx="827903" cy="465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ROM/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Flash</a:t>
              </a:r>
            </a:p>
          </p:txBody>
        </p:sp>
        <p:cxnSp>
          <p:nvCxnSpPr>
            <p:cNvPr id="18" name="Straight Arrow Connector 17">
              <a:extLst>
                <a:ext uri="{FF2B5EF4-FFF2-40B4-BE49-F238E27FC236}">
                  <a16:creationId xmlns:a16="http://schemas.microsoft.com/office/drawing/2014/main" id="{6E8ABB5F-FED9-A0E6-5649-05713E392112}"/>
                </a:ext>
              </a:extLst>
            </p:cNvPr>
            <p:cNvCxnSpPr>
              <a:cxnSpLocks/>
            </p:cNvCxnSpPr>
            <p:nvPr/>
          </p:nvCxnSpPr>
          <p:spPr>
            <a:xfrm>
              <a:off x="1888394" y="4741685"/>
              <a:ext cx="0" cy="392327"/>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EB33480-9F30-84E4-FCE3-F83FC44E44E0}"/>
                </a:ext>
              </a:extLst>
            </p:cNvPr>
            <p:cNvCxnSpPr>
              <a:cxnSpLocks/>
            </p:cNvCxnSpPr>
            <p:nvPr/>
          </p:nvCxnSpPr>
          <p:spPr>
            <a:xfrm>
              <a:off x="1004499" y="5116122"/>
              <a:ext cx="883895" cy="0"/>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35338E2-E799-E354-5420-910155ACCCCF}"/>
                </a:ext>
              </a:extLst>
            </p:cNvPr>
            <p:cNvCxnSpPr>
              <a:cxnSpLocks/>
              <a:endCxn id="5" idx="0"/>
            </p:cNvCxnSpPr>
            <p:nvPr/>
          </p:nvCxnSpPr>
          <p:spPr>
            <a:xfrm>
              <a:off x="1023552" y="5116122"/>
              <a:ext cx="0" cy="364909"/>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4F2AA4A-DFEA-C9BE-FBD0-47CD0B328194}"/>
                </a:ext>
              </a:extLst>
            </p:cNvPr>
            <p:cNvCxnSpPr>
              <a:cxnSpLocks/>
              <a:stCxn id="29" idx="2"/>
              <a:endCxn id="6" idx="0"/>
            </p:cNvCxnSpPr>
            <p:nvPr/>
          </p:nvCxnSpPr>
          <p:spPr>
            <a:xfrm flipH="1">
              <a:off x="2151618" y="4741685"/>
              <a:ext cx="1" cy="739347"/>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816CD31-B6E5-D862-50A4-126075DC3CC1}"/>
                </a:ext>
              </a:extLst>
            </p:cNvPr>
            <p:cNvCxnSpPr>
              <a:cxnSpLocks/>
            </p:cNvCxnSpPr>
            <p:nvPr/>
          </p:nvCxnSpPr>
          <p:spPr>
            <a:xfrm>
              <a:off x="3369146" y="5111358"/>
              <a:ext cx="0" cy="364909"/>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C36A50E-56B5-E8C0-5715-3EE4E988DEB7}"/>
                </a:ext>
              </a:extLst>
            </p:cNvPr>
            <p:cNvCxnSpPr>
              <a:cxnSpLocks/>
            </p:cNvCxnSpPr>
            <p:nvPr/>
          </p:nvCxnSpPr>
          <p:spPr>
            <a:xfrm>
              <a:off x="2383693" y="5122944"/>
              <a:ext cx="993431" cy="0"/>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0976673-EF98-E96C-A62F-22F22EFAE608}"/>
                </a:ext>
              </a:extLst>
            </p:cNvPr>
            <p:cNvCxnSpPr>
              <a:cxnSpLocks/>
            </p:cNvCxnSpPr>
            <p:nvPr/>
          </p:nvCxnSpPr>
          <p:spPr>
            <a:xfrm>
              <a:off x="2393219" y="4741685"/>
              <a:ext cx="0" cy="392327"/>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0BE9E70-4FEF-384D-ADD8-01D40D2D17E8}"/>
                </a:ext>
              </a:extLst>
            </p:cNvPr>
            <p:cNvCxnSpPr>
              <a:cxnSpLocks/>
            </p:cNvCxnSpPr>
            <p:nvPr/>
          </p:nvCxnSpPr>
          <p:spPr>
            <a:xfrm>
              <a:off x="1304537" y="2247679"/>
              <a:ext cx="0" cy="2080054"/>
            </a:xfrm>
            <a:prstGeom prst="straightConnector1">
              <a:avLst/>
            </a:prstGeom>
            <a:ln w="38100">
              <a:solidFill>
                <a:schemeClr val="tx1">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C44B614-1190-59DB-FCAA-0DE449C1FEAD}"/>
                </a:ext>
              </a:extLst>
            </p:cNvPr>
            <p:cNvCxnSpPr>
              <a:cxnSpLocks/>
              <a:endCxn id="29" idx="1"/>
            </p:cNvCxnSpPr>
            <p:nvPr/>
          </p:nvCxnSpPr>
          <p:spPr>
            <a:xfrm>
              <a:off x="1285038" y="4327734"/>
              <a:ext cx="452629" cy="0"/>
            </a:xfrm>
            <a:prstGeom prst="straightConnector1">
              <a:avLst/>
            </a:prstGeom>
            <a:ln w="38100">
              <a:solidFill>
                <a:schemeClr val="tx1">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1F91BFB-D289-822D-B78A-1E6F1F96C998}"/>
                </a:ext>
              </a:extLst>
            </p:cNvPr>
            <p:cNvCxnSpPr>
              <a:cxnSpLocks/>
              <a:stCxn id="12" idx="1"/>
            </p:cNvCxnSpPr>
            <p:nvPr/>
          </p:nvCxnSpPr>
          <p:spPr>
            <a:xfrm flipH="1">
              <a:off x="1285038" y="2247680"/>
              <a:ext cx="452628" cy="0"/>
            </a:xfrm>
            <a:prstGeom prst="straightConnector1">
              <a:avLst/>
            </a:prstGeom>
            <a:ln w="38100">
              <a:solidFill>
                <a:schemeClr val="tx1">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7242D59-919A-6AB7-1B10-9532DC2A6B96}"/>
                </a:ext>
              </a:extLst>
            </p:cNvPr>
            <p:cNvCxnSpPr>
              <a:cxnSpLocks/>
            </p:cNvCxnSpPr>
            <p:nvPr/>
          </p:nvCxnSpPr>
          <p:spPr>
            <a:xfrm flipH="1">
              <a:off x="1285038" y="3521454"/>
              <a:ext cx="452628" cy="0"/>
            </a:xfrm>
            <a:prstGeom prst="straightConnector1">
              <a:avLst/>
            </a:prstGeom>
            <a:ln w="38100">
              <a:solidFill>
                <a:schemeClr val="tx1">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131006A2-6702-E3E0-0332-0CD7204C4005}"/>
                </a:ext>
              </a:extLst>
            </p:cNvPr>
            <p:cNvSpPr/>
            <p:nvPr/>
          </p:nvSpPr>
          <p:spPr>
            <a:xfrm>
              <a:off x="1737667" y="3913782"/>
              <a:ext cx="827903" cy="8279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CPU</a:t>
              </a:r>
            </a:p>
          </p:txBody>
        </p:sp>
      </p:grpSp>
    </p:spTree>
    <p:extLst>
      <p:ext uri="{BB962C8B-B14F-4D97-AF65-F5344CB8AC3E}">
        <p14:creationId xmlns:p14="http://schemas.microsoft.com/office/powerpoint/2010/main" val="1975465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D3317-F3EA-83E2-2308-2B9A14FF560C}"/>
              </a:ext>
            </a:extLst>
          </p:cNvPr>
          <p:cNvSpPr>
            <a:spLocks noGrp="1"/>
          </p:cNvSpPr>
          <p:nvPr>
            <p:ph type="title"/>
          </p:nvPr>
        </p:nvSpPr>
        <p:spPr/>
        <p:txBody>
          <a:bodyPr/>
          <a:lstStyle/>
          <a:p>
            <a:r>
              <a:rPr lang="en-GB" noProof="0" dirty="0"/>
              <a:t>Basic Primary Storage</a:t>
            </a:r>
          </a:p>
        </p:txBody>
      </p:sp>
      <p:sp>
        <p:nvSpPr>
          <p:cNvPr id="3" name="Text Placeholder 2">
            <a:extLst>
              <a:ext uri="{FF2B5EF4-FFF2-40B4-BE49-F238E27FC236}">
                <a16:creationId xmlns:a16="http://schemas.microsoft.com/office/drawing/2014/main" id="{F174D4BB-F15E-C316-CF90-0317BAA504E3}"/>
              </a:ext>
            </a:extLst>
          </p:cNvPr>
          <p:cNvSpPr>
            <a:spLocks noGrp="1"/>
          </p:cNvSpPr>
          <p:nvPr>
            <p:ph type="body" idx="1"/>
          </p:nvPr>
        </p:nvSpPr>
        <p:spPr>
          <a:xfrm>
            <a:off x="609600" y="1089368"/>
            <a:ext cx="4591050" cy="5768632"/>
          </a:xfrm>
        </p:spPr>
        <p:txBody>
          <a:bodyPr/>
          <a:lstStyle/>
          <a:p>
            <a:pPr>
              <a:spcBef>
                <a:spcPts val="600"/>
              </a:spcBef>
            </a:pPr>
            <a:r>
              <a:rPr lang="en-GB" sz="1600" noProof="0" dirty="0"/>
              <a:t>Random Access Memory (RAM)</a:t>
            </a:r>
          </a:p>
          <a:p>
            <a:pPr lvl="1">
              <a:spcBef>
                <a:spcPts val="600"/>
              </a:spcBef>
            </a:pPr>
            <a:r>
              <a:rPr lang="en-GB" noProof="0" dirty="0"/>
              <a:t>Extremely fast ~50GB/s R &amp; W</a:t>
            </a:r>
          </a:p>
          <a:p>
            <a:pPr lvl="1">
              <a:spcBef>
                <a:spcPts val="600"/>
              </a:spcBef>
            </a:pPr>
            <a:r>
              <a:rPr lang="en-GB" noProof="0" dirty="0"/>
              <a:t>Capacity typically ~32GB</a:t>
            </a:r>
          </a:p>
          <a:p>
            <a:pPr lvl="1">
              <a:spcBef>
                <a:spcPts val="600"/>
              </a:spcBef>
            </a:pPr>
            <a:r>
              <a:rPr lang="en-GB" noProof="0" dirty="0"/>
              <a:t>Volatile</a:t>
            </a:r>
          </a:p>
          <a:p>
            <a:pPr lvl="1">
              <a:spcBef>
                <a:spcPts val="600"/>
              </a:spcBef>
            </a:pPr>
            <a:r>
              <a:rPr lang="en-GB" noProof="0" dirty="0"/>
              <a:t>Holds code &amp; data during execution</a:t>
            </a:r>
          </a:p>
          <a:p>
            <a:pPr lvl="1">
              <a:spcBef>
                <a:spcPts val="600"/>
              </a:spcBef>
            </a:pPr>
            <a:r>
              <a:rPr lang="en-GB" noProof="0" dirty="0"/>
              <a:t>Randomly addressable from CPU</a:t>
            </a:r>
          </a:p>
          <a:p>
            <a:pPr lvl="1">
              <a:spcBef>
                <a:spcPts val="600"/>
              </a:spcBef>
            </a:pPr>
            <a:endParaRPr lang="en-GB" noProof="0" dirty="0"/>
          </a:p>
          <a:p>
            <a:pPr>
              <a:spcBef>
                <a:spcPts val="600"/>
              </a:spcBef>
            </a:pPr>
            <a:r>
              <a:rPr lang="en-GB" sz="1600" noProof="0" dirty="0"/>
              <a:t>Flash Memory</a:t>
            </a:r>
          </a:p>
          <a:p>
            <a:pPr lvl="1">
              <a:spcBef>
                <a:spcPts val="600"/>
              </a:spcBef>
            </a:pPr>
            <a:r>
              <a:rPr lang="en-GB" noProof="0" dirty="0"/>
              <a:t>Slower ~10MB/s read, ~2MB/s write</a:t>
            </a:r>
          </a:p>
          <a:p>
            <a:pPr lvl="1">
              <a:spcBef>
                <a:spcPts val="600"/>
              </a:spcBef>
            </a:pPr>
            <a:r>
              <a:rPr lang="en-GB" noProof="0" dirty="0"/>
              <a:t>Capacity typically ~ 16MB </a:t>
            </a:r>
          </a:p>
          <a:p>
            <a:pPr lvl="1">
              <a:spcBef>
                <a:spcPts val="600"/>
              </a:spcBef>
            </a:pPr>
            <a:r>
              <a:rPr lang="en-GB" noProof="0" dirty="0"/>
              <a:t>Non-volatile</a:t>
            </a:r>
          </a:p>
          <a:p>
            <a:pPr lvl="1">
              <a:spcBef>
                <a:spcPts val="600"/>
              </a:spcBef>
            </a:pPr>
            <a:r>
              <a:rPr lang="en-GB" noProof="0" dirty="0"/>
              <a:t>Popular for firmware</a:t>
            </a:r>
          </a:p>
          <a:p>
            <a:pPr lvl="1">
              <a:spcBef>
                <a:spcPts val="600"/>
              </a:spcBef>
            </a:pPr>
            <a:r>
              <a:rPr lang="en-GB" noProof="0" dirty="0"/>
              <a:t>Randomly addressable from CPU</a:t>
            </a:r>
          </a:p>
          <a:p>
            <a:endParaRPr lang="en-GB" sz="1600" noProof="0" dirty="0"/>
          </a:p>
          <a:p>
            <a:pPr lvl="1"/>
            <a:endParaRPr lang="en-GB" sz="1400" noProof="0" dirty="0"/>
          </a:p>
          <a:p>
            <a:pPr lvl="1"/>
            <a:endParaRPr lang="en-GB" sz="1400" noProof="0" dirty="0"/>
          </a:p>
          <a:p>
            <a:pPr lvl="1"/>
            <a:endParaRPr lang="en-GB" sz="1400" noProof="0" dirty="0"/>
          </a:p>
          <a:p>
            <a:pPr lvl="1"/>
            <a:endParaRPr lang="en-GB" noProof="0" dirty="0"/>
          </a:p>
        </p:txBody>
      </p:sp>
      <p:sp>
        <p:nvSpPr>
          <p:cNvPr id="4" name="Slide Number Placeholder 3">
            <a:extLst>
              <a:ext uri="{FF2B5EF4-FFF2-40B4-BE49-F238E27FC236}">
                <a16:creationId xmlns:a16="http://schemas.microsoft.com/office/drawing/2014/main" id="{C777830D-6169-2B53-1A3C-9906633CFDB1}"/>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5" name="Group 4">
            <a:extLst>
              <a:ext uri="{FF2B5EF4-FFF2-40B4-BE49-F238E27FC236}">
                <a16:creationId xmlns:a16="http://schemas.microsoft.com/office/drawing/2014/main" id="{5E047DEC-0125-9BFF-E0CE-795A67BE62E5}"/>
              </a:ext>
            </a:extLst>
          </p:cNvPr>
          <p:cNvGrpSpPr/>
          <p:nvPr/>
        </p:nvGrpSpPr>
        <p:grpSpPr>
          <a:xfrm>
            <a:off x="8496300" y="885825"/>
            <a:ext cx="3276598" cy="4580238"/>
            <a:chOff x="609600" y="1366231"/>
            <a:chExt cx="3276598" cy="4580238"/>
          </a:xfrm>
        </p:grpSpPr>
        <p:sp>
          <p:nvSpPr>
            <p:cNvPr id="6" name="Rectangle 5">
              <a:extLst>
                <a:ext uri="{FF2B5EF4-FFF2-40B4-BE49-F238E27FC236}">
                  <a16:creationId xmlns:a16="http://schemas.microsoft.com/office/drawing/2014/main" id="{5D946E91-FB93-4FF3-D1B9-7940D97AC6A2}"/>
                </a:ext>
              </a:extLst>
            </p:cNvPr>
            <p:cNvSpPr/>
            <p:nvPr/>
          </p:nvSpPr>
          <p:spPr>
            <a:xfrm>
              <a:off x="609600" y="5481031"/>
              <a:ext cx="827903" cy="465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Input</a:t>
              </a:r>
            </a:p>
          </p:txBody>
        </p:sp>
        <p:sp>
          <p:nvSpPr>
            <p:cNvPr id="7" name="Rectangle 6">
              <a:extLst>
                <a:ext uri="{FF2B5EF4-FFF2-40B4-BE49-F238E27FC236}">
                  <a16:creationId xmlns:a16="http://schemas.microsoft.com/office/drawing/2014/main" id="{909BA1A1-BC72-3206-983F-C27035DA1DE1}"/>
                </a:ext>
              </a:extLst>
            </p:cNvPr>
            <p:cNvSpPr/>
            <p:nvPr/>
          </p:nvSpPr>
          <p:spPr>
            <a:xfrm>
              <a:off x="1737666" y="5481032"/>
              <a:ext cx="827903" cy="465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Output</a:t>
              </a:r>
            </a:p>
          </p:txBody>
        </p:sp>
        <p:sp>
          <p:nvSpPr>
            <p:cNvPr id="8" name="Rectangle 7">
              <a:extLst>
                <a:ext uri="{FF2B5EF4-FFF2-40B4-BE49-F238E27FC236}">
                  <a16:creationId xmlns:a16="http://schemas.microsoft.com/office/drawing/2014/main" id="{CDDE44E5-3F5F-FCAE-CCC4-A55A1D8A167D}"/>
                </a:ext>
              </a:extLst>
            </p:cNvPr>
            <p:cNvSpPr/>
            <p:nvPr/>
          </p:nvSpPr>
          <p:spPr>
            <a:xfrm>
              <a:off x="2934212" y="5481031"/>
              <a:ext cx="827903" cy="465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Network</a:t>
              </a:r>
            </a:p>
          </p:txBody>
        </p:sp>
        <p:sp>
          <p:nvSpPr>
            <p:cNvPr id="9" name="Rectangle 8">
              <a:extLst>
                <a:ext uri="{FF2B5EF4-FFF2-40B4-BE49-F238E27FC236}">
                  <a16:creationId xmlns:a16="http://schemas.microsoft.com/office/drawing/2014/main" id="{AD3C1889-06A9-194F-B992-B13CA77E2010}"/>
                </a:ext>
              </a:extLst>
            </p:cNvPr>
            <p:cNvSpPr/>
            <p:nvPr/>
          </p:nvSpPr>
          <p:spPr>
            <a:xfrm>
              <a:off x="3330657" y="3913782"/>
              <a:ext cx="555541" cy="827903"/>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Drive</a:t>
              </a:r>
            </a:p>
          </p:txBody>
        </p:sp>
        <p:cxnSp>
          <p:nvCxnSpPr>
            <p:cNvPr id="10" name="Straight Arrow Connector 9">
              <a:extLst>
                <a:ext uri="{FF2B5EF4-FFF2-40B4-BE49-F238E27FC236}">
                  <a16:creationId xmlns:a16="http://schemas.microsoft.com/office/drawing/2014/main" id="{B51B71AA-A9B1-4FED-36A3-1E5D71FE60B0}"/>
                </a:ext>
              </a:extLst>
            </p:cNvPr>
            <p:cNvCxnSpPr>
              <a:cxnSpLocks/>
            </p:cNvCxnSpPr>
            <p:nvPr/>
          </p:nvCxnSpPr>
          <p:spPr>
            <a:xfrm>
              <a:off x="2565570" y="4537798"/>
              <a:ext cx="765088" cy="0"/>
            </a:xfrm>
            <a:prstGeom prst="straightConnector1">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67F164F-CBA8-3B3A-2B11-939A6CB9CB9B}"/>
                </a:ext>
              </a:extLst>
            </p:cNvPr>
            <p:cNvCxnSpPr>
              <a:cxnSpLocks/>
            </p:cNvCxnSpPr>
            <p:nvPr/>
          </p:nvCxnSpPr>
          <p:spPr>
            <a:xfrm>
              <a:off x="2565570" y="2247679"/>
              <a:ext cx="592030"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5FDECFE-8C6C-42E4-21D8-7565D94E6EAD}"/>
                </a:ext>
              </a:extLst>
            </p:cNvPr>
            <p:cNvCxnSpPr>
              <a:cxnSpLocks/>
            </p:cNvCxnSpPr>
            <p:nvPr/>
          </p:nvCxnSpPr>
          <p:spPr>
            <a:xfrm>
              <a:off x="3138100" y="2247679"/>
              <a:ext cx="0" cy="2080054"/>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E3DB6007-12E7-73F2-0553-065CB9AD3F0C}"/>
                </a:ext>
              </a:extLst>
            </p:cNvPr>
            <p:cNvSpPr/>
            <p:nvPr/>
          </p:nvSpPr>
          <p:spPr>
            <a:xfrm>
              <a:off x="1737666" y="1366231"/>
              <a:ext cx="827903" cy="1762897"/>
            </a:xfrm>
            <a:prstGeom prst="rect">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RAM</a:t>
              </a:r>
            </a:p>
          </p:txBody>
        </p:sp>
        <p:cxnSp>
          <p:nvCxnSpPr>
            <p:cNvPr id="14" name="Straight Arrow Connector 13">
              <a:extLst>
                <a:ext uri="{FF2B5EF4-FFF2-40B4-BE49-F238E27FC236}">
                  <a16:creationId xmlns:a16="http://schemas.microsoft.com/office/drawing/2014/main" id="{4D76EF05-B308-ADCB-D1C3-8BD57B5A4ADD}"/>
                </a:ext>
              </a:extLst>
            </p:cNvPr>
            <p:cNvCxnSpPr>
              <a:cxnSpLocks/>
            </p:cNvCxnSpPr>
            <p:nvPr/>
          </p:nvCxnSpPr>
          <p:spPr>
            <a:xfrm>
              <a:off x="2565570" y="4327733"/>
              <a:ext cx="592030"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93E190A-6144-654D-0DA4-482100C1A6B3}"/>
                </a:ext>
              </a:extLst>
            </p:cNvPr>
            <p:cNvCxnSpPr>
              <a:cxnSpLocks/>
              <a:stCxn id="18" idx="3"/>
            </p:cNvCxnSpPr>
            <p:nvPr/>
          </p:nvCxnSpPr>
          <p:spPr>
            <a:xfrm flipV="1">
              <a:off x="2565569" y="3521454"/>
              <a:ext cx="296016" cy="1"/>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B7B8CB9-0BC0-B9D9-80FC-0D01372E4010}"/>
                </a:ext>
              </a:extLst>
            </p:cNvPr>
            <p:cNvCxnSpPr>
              <a:cxnSpLocks/>
            </p:cNvCxnSpPr>
            <p:nvPr/>
          </p:nvCxnSpPr>
          <p:spPr>
            <a:xfrm>
              <a:off x="2873490" y="3502533"/>
              <a:ext cx="0" cy="601878"/>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73EFFAE-4835-EF69-4F8E-080B6330FDAC}"/>
                </a:ext>
              </a:extLst>
            </p:cNvPr>
            <p:cNvCxnSpPr>
              <a:cxnSpLocks/>
            </p:cNvCxnSpPr>
            <p:nvPr/>
          </p:nvCxnSpPr>
          <p:spPr>
            <a:xfrm>
              <a:off x="2565569" y="4104411"/>
              <a:ext cx="328245"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F0120E38-2616-F937-C1DE-0B9B70B58965}"/>
                </a:ext>
              </a:extLst>
            </p:cNvPr>
            <p:cNvSpPr/>
            <p:nvPr/>
          </p:nvSpPr>
          <p:spPr>
            <a:xfrm>
              <a:off x="1737666" y="3288736"/>
              <a:ext cx="827903" cy="465437"/>
            </a:xfrm>
            <a:prstGeom prst="rect">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ROM/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Flash</a:t>
              </a:r>
            </a:p>
          </p:txBody>
        </p:sp>
        <p:cxnSp>
          <p:nvCxnSpPr>
            <p:cNvPr id="19" name="Straight Arrow Connector 18">
              <a:extLst>
                <a:ext uri="{FF2B5EF4-FFF2-40B4-BE49-F238E27FC236}">
                  <a16:creationId xmlns:a16="http://schemas.microsoft.com/office/drawing/2014/main" id="{3615D8AF-56C3-8631-BD13-809D684BF555}"/>
                </a:ext>
              </a:extLst>
            </p:cNvPr>
            <p:cNvCxnSpPr>
              <a:cxnSpLocks/>
            </p:cNvCxnSpPr>
            <p:nvPr/>
          </p:nvCxnSpPr>
          <p:spPr>
            <a:xfrm>
              <a:off x="1888394" y="4741685"/>
              <a:ext cx="0" cy="392327"/>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B775210-E16F-13F6-D824-CB3A577C576B}"/>
                </a:ext>
              </a:extLst>
            </p:cNvPr>
            <p:cNvCxnSpPr>
              <a:cxnSpLocks/>
            </p:cNvCxnSpPr>
            <p:nvPr/>
          </p:nvCxnSpPr>
          <p:spPr>
            <a:xfrm>
              <a:off x="1004499" y="5116122"/>
              <a:ext cx="883895" cy="0"/>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29DAEDA-AEC5-2533-E804-5E2CDB3F807C}"/>
                </a:ext>
              </a:extLst>
            </p:cNvPr>
            <p:cNvCxnSpPr>
              <a:cxnSpLocks/>
              <a:endCxn id="6" idx="0"/>
            </p:cNvCxnSpPr>
            <p:nvPr/>
          </p:nvCxnSpPr>
          <p:spPr>
            <a:xfrm>
              <a:off x="1023552" y="5116122"/>
              <a:ext cx="0" cy="364909"/>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93FCAA5-1994-633E-330D-285545588850}"/>
                </a:ext>
              </a:extLst>
            </p:cNvPr>
            <p:cNvCxnSpPr>
              <a:cxnSpLocks/>
              <a:stCxn id="30" idx="2"/>
              <a:endCxn id="7" idx="0"/>
            </p:cNvCxnSpPr>
            <p:nvPr/>
          </p:nvCxnSpPr>
          <p:spPr>
            <a:xfrm flipH="1">
              <a:off x="2151618" y="4741685"/>
              <a:ext cx="1" cy="739347"/>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15BF0C0-AFF5-A9E8-115B-8580B0EFA610}"/>
                </a:ext>
              </a:extLst>
            </p:cNvPr>
            <p:cNvCxnSpPr>
              <a:cxnSpLocks/>
            </p:cNvCxnSpPr>
            <p:nvPr/>
          </p:nvCxnSpPr>
          <p:spPr>
            <a:xfrm>
              <a:off x="3369146" y="5111358"/>
              <a:ext cx="0" cy="364909"/>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02EFA65-2619-CB82-D16B-430D8DE08FDB}"/>
                </a:ext>
              </a:extLst>
            </p:cNvPr>
            <p:cNvCxnSpPr>
              <a:cxnSpLocks/>
            </p:cNvCxnSpPr>
            <p:nvPr/>
          </p:nvCxnSpPr>
          <p:spPr>
            <a:xfrm>
              <a:off x="2383693" y="5122944"/>
              <a:ext cx="993431" cy="0"/>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660F62A-E84A-E7DE-39A2-8C3D8B105947}"/>
                </a:ext>
              </a:extLst>
            </p:cNvPr>
            <p:cNvCxnSpPr>
              <a:cxnSpLocks/>
            </p:cNvCxnSpPr>
            <p:nvPr/>
          </p:nvCxnSpPr>
          <p:spPr>
            <a:xfrm>
              <a:off x="2393219" y="4741685"/>
              <a:ext cx="0" cy="392327"/>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6EA106A-4C48-E4ED-1A1C-C1878C9ED59A}"/>
                </a:ext>
              </a:extLst>
            </p:cNvPr>
            <p:cNvCxnSpPr>
              <a:cxnSpLocks/>
            </p:cNvCxnSpPr>
            <p:nvPr/>
          </p:nvCxnSpPr>
          <p:spPr>
            <a:xfrm>
              <a:off x="1304537" y="2247679"/>
              <a:ext cx="0" cy="2080054"/>
            </a:xfrm>
            <a:prstGeom prst="straightConnector1">
              <a:avLst/>
            </a:prstGeom>
            <a:ln w="38100">
              <a:solidFill>
                <a:schemeClr val="tx1">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BD11064-ADEB-2055-229F-3401CFD2BD42}"/>
                </a:ext>
              </a:extLst>
            </p:cNvPr>
            <p:cNvCxnSpPr>
              <a:cxnSpLocks/>
              <a:endCxn id="30" idx="1"/>
            </p:cNvCxnSpPr>
            <p:nvPr/>
          </p:nvCxnSpPr>
          <p:spPr>
            <a:xfrm>
              <a:off x="1285038" y="4327734"/>
              <a:ext cx="452629" cy="0"/>
            </a:xfrm>
            <a:prstGeom prst="straightConnector1">
              <a:avLst/>
            </a:prstGeom>
            <a:ln w="38100">
              <a:solidFill>
                <a:schemeClr val="tx1">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3B1B730-2259-FAB3-02A3-82FDDA3C361F}"/>
                </a:ext>
              </a:extLst>
            </p:cNvPr>
            <p:cNvCxnSpPr>
              <a:cxnSpLocks/>
              <a:stCxn id="13" idx="1"/>
            </p:cNvCxnSpPr>
            <p:nvPr/>
          </p:nvCxnSpPr>
          <p:spPr>
            <a:xfrm flipH="1">
              <a:off x="1285038" y="2247680"/>
              <a:ext cx="452628" cy="0"/>
            </a:xfrm>
            <a:prstGeom prst="straightConnector1">
              <a:avLst/>
            </a:prstGeom>
            <a:ln w="38100">
              <a:solidFill>
                <a:schemeClr val="tx1">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8B54CCE-766F-00D3-D904-C1B2F0E421F2}"/>
                </a:ext>
              </a:extLst>
            </p:cNvPr>
            <p:cNvCxnSpPr>
              <a:cxnSpLocks/>
            </p:cNvCxnSpPr>
            <p:nvPr/>
          </p:nvCxnSpPr>
          <p:spPr>
            <a:xfrm flipH="1">
              <a:off x="1285038" y="3521454"/>
              <a:ext cx="452628" cy="0"/>
            </a:xfrm>
            <a:prstGeom prst="straightConnector1">
              <a:avLst/>
            </a:prstGeom>
            <a:ln w="38100">
              <a:solidFill>
                <a:schemeClr val="tx1">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0B2D3399-79B2-52DD-07B3-FB2004E82CE1}"/>
                </a:ext>
              </a:extLst>
            </p:cNvPr>
            <p:cNvSpPr/>
            <p:nvPr/>
          </p:nvSpPr>
          <p:spPr>
            <a:xfrm>
              <a:off x="1737667" y="3913782"/>
              <a:ext cx="827903" cy="8279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CPU</a:t>
              </a:r>
            </a:p>
          </p:txBody>
        </p:sp>
      </p:grpSp>
      <p:pic>
        <p:nvPicPr>
          <p:cNvPr id="31" name="RAM" descr="8+ Thousand Random Access Memory Royalty-Free Images, Stock Photos &amp;  Pictures | Shutterstock">
            <a:extLst>
              <a:ext uri="{FF2B5EF4-FFF2-40B4-BE49-F238E27FC236}">
                <a16:creationId xmlns:a16="http://schemas.microsoft.com/office/drawing/2014/main" id="{BFA68555-5204-1254-304A-C8E0788052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216" b="32329"/>
          <a:stretch>
            <a:fillRect/>
          </a:stretch>
        </p:blipFill>
        <p:spPr bwMode="auto">
          <a:xfrm>
            <a:off x="5507846" y="1811205"/>
            <a:ext cx="2967011" cy="66040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owntown Doug Brown » Upgrading a motherboard's BIOS/UEFI (the hard way)">
            <a:extLst>
              <a:ext uri="{FF2B5EF4-FFF2-40B4-BE49-F238E27FC236}">
                <a16:creationId xmlns:a16="http://schemas.microsoft.com/office/drawing/2014/main" id="{6E6F0497-8C22-2183-BBC8-C6C87B39AF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545" y="4464668"/>
            <a:ext cx="1286647" cy="814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0973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3BE85-F0A8-09B6-A477-6F6840C12563}"/>
              </a:ext>
            </a:extLst>
          </p:cNvPr>
          <p:cNvSpPr>
            <a:spLocks noGrp="1"/>
          </p:cNvSpPr>
          <p:nvPr>
            <p:ph type="title"/>
          </p:nvPr>
        </p:nvSpPr>
        <p:spPr/>
        <p:txBody>
          <a:bodyPr/>
          <a:lstStyle/>
          <a:p>
            <a:r>
              <a:rPr lang="en-GB" noProof="0" dirty="0"/>
              <a:t>Basic Secondary Storage</a:t>
            </a:r>
          </a:p>
        </p:txBody>
      </p:sp>
      <p:sp>
        <p:nvSpPr>
          <p:cNvPr id="3" name="Text Placeholder 2">
            <a:extLst>
              <a:ext uri="{FF2B5EF4-FFF2-40B4-BE49-F238E27FC236}">
                <a16:creationId xmlns:a16="http://schemas.microsoft.com/office/drawing/2014/main" id="{952803DA-29A5-3947-4B10-5084A648B356}"/>
              </a:ext>
            </a:extLst>
          </p:cNvPr>
          <p:cNvSpPr>
            <a:spLocks noGrp="1"/>
          </p:cNvSpPr>
          <p:nvPr>
            <p:ph type="body" idx="1"/>
          </p:nvPr>
        </p:nvSpPr>
        <p:spPr>
          <a:xfrm>
            <a:off x="609600" y="885825"/>
            <a:ext cx="5603421" cy="5591175"/>
          </a:xfrm>
        </p:spPr>
        <p:txBody>
          <a:bodyPr/>
          <a:lstStyle/>
          <a:p>
            <a:pPr>
              <a:spcBef>
                <a:spcPts val="300"/>
              </a:spcBef>
            </a:pPr>
            <a:r>
              <a:rPr lang="en-GB" sz="1600" noProof="0" dirty="0"/>
              <a:t>Hard Disk Drive</a:t>
            </a:r>
          </a:p>
          <a:p>
            <a:pPr lvl="1">
              <a:spcBef>
                <a:spcPts val="300"/>
              </a:spcBef>
            </a:pPr>
            <a:r>
              <a:rPr lang="en-GB" noProof="0" dirty="0"/>
              <a:t>Spinning magnetic disk</a:t>
            </a:r>
          </a:p>
          <a:p>
            <a:pPr lvl="1">
              <a:spcBef>
                <a:spcPts val="300"/>
              </a:spcBef>
            </a:pPr>
            <a:r>
              <a:rPr lang="en-GB" noProof="0" dirty="0"/>
              <a:t>Huge storage ~tens of TB</a:t>
            </a:r>
          </a:p>
          <a:p>
            <a:pPr lvl="1">
              <a:spcBef>
                <a:spcPts val="300"/>
              </a:spcBef>
            </a:pPr>
            <a:r>
              <a:rPr lang="en-GB" noProof="0" dirty="0"/>
              <a:t>Sequential access ~100MB/s</a:t>
            </a:r>
          </a:p>
          <a:p>
            <a:pPr lvl="1">
              <a:spcBef>
                <a:spcPts val="300"/>
              </a:spcBef>
            </a:pPr>
            <a:r>
              <a:rPr lang="en-GB" noProof="0" dirty="0"/>
              <a:t>Random I/O &lt; 500 IOPS (very slow)</a:t>
            </a:r>
          </a:p>
          <a:p>
            <a:pPr lvl="2">
              <a:spcBef>
                <a:spcPts val="300"/>
              </a:spcBef>
            </a:pPr>
            <a:r>
              <a:rPr lang="en-GB" b="1" noProof="0" dirty="0"/>
              <a:t>I</a:t>
            </a:r>
            <a:r>
              <a:rPr lang="en-GB" noProof="0" dirty="0"/>
              <a:t>nput </a:t>
            </a:r>
            <a:r>
              <a:rPr lang="en-GB" b="1" noProof="0" dirty="0"/>
              <a:t>O</a:t>
            </a:r>
            <a:r>
              <a:rPr lang="en-GB" noProof="0" dirty="0"/>
              <a:t>utput </a:t>
            </a:r>
            <a:r>
              <a:rPr lang="en-GB" noProof="0" dirty="0" err="1"/>
              <a:t>o</a:t>
            </a:r>
            <a:r>
              <a:rPr lang="en-GB" b="1" noProof="0" dirty="0" err="1"/>
              <a:t>P</a:t>
            </a:r>
            <a:r>
              <a:rPr lang="en-GB" noProof="0" dirty="0" err="1"/>
              <a:t>erations</a:t>
            </a:r>
            <a:r>
              <a:rPr lang="en-GB" noProof="0" dirty="0"/>
              <a:t> per </a:t>
            </a:r>
            <a:r>
              <a:rPr lang="en-GB" b="1" noProof="0" dirty="0"/>
              <a:t>S</a:t>
            </a:r>
            <a:r>
              <a:rPr lang="en-GB" noProof="0" dirty="0"/>
              <a:t>econd</a:t>
            </a:r>
          </a:p>
          <a:p>
            <a:pPr lvl="1">
              <a:spcBef>
                <a:spcPts val="300"/>
              </a:spcBef>
            </a:pPr>
            <a:r>
              <a:rPr lang="en-GB" noProof="0" dirty="0"/>
              <a:t>Limited reliability as Mechanical</a:t>
            </a:r>
          </a:p>
          <a:p>
            <a:pPr lvl="1">
              <a:spcBef>
                <a:spcPts val="300"/>
              </a:spcBef>
            </a:pPr>
            <a:r>
              <a:rPr lang="en-GB" noProof="0" dirty="0"/>
              <a:t>Non-volatile</a:t>
            </a:r>
          </a:p>
          <a:p>
            <a:pPr lvl="1">
              <a:spcBef>
                <a:spcPts val="300"/>
              </a:spcBef>
            </a:pPr>
            <a:r>
              <a:rPr lang="en-GB" noProof="0" dirty="0"/>
              <a:t>Holds data longer than SSD with no power</a:t>
            </a:r>
          </a:p>
          <a:p>
            <a:pPr lvl="2">
              <a:spcBef>
                <a:spcPts val="300"/>
              </a:spcBef>
            </a:pPr>
            <a:r>
              <a:rPr lang="en-GB" noProof="0" dirty="0"/>
              <a:t>Popular for archive or cost</a:t>
            </a:r>
          </a:p>
          <a:p>
            <a:pPr lvl="1">
              <a:spcBef>
                <a:spcPts val="300"/>
              </a:spcBef>
            </a:pPr>
            <a:endParaRPr lang="en-GB" noProof="0" dirty="0"/>
          </a:p>
          <a:p>
            <a:pPr>
              <a:spcBef>
                <a:spcPts val="300"/>
              </a:spcBef>
            </a:pPr>
            <a:r>
              <a:rPr lang="en-GB" sz="1600" noProof="0" dirty="0"/>
              <a:t>Solid State </a:t>
            </a:r>
          </a:p>
          <a:p>
            <a:pPr lvl="1"/>
            <a:r>
              <a:rPr lang="en-GB" noProof="0" dirty="0"/>
              <a:t>No moving parts</a:t>
            </a:r>
          </a:p>
          <a:p>
            <a:pPr lvl="1"/>
            <a:r>
              <a:rPr lang="en-GB" noProof="0" dirty="0"/>
              <a:t>Large storage can be tens of TB but expensive</a:t>
            </a:r>
          </a:p>
          <a:p>
            <a:pPr lvl="1"/>
            <a:r>
              <a:rPr lang="en-GB" noProof="0" dirty="0"/>
              <a:t>Sequential access ~500MB/s</a:t>
            </a:r>
          </a:p>
          <a:p>
            <a:pPr lvl="1"/>
            <a:r>
              <a:rPr lang="en-GB" noProof="0" dirty="0"/>
              <a:t>Random access ~ 1.5 Million IOPS (MIOPS)</a:t>
            </a:r>
          </a:p>
          <a:p>
            <a:pPr lvl="1"/>
            <a:r>
              <a:rPr lang="en-GB" noProof="0" dirty="0"/>
              <a:t>More reliable than HDD</a:t>
            </a:r>
          </a:p>
          <a:p>
            <a:pPr lvl="1"/>
            <a:r>
              <a:rPr lang="en-GB" noProof="0" dirty="0"/>
              <a:t>Non-volatile</a:t>
            </a:r>
          </a:p>
          <a:p>
            <a:pPr lvl="1"/>
            <a:r>
              <a:rPr lang="en-GB" noProof="0" dirty="0"/>
              <a:t>Shock proof</a:t>
            </a:r>
          </a:p>
          <a:p>
            <a:endParaRPr lang="en-GB" noProof="0" dirty="0"/>
          </a:p>
        </p:txBody>
      </p:sp>
      <p:sp>
        <p:nvSpPr>
          <p:cNvPr id="4" name="Slide Number Placeholder 3">
            <a:extLst>
              <a:ext uri="{FF2B5EF4-FFF2-40B4-BE49-F238E27FC236}">
                <a16:creationId xmlns:a16="http://schemas.microsoft.com/office/drawing/2014/main" id="{90F6D2FD-A1E8-89F2-6372-D24A28179791}"/>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5" name="Closed HDD">
            <a:extLst>
              <a:ext uri="{FF2B5EF4-FFF2-40B4-BE49-F238E27FC236}">
                <a16:creationId xmlns:a16="http://schemas.microsoft.com/office/drawing/2014/main" id="{06139ED1-07B8-2D9A-8046-4FEA32450207}"/>
              </a:ext>
            </a:extLst>
          </p:cNvPr>
          <p:cNvPicPr>
            <a:picLocks noChangeAspect="1"/>
          </p:cNvPicPr>
          <p:nvPr/>
        </p:nvPicPr>
        <p:blipFill>
          <a:blip r:embed="rId2" cstate="print">
            <a:alphaModFix/>
            <a:extLst>
              <a:ext uri="{BEBA8EAE-BF5A-486C-A8C5-ECC9F3942E4B}">
                <a14:imgProps xmlns:a14="http://schemas.microsoft.com/office/drawing/2010/main">
                  <a14:imgLayer r:embed="rId3">
                    <a14:imgEffect>
                      <a14:backgroundRemoval t="1786" b="97940" l="0" r="99160">
                        <a14:foregroundMark x1="3481" y1="34753" x2="3481" y2="35027"/>
                        <a14:foregroundMark x1="3361" y1="34478" x2="3481" y2="34753"/>
                        <a14:foregroundMark x1="960" y1="17995" x2="3361" y2="34478"/>
                        <a14:foregroundMark x1="29412" y1="89698" x2="29532" y2="89973"/>
                        <a14:foregroundMark x1="29292" y1="89286" x2="29412" y2="89698"/>
                        <a14:foregroundMark x1="15486" y1="60440" x2="15846" y2="60989"/>
                        <a14:foregroundMark x1="9484" y1="47527" x2="9604" y2="47940"/>
                        <a14:foregroundMark x1="35054" y1="97802" x2="35414" y2="98214"/>
                        <a14:foregroundMark x1="32773" y1="95055" x2="35054" y2="97802"/>
                        <a14:foregroundMark x1="74430" y1="85165" x2="82953" y2="82143"/>
                        <a14:foregroundMark x1="35654" y1="98489" x2="36014" y2="98352"/>
                        <a14:foregroundMark x1="99520" y1="73626" x2="99640" y2="73214"/>
                        <a14:foregroundMark x1="1200" y1="17995" x2="960" y2="18819"/>
                        <a14:foregroundMark x1="1801" y1="17308" x2="1801" y2="17308"/>
                        <a14:foregroundMark x1="2881" y1="17033" x2="2881" y2="17033"/>
                        <a14:foregroundMark x1="2521" y1="17170" x2="2521" y2="17170"/>
                        <a14:foregroundMark x1="58703" y1="2610" x2="58703" y2="2610"/>
                        <a14:foregroundMark x1="57983" y1="2610" x2="57983" y2="2610"/>
                        <a14:foregroundMark x1="57983" y1="3159" x2="57983" y2="3159"/>
                        <a14:foregroundMark x1="58223" y1="2610" x2="58223" y2="2610"/>
                        <a14:foregroundMark x1="57743" y1="2060" x2="57743" y2="2060"/>
                        <a14:foregroundMark x1="57623" y1="2610" x2="57623" y2="2610"/>
                        <a14:foregroundMark x1="59064" y1="3022" x2="59064" y2="3022"/>
                        <a14:foregroundMark x1="57983" y1="3434" x2="57983" y2="3434"/>
                        <a14:foregroundMark x1="57743" y1="2747" x2="58944" y2="2885"/>
                        <a14:foregroundMark x1="57743" y1="2060" x2="58103" y2="2885"/>
                        <a14:foregroundMark x1="91957" y1="56456" x2="90996" y2="64698"/>
                        <a14:foregroundMark x1="96279" y1="63736" x2="96879" y2="63736"/>
                        <a14:foregroundMark x1="90996" y1="64698" x2="96038" y2="63874"/>
                        <a14:foregroundMark x1="93037" y1="58379" x2="90996" y2="60302"/>
                        <a14:foregroundMark x1="79232" y1="66484" x2="72029" y2="69643"/>
                        <a14:foregroundMark x1="72029" y1="69643" x2="61224" y2="70192"/>
                        <a14:foregroundMark x1="61224" y1="70192" x2="46699" y2="76786"/>
                        <a14:foregroundMark x1="46699" y1="76786" x2="37935" y2="74588"/>
                        <a14:foregroundMark x1="37935" y1="74588" x2="43697" y2="78434"/>
                        <a14:foregroundMark x1="43697" y1="78434" x2="43818" y2="78434"/>
                        <a14:foregroundMark x1="97719" y1="66758" x2="38415" y2="82418"/>
                        <a14:foregroundMark x1="38415" y1="82418" x2="31933" y2="86264"/>
                        <a14:foregroundMark x1="31933" y1="86264" x2="34454" y2="92582"/>
                        <a14:foregroundMark x1="34454" y1="92582" x2="38896" y2="95742"/>
                        <a14:foregroundMark x1="97959" y1="74313" x2="98800" y2="70879"/>
                        <a14:foregroundMark x1="31693" y1="92995" x2="37095" y2="96703"/>
                        <a14:foregroundMark x1="40816" y1="95055" x2="31573" y2="92995"/>
                        <a14:backgroundMark x1="0" y1="31181" x2="840" y2="35027"/>
                        <a14:backgroundMark x1="31933" y1="98214" x2="32293" y2="99038"/>
                        <a14:backgroundMark x1="29772" y1="93956" x2="29892" y2="94231"/>
                        <a14:backgroundMark x1="1080" y1="35440" x2="1441" y2="36126"/>
                        <a14:backgroundMark x1="39256" y1="99451" x2="42857" y2="99588"/>
                        <a14:backgroundMark x1="34934" y1="99176" x2="35294" y2="99176"/>
                        <a14:backgroundMark x1="32293" y1="99038" x2="32653" y2="99038"/>
                        <a14:backgroundMark x1="42857" y1="99588" x2="98439" y2="80495"/>
                        <a14:backgroundMark x1="99880" y1="75962" x2="98439" y2="80357"/>
                        <a14:backgroundMark x1="99400" y1="61813" x2="98559" y2="54396"/>
                        <a14:backgroundMark x1="99760" y1="64423" x2="99520" y2="62637"/>
                        <a14:backgroundMark x1="99760" y1="64423" x2="99880" y2="65659"/>
                        <a14:backgroundMark x1="98559" y1="54396" x2="61345" y2="3022"/>
                        <a14:backgroundMark x1="480" y1="13187" x2="0" y2="13187"/>
                        <a14:backgroundMark x1="0" y1="13324" x2="0" y2="13324"/>
                        <a14:backgroundMark x1="5042" y1="39423" x2="5042" y2="39423"/>
                        <a14:backgroundMark x1="6363" y1="41209" x2="6363" y2="41209"/>
                        <a14:backgroundMark x1="6363" y1="40247" x2="6363" y2="40247"/>
                        <a14:backgroundMark x1="3481" y1="35165" x2="3481" y2="35165"/>
                        <a14:backgroundMark x1="10324" y1="49176" x2="10324" y2="49176"/>
                        <a14:backgroundMark x1="9604" y1="48077" x2="7563" y2="43544"/>
                        <a14:backgroundMark x1="6242" y1="41758" x2="3121" y2="34753"/>
                        <a14:backgroundMark x1="7203" y1="42582" x2="5162" y2="39423"/>
                        <a14:backgroundMark x1="3361" y1="34753" x2="3361" y2="34753"/>
                        <a14:backgroundMark x1="3361" y1="34478" x2="3361" y2="34478"/>
                        <a14:backgroundMark x1="9604" y1="47940" x2="15486" y2="60440"/>
                        <a14:backgroundMark x1="15726" y1="60989" x2="28331" y2="88736"/>
                        <a14:backgroundMark x1="28331" y1="88736" x2="28451" y2="89423"/>
                        <a14:backgroundMark x1="29892" y1="91071" x2="29892" y2="90385"/>
                        <a14:backgroundMark x1="63986" y1="8791" x2="63986" y2="8791"/>
                        <a14:backgroundMark x1="64586" y1="10165" x2="66146" y2="11813"/>
                        <a14:backgroundMark x1="66146" y1="11951" x2="68547" y2="15797"/>
                        <a14:backgroundMark x1="68667" y1="15934" x2="74190" y2="24176"/>
                        <a14:backgroundMark x1="74430" y1="23901" x2="92797" y2="51374"/>
                        <a14:backgroundMark x1="92797" y1="51374" x2="93517" y2="53846"/>
                        <a14:backgroundMark x1="60744" y1="3022" x2="65306" y2="10714"/>
                        <a14:backgroundMark x1="60504" y1="2610" x2="60744" y2="3022"/>
                        <a14:backgroundMark x1="60264" y1="2198" x2="60504" y2="2610"/>
                        <a14:backgroundMark x1="23289" y1="5082" x2="23289" y2="5082"/>
                        <a14:backgroundMark x1="60624" y1="2060" x2="60504" y2="2060"/>
                        <a14:backgroundMark x1="1561" y1="15659" x2="55702" y2="3159"/>
                        <a14:backgroundMark x1="96999" y1="77610" x2="98439" y2="77335"/>
                        <a14:backgroundMark x1="96879" y1="77747" x2="96879" y2="77747"/>
                        <a14:backgroundMark x1="93637" y1="54121" x2="98319" y2="62500"/>
                        <a14:backgroundMark x1="89916" y1="80220" x2="98559" y2="76099"/>
                        <a14:backgroundMark x1="84394" y1="82280" x2="89556" y2="80907"/>
                        <a14:backgroundMark x1="73589" y1="86676" x2="81993" y2="84615"/>
                        <a14:backgroundMark x1="82953" y1="83516" x2="84274" y2="82830"/>
                        <a14:backgroundMark x1="82233" y1="83929" x2="83073" y2="83242"/>
                        <a14:backgroundMark x1="50060" y1="94231" x2="73709" y2="86538"/>
                        <a14:backgroundMark x1="48739" y1="94231" x2="50300" y2="93544"/>
                        <a14:backgroundMark x1="48619" y1="94368" x2="49340" y2="93681"/>
                        <a14:backgroundMark x1="99040" y1="61538" x2="99880" y2="64973"/>
                        <a14:backgroundMark x1="99280" y1="69231" x2="99760" y2="70055"/>
                        <a14:backgroundMark x1="99760" y1="70055" x2="99880" y2="70467"/>
                        <a14:backgroundMark x1="31573" y1="93132" x2="30132" y2="91071"/>
                        <a14:backgroundMark x1="29412" y1="89698" x2="29412" y2="89698"/>
                        <a14:backgroundMark x1="38415" y1="98352" x2="38415" y2="98352"/>
                        <a14:backgroundMark x1="37695" y1="97802" x2="37695" y2="97802"/>
                        <a14:backgroundMark x1="37215" y1="98214" x2="37215" y2="98214"/>
                        <a14:backgroundMark x1="35654" y1="99038" x2="48379" y2="94643"/>
                        <a14:backgroundMark x1="35654" y1="98352" x2="35654" y2="98352"/>
                      </a14:backgroundRemoval>
                    </a14:imgEffect>
                  </a14:imgLayer>
                </a14:imgProps>
              </a:ext>
              <a:ext uri="{28A0092B-C50C-407E-A947-70E740481C1C}">
                <a14:useLocalDpi xmlns:a14="http://schemas.microsoft.com/office/drawing/2010/main" val="0"/>
              </a:ext>
            </a:extLst>
          </a:blip>
          <a:srcRect/>
          <a:stretch>
            <a:fillRect/>
          </a:stretch>
        </p:blipFill>
        <p:spPr>
          <a:xfrm rot="1596697" flipH="1">
            <a:off x="6283537" y="1053887"/>
            <a:ext cx="2131585" cy="1863756"/>
          </a:xfrm>
          <a:prstGeom prst="rect">
            <a:avLst/>
          </a:prstGeom>
        </p:spPr>
      </p:pic>
      <p:pic>
        <p:nvPicPr>
          <p:cNvPr id="6" name="Open HDD" descr="HDD ve SSD Farkı | Maksimum Bilişim">
            <a:extLst>
              <a:ext uri="{FF2B5EF4-FFF2-40B4-BE49-F238E27FC236}">
                <a16:creationId xmlns:a16="http://schemas.microsoft.com/office/drawing/2014/main" id="{A8840EB1-F5DE-345B-D9D3-C7D7CD4A2661}"/>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793709" flipH="1">
            <a:off x="9279257" y="1077346"/>
            <a:ext cx="2142546" cy="1980844"/>
          </a:xfrm>
          <a:prstGeom prst="rect">
            <a:avLst/>
          </a:prstGeom>
          <a:noFill/>
          <a:extLst>
            <a:ext uri="{909E8E84-426E-40DD-AFC4-6F175D3DCCD1}">
              <a14:hiddenFill xmlns:a14="http://schemas.microsoft.com/office/drawing/2010/main">
                <a:solidFill>
                  <a:srgbClr val="FFFFFF"/>
                </a:solidFill>
              </a14:hiddenFill>
            </a:ext>
          </a:extLst>
        </p:spPr>
      </p:pic>
      <p:pic>
        <p:nvPicPr>
          <p:cNvPr id="7" name="SSD outside" descr="Samsung 860 EVO 250GB SDD 2.5 - ELN Online Store – ELN Online Store -  Philippines">
            <a:extLst>
              <a:ext uri="{FF2B5EF4-FFF2-40B4-BE49-F238E27FC236}">
                <a16:creationId xmlns:a16="http://schemas.microsoft.com/office/drawing/2014/main" id="{13D27A0A-5A6F-1B55-9C8F-FB5FC24E86DD}"/>
              </a:ext>
            </a:extLst>
          </p:cNvPr>
          <p:cNvPicPr>
            <a:picLocks noChangeAspect="1" noChangeArrowheads="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27024" y="4689619"/>
            <a:ext cx="1844609" cy="1283253"/>
          </a:xfrm>
          <a:prstGeom prst="rect">
            <a:avLst/>
          </a:prstGeom>
          <a:noFill/>
          <a:extLst>
            <a:ext uri="{909E8E84-426E-40DD-AFC4-6F175D3DCCD1}">
              <a14:hiddenFill xmlns:a14="http://schemas.microsoft.com/office/drawing/2010/main">
                <a:solidFill>
                  <a:srgbClr val="FFFFFF"/>
                </a:solidFill>
              </a14:hiddenFill>
            </a:ext>
          </a:extLst>
        </p:spPr>
      </p:pic>
      <p:pic>
        <p:nvPicPr>
          <p:cNvPr id="8" name="SSD inside" descr="HDD ve SSD Farkı | Maksimum Bilişim">
            <a:extLst>
              <a:ext uri="{FF2B5EF4-FFF2-40B4-BE49-F238E27FC236}">
                <a16:creationId xmlns:a16="http://schemas.microsoft.com/office/drawing/2014/main" id="{81F6EAB2-2BE4-8249-E4B3-AAD5744C3B3C}"/>
              </a:ext>
            </a:extLst>
          </p:cNvPr>
          <p:cNvPicPr>
            <a:picLocks noChangeAspect="1" noChangeArrowheads="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7519930">
            <a:off x="9282989" y="4442478"/>
            <a:ext cx="1807984" cy="1777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5335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9EEB7-9806-A081-4B48-DF8EE6B6B6F4}"/>
              </a:ext>
            </a:extLst>
          </p:cNvPr>
          <p:cNvSpPr>
            <a:spLocks noGrp="1"/>
          </p:cNvSpPr>
          <p:nvPr>
            <p:ph type="title"/>
          </p:nvPr>
        </p:nvSpPr>
        <p:spPr/>
        <p:txBody>
          <a:bodyPr/>
          <a:lstStyle/>
          <a:p>
            <a:r>
              <a:rPr lang="en-GB" noProof="0" dirty="0"/>
              <a:t>Central Processing Unit</a:t>
            </a:r>
          </a:p>
        </p:txBody>
      </p:sp>
      <p:sp>
        <p:nvSpPr>
          <p:cNvPr id="3" name="Text Placeholder 2">
            <a:extLst>
              <a:ext uri="{FF2B5EF4-FFF2-40B4-BE49-F238E27FC236}">
                <a16:creationId xmlns:a16="http://schemas.microsoft.com/office/drawing/2014/main" id="{4DA73B53-0549-2F03-BB12-50E56046A0F3}"/>
              </a:ext>
            </a:extLst>
          </p:cNvPr>
          <p:cNvSpPr>
            <a:spLocks noGrp="1"/>
          </p:cNvSpPr>
          <p:nvPr>
            <p:ph type="body" idx="1"/>
          </p:nvPr>
        </p:nvSpPr>
        <p:spPr>
          <a:xfrm>
            <a:off x="609600" y="1089368"/>
            <a:ext cx="5742214" cy="5387632"/>
          </a:xfrm>
        </p:spPr>
        <p:txBody>
          <a:bodyPr/>
          <a:lstStyle/>
          <a:p>
            <a:r>
              <a:rPr lang="en-GB" noProof="0" dirty="0"/>
              <a:t>CPU accesses RAM via address</a:t>
            </a:r>
          </a:p>
          <a:p>
            <a:r>
              <a:rPr lang="en-GB" noProof="0" dirty="0"/>
              <a:t>Reads and decodes instruction</a:t>
            </a:r>
          </a:p>
          <a:p>
            <a:r>
              <a:rPr lang="en-GB" noProof="0" dirty="0"/>
              <a:t>Execute instruction - e.g. add 2 numbers</a:t>
            </a:r>
          </a:p>
          <a:p>
            <a:r>
              <a:rPr lang="en-GB" noProof="0" dirty="0"/>
              <a:t>Store result in RAM</a:t>
            </a:r>
          </a:p>
          <a:p>
            <a:r>
              <a:rPr lang="en-GB" noProof="0" dirty="0"/>
              <a:t>It is a binary machine - only operates with 1 and 0</a:t>
            </a:r>
          </a:p>
          <a:p>
            <a:pPr marL="152396" indent="0">
              <a:buNone/>
            </a:pPr>
            <a:endParaRPr lang="en-GB" noProof="0" dirty="0"/>
          </a:p>
          <a:p>
            <a:pPr marL="152396" indent="0">
              <a:buNone/>
            </a:pPr>
            <a:r>
              <a:rPr lang="en-GB" noProof="0" dirty="0"/>
              <a:t>Motherboard</a:t>
            </a:r>
          </a:p>
          <a:p>
            <a:r>
              <a:rPr lang="en-GB" noProof="0" dirty="0"/>
              <a:t>Connects all the bits together </a:t>
            </a:r>
          </a:p>
          <a:p>
            <a:endParaRPr lang="en-GB" noProof="0" dirty="0"/>
          </a:p>
          <a:p>
            <a:endParaRPr lang="en-GB" noProof="0" dirty="0"/>
          </a:p>
        </p:txBody>
      </p:sp>
      <p:sp>
        <p:nvSpPr>
          <p:cNvPr id="4" name="Slide Number Placeholder 3">
            <a:extLst>
              <a:ext uri="{FF2B5EF4-FFF2-40B4-BE49-F238E27FC236}">
                <a16:creationId xmlns:a16="http://schemas.microsoft.com/office/drawing/2014/main" id="{51EE2D8E-700C-DC62-F2A4-FCFCD932E145}"/>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7" name="Picture 6">
            <a:extLst>
              <a:ext uri="{FF2B5EF4-FFF2-40B4-BE49-F238E27FC236}">
                <a16:creationId xmlns:a16="http://schemas.microsoft.com/office/drawing/2014/main" id="{703A3696-A912-BA2C-FCBA-112E1DF809BE}"/>
              </a:ext>
            </a:extLst>
          </p:cNvPr>
          <p:cNvPicPr>
            <a:picLocks noChangeAspect="1"/>
          </p:cNvPicPr>
          <p:nvPr/>
        </p:nvPicPr>
        <p:blipFill>
          <a:blip r:embed="rId2"/>
          <a:stretch>
            <a:fillRect/>
          </a:stretch>
        </p:blipFill>
        <p:spPr>
          <a:xfrm rot="731230">
            <a:off x="5790558" y="872259"/>
            <a:ext cx="2041604" cy="1635938"/>
          </a:xfrm>
          <a:prstGeom prst="rect">
            <a:avLst/>
          </a:prstGeom>
        </p:spPr>
      </p:pic>
      <p:grpSp>
        <p:nvGrpSpPr>
          <p:cNvPr id="12" name="Group 11">
            <a:extLst>
              <a:ext uri="{FF2B5EF4-FFF2-40B4-BE49-F238E27FC236}">
                <a16:creationId xmlns:a16="http://schemas.microsoft.com/office/drawing/2014/main" id="{A780A2AC-AC39-17DB-8CFF-086007CFC386}"/>
              </a:ext>
            </a:extLst>
          </p:cNvPr>
          <p:cNvGrpSpPr/>
          <p:nvPr/>
        </p:nvGrpSpPr>
        <p:grpSpPr>
          <a:xfrm>
            <a:off x="8496300" y="885825"/>
            <a:ext cx="3276598" cy="4580238"/>
            <a:chOff x="609600" y="1366231"/>
            <a:chExt cx="3276598" cy="4580238"/>
          </a:xfrm>
        </p:grpSpPr>
        <p:sp>
          <p:nvSpPr>
            <p:cNvPr id="13" name="Rectangle 12">
              <a:extLst>
                <a:ext uri="{FF2B5EF4-FFF2-40B4-BE49-F238E27FC236}">
                  <a16:creationId xmlns:a16="http://schemas.microsoft.com/office/drawing/2014/main" id="{5F538E83-4844-38A3-5A5C-758D06C2FDB0}"/>
                </a:ext>
              </a:extLst>
            </p:cNvPr>
            <p:cNvSpPr/>
            <p:nvPr/>
          </p:nvSpPr>
          <p:spPr>
            <a:xfrm>
              <a:off x="609600" y="5481031"/>
              <a:ext cx="827903" cy="465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Input</a:t>
              </a:r>
            </a:p>
          </p:txBody>
        </p:sp>
        <p:sp>
          <p:nvSpPr>
            <p:cNvPr id="14" name="Rectangle 13">
              <a:extLst>
                <a:ext uri="{FF2B5EF4-FFF2-40B4-BE49-F238E27FC236}">
                  <a16:creationId xmlns:a16="http://schemas.microsoft.com/office/drawing/2014/main" id="{12B99536-F9C4-A87A-8B43-4ECAAAC1EAD9}"/>
                </a:ext>
              </a:extLst>
            </p:cNvPr>
            <p:cNvSpPr/>
            <p:nvPr/>
          </p:nvSpPr>
          <p:spPr>
            <a:xfrm>
              <a:off x="1737666" y="5481032"/>
              <a:ext cx="827903" cy="465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Output</a:t>
              </a:r>
            </a:p>
          </p:txBody>
        </p:sp>
        <p:sp>
          <p:nvSpPr>
            <p:cNvPr id="15" name="Rectangle 14">
              <a:extLst>
                <a:ext uri="{FF2B5EF4-FFF2-40B4-BE49-F238E27FC236}">
                  <a16:creationId xmlns:a16="http://schemas.microsoft.com/office/drawing/2014/main" id="{82DCD812-C626-1974-D232-7BCB0D85E9A9}"/>
                </a:ext>
              </a:extLst>
            </p:cNvPr>
            <p:cNvSpPr/>
            <p:nvPr/>
          </p:nvSpPr>
          <p:spPr>
            <a:xfrm>
              <a:off x="2934212" y="5481031"/>
              <a:ext cx="827903" cy="465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Network</a:t>
              </a:r>
            </a:p>
          </p:txBody>
        </p:sp>
        <p:sp>
          <p:nvSpPr>
            <p:cNvPr id="16" name="Rectangle 15">
              <a:extLst>
                <a:ext uri="{FF2B5EF4-FFF2-40B4-BE49-F238E27FC236}">
                  <a16:creationId xmlns:a16="http://schemas.microsoft.com/office/drawing/2014/main" id="{2BEF92B7-12F0-82FC-F376-78D01E64A8CB}"/>
                </a:ext>
              </a:extLst>
            </p:cNvPr>
            <p:cNvSpPr/>
            <p:nvPr/>
          </p:nvSpPr>
          <p:spPr>
            <a:xfrm>
              <a:off x="3330657" y="3913782"/>
              <a:ext cx="555541" cy="827903"/>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Drive</a:t>
              </a:r>
            </a:p>
          </p:txBody>
        </p:sp>
        <p:cxnSp>
          <p:nvCxnSpPr>
            <p:cNvPr id="17" name="Straight Arrow Connector 16">
              <a:extLst>
                <a:ext uri="{FF2B5EF4-FFF2-40B4-BE49-F238E27FC236}">
                  <a16:creationId xmlns:a16="http://schemas.microsoft.com/office/drawing/2014/main" id="{142FD447-9F91-46DC-599C-50347991FD3D}"/>
                </a:ext>
              </a:extLst>
            </p:cNvPr>
            <p:cNvCxnSpPr>
              <a:cxnSpLocks/>
            </p:cNvCxnSpPr>
            <p:nvPr/>
          </p:nvCxnSpPr>
          <p:spPr>
            <a:xfrm>
              <a:off x="2565570" y="4537798"/>
              <a:ext cx="765088" cy="0"/>
            </a:xfrm>
            <a:prstGeom prst="straightConnector1">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BB0BAD7-584F-DC43-E63F-60F20C362EB9}"/>
                </a:ext>
              </a:extLst>
            </p:cNvPr>
            <p:cNvCxnSpPr>
              <a:cxnSpLocks/>
            </p:cNvCxnSpPr>
            <p:nvPr/>
          </p:nvCxnSpPr>
          <p:spPr>
            <a:xfrm>
              <a:off x="2565570" y="2247679"/>
              <a:ext cx="592030"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3B08D2F-4FE4-EC16-55D5-50A61186E9D1}"/>
                </a:ext>
              </a:extLst>
            </p:cNvPr>
            <p:cNvCxnSpPr>
              <a:cxnSpLocks/>
            </p:cNvCxnSpPr>
            <p:nvPr/>
          </p:nvCxnSpPr>
          <p:spPr>
            <a:xfrm>
              <a:off x="3138100" y="2247679"/>
              <a:ext cx="0" cy="2080054"/>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C679A85-0B6E-6BBD-2570-3C9C0B49EF5E}"/>
                </a:ext>
              </a:extLst>
            </p:cNvPr>
            <p:cNvSpPr/>
            <p:nvPr/>
          </p:nvSpPr>
          <p:spPr>
            <a:xfrm>
              <a:off x="1737666" y="1366231"/>
              <a:ext cx="827903" cy="1762897"/>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RAM</a:t>
              </a:r>
            </a:p>
          </p:txBody>
        </p:sp>
        <p:cxnSp>
          <p:nvCxnSpPr>
            <p:cNvPr id="21" name="Straight Arrow Connector 20">
              <a:extLst>
                <a:ext uri="{FF2B5EF4-FFF2-40B4-BE49-F238E27FC236}">
                  <a16:creationId xmlns:a16="http://schemas.microsoft.com/office/drawing/2014/main" id="{03B819B9-A2F7-CEB3-E39E-0FEAC2325611}"/>
                </a:ext>
              </a:extLst>
            </p:cNvPr>
            <p:cNvCxnSpPr>
              <a:cxnSpLocks/>
            </p:cNvCxnSpPr>
            <p:nvPr/>
          </p:nvCxnSpPr>
          <p:spPr>
            <a:xfrm>
              <a:off x="2565570" y="4327733"/>
              <a:ext cx="592030"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876F715-262C-A802-9BB7-CAAAEF1CB535}"/>
                </a:ext>
              </a:extLst>
            </p:cNvPr>
            <p:cNvCxnSpPr>
              <a:cxnSpLocks/>
              <a:stCxn id="25" idx="3"/>
            </p:cNvCxnSpPr>
            <p:nvPr/>
          </p:nvCxnSpPr>
          <p:spPr>
            <a:xfrm flipV="1">
              <a:off x="2565569" y="3521454"/>
              <a:ext cx="296016" cy="1"/>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0EF2C11-3FCA-7C82-B292-679D8C549568}"/>
                </a:ext>
              </a:extLst>
            </p:cNvPr>
            <p:cNvCxnSpPr>
              <a:cxnSpLocks/>
            </p:cNvCxnSpPr>
            <p:nvPr/>
          </p:nvCxnSpPr>
          <p:spPr>
            <a:xfrm>
              <a:off x="2873490" y="3502533"/>
              <a:ext cx="0" cy="601878"/>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E0DBBF8-AF54-9739-06C4-D91B45938664}"/>
                </a:ext>
              </a:extLst>
            </p:cNvPr>
            <p:cNvCxnSpPr>
              <a:cxnSpLocks/>
            </p:cNvCxnSpPr>
            <p:nvPr/>
          </p:nvCxnSpPr>
          <p:spPr>
            <a:xfrm>
              <a:off x="2565569" y="4104411"/>
              <a:ext cx="328245"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0D242A23-C78E-A66A-54B5-D079BC99D3B7}"/>
                </a:ext>
              </a:extLst>
            </p:cNvPr>
            <p:cNvSpPr/>
            <p:nvPr/>
          </p:nvSpPr>
          <p:spPr>
            <a:xfrm>
              <a:off x="1737666" y="3288736"/>
              <a:ext cx="827903" cy="465437"/>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ROM/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Flash</a:t>
              </a:r>
            </a:p>
          </p:txBody>
        </p:sp>
        <p:cxnSp>
          <p:nvCxnSpPr>
            <p:cNvPr id="26" name="Straight Arrow Connector 25">
              <a:extLst>
                <a:ext uri="{FF2B5EF4-FFF2-40B4-BE49-F238E27FC236}">
                  <a16:creationId xmlns:a16="http://schemas.microsoft.com/office/drawing/2014/main" id="{28ADD7A9-AAB9-6B38-11CA-CE0BC6005DB8}"/>
                </a:ext>
              </a:extLst>
            </p:cNvPr>
            <p:cNvCxnSpPr>
              <a:cxnSpLocks/>
            </p:cNvCxnSpPr>
            <p:nvPr/>
          </p:nvCxnSpPr>
          <p:spPr>
            <a:xfrm>
              <a:off x="1888394" y="4741685"/>
              <a:ext cx="0" cy="392327"/>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9589B28-8E8A-E747-EF01-8F9C97869D47}"/>
                </a:ext>
              </a:extLst>
            </p:cNvPr>
            <p:cNvCxnSpPr>
              <a:cxnSpLocks/>
            </p:cNvCxnSpPr>
            <p:nvPr/>
          </p:nvCxnSpPr>
          <p:spPr>
            <a:xfrm>
              <a:off x="1004499" y="5116122"/>
              <a:ext cx="883895" cy="0"/>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534EF35-6DC1-48F5-F18E-E8DCB2A69171}"/>
                </a:ext>
              </a:extLst>
            </p:cNvPr>
            <p:cNvCxnSpPr>
              <a:cxnSpLocks/>
              <a:endCxn id="13" idx="0"/>
            </p:cNvCxnSpPr>
            <p:nvPr/>
          </p:nvCxnSpPr>
          <p:spPr>
            <a:xfrm>
              <a:off x="1023552" y="5116122"/>
              <a:ext cx="0" cy="364909"/>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5A54B96-D766-6EB1-8653-2B4B5684581B}"/>
                </a:ext>
              </a:extLst>
            </p:cNvPr>
            <p:cNvCxnSpPr>
              <a:cxnSpLocks/>
              <a:stCxn id="37" idx="2"/>
              <a:endCxn id="14" idx="0"/>
            </p:cNvCxnSpPr>
            <p:nvPr/>
          </p:nvCxnSpPr>
          <p:spPr>
            <a:xfrm flipH="1">
              <a:off x="2151618" y="4741685"/>
              <a:ext cx="1" cy="739347"/>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FA6DAD3-7B27-13E6-9FC4-EEDAF8100983}"/>
                </a:ext>
              </a:extLst>
            </p:cNvPr>
            <p:cNvCxnSpPr>
              <a:cxnSpLocks/>
            </p:cNvCxnSpPr>
            <p:nvPr/>
          </p:nvCxnSpPr>
          <p:spPr>
            <a:xfrm>
              <a:off x="3369146" y="5111358"/>
              <a:ext cx="0" cy="364909"/>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4085EDA-7A6A-AE77-84EF-3E8F38D060C4}"/>
                </a:ext>
              </a:extLst>
            </p:cNvPr>
            <p:cNvCxnSpPr>
              <a:cxnSpLocks/>
            </p:cNvCxnSpPr>
            <p:nvPr/>
          </p:nvCxnSpPr>
          <p:spPr>
            <a:xfrm>
              <a:off x="2383693" y="5122944"/>
              <a:ext cx="993431" cy="0"/>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4B2E157-EE50-C7A3-2028-B86141D8D20C}"/>
                </a:ext>
              </a:extLst>
            </p:cNvPr>
            <p:cNvCxnSpPr>
              <a:cxnSpLocks/>
            </p:cNvCxnSpPr>
            <p:nvPr/>
          </p:nvCxnSpPr>
          <p:spPr>
            <a:xfrm>
              <a:off x="2393219" y="4741685"/>
              <a:ext cx="0" cy="392327"/>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CECBE9E-746E-BAA1-6485-7A1FE5FFD7FA}"/>
                </a:ext>
              </a:extLst>
            </p:cNvPr>
            <p:cNvCxnSpPr>
              <a:cxnSpLocks/>
            </p:cNvCxnSpPr>
            <p:nvPr/>
          </p:nvCxnSpPr>
          <p:spPr>
            <a:xfrm>
              <a:off x="1304537" y="2247679"/>
              <a:ext cx="0" cy="2080054"/>
            </a:xfrm>
            <a:prstGeom prst="straightConnector1">
              <a:avLst/>
            </a:prstGeom>
            <a:ln w="38100">
              <a:solidFill>
                <a:schemeClr val="tx1">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4643B88-C55D-80AF-68E8-0FB9A6293BE2}"/>
                </a:ext>
              </a:extLst>
            </p:cNvPr>
            <p:cNvCxnSpPr>
              <a:cxnSpLocks/>
              <a:endCxn id="37" idx="1"/>
            </p:cNvCxnSpPr>
            <p:nvPr/>
          </p:nvCxnSpPr>
          <p:spPr>
            <a:xfrm>
              <a:off x="1285038" y="4327734"/>
              <a:ext cx="452629" cy="0"/>
            </a:xfrm>
            <a:prstGeom prst="straightConnector1">
              <a:avLst/>
            </a:prstGeom>
            <a:ln w="38100">
              <a:solidFill>
                <a:schemeClr val="tx1">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C1319A0-BCC6-364C-9F1D-1BB2804B1BFF}"/>
                </a:ext>
              </a:extLst>
            </p:cNvPr>
            <p:cNvCxnSpPr>
              <a:cxnSpLocks/>
              <a:stCxn id="20" idx="1"/>
            </p:cNvCxnSpPr>
            <p:nvPr/>
          </p:nvCxnSpPr>
          <p:spPr>
            <a:xfrm flipH="1">
              <a:off x="1285038" y="2247680"/>
              <a:ext cx="452628" cy="0"/>
            </a:xfrm>
            <a:prstGeom prst="straightConnector1">
              <a:avLst/>
            </a:prstGeom>
            <a:ln w="38100">
              <a:solidFill>
                <a:schemeClr val="tx1">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96CEB4B-50D1-D81D-E13D-2D98BB49937B}"/>
                </a:ext>
              </a:extLst>
            </p:cNvPr>
            <p:cNvCxnSpPr>
              <a:cxnSpLocks/>
            </p:cNvCxnSpPr>
            <p:nvPr/>
          </p:nvCxnSpPr>
          <p:spPr>
            <a:xfrm flipH="1">
              <a:off x="1285038" y="3521454"/>
              <a:ext cx="452628" cy="0"/>
            </a:xfrm>
            <a:prstGeom prst="straightConnector1">
              <a:avLst/>
            </a:prstGeom>
            <a:ln w="38100">
              <a:solidFill>
                <a:schemeClr val="tx1">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419A742B-F010-0884-F91F-F45343531906}"/>
                </a:ext>
              </a:extLst>
            </p:cNvPr>
            <p:cNvSpPr/>
            <p:nvPr/>
          </p:nvSpPr>
          <p:spPr>
            <a:xfrm>
              <a:off x="1737667" y="3913782"/>
              <a:ext cx="827903" cy="827903"/>
            </a:xfrm>
            <a:prstGeom prst="rect">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CPU</a:t>
              </a:r>
            </a:p>
          </p:txBody>
        </p:sp>
      </p:grpSp>
      <p:pic>
        <p:nvPicPr>
          <p:cNvPr id="2050" name="Picture 2" descr="MMB566">
            <a:extLst>
              <a:ext uri="{FF2B5EF4-FFF2-40B4-BE49-F238E27FC236}">
                <a16:creationId xmlns:a16="http://schemas.microsoft.com/office/drawing/2014/main" id="{4BA07AA7-09CE-DFB3-31A6-0AAE859BDF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381" t="5746" r="7383" b="6171"/>
          <a:stretch>
            <a:fillRect/>
          </a:stretch>
        </p:blipFill>
        <p:spPr bwMode="auto">
          <a:xfrm>
            <a:off x="4732023" y="3215644"/>
            <a:ext cx="2870764" cy="2966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0610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0E143-1D04-BB63-784B-46B0F0E549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5CEF63-F3C0-B0F1-4076-A915DDA69BAB}"/>
              </a:ext>
            </a:extLst>
          </p:cNvPr>
          <p:cNvSpPr>
            <a:spLocks noGrp="1"/>
          </p:cNvSpPr>
          <p:nvPr>
            <p:ph type="ctrTitle"/>
          </p:nvPr>
        </p:nvSpPr>
        <p:spPr>
          <a:xfrm>
            <a:off x="1435099" y="2484800"/>
            <a:ext cx="9128049" cy="1888400"/>
          </a:xfrm>
        </p:spPr>
        <p:txBody>
          <a:bodyPr/>
          <a:lstStyle/>
          <a:p>
            <a:r>
              <a:rPr lang="en-GB" noProof="0" dirty="0"/>
              <a:t>Engineering Foundations</a:t>
            </a:r>
            <a:br>
              <a:rPr lang="en-GB" noProof="0" dirty="0"/>
            </a:br>
            <a:r>
              <a:rPr lang="en-GB" sz="2400" noProof="0" dirty="0"/>
              <a:t>Number Systems</a:t>
            </a:r>
          </a:p>
        </p:txBody>
      </p:sp>
    </p:spTree>
    <p:extLst>
      <p:ext uri="{BB962C8B-B14F-4D97-AF65-F5344CB8AC3E}">
        <p14:creationId xmlns:p14="http://schemas.microsoft.com/office/powerpoint/2010/main" val="284427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46C1D-7F82-211C-9EE3-8D4BD5B11900}"/>
              </a:ext>
            </a:extLst>
          </p:cNvPr>
          <p:cNvSpPr>
            <a:spLocks noGrp="1"/>
          </p:cNvSpPr>
          <p:nvPr>
            <p:ph type="title"/>
          </p:nvPr>
        </p:nvSpPr>
        <p:spPr/>
        <p:txBody>
          <a:bodyPr/>
          <a:lstStyle/>
          <a:p>
            <a:r>
              <a:rPr lang="en-GB" noProof="0" dirty="0"/>
              <a:t>Number Systems</a:t>
            </a:r>
          </a:p>
        </p:txBody>
      </p:sp>
      <p:sp>
        <p:nvSpPr>
          <p:cNvPr id="3" name="Text Placeholder 2">
            <a:extLst>
              <a:ext uri="{FF2B5EF4-FFF2-40B4-BE49-F238E27FC236}">
                <a16:creationId xmlns:a16="http://schemas.microsoft.com/office/drawing/2014/main" id="{42B534A1-BBD5-2F70-4018-6F531B385AB5}"/>
              </a:ext>
            </a:extLst>
          </p:cNvPr>
          <p:cNvSpPr>
            <a:spLocks noGrp="1"/>
          </p:cNvSpPr>
          <p:nvPr>
            <p:ph type="body" idx="1"/>
          </p:nvPr>
        </p:nvSpPr>
        <p:spPr/>
        <p:txBody>
          <a:bodyPr/>
          <a:lstStyle/>
          <a:p>
            <a:r>
              <a:rPr lang="en-GB" noProof="0" dirty="0"/>
              <a:t>Positional number system can be written:</a:t>
            </a:r>
            <a:br>
              <a:rPr lang="en-GB" noProof="0" dirty="0"/>
            </a:br>
            <a:br>
              <a:rPr lang="en-GB" noProof="0" dirty="0"/>
            </a:br>
            <a:r>
              <a:rPr lang="en-GB" noProof="0" dirty="0"/>
              <a:t>Where p is the largest positive power (leftmost digit), m is number of fractional digits</a:t>
            </a:r>
          </a:p>
          <a:p>
            <a:r>
              <a:rPr lang="en-GB" noProof="0" dirty="0"/>
              <a:t>For a decimal system, R (radix or base) is 10, Coefficient C is 0 to 9, p largest int digit, m largest fractional digit </a:t>
            </a:r>
          </a:p>
          <a:p>
            <a:r>
              <a:rPr lang="en-GB" noProof="0" dirty="0"/>
              <a:t>So, 10552.75, p=4, m=2 = 2x10</a:t>
            </a:r>
            <a:r>
              <a:rPr lang="en-GB" baseline="30000" noProof="0" dirty="0"/>
              <a:t>0</a:t>
            </a:r>
            <a:r>
              <a:rPr lang="en-GB" noProof="0" dirty="0"/>
              <a:t>+5x10</a:t>
            </a:r>
            <a:r>
              <a:rPr lang="en-GB" baseline="30000" noProof="0" dirty="0"/>
              <a:t>1</a:t>
            </a:r>
            <a:r>
              <a:rPr lang="en-GB" noProof="0" dirty="0"/>
              <a:t>+5x10</a:t>
            </a:r>
            <a:r>
              <a:rPr lang="en-GB" baseline="30000" noProof="0" dirty="0"/>
              <a:t>2</a:t>
            </a:r>
            <a:r>
              <a:rPr lang="en-GB" noProof="0" dirty="0"/>
              <a:t>+0x10</a:t>
            </a:r>
            <a:r>
              <a:rPr lang="en-GB" baseline="30000" noProof="0" dirty="0"/>
              <a:t>3</a:t>
            </a:r>
            <a:r>
              <a:rPr lang="en-GB" noProof="0" dirty="0"/>
              <a:t>+1x10</a:t>
            </a:r>
            <a:r>
              <a:rPr lang="en-GB" baseline="30000" noProof="0" dirty="0"/>
              <a:t>4</a:t>
            </a:r>
            <a:r>
              <a:rPr lang="en-GB" noProof="0" dirty="0"/>
              <a:t>+7x10</a:t>
            </a:r>
            <a:r>
              <a:rPr lang="en-GB" baseline="30000" noProof="0" dirty="0"/>
              <a:t>-1</a:t>
            </a:r>
            <a:r>
              <a:rPr lang="en-GB" noProof="0" dirty="0"/>
              <a:t>+5x10</a:t>
            </a:r>
            <a:r>
              <a:rPr lang="en-GB" baseline="30000" noProof="0" dirty="0"/>
              <a:t>-2</a:t>
            </a:r>
          </a:p>
          <a:p>
            <a:r>
              <a:rPr lang="en-GB" noProof="0" dirty="0"/>
              <a:t>1x10</a:t>
            </a:r>
            <a:r>
              <a:rPr lang="en-GB" baseline="30000" noProof="0" dirty="0"/>
              <a:t>4</a:t>
            </a:r>
            <a:r>
              <a:rPr lang="en-GB" noProof="0" dirty="0"/>
              <a:t>+0x10</a:t>
            </a:r>
            <a:r>
              <a:rPr lang="en-GB" baseline="30000" noProof="0" dirty="0"/>
              <a:t>3</a:t>
            </a:r>
            <a:r>
              <a:rPr lang="en-GB" noProof="0" dirty="0"/>
              <a:t>+5x10</a:t>
            </a:r>
            <a:r>
              <a:rPr lang="en-GB" baseline="30000" noProof="0" dirty="0"/>
              <a:t>2</a:t>
            </a:r>
            <a:r>
              <a:rPr lang="en-GB" noProof="0" dirty="0"/>
              <a:t>+5x10</a:t>
            </a:r>
            <a:r>
              <a:rPr lang="en-GB" baseline="30000" noProof="0" dirty="0"/>
              <a:t>1</a:t>
            </a:r>
            <a:r>
              <a:rPr lang="en-GB" noProof="0" dirty="0"/>
              <a:t>+2x10</a:t>
            </a:r>
            <a:r>
              <a:rPr lang="en-GB" baseline="30000" noProof="0" dirty="0"/>
              <a:t>0</a:t>
            </a:r>
            <a:r>
              <a:rPr lang="en-GB" noProof="0" dirty="0"/>
              <a:t>+7x10</a:t>
            </a:r>
            <a:r>
              <a:rPr lang="en-GB" baseline="30000" noProof="0" dirty="0"/>
              <a:t>-1</a:t>
            </a:r>
            <a:r>
              <a:rPr lang="en-GB" noProof="0" dirty="0"/>
              <a:t>+5x10</a:t>
            </a:r>
            <a:r>
              <a:rPr lang="en-GB" baseline="30000" noProof="0" dirty="0"/>
              <a:t>-2</a:t>
            </a:r>
          </a:p>
          <a:p>
            <a:r>
              <a:rPr lang="en-GB" noProof="0" dirty="0"/>
              <a:t>10552.75 = 10000 +500 + 50 + 2 + 0.7 + 0.05</a:t>
            </a:r>
          </a:p>
          <a:p>
            <a:r>
              <a:rPr lang="en-GB" noProof="0" dirty="0"/>
              <a:t>So, for binary numbers, R=2, C=0 to 1</a:t>
            </a:r>
          </a:p>
          <a:p>
            <a:r>
              <a:rPr lang="en-GB" noProof="0" dirty="0"/>
              <a:t>10010010.101 = 1x2</a:t>
            </a:r>
            <a:r>
              <a:rPr lang="en-GB" baseline="30000" noProof="0" dirty="0"/>
              <a:t>7</a:t>
            </a:r>
            <a:r>
              <a:rPr lang="en-GB" noProof="0" dirty="0"/>
              <a:t>+0x2</a:t>
            </a:r>
            <a:r>
              <a:rPr lang="en-GB" baseline="30000" noProof="0" dirty="0"/>
              <a:t>6</a:t>
            </a:r>
            <a:r>
              <a:rPr lang="en-GB" noProof="0" dirty="0"/>
              <a:t>+0x2</a:t>
            </a:r>
            <a:r>
              <a:rPr lang="en-GB" baseline="30000" noProof="0" dirty="0"/>
              <a:t>5</a:t>
            </a:r>
            <a:r>
              <a:rPr lang="en-GB" noProof="0" dirty="0"/>
              <a:t>+1x2</a:t>
            </a:r>
            <a:r>
              <a:rPr lang="en-GB" baseline="30000" noProof="0" dirty="0"/>
              <a:t>4</a:t>
            </a:r>
            <a:r>
              <a:rPr lang="en-GB" noProof="0" dirty="0"/>
              <a:t>+0x2</a:t>
            </a:r>
            <a:r>
              <a:rPr lang="en-GB" baseline="30000" noProof="0" dirty="0"/>
              <a:t>3</a:t>
            </a:r>
            <a:r>
              <a:rPr lang="en-GB" noProof="0" dirty="0"/>
              <a:t>+0x2</a:t>
            </a:r>
            <a:r>
              <a:rPr lang="en-GB" baseline="30000" noProof="0" dirty="0"/>
              <a:t>2</a:t>
            </a:r>
            <a:r>
              <a:rPr lang="en-GB" noProof="0" dirty="0"/>
              <a:t>+1x2</a:t>
            </a:r>
            <a:r>
              <a:rPr lang="en-GB" baseline="30000" noProof="0" dirty="0"/>
              <a:t>1</a:t>
            </a:r>
            <a:r>
              <a:rPr lang="en-GB" noProof="0" dirty="0"/>
              <a:t>+0x2</a:t>
            </a:r>
            <a:r>
              <a:rPr lang="en-GB" baseline="30000" noProof="0" dirty="0"/>
              <a:t>0</a:t>
            </a:r>
            <a:r>
              <a:rPr lang="en-GB" noProof="0" dirty="0"/>
              <a:t>+1x2</a:t>
            </a:r>
            <a:r>
              <a:rPr lang="en-GB" baseline="30000" noProof="0" dirty="0"/>
              <a:t>-1</a:t>
            </a:r>
            <a:r>
              <a:rPr lang="en-GB" noProof="0" dirty="0"/>
              <a:t>+0x2</a:t>
            </a:r>
            <a:r>
              <a:rPr lang="en-GB" baseline="30000" noProof="0" dirty="0"/>
              <a:t>-2</a:t>
            </a:r>
            <a:r>
              <a:rPr lang="en-GB" noProof="0" dirty="0"/>
              <a:t>+1x2</a:t>
            </a:r>
            <a:r>
              <a:rPr lang="en-GB" baseline="30000" noProof="0" dirty="0"/>
              <a:t>-3</a:t>
            </a:r>
          </a:p>
          <a:p>
            <a:r>
              <a:rPr lang="en-GB" noProof="0" dirty="0"/>
              <a:t>10010010.101 = 128+0+0+16+0+0+2+0.5+0+0.125 = 146.625</a:t>
            </a:r>
            <a:r>
              <a:rPr lang="en-GB" baseline="-25000" noProof="0" dirty="0"/>
              <a:t>10</a:t>
            </a:r>
          </a:p>
          <a:p>
            <a:r>
              <a:rPr lang="en-GB" noProof="0" dirty="0"/>
              <a:t>Binary numbers are awkward to work with, so we often use a related base of 16 - hexadecimal</a:t>
            </a:r>
          </a:p>
          <a:p>
            <a:r>
              <a:rPr lang="en-GB" noProof="0" dirty="0"/>
              <a:t>So, for hexadecimal numbers, R=16, C=0 to F so a hexadecimal number of </a:t>
            </a:r>
          </a:p>
          <a:p>
            <a:r>
              <a:rPr lang="en-GB" noProof="0" dirty="0"/>
              <a:t>2A3F.AB = 2x16</a:t>
            </a:r>
            <a:r>
              <a:rPr lang="en-GB" baseline="30000" noProof="0" dirty="0"/>
              <a:t>3</a:t>
            </a:r>
            <a:r>
              <a:rPr lang="en-GB" noProof="0" dirty="0"/>
              <a:t>+Ax16</a:t>
            </a:r>
            <a:r>
              <a:rPr lang="en-GB" baseline="30000" noProof="0" dirty="0"/>
              <a:t>2</a:t>
            </a:r>
            <a:r>
              <a:rPr lang="en-GB" noProof="0" dirty="0"/>
              <a:t>+3x16</a:t>
            </a:r>
            <a:r>
              <a:rPr lang="en-GB" baseline="30000" noProof="0" dirty="0"/>
              <a:t>1</a:t>
            </a:r>
            <a:r>
              <a:rPr lang="en-GB" noProof="0" dirty="0"/>
              <a:t>+Fx16</a:t>
            </a:r>
            <a:r>
              <a:rPr lang="en-GB" baseline="30000" noProof="0" dirty="0"/>
              <a:t>0</a:t>
            </a:r>
            <a:r>
              <a:rPr lang="en-GB" noProof="0" dirty="0"/>
              <a:t>+Ax16</a:t>
            </a:r>
            <a:r>
              <a:rPr lang="en-GB" baseline="30000" noProof="0" dirty="0"/>
              <a:t>-1</a:t>
            </a:r>
            <a:r>
              <a:rPr lang="en-GB" noProof="0" dirty="0"/>
              <a:t>+Bx16</a:t>
            </a:r>
            <a:r>
              <a:rPr lang="en-GB" baseline="30000" noProof="0" dirty="0"/>
              <a:t>-2</a:t>
            </a:r>
          </a:p>
          <a:p>
            <a:r>
              <a:rPr lang="en-GB" noProof="0" dirty="0"/>
              <a:t>2A3F.AB = 8192+2560+48+15+0.625+ 0.04296875 = 10815.66796875</a:t>
            </a:r>
          </a:p>
          <a:p>
            <a:r>
              <a:rPr lang="en-GB" noProof="0" dirty="0"/>
              <a:t>What about the octal value 2345.67</a:t>
            </a:r>
          </a:p>
        </p:txBody>
      </p:sp>
      <p:sp>
        <p:nvSpPr>
          <p:cNvPr id="4" name="Slide Number Placeholder 3">
            <a:extLst>
              <a:ext uri="{FF2B5EF4-FFF2-40B4-BE49-F238E27FC236}">
                <a16:creationId xmlns:a16="http://schemas.microsoft.com/office/drawing/2014/main" id="{894938B5-F26C-1F4F-CF88-0FD608BAEC80}"/>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11" name="Picture 10" descr="A black and white math symbols">
            <a:extLst>
              <a:ext uri="{FF2B5EF4-FFF2-40B4-BE49-F238E27FC236}">
                <a16:creationId xmlns:a16="http://schemas.microsoft.com/office/drawing/2014/main" id="{12CFB53C-5FA9-AADD-CC58-75228F21FEC9}"/>
              </a:ext>
            </a:extLst>
          </p:cNvPr>
          <p:cNvPicPr>
            <a:picLocks noChangeAspect="1"/>
          </p:cNvPicPr>
          <p:nvPr/>
        </p:nvPicPr>
        <p:blipFill>
          <a:blip r:embed="rId3"/>
          <a:stretch>
            <a:fillRect/>
          </a:stretch>
        </p:blipFill>
        <p:spPr>
          <a:xfrm>
            <a:off x="5463370" y="885825"/>
            <a:ext cx="2438740" cy="819264"/>
          </a:xfrm>
          <a:prstGeom prst="rect">
            <a:avLst/>
          </a:prstGeom>
        </p:spPr>
      </p:pic>
    </p:spTree>
    <p:extLst>
      <p:ext uri="{BB962C8B-B14F-4D97-AF65-F5344CB8AC3E}">
        <p14:creationId xmlns:p14="http://schemas.microsoft.com/office/powerpoint/2010/main" val="1133632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91201-D2E9-981A-CE4A-EC2361545E8C}"/>
              </a:ext>
            </a:extLst>
          </p:cNvPr>
          <p:cNvSpPr>
            <a:spLocks noGrp="1"/>
          </p:cNvSpPr>
          <p:nvPr>
            <p:ph type="title"/>
          </p:nvPr>
        </p:nvSpPr>
        <p:spPr/>
        <p:txBody>
          <a:bodyPr/>
          <a:lstStyle/>
          <a:p>
            <a:endParaRPr lang="en-GB" noProof="0" dirty="0"/>
          </a:p>
        </p:txBody>
      </p:sp>
      <p:sp>
        <p:nvSpPr>
          <p:cNvPr id="3" name="Text Placeholder 2">
            <a:extLst>
              <a:ext uri="{FF2B5EF4-FFF2-40B4-BE49-F238E27FC236}">
                <a16:creationId xmlns:a16="http://schemas.microsoft.com/office/drawing/2014/main" id="{AF68783A-BE3A-7A3D-DC56-1FA522611A66}"/>
              </a:ext>
            </a:extLst>
          </p:cNvPr>
          <p:cNvSpPr>
            <a:spLocks noGrp="1"/>
          </p:cNvSpPr>
          <p:nvPr>
            <p:ph type="body" idx="1"/>
          </p:nvPr>
        </p:nvSpPr>
        <p:spPr>
          <a:xfrm>
            <a:off x="609600" y="885825"/>
            <a:ext cx="11163300" cy="5387632"/>
          </a:xfrm>
        </p:spPr>
        <p:txBody>
          <a:bodyPr/>
          <a:lstStyle/>
          <a:p>
            <a:r>
              <a:rPr lang="en-GB" noProof="0" dirty="0"/>
              <a:t>We regularly convert from hexadecimal to binary and visa versa. Fortunately, that's easy</a:t>
            </a:r>
          </a:p>
          <a:p>
            <a:r>
              <a:rPr lang="en-GB" noProof="0" dirty="0"/>
              <a:t>Work in groups of 4 bits there is a direct mapping</a:t>
            </a:r>
          </a:p>
          <a:p>
            <a:r>
              <a:rPr lang="en-GB" noProof="0" dirty="0"/>
              <a:t>Binary		Dec		Hex</a:t>
            </a:r>
            <a:br>
              <a:rPr lang="en-GB" noProof="0" dirty="0"/>
            </a:br>
            <a:r>
              <a:rPr lang="en-GB" noProof="0" dirty="0"/>
              <a:t>0 0 0 0		0		0</a:t>
            </a:r>
            <a:br>
              <a:rPr lang="en-GB" noProof="0" dirty="0"/>
            </a:br>
            <a:r>
              <a:rPr lang="en-GB" noProof="0" dirty="0"/>
              <a:t>0 0 0 1		1		1</a:t>
            </a:r>
            <a:br>
              <a:rPr lang="en-GB" noProof="0" dirty="0"/>
            </a:br>
            <a:r>
              <a:rPr lang="en-GB" noProof="0" dirty="0"/>
              <a:t>0 0 1 0		2		2</a:t>
            </a:r>
            <a:br>
              <a:rPr lang="en-GB" noProof="0" dirty="0"/>
            </a:br>
            <a:r>
              <a:rPr lang="en-GB" noProof="0" dirty="0"/>
              <a:t>0 0 1 1		3		3</a:t>
            </a:r>
            <a:br>
              <a:rPr lang="en-GB" noProof="0" dirty="0"/>
            </a:br>
            <a:r>
              <a:rPr lang="en-GB" noProof="0" dirty="0"/>
              <a:t>0 1 0 0		4		4</a:t>
            </a:r>
            <a:br>
              <a:rPr lang="en-GB" noProof="0" dirty="0"/>
            </a:br>
            <a:r>
              <a:rPr lang="en-GB" noProof="0" dirty="0"/>
              <a:t>0 1 0 1		5		5</a:t>
            </a:r>
            <a:br>
              <a:rPr lang="en-GB" noProof="0" dirty="0"/>
            </a:br>
            <a:r>
              <a:rPr lang="en-GB" noProof="0" dirty="0"/>
              <a:t>0 1 1 0		6		6</a:t>
            </a:r>
            <a:br>
              <a:rPr lang="en-GB" noProof="0" dirty="0"/>
            </a:br>
            <a:r>
              <a:rPr lang="en-GB" noProof="0" dirty="0"/>
              <a:t>0 1 1 1		7		7</a:t>
            </a:r>
            <a:br>
              <a:rPr lang="en-GB" noProof="0" dirty="0"/>
            </a:br>
            <a:r>
              <a:rPr lang="en-GB" noProof="0" dirty="0"/>
              <a:t>1 0 0 0		8		8</a:t>
            </a:r>
            <a:br>
              <a:rPr lang="en-GB" noProof="0" dirty="0"/>
            </a:br>
            <a:r>
              <a:rPr lang="en-GB" noProof="0" dirty="0"/>
              <a:t>1 0 0 1		9		9</a:t>
            </a:r>
            <a:br>
              <a:rPr lang="en-GB" noProof="0" dirty="0"/>
            </a:br>
            <a:r>
              <a:rPr lang="en-GB" noProof="0" dirty="0"/>
              <a:t>1 0 1 0		10		A</a:t>
            </a:r>
            <a:br>
              <a:rPr lang="en-GB" noProof="0" dirty="0"/>
            </a:br>
            <a:r>
              <a:rPr lang="en-GB" noProof="0" dirty="0"/>
              <a:t>1 0 1 1		11		B</a:t>
            </a:r>
            <a:br>
              <a:rPr lang="en-GB" noProof="0" dirty="0"/>
            </a:br>
            <a:r>
              <a:rPr lang="en-GB" noProof="0" dirty="0"/>
              <a:t>1 1 0 0		12		C</a:t>
            </a:r>
            <a:br>
              <a:rPr lang="en-GB" noProof="0" dirty="0"/>
            </a:br>
            <a:r>
              <a:rPr lang="en-GB" noProof="0" dirty="0"/>
              <a:t>1 1 0 1		13		D</a:t>
            </a:r>
            <a:br>
              <a:rPr lang="en-GB" noProof="0" dirty="0"/>
            </a:br>
            <a:r>
              <a:rPr lang="en-GB" noProof="0" dirty="0"/>
              <a:t>1 1 1 0		14		E</a:t>
            </a:r>
            <a:br>
              <a:rPr lang="en-GB" noProof="0" dirty="0"/>
            </a:br>
            <a:r>
              <a:rPr lang="en-GB" noProof="0" dirty="0"/>
              <a:t>1 1 1 1		15		F</a:t>
            </a:r>
          </a:p>
          <a:p>
            <a:endParaRPr lang="en-GB" noProof="0" dirty="0"/>
          </a:p>
        </p:txBody>
      </p:sp>
      <p:sp>
        <p:nvSpPr>
          <p:cNvPr id="4" name="Slide Number Placeholder 3">
            <a:extLst>
              <a:ext uri="{FF2B5EF4-FFF2-40B4-BE49-F238E27FC236}">
                <a16:creationId xmlns:a16="http://schemas.microsoft.com/office/drawing/2014/main" id="{C9FC1F44-4766-FE9E-AE4B-4253F8A6E498}"/>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5" name="Rectangle 2">
            <a:extLst>
              <a:ext uri="{FF2B5EF4-FFF2-40B4-BE49-F238E27FC236}">
                <a16:creationId xmlns:a16="http://schemas.microsoft.com/office/drawing/2014/main" id="{30E3A606-F11C-A31E-79F7-E7719E2AE44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graphicFrame>
        <p:nvGraphicFramePr>
          <p:cNvPr id="6" name="Object 5">
            <a:extLst>
              <a:ext uri="{FF2B5EF4-FFF2-40B4-BE49-F238E27FC236}">
                <a16:creationId xmlns:a16="http://schemas.microsoft.com/office/drawing/2014/main" id="{CE0E4798-5802-EA90-8473-5629E7779AD6}"/>
              </a:ext>
            </a:extLst>
          </p:cNvPr>
          <p:cNvGraphicFramePr>
            <a:graphicFrameLocks noChangeAspect="1"/>
          </p:cNvGraphicFramePr>
          <p:nvPr/>
        </p:nvGraphicFramePr>
        <p:xfrm>
          <a:off x="6789420" y="2185023"/>
          <a:ext cx="4141788" cy="1017588"/>
        </p:xfrm>
        <a:graphic>
          <a:graphicData uri="http://schemas.openxmlformats.org/presentationml/2006/ole">
            <mc:AlternateContent xmlns:mc="http://schemas.openxmlformats.org/markup-compatibility/2006">
              <mc:Choice xmlns:v="urn:schemas-microsoft-com:vml" Requires="v">
                <p:oleObj r:id="rId2" imgW="4140200" imgH="1016000" progId="MSDraw">
                  <p:embed/>
                </p:oleObj>
              </mc:Choice>
              <mc:Fallback>
                <p:oleObj r:id="rId2" imgW="4140200" imgH="1016000" progId="MSDraw">
                  <p:embed/>
                  <p:pic>
                    <p:nvPicPr>
                      <p:cNvPr id="6" name="Object 5">
                        <a:extLst>
                          <a:ext uri="{FF2B5EF4-FFF2-40B4-BE49-F238E27FC236}">
                            <a16:creationId xmlns:a16="http://schemas.microsoft.com/office/drawing/2014/main" id="{CE0E4798-5802-EA90-8473-5629E7779A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9420" y="2185023"/>
                        <a:ext cx="4141788" cy="1017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83274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CC0DD-2DE9-E27E-0153-9641081BF4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870528-75B1-3BBD-2FFB-252F3CAF82C5}"/>
              </a:ext>
            </a:extLst>
          </p:cNvPr>
          <p:cNvSpPr>
            <a:spLocks noGrp="1"/>
          </p:cNvSpPr>
          <p:nvPr>
            <p:ph type="ctrTitle"/>
          </p:nvPr>
        </p:nvSpPr>
        <p:spPr>
          <a:xfrm>
            <a:off x="1435099" y="2484800"/>
            <a:ext cx="9128049" cy="1888400"/>
          </a:xfrm>
        </p:spPr>
        <p:txBody>
          <a:bodyPr/>
          <a:lstStyle/>
          <a:p>
            <a:r>
              <a:rPr lang="en-GB" noProof="0" dirty="0"/>
              <a:t>Engineering Foundations</a:t>
            </a:r>
            <a:br>
              <a:rPr lang="en-GB" noProof="0" dirty="0"/>
            </a:br>
            <a:r>
              <a:rPr lang="en-GB" sz="2400" noProof="0" dirty="0"/>
              <a:t>Operating System Basics</a:t>
            </a:r>
          </a:p>
        </p:txBody>
      </p:sp>
    </p:spTree>
    <p:extLst>
      <p:ext uri="{BB962C8B-B14F-4D97-AF65-F5344CB8AC3E}">
        <p14:creationId xmlns:p14="http://schemas.microsoft.com/office/powerpoint/2010/main" val="650757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1711A-266D-8281-5CD3-0078F130909C}"/>
              </a:ext>
            </a:extLst>
          </p:cNvPr>
          <p:cNvSpPr>
            <a:spLocks noGrp="1"/>
          </p:cNvSpPr>
          <p:nvPr>
            <p:ph type="title"/>
          </p:nvPr>
        </p:nvSpPr>
        <p:spPr/>
        <p:txBody>
          <a:bodyPr/>
          <a:lstStyle/>
          <a:p>
            <a:r>
              <a:rPr lang="en-GB" noProof="0" dirty="0"/>
              <a:t>Operating System Basics</a:t>
            </a:r>
          </a:p>
        </p:txBody>
      </p:sp>
      <p:sp>
        <p:nvSpPr>
          <p:cNvPr id="3" name="Text Placeholder 2">
            <a:extLst>
              <a:ext uri="{FF2B5EF4-FFF2-40B4-BE49-F238E27FC236}">
                <a16:creationId xmlns:a16="http://schemas.microsoft.com/office/drawing/2014/main" id="{EEFD426F-C257-AA05-2364-8C7B5F11004E}"/>
              </a:ext>
            </a:extLst>
          </p:cNvPr>
          <p:cNvSpPr>
            <a:spLocks noGrp="1"/>
          </p:cNvSpPr>
          <p:nvPr>
            <p:ph type="body" idx="1"/>
          </p:nvPr>
        </p:nvSpPr>
        <p:spPr/>
        <p:txBody>
          <a:bodyPr/>
          <a:lstStyle/>
          <a:p>
            <a:r>
              <a:rPr lang="en-GB" sz="1600" noProof="0" dirty="0"/>
              <a:t>A series of programs responsible for providing services to users, managing memory, interacting with hardware</a:t>
            </a:r>
          </a:p>
          <a:p>
            <a:r>
              <a:rPr lang="en-GB" sz="1600" noProof="0" dirty="0"/>
              <a:t>Popular: Windows, Linux, MacOS, Android, iOS</a:t>
            </a:r>
          </a:p>
          <a:p>
            <a:r>
              <a:rPr lang="en-GB" sz="1600" noProof="0" dirty="0"/>
              <a:t>Key components</a:t>
            </a:r>
          </a:p>
          <a:p>
            <a:r>
              <a:rPr lang="en-GB" sz="1600" noProof="0" dirty="0"/>
              <a:t>Kernel - the core of the OS</a:t>
            </a:r>
          </a:p>
          <a:p>
            <a:pPr lvl="1"/>
            <a:r>
              <a:rPr lang="en-GB" sz="1400" noProof="0" dirty="0"/>
              <a:t>Process management: create schedule and terminate processes (programs), allocates CPU time / multi-tasking</a:t>
            </a:r>
          </a:p>
          <a:p>
            <a:pPr lvl="1"/>
            <a:r>
              <a:rPr lang="en-GB" sz="1400" noProof="0" dirty="0"/>
              <a:t>Memory Management: allocates RAM to programs, protect areas of RAM from interference between processes</a:t>
            </a:r>
          </a:p>
          <a:p>
            <a:pPr lvl="1"/>
            <a:r>
              <a:rPr lang="en-GB" sz="1400" noProof="0" dirty="0"/>
              <a:t>File system management: organise data on drives, read / write file, manages </a:t>
            </a:r>
            <a:r>
              <a:rPr lang="en-GB" sz="1400" noProof="0" dirty="0" err="1"/>
              <a:t>dirs</a:t>
            </a:r>
            <a:r>
              <a:rPr lang="en-GB" sz="1400" noProof="0" dirty="0"/>
              <a:t>, access control, permissions</a:t>
            </a:r>
          </a:p>
          <a:p>
            <a:pPr lvl="1"/>
            <a:r>
              <a:rPr lang="en-GB" sz="1400" noProof="0" dirty="0"/>
              <a:t>I/O management: manages data in and out between software and hardware - e.g. files, printers, keyboard, screen etc</a:t>
            </a:r>
          </a:p>
          <a:p>
            <a:pPr lvl="1"/>
            <a:r>
              <a:rPr lang="en-GB" sz="1400" noProof="0" dirty="0"/>
              <a:t>Device drivers: low level interface of specific hardware converting OS requests to hardware specific instructions</a:t>
            </a:r>
          </a:p>
          <a:p>
            <a:pPr lvl="1"/>
            <a:r>
              <a:rPr lang="en-GB" sz="1400" noProof="0" dirty="0"/>
              <a:t>Security and protection: authentication, authorisation, access control to files and processes</a:t>
            </a:r>
          </a:p>
          <a:p>
            <a:pPr lvl="1"/>
            <a:r>
              <a:rPr lang="en-GB" sz="1400" noProof="0" dirty="0"/>
              <a:t>Networking: implements coms protocols including </a:t>
            </a:r>
            <a:r>
              <a:rPr lang="en-GB" sz="1400" noProof="0" dirty="0" err="1"/>
              <a:t>tcp</a:t>
            </a:r>
            <a:r>
              <a:rPr lang="en-GB" sz="1400" noProof="0" dirty="0"/>
              <a:t>/</a:t>
            </a:r>
            <a:r>
              <a:rPr lang="en-GB" sz="1400" noProof="0" dirty="0" err="1"/>
              <a:t>ip</a:t>
            </a:r>
            <a:r>
              <a:rPr lang="en-GB" sz="1400" noProof="0" dirty="0"/>
              <a:t>, </a:t>
            </a:r>
            <a:r>
              <a:rPr lang="en-GB" sz="1400" noProof="0" dirty="0" err="1"/>
              <a:t>udp</a:t>
            </a:r>
            <a:r>
              <a:rPr lang="en-GB" sz="1400" noProof="0" dirty="0"/>
              <a:t>, </a:t>
            </a:r>
            <a:r>
              <a:rPr lang="en-GB" sz="1400" noProof="0" dirty="0" err="1"/>
              <a:t>dns</a:t>
            </a:r>
            <a:r>
              <a:rPr lang="en-GB" sz="1400" noProof="0" dirty="0"/>
              <a:t> - enables sending and receiving data across network</a:t>
            </a:r>
          </a:p>
          <a:p>
            <a:r>
              <a:rPr lang="en-GB" sz="1600" noProof="0" dirty="0"/>
              <a:t>Other OS elements</a:t>
            </a:r>
          </a:p>
          <a:p>
            <a:pPr lvl="1"/>
            <a:r>
              <a:rPr lang="en-GB" sz="1400" noProof="0" dirty="0"/>
              <a:t>User interface (CLI/GUI): Windows </a:t>
            </a:r>
            <a:r>
              <a:rPr lang="en-GB" sz="1400" noProof="0" dirty="0" err="1"/>
              <a:t>cmd</a:t>
            </a:r>
            <a:r>
              <a:rPr lang="en-GB" sz="1400" noProof="0" dirty="0"/>
              <a:t> shell, </a:t>
            </a:r>
            <a:r>
              <a:rPr lang="en-GB" sz="1400" noProof="0" dirty="0" err="1"/>
              <a:t>powershell</a:t>
            </a:r>
            <a:r>
              <a:rPr lang="en-GB" sz="1400" noProof="0" dirty="0"/>
              <a:t>, Linux bash. Create desktop </a:t>
            </a:r>
          </a:p>
          <a:p>
            <a:pPr lvl="1"/>
            <a:r>
              <a:rPr lang="en-GB" sz="1400" noProof="0" dirty="0"/>
              <a:t>System utilities: System support tools such as file explorer, backup tools, </a:t>
            </a:r>
            <a:r>
              <a:rPr lang="en-GB" sz="1400" noProof="0" dirty="0" err="1"/>
              <a:t>IPconfig</a:t>
            </a:r>
            <a:r>
              <a:rPr lang="en-GB" sz="1400" noProof="0" dirty="0"/>
              <a:t>, ping, system restore - lots of stuff</a:t>
            </a:r>
          </a:p>
          <a:p>
            <a:pPr marL="761981" lvl="1" indent="0">
              <a:buNone/>
            </a:pPr>
            <a:endParaRPr lang="en-GB" sz="1400" noProof="0" dirty="0"/>
          </a:p>
          <a:p>
            <a:pPr lvl="1"/>
            <a:endParaRPr lang="en-GB" sz="1400" noProof="0" dirty="0"/>
          </a:p>
          <a:p>
            <a:endParaRPr lang="en-GB" sz="1600" noProof="0" dirty="0"/>
          </a:p>
        </p:txBody>
      </p:sp>
      <p:sp>
        <p:nvSpPr>
          <p:cNvPr id="4" name="Slide Number Placeholder 3">
            <a:extLst>
              <a:ext uri="{FF2B5EF4-FFF2-40B4-BE49-F238E27FC236}">
                <a16:creationId xmlns:a16="http://schemas.microsoft.com/office/drawing/2014/main" id="{1EAF56DD-2962-5A5C-FC5D-CC8B40F223F7}"/>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492416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7BAC9-3A16-4508-75C8-EC877D766047}"/>
              </a:ext>
            </a:extLst>
          </p:cNvPr>
          <p:cNvSpPr>
            <a:spLocks noGrp="1"/>
          </p:cNvSpPr>
          <p:nvPr>
            <p:ph type="title"/>
          </p:nvPr>
        </p:nvSpPr>
        <p:spPr/>
        <p:txBody>
          <a:bodyPr/>
          <a:lstStyle/>
          <a:p>
            <a:endParaRPr lang="en-GB" noProof="0" dirty="0"/>
          </a:p>
        </p:txBody>
      </p:sp>
      <p:sp>
        <p:nvSpPr>
          <p:cNvPr id="3" name="Text Placeholder 2">
            <a:extLst>
              <a:ext uri="{FF2B5EF4-FFF2-40B4-BE49-F238E27FC236}">
                <a16:creationId xmlns:a16="http://schemas.microsoft.com/office/drawing/2014/main" id="{00A57E32-ED91-1EA7-DE15-DEC6E0AD2A2B}"/>
              </a:ext>
            </a:extLst>
          </p:cNvPr>
          <p:cNvSpPr>
            <a:spLocks noGrp="1"/>
          </p:cNvSpPr>
          <p:nvPr>
            <p:ph type="body" idx="1"/>
          </p:nvPr>
        </p:nvSpPr>
        <p:spPr>
          <a:xfrm>
            <a:off x="609600" y="3700470"/>
            <a:ext cx="11163300" cy="2776530"/>
          </a:xfrm>
        </p:spPr>
        <p:txBody>
          <a:bodyPr/>
          <a:lstStyle/>
          <a:p>
            <a:r>
              <a:rPr lang="en-GB" sz="1600" noProof="0" dirty="0"/>
              <a:t>The Operating System is the go-between for software and hardware</a:t>
            </a:r>
          </a:p>
          <a:p>
            <a:r>
              <a:rPr lang="en-GB" sz="1600" noProof="0" dirty="0"/>
              <a:t>Say toy are writing a word dock. As you press a key, the operating system sees the character and sends it to the word processor. The word processor writes the character in RAM. </a:t>
            </a:r>
          </a:p>
          <a:p>
            <a:r>
              <a:rPr lang="en-GB" sz="1600" noProof="0" dirty="0"/>
              <a:t>e.g., Office word is told to save a file, it tells the OS to redraw the window to reflect the change to its content given you have just typed a character. The OS instructs the graphics card to draw the window as a block of pixels on the screen made up of RGBA or red, green, blue and alpha making up a 32 bit number for each pixel</a:t>
            </a:r>
          </a:p>
          <a:p>
            <a:r>
              <a:rPr lang="en-GB" sz="1600" noProof="0" dirty="0"/>
              <a:t>R=255 is full red. etc</a:t>
            </a:r>
          </a:p>
          <a:p>
            <a:r>
              <a:rPr lang="en-GB" sz="1600" noProof="0" dirty="0"/>
              <a:t>A=0 is fully transparent - background shows, no pixel value. 255 is opaque. 128 gives 50% transparent</a:t>
            </a:r>
          </a:p>
          <a:p>
            <a:endParaRPr lang="en-GB" sz="1600" noProof="0" dirty="0"/>
          </a:p>
        </p:txBody>
      </p:sp>
      <p:sp>
        <p:nvSpPr>
          <p:cNvPr id="4" name="Slide Number Placeholder 3">
            <a:extLst>
              <a:ext uri="{FF2B5EF4-FFF2-40B4-BE49-F238E27FC236}">
                <a16:creationId xmlns:a16="http://schemas.microsoft.com/office/drawing/2014/main" id="{5E08F965-C8A0-9D10-1400-13E378FBE2D8}"/>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5" name="Group 4">
            <a:extLst>
              <a:ext uri="{FF2B5EF4-FFF2-40B4-BE49-F238E27FC236}">
                <a16:creationId xmlns:a16="http://schemas.microsoft.com/office/drawing/2014/main" id="{C0A83BAE-E534-1EE8-7146-8E3C6AF81785}"/>
              </a:ext>
            </a:extLst>
          </p:cNvPr>
          <p:cNvGrpSpPr/>
          <p:nvPr/>
        </p:nvGrpSpPr>
        <p:grpSpPr>
          <a:xfrm>
            <a:off x="2240280" y="1119031"/>
            <a:ext cx="7904262" cy="2251306"/>
            <a:chOff x="2157274" y="2121763"/>
            <a:chExt cx="9720550" cy="2814160"/>
          </a:xfrm>
        </p:grpSpPr>
        <p:sp>
          <p:nvSpPr>
            <p:cNvPr id="6" name="Rectangle: Rounded Corners 5">
              <a:extLst>
                <a:ext uri="{FF2B5EF4-FFF2-40B4-BE49-F238E27FC236}">
                  <a16:creationId xmlns:a16="http://schemas.microsoft.com/office/drawing/2014/main" id="{9D59C236-877F-B444-1411-75716B242150}"/>
                </a:ext>
              </a:extLst>
            </p:cNvPr>
            <p:cNvSpPr/>
            <p:nvPr/>
          </p:nvSpPr>
          <p:spPr>
            <a:xfrm>
              <a:off x="2307956" y="2240587"/>
              <a:ext cx="1094015" cy="5943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Office</a:t>
              </a:r>
            </a:p>
          </p:txBody>
        </p:sp>
        <p:sp>
          <p:nvSpPr>
            <p:cNvPr id="7" name="Rectangle: Rounded Corners 6">
              <a:extLst>
                <a:ext uri="{FF2B5EF4-FFF2-40B4-BE49-F238E27FC236}">
                  <a16:creationId xmlns:a16="http://schemas.microsoft.com/office/drawing/2014/main" id="{CDF2F80E-51A1-6490-9EE8-86A878C19F05}"/>
                </a:ext>
              </a:extLst>
            </p:cNvPr>
            <p:cNvSpPr/>
            <p:nvPr/>
          </p:nvSpPr>
          <p:spPr>
            <a:xfrm>
              <a:off x="3652341" y="2240587"/>
              <a:ext cx="1094015" cy="5943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Email</a:t>
              </a:r>
            </a:p>
          </p:txBody>
        </p:sp>
        <p:sp>
          <p:nvSpPr>
            <p:cNvPr id="8" name="Rectangle: Rounded Corners 7">
              <a:extLst>
                <a:ext uri="{FF2B5EF4-FFF2-40B4-BE49-F238E27FC236}">
                  <a16:creationId xmlns:a16="http://schemas.microsoft.com/office/drawing/2014/main" id="{D38626FD-3C4A-3740-3101-FDC994056810}"/>
                </a:ext>
              </a:extLst>
            </p:cNvPr>
            <p:cNvSpPr/>
            <p:nvPr/>
          </p:nvSpPr>
          <p:spPr>
            <a:xfrm>
              <a:off x="5173618" y="2240587"/>
              <a:ext cx="1094015" cy="5943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Game</a:t>
              </a:r>
            </a:p>
          </p:txBody>
        </p:sp>
        <p:sp>
          <p:nvSpPr>
            <p:cNvPr id="9" name="Rectangle: Rounded Corners 8">
              <a:extLst>
                <a:ext uri="{FF2B5EF4-FFF2-40B4-BE49-F238E27FC236}">
                  <a16:creationId xmlns:a16="http://schemas.microsoft.com/office/drawing/2014/main" id="{DDE5B84A-44FE-4E52-561B-F0D8551FC9B4}"/>
                </a:ext>
              </a:extLst>
            </p:cNvPr>
            <p:cNvSpPr/>
            <p:nvPr/>
          </p:nvSpPr>
          <p:spPr>
            <a:xfrm>
              <a:off x="6694895" y="2240587"/>
              <a:ext cx="1094015" cy="5943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Web Browser</a:t>
              </a:r>
            </a:p>
          </p:txBody>
        </p:sp>
        <p:sp>
          <p:nvSpPr>
            <p:cNvPr id="10" name="Rectangle: Rounded Corners 9">
              <a:extLst>
                <a:ext uri="{FF2B5EF4-FFF2-40B4-BE49-F238E27FC236}">
                  <a16:creationId xmlns:a16="http://schemas.microsoft.com/office/drawing/2014/main" id="{4D12761B-EAD6-FABF-FCBD-7AE62FBC0B82}"/>
                </a:ext>
              </a:extLst>
            </p:cNvPr>
            <p:cNvSpPr/>
            <p:nvPr/>
          </p:nvSpPr>
          <p:spPr>
            <a:xfrm>
              <a:off x="8088439" y="2240587"/>
              <a:ext cx="1246245" cy="5943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Explorer</a:t>
              </a:r>
            </a:p>
          </p:txBody>
        </p:sp>
        <p:sp>
          <p:nvSpPr>
            <p:cNvPr id="11" name="Rectangle: Rounded Corners 10">
              <a:extLst>
                <a:ext uri="{FF2B5EF4-FFF2-40B4-BE49-F238E27FC236}">
                  <a16:creationId xmlns:a16="http://schemas.microsoft.com/office/drawing/2014/main" id="{83BADB59-3A61-2270-6511-4DCDE158E939}"/>
                </a:ext>
              </a:extLst>
            </p:cNvPr>
            <p:cNvSpPr/>
            <p:nvPr/>
          </p:nvSpPr>
          <p:spPr>
            <a:xfrm>
              <a:off x="2307956" y="3216819"/>
              <a:ext cx="7026729" cy="5943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Operating System (Windows, Mac OS X, Linux) </a:t>
              </a:r>
            </a:p>
          </p:txBody>
        </p:sp>
        <p:sp>
          <p:nvSpPr>
            <p:cNvPr id="12" name="Rectangle: Rounded Corners 11">
              <a:extLst>
                <a:ext uri="{FF2B5EF4-FFF2-40B4-BE49-F238E27FC236}">
                  <a16:creationId xmlns:a16="http://schemas.microsoft.com/office/drawing/2014/main" id="{B0C163F4-ED8E-B60A-7E55-B479B183CD1F}"/>
                </a:ext>
              </a:extLst>
            </p:cNvPr>
            <p:cNvSpPr/>
            <p:nvPr/>
          </p:nvSpPr>
          <p:spPr>
            <a:xfrm>
              <a:off x="6267633" y="4193047"/>
              <a:ext cx="1227371" cy="5943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Keyboard</a:t>
              </a:r>
            </a:p>
          </p:txBody>
        </p:sp>
        <p:sp>
          <p:nvSpPr>
            <p:cNvPr id="13" name="Rectangle: Rounded Corners 12">
              <a:extLst>
                <a:ext uri="{FF2B5EF4-FFF2-40B4-BE49-F238E27FC236}">
                  <a16:creationId xmlns:a16="http://schemas.microsoft.com/office/drawing/2014/main" id="{FE06B33A-2BC1-97A1-AD1B-BB8C57AFC563}"/>
                </a:ext>
              </a:extLst>
            </p:cNvPr>
            <p:cNvSpPr/>
            <p:nvPr/>
          </p:nvSpPr>
          <p:spPr>
            <a:xfrm>
              <a:off x="7859665" y="4193046"/>
              <a:ext cx="1094015" cy="5943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Screen</a:t>
              </a:r>
            </a:p>
          </p:txBody>
        </p:sp>
        <p:sp>
          <p:nvSpPr>
            <p:cNvPr id="14" name="Rectangle: Rounded Corners 13">
              <a:extLst>
                <a:ext uri="{FF2B5EF4-FFF2-40B4-BE49-F238E27FC236}">
                  <a16:creationId xmlns:a16="http://schemas.microsoft.com/office/drawing/2014/main" id="{2936BBD7-8EDD-3871-EED7-E9A0881FF502}"/>
                </a:ext>
              </a:extLst>
            </p:cNvPr>
            <p:cNvSpPr/>
            <p:nvPr/>
          </p:nvSpPr>
          <p:spPr>
            <a:xfrm>
              <a:off x="3118936" y="4193048"/>
              <a:ext cx="1094015" cy="5943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Disk</a:t>
              </a:r>
            </a:p>
          </p:txBody>
        </p:sp>
        <p:sp>
          <p:nvSpPr>
            <p:cNvPr id="15" name="Rectangle: Rounded Corners 14">
              <a:extLst>
                <a:ext uri="{FF2B5EF4-FFF2-40B4-BE49-F238E27FC236}">
                  <a16:creationId xmlns:a16="http://schemas.microsoft.com/office/drawing/2014/main" id="{6E6E479A-D8C4-4FA2-8D38-E0976E96EB1E}"/>
                </a:ext>
              </a:extLst>
            </p:cNvPr>
            <p:cNvSpPr/>
            <p:nvPr/>
          </p:nvSpPr>
          <p:spPr>
            <a:xfrm>
              <a:off x="4759962" y="4193049"/>
              <a:ext cx="1094015" cy="5943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Printer</a:t>
              </a:r>
            </a:p>
          </p:txBody>
        </p:sp>
        <p:sp>
          <p:nvSpPr>
            <p:cNvPr id="16" name="TextBox 15">
              <a:extLst>
                <a:ext uri="{FF2B5EF4-FFF2-40B4-BE49-F238E27FC236}">
                  <a16:creationId xmlns:a16="http://schemas.microsoft.com/office/drawing/2014/main" id="{FCF4758E-0AB1-ABF6-DCBA-6B9CFF9985AB}"/>
                </a:ext>
              </a:extLst>
            </p:cNvPr>
            <p:cNvSpPr txBox="1"/>
            <p:nvPr/>
          </p:nvSpPr>
          <p:spPr>
            <a:xfrm>
              <a:off x="9631534" y="2343499"/>
              <a:ext cx="209800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A3F50"/>
                  </a:solidFill>
                  <a:effectLst/>
                  <a:uLnTx/>
                  <a:uFillTx/>
                  <a:latin typeface="Arial"/>
                  <a:ea typeface="+mn-ea"/>
                  <a:cs typeface="+mn-cs"/>
                </a:rPr>
                <a:t>User Apps in RAM</a:t>
              </a:r>
            </a:p>
          </p:txBody>
        </p:sp>
        <p:sp>
          <p:nvSpPr>
            <p:cNvPr id="17" name="TextBox 16">
              <a:extLst>
                <a:ext uri="{FF2B5EF4-FFF2-40B4-BE49-F238E27FC236}">
                  <a16:creationId xmlns:a16="http://schemas.microsoft.com/office/drawing/2014/main" id="{10C8AF6E-9D7C-942D-3F0D-8808F045D671}"/>
                </a:ext>
              </a:extLst>
            </p:cNvPr>
            <p:cNvSpPr txBox="1"/>
            <p:nvPr/>
          </p:nvSpPr>
          <p:spPr>
            <a:xfrm>
              <a:off x="9631533" y="3270379"/>
              <a:ext cx="2246289"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A3F50"/>
                  </a:solidFill>
                  <a:effectLst/>
                  <a:uLnTx/>
                  <a:uFillTx/>
                  <a:latin typeface="Arial"/>
                  <a:ea typeface="+mn-ea"/>
                  <a:cs typeface="+mn-cs"/>
                </a:rPr>
                <a:t>System Apps in RAM</a:t>
              </a:r>
            </a:p>
          </p:txBody>
        </p:sp>
        <p:sp>
          <p:nvSpPr>
            <p:cNvPr id="18" name="TextBox 17">
              <a:extLst>
                <a:ext uri="{FF2B5EF4-FFF2-40B4-BE49-F238E27FC236}">
                  <a16:creationId xmlns:a16="http://schemas.microsoft.com/office/drawing/2014/main" id="{96BA5011-2115-6B97-7298-9DB5C6B6094C}"/>
                </a:ext>
              </a:extLst>
            </p:cNvPr>
            <p:cNvSpPr txBox="1"/>
            <p:nvPr/>
          </p:nvSpPr>
          <p:spPr>
            <a:xfrm>
              <a:off x="9683040" y="4197259"/>
              <a:ext cx="219478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A3F50"/>
                  </a:solidFill>
                  <a:effectLst/>
                  <a:uLnTx/>
                  <a:uFillTx/>
                  <a:latin typeface="Arial"/>
                  <a:ea typeface="+mn-ea"/>
                  <a:cs typeface="+mn-cs"/>
                </a:rPr>
                <a:t>Hardware devices</a:t>
              </a:r>
            </a:p>
          </p:txBody>
        </p:sp>
        <p:sp>
          <p:nvSpPr>
            <p:cNvPr id="19" name="Rectangle: Rounded Corners 18">
              <a:extLst>
                <a:ext uri="{FF2B5EF4-FFF2-40B4-BE49-F238E27FC236}">
                  <a16:creationId xmlns:a16="http://schemas.microsoft.com/office/drawing/2014/main" id="{48CC9C89-44D4-E424-4D9F-6F862BC99DCF}"/>
                </a:ext>
              </a:extLst>
            </p:cNvPr>
            <p:cNvSpPr/>
            <p:nvPr/>
          </p:nvSpPr>
          <p:spPr>
            <a:xfrm>
              <a:off x="2157274" y="2121763"/>
              <a:ext cx="7368466" cy="86113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0" name="Rectangle: Rounded Corners 19">
              <a:extLst>
                <a:ext uri="{FF2B5EF4-FFF2-40B4-BE49-F238E27FC236}">
                  <a16:creationId xmlns:a16="http://schemas.microsoft.com/office/drawing/2014/main" id="{2C2EB0C1-B074-06BC-336A-CA0F195FEDBC}"/>
                </a:ext>
              </a:extLst>
            </p:cNvPr>
            <p:cNvSpPr/>
            <p:nvPr/>
          </p:nvSpPr>
          <p:spPr>
            <a:xfrm>
              <a:off x="2961879" y="4045084"/>
              <a:ext cx="6164366" cy="89083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1" name="Arrow: Down 20">
              <a:extLst>
                <a:ext uri="{FF2B5EF4-FFF2-40B4-BE49-F238E27FC236}">
                  <a16:creationId xmlns:a16="http://schemas.microsoft.com/office/drawing/2014/main" id="{14934E3F-1B38-B539-77BB-6125B7ECE0D7}"/>
                </a:ext>
              </a:extLst>
            </p:cNvPr>
            <p:cNvSpPr/>
            <p:nvPr/>
          </p:nvSpPr>
          <p:spPr>
            <a:xfrm>
              <a:off x="5429130" y="2992256"/>
              <a:ext cx="784379" cy="21893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2" name="Arrow: Down 21">
              <a:extLst>
                <a:ext uri="{FF2B5EF4-FFF2-40B4-BE49-F238E27FC236}">
                  <a16:creationId xmlns:a16="http://schemas.microsoft.com/office/drawing/2014/main" id="{6D95C322-6AE3-ADA2-AA2E-AF081FF77626}"/>
                </a:ext>
              </a:extLst>
            </p:cNvPr>
            <p:cNvSpPr/>
            <p:nvPr/>
          </p:nvSpPr>
          <p:spPr>
            <a:xfrm>
              <a:off x="5429130" y="3811160"/>
              <a:ext cx="784379" cy="21893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grpSp>
    </p:spTree>
    <p:extLst>
      <p:ext uri="{BB962C8B-B14F-4D97-AF65-F5344CB8AC3E}">
        <p14:creationId xmlns:p14="http://schemas.microsoft.com/office/powerpoint/2010/main" val="2685255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C8C6C-ECD3-40BF-16B8-5E8395AAEDCA}"/>
              </a:ext>
            </a:extLst>
          </p:cNvPr>
          <p:cNvSpPr>
            <a:spLocks noGrp="1"/>
          </p:cNvSpPr>
          <p:nvPr>
            <p:ph type="title"/>
          </p:nvPr>
        </p:nvSpPr>
        <p:spPr/>
        <p:txBody>
          <a:bodyPr/>
          <a:lstStyle/>
          <a:p>
            <a:endParaRPr lang="en-GB" noProof="0" dirty="0"/>
          </a:p>
        </p:txBody>
      </p:sp>
      <p:sp>
        <p:nvSpPr>
          <p:cNvPr id="3" name="Text Placeholder 2">
            <a:extLst>
              <a:ext uri="{FF2B5EF4-FFF2-40B4-BE49-F238E27FC236}">
                <a16:creationId xmlns:a16="http://schemas.microsoft.com/office/drawing/2014/main" id="{59092D8A-C670-00BA-5D51-CD11994A6398}"/>
              </a:ext>
            </a:extLst>
          </p:cNvPr>
          <p:cNvSpPr>
            <a:spLocks noGrp="1"/>
          </p:cNvSpPr>
          <p:nvPr>
            <p:ph type="body" idx="1"/>
          </p:nvPr>
        </p:nvSpPr>
        <p:spPr>
          <a:xfrm>
            <a:off x="609600" y="1089368"/>
            <a:ext cx="7330160" cy="5387632"/>
          </a:xfrm>
        </p:spPr>
        <p:txBody>
          <a:bodyPr/>
          <a:lstStyle/>
          <a:p>
            <a:r>
              <a:rPr lang="en-GB" noProof="0" dirty="0"/>
              <a:t>As the operating system is a load of files on a disk, how does it get loaded into RAM to be executed?</a:t>
            </a:r>
          </a:p>
          <a:p>
            <a:r>
              <a:rPr lang="en-GB" noProof="0" dirty="0"/>
              <a:t>When the system is started, the CPU is set to point to a specific memory location for start-up code</a:t>
            </a:r>
          </a:p>
          <a:p>
            <a:r>
              <a:rPr lang="en-GB" noProof="0" dirty="0"/>
              <a:t>Startup firmware code in the Flash memory. Used to be BIOS in Windows but most now use UEFI</a:t>
            </a:r>
          </a:p>
          <a:p>
            <a:r>
              <a:rPr lang="en-GB" noProof="0" dirty="0"/>
              <a:t>Unified Extensible Firmware Interface (UEFI). The code checks the system health (Power On Self Test - POST) and provided enough functionality to read a small chunk of the OS from a drive into RAM. It then executes that code which accesses the drive and loads the rest of the OS in and starts the desktop and authentication code</a:t>
            </a:r>
          </a:p>
          <a:p>
            <a:endParaRPr lang="en-GB" noProof="0" dirty="0"/>
          </a:p>
          <a:p>
            <a:pPr marL="152396" indent="0">
              <a:buNone/>
            </a:pPr>
            <a:endParaRPr lang="en-GB" noProof="0" dirty="0"/>
          </a:p>
        </p:txBody>
      </p:sp>
      <p:sp>
        <p:nvSpPr>
          <p:cNvPr id="4" name="Slide Number Placeholder 3">
            <a:extLst>
              <a:ext uri="{FF2B5EF4-FFF2-40B4-BE49-F238E27FC236}">
                <a16:creationId xmlns:a16="http://schemas.microsoft.com/office/drawing/2014/main" id="{11F84CB6-E134-F5F4-9D1C-B0FB16A82AD8}"/>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5" name="Group 4">
            <a:extLst>
              <a:ext uri="{FF2B5EF4-FFF2-40B4-BE49-F238E27FC236}">
                <a16:creationId xmlns:a16="http://schemas.microsoft.com/office/drawing/2014/main" id="{353D66B3-049D-B039-EBB3-2467E49EF8A4}"/>
              </a:ext>
            </a:extLst>
          </p:cNvPr>
          <p:cNvGrpSpPr/>
          <p:nvPr/>
        </p:nvGrpSpPr>
        <p:grpSpPr>
          <a:xfrm>
            <a:off x="8247681" y="1188394"/>
            <a:ext cx="3284352" cy="4580238"/>
            <a:chOff x="609600" y="1366231"/>
            <a:chExt cx="3284352" cy="4580238"/>
          </a:xfrm>
        </p:grpSpPr>
        <p:sp>
          <p:nvSpPr>
            <p:cNvPr id="6" name="Rectangle 5">
              <a:extLst>
                <a:ext uri="{FF2B5EF4-FFF2-40B4-BE49-F238E27FC236}">
                  <a16:creationId xmlns:a16="http://schemas.microsoft.com/office/drawing/2014/main" id="{8834CAEB-C053-983A-FE17-1563D1C7C182}"/>
                </a:ext>
              </a:extLst>
            </p:cNvPr>
            <p:cNvSpPr/>
            <p:nvPr/>
          </p:nvSpPr>
          <p:spPr>
            <a:xfrm>
              <a:off x="609600" y="5481031"/>
              <a:ext cx="827903" cy="465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Input</a:t>
              </a:r>
            </a:p>
          </p:txBody>
        </p:sp>
        <p:sp>
          <p:nvSpPr>
            <p:cNvPr id="7" name="Rectangle 6">
              <a:extLst>
                <a:ext uri="{FF2B5EF4-FFF2-40B4-BE49-F238E27FC236}">
                  <a16:creationId xmlns:a16="http://schemas.microsoft.com/office/drawing/2014/main" id="{B5B76B66-8DEB-88A4-2305-615C95575E70}"/>
                </a:ext>
              </a:extLst>
            </p:cNvPr>
            <p:cNvSpPr/>
            <p:nvPr/>
          </p:nvSpPr>
          <p:spPr>
            <a:xfrm>
              <a:off x="1737666" y="5481032"/>
              <a:ext cx="827903" cy="465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Output</a:t>
              </a:r>
            </a:p>
          </p:txBody>
        </p:sp>
        <p:sp>
          <p:nvSpPr>
            <p:cNvPr id="8" name="Rectangle 7">
              <a:extLst>
                <a:ext uri="{FF2B5EF4-FFF2-40B4-BE49-F238E27FC236}">
                  <a16:creationId xmlns:a16="http://schemas.microsoft.com/office/drawing/2014/main" id="{AC62EA41-88C7-A450-124B-3D06088C3CA8}"/>
                </a:ext>
              </a:extLst>
            </p:cNvPr>
            <p:cNvSpPr/>
            <p:nvPr/>
          </p:nvSpPr>
          <p:spPr>
            <a:xfrm>
              <a:off x="2934212" y="5481031"/>
              <a:ext cx="827903" cy="465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Network</a:t>
              </a:r>
            </a:p>
          </p:txBody>
        </p:sp>
        <p:sp>
          <p:nvSpPr>
            <p:cNvPr id="9" name="Rectangle 8">
              <a:extLst>
                <a:ext uri="{FF2B5EF4-FFF2-40B4-BE49-F238E27FC236}">
                  <a16:creationId xmlns:a16="http://schemas.microsoft.com/office/drawing/2014/main" id="{2E083938-864F-0F85-F837-BFFF00AF47E7}"/>
                </a:ext>
              </a:extLst>
            </p:cNvPr>
            <p:cNvSpPr/>
            <p:nvPr/>
          </p:nvSpPr>
          <p:spPr>
            <a:xfrm>
              <a:off x="3330658" y="3913782"/>
              <a:ext cx="563294" cy="8279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Drive</a:t>
              </a:r>
            </a:p>
          </p:txBody>
        </p:sp>
        <p:cxnSp>
          <p:nvCxnSpPr>
            <p:cNvPr id="10" name="Straight Arrow Connector 9">
              <a:extLst>
                <a:ext uri="{FF2B5EF4-FFF2-40B4-BE49-F238E27FC236}">
                  <a16:creationId xmlns:a16="http://schemas.microsoft.com/office/drawing/2014/main" id="{B83342A1-DDD3-B81D-646F-E6D1F55B1582}"/>
                </a:ext>
              </a:extLst>
            </p:cNvPr>
            <p:cNvCxnSpPr>
              <a:cxnSpLocks/>
            </p:cNvCxnSpPr>
            <p:nvPr/>
          </p:nvCxnSpPr>
          <p:spPr>
            <a:xfrm>
              <a:off x="2565570" y="4537798"/>
              <a:ext cx="765088" cy="0"/>
            </a:xfrm>
            <a:prstGeom prst="straightConnector1">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3A77D45-A4E8-351B-AB9E-413F305D1F51}"/>
                </a:ext>
              </a:extLst>
            </p:cNvPr>
            <p:cNvCxnSpPr>
              <a:cxnSpLocks/>
            </p:cNvCxnSpPr>
            <p:nvPr/>
          </p:nvCxnSpPr>
          <p:spPr>
            <a:xfrm>
              <a:off x="2565570" y="2247679"/>
              <a:ext cx="592030"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D13F074-EFD7-927C-8E4A-035F5701C6D4}"/>
                </a:ext>
              </a:extLst>
            </p:cNvPr>
            <p:cNvCxnSpPr>
              <a:cxnSpLocks/>
            </p:cNvCxnSpPr>
            <p:nvPr/>
          </p:nvCxnSpPr>
          <p:spPr>
            <a:xfrm>
              <a:off x="3138100" y="2247679"/>
              <a:ext cx="0" cy="2080054"/>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9FD2058-0E64-2EC8-C077-361DCD000FF6}"/>
                </a:ext>
              </a:extLst>
            </p:cNvPr>
            <p:cNvSpPr/>
            <p:nvPr/>
          </p:nvSpPr>
          <p:spPr>
            <a:xfrm>
              <a:off x="1737666" y="1366231"/>
              <a:ext cx="827903" cy="1762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RAM</a:t>
              </a:r>
            </a:p>
          </p:txBody>
        </p:sp>
        <p:cxnSp>
          <p:nvCxnSpPr>
            <p:cNvPr id="14" name="Straight Arrow Connector 13">
              <a:extLst>
                <a:ext uri="{FF2B5EF4-FFF2-40B4-BE49-F238E27FC236}">
                  <a16:creationId xmlns:a16="http://schemas.microsoft.com/office/drawing/2014/main" id="{31170234-AF52-4C86-AE0B-03A6590DCA4B}"/>
                </a:ext>
              </a:extLst>
            </p:cNvPr>
            <p:cNvCxnSpPr>
              <a:cxnSpLocks/>
            </p:cNvCxnSpPr>
            <p:nvPr/>
          </p:nvCxnSpPr>
          <p:spPr>
            <a:xfrm>
              <a:off x="2565570" y="4327733"/>
              <a:ext cx="592030"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DC680A8-3A11-93F0-8FC8-468C1C29B63B}"/>
                </a:ext>
              </a:extLst>
            </p:cNvPr>
            <p:cNvCxnSpPr>
              <a:cxnSpLocks/>
              <a:stCxn id="18" idx="3"/>
            </p:cNvCxnSpPr>
            <p:nvPr/>
          </p:nvCxnSpPr>
          <p:spPr>
            <a:xfrm flipV="1">
              <a:off x="2565569" y="3521454"/>
              <a:ext cx="296016" cy="1"/>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9942200-145D-91FE-5510-7370BDDE6592}"/>
                </a:ext>
              </a:extLst>
            </p:cNvPr>
            <p:cNvCxnSpPr>
              <a:cxnSpLocks/>
            </p:cNvCxnSpPr>
            <p:nvPr/>
          </p:nvCxnSpPr>
          <p:spPr>
            <a:xfrm>
              <a:off x="2873490" y="3502533"/>
              <a:ext cx="0" cy="601878"/>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AE3551D-8F08-0938-6A8B-604A9EA3CCE1}"/>
                </a:ext>
              </a:extLst>
            </p:cNvPr>
            <p:cNvCxnSpPr>
              <a:cxnSpLocks/>
            </p:cNvCxnSpPr>
            <p:nvPr/>
          </p:nvCxnSpPr>
          <p:spPr>
            <a:xfrm>
              <a:off x="2565569" y="4104411"/>
              <a:ext cx="328245"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92A9A5-CB12-30B1-3E89-026CBE5093B6}"/>
                </a:ext>
              </a:extLst>
            </p:cNvPr>
            <p:cNvSpPr/>
            <p:nvPr/>
          </p:nvSpPr>
          <p:spPr>
            <a:xfrm>
              <a:off x="1737666" y="3288736"/>
              <a:ext cx="827903" cy="465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ROM/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Flash</a:t>
              </a:r>
            </a:p>
          </p:txBody>
        </p:sp>
        <p:cxnSp>
          <p:nvCxnSpPr>
            <p:cNvPr id="19" name="Straight Arrow Connector 18">
              <a:extLst>
                <a:ext uri="{FF2B5EF4-FFF2-40B4-BE49-F238E27FC236}">
                  <a16:creationId xmlns:a16="http://schemas.microsoft.com/office/drawing/2014/main" id="{F053ECBC-65EF-235E-9534-208653E174E7}"/>
                </a:ext>
              </a:extLst>
            </p:cNvPr>
            <p:cNvCxnSpPr>
              <a:cxnSpLocks/>
            </p:cNvCxnSpPr>
            <p:nvPr/>
          </p:nvCxnSpPr>
          <p:spPr>
            <a:xfrm>
              <a:off x="1888394" y="4741685"/>
              <a:ext cx="0" cy="392327"/>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5194400-393C-16F1-B9B5-5C81380FBAAE}"/>
                </a:ext>
              </a:extLst>
            </p:cNvPr>
            <p:cNvCxnSpPr>
              <a:cxnSpLocks/>
            </p:cNvCxnSpPr>
            <p:nvPr/>
          </p:nvCxnSpPr>
          <p:spPr>
            <a:xfrm>
              <a:off x="1004499" y="5116122"/>
              <a:ext cx="883895" cy="0"/>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0CF0C85-D653-2F81-343E-AA0790348249}"/>
                </a:ext>
              </a:extLst>
            </p:cNvPr>
            <p:cNvCxnSpPr>
              <a:cxnSpLocks/>
              <a:endCxn id="6" idx="0"/>
            </p:cNvCxnSpPr>
            <p:nvPr/>
          </p:nvCxnSpPr>
          <p:spPr>
            <a:xfrm>
              <a:off x="1023552" y="5116122"/>
              <a:ext cx="0" cy="364909"/>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09649C6-465C-CC94-AC5C-DC3520C18581}"/>
                </a:ext>
              </a:extLst>
            </p:cNvPr>
            <p:cNvCxnSpPr>
              <a:cxnSpLocks/>
              <a:stCxn id="30" idx="2"/>
              <a:endCxn id="7" idx="0"/>
            </p:cNvCxnSpPr>
            <p:nvPr/>
          </p:nvCxnSpPr>
          <p:spPr>
            <a:xfrm flipH="1">
              <a:off x="2151618" y="4741685"/>
              <a:ext cx="1" cy="739347"/>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7554AA4-3547-43A8-2512-34DD04AF6F16}"/>
                </a:ext>
              </a:extLst>
            </p:cNvPr>
            <p:cNvCxnSpPr>
              <a:cxnSpLocks/>
            </p:cNvCxnSpPr>
            <p:nvPr/>
          </p:nvCxnSpPr>
          <p:spPr>
            <a:xfrm>
              <a:off x="3369146" y="5111358"/>
              <a:ext cx="0" cy="364909"/>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66C7403-9EA9-4A90-95B5-F4244B71F442}"/>
                </a:ext>
              </a:extLst>
            </p:cNvPr>
            <p:cNvCxnSpPr>
              <a:cxnSpLocks/>
            </p:cNvCxnSpPr>
            <p:nvPr/>
          </p:nvCxnSpPr>
          <p:spPr>
            <a:xfrm>
              <a:off x="2383693" y="5122944"/>
              <a:ext cx="993431" cy="0"/>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3B52C23-D43A-2BEC-6655-6FE8B046EBE0}"/>
                </a:ext>
              </a:extLst>
            </p:cNvPr>
            <p:cNvCxnSpPr>
              <a:cxnSpLocks/>
            </p:cNvCxnSpPr>
            <p:nvPr/>
          </p:nvCxnSpPr>
          <p:spPr>
            <a:xfrm>
              <a:off x="2393219" y="4741685"/>
              <a:ext cx="0" cy="392327"/>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86B143B-45F6-82E9-0198-9F08DCDCC2DD}"/>
                </a:ext>
              </a:extLst>
            </p:cNvPr>
            <p:cNvCxnSpPr>
              <a:cxnSpLocks/>
            </p:cNvCxnSpPr>
            <p:nvPr/>
          </p:nvCxnSpPr>
          <p:spPr>
            <a:xfrm>
              <a:off x="1304537" y="2247679"/>
              <a:ext cx="0" cy="2080054"/>
            </a:xfrm>
            <a:prstGeom prst="straightConnector1">
              <a:avLst/>
            </a:prstGeom>
            <a:ln w="38100">
              <a:solidFill>
                <a:schemeClr val="tx1">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C88F1AE-6790-A970-9762-463A68E242CA}"/>
                </a:ext>
              </a:extLst>
            </p:cNvPr>
            <p:cNvCxnSpPr>
              <a:cxnSpLocks/>
              <a:endCxn id="30" idx="1"/>
            </p:cNvCxnSpPr>
            <p:nvPr/>
          </p:nvCxnSpPr>
          <p:spPr>
            <a:xfrm>
              <a:off x="1285038" y="4327734"/>
              <a:ext cx="452629" cy="0"/>
            </a:xfrm>
            <a:prstGeom prst="straightConnector1">
              <a:avLst/>
            </a:prstGeom>
            <a:ln w="38100">
              <a:solidFill>
                <a:schemeClr val="tx1">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F748F20-2DD2-10E9-24EB-3F5DF8C738AF}"/>
                </a:ext>
              </a:extLst>
            </p:cNvPr>
            <p:cNvCxnSpPr>
              <a:cxnSpLocks/>
              <a:stCxn id="13" idx="1"/>
            </p:cNvCxnSpPr>
            <p:nvPr/>
          </p:nvCxnSpPr>
          <p:spPr>
            <a:xfrm flipH="1">
              <a:off x="1285038" y="2247680"/>
              <a:ext cx="452628" cy="0"/>
            </a:xfrm>
            <a:prstGeom prst="straightConnector1">
              <a:avLst/>
            </a:prstGeom>
            <a:ln w="38100">
              <a:solidFill>
                <a:schemeClr val="tx1">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CF3C9A5-3152-EA1A-A61F-2B356816E71C}"/>
                </a:ext>
              </a:extLst>
            </p:cNvPr>
            <p:cNvCxnSpPr>
              <a:cxnSpLocks/>
            </p:cNvCxnSpPr>
            <p:nvPr/>
          </p:nvCxnSpPr>
          <p:spPr>
            <a:xfrm flipH="1">
              <a:off x="1285038" y="3521454"/>
              <a:ext cx="452628" cy="0"/>
            </a:xfrm>
            <a:prstGeom prst="straightConnector1">
              <a:avLst/>
            </a:prstGeom>
            <a:ln w="38100">
              <a:solidFill>
                <a:schemeClr val="tx1">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983A783C-FFE4-A332-1974-E1D9E4600AF2}"/>
                </a:ext>
              </a:extLst>
            </p:cNvPr>
            <p:cNvSpPr/>
            <p:nvPr/>
          </p:nvSpPr>
          <p:spPr>
            <a:xfrm>
              <a:off x="1737667" y="3913782"/>
              <a:ext cx="827903" cy="8279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CPU</a:t>
              </a:r>
            </a:p>
          </p:txBody>
        </p:sp>
      </p:grpSp>
    </p:spTree>
    <p:extLst>
      <p:ext uri="{BB962C8B-B14F-4D97-AF65-F5344CB8AC3E}">
        <p14:creationId xmlns:p14="http://schemas.microsoft.com/office/powerpoint/2010/main" val="1370746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A9EBB-7737-F16C-B972-33DCAEE130C3}"/>
              </a:ext>
            </a:extLst>
          </p:cNvPr>
          <p:cNvSpPr>
            <a:spLocks noGrp="1"/>
          </p:cNvSpPr>
          <p:nvPr>
            <p:ph type="title"/>
          </p:nvPr>
        </p:nvSpPr>
        <p:spPr>
          <a:xfrm>
            <a:off x="609600" y="464567"/>
            <a:ext cx="4152900" cy="421258"/>
          </a:xfrm>
        </p:spPr>
        <p:txBody>
          <a:bodyPr/>
          <a:lstStyle/>
          <a:p>
            <a:r>
              <a:rPr lang="en-GB" noProof="0" dirty="0"/>
              <a:t>Fetch / Execute</a:t>
            </a:r>
          </a:p>
        </p:txBody>
      </p:sp>
      <p:sp>
        <p:nvSpPr>
          <p:cNvPr id="3" name="Text Placeholder 2">
            <a:extLst>
              <a:ext uri="{FF2B5EF4-FFF2-40B4-BE49-F238E27FC236}">
                <a16:creationId xmlns:a16="http://schemas.microsoft.com/office/drawing/2014/main" id="{165BC2CE-2A02-E4CC-DE02-EB7432618646}"/>
              </a:ext>
            </a:extLst>
          </p:cNvPr>
          <p:cNvSpPr>
            <a:spLocks noGrp="1"/>
          </p:cNvSpPr>
          <p:nvPr>
            <p:ph type="body" idx="1"/>
          </p:nvPr>
        </p:nvSpPr>
        <p:spPr>
          <a:xfrm>
            <a:off x="158258" y="1084151"/>
            <a:ext cx="4282440" cy="5387632"/>
          </a:xfrm>
        </p:spPr>
        <p:txBody>
          <a:bodyPr/>
          <a:lstStyle/>
          <a:p>
            <a:pPr marL="152396" indent="0">
              <a:buNone/>
            </a:pPr>
            <a:r>
              <a:rPr lang="en-GB" sz="1400" noProof="0" dirty="0"/>
              <a:t>Process of Y=X+Y</a:t>
            </a:r>
          </a:p>
          <a:p>
            <a:r>
              <a:rPr lang="en-GB" sz="1400" noProof="0" dirty="0"/>
              <a:t>Output address 0</a:t>
            </a:r>
          </a:p>
          <a:p>
            <a:r>
              <a:rPr lang="en-GB" sz="1400" noProof="0" dirty="0"/>
              <a:t>R=1 so read 11100011. Instruction = get X</a:t>
            </a:r>
          </a:p>
          <a:p>
            <a:r>
              <a:rPr lang="en-GB" sz="1400" noProof="0" dirty="0"/>
              <a:t>Inc prog counter (PC) to 1 and read 00001111</a:t>
            </a:r>
          </a:p>
          <a:p>
            <a:r>
              <a:rPr lang="en-GB" sz="1400" noProof="0" dirty="0"/>
              <a:t>Output 00001111 on address bus</a:t>
            </a:r>
          </a:p>
          <a:p>
            <a:r>
              <a:rPr lang="en-GB" sz="1400" noProof="0" dirty="0"/>
              <a:t>Read value of X from location F = 10110111</a:t>
            </a:r>
          </a:p>
          <a:p>
            <a:r>
              <a:rPr lang="en-GB" sz="1400" noProof="0" dirty="0"/>
              <a:t>Go back to PC address and increment</a:t>
            </a:r>
          </a:p>
          <a:p>
            <a:r>
              <a:rPr lang="en-GB" sz="1400" noProof="0" dirty="0"/>
              <a:t>Read from location 2 - "read Y" instruction</a:t>
            </a:r>
          </a:p>
          <a:p>
            <a:r>
              <a:rPr lang="en-GB" sz="1400" noProof="0" dirty="0"/>
              <a:t>Increment PC to read Y address 00001110</a:t>
            </a:r>
          </a:p>
          <a:p>
            <a:r>
              <a:rPr lang="en-GB" sz="1400" noProof="0" dirty="0"/>
              <a:t>Increment PC and read next instruction "Add"</a:t>
            </a:r>
          </a:p>
          <a:p>
            <a:r>
              <a:rPr lang="en-GB" sz="1400" noProof="0" dirty="0"/>
              <a:t>Execute add 10110111 + 00011100 </a:t>
            </a:r>
          </a:p>
          <a:p>
            <a:r>
              <a:rPr lang="en-GB" sz="1400" noProof="0" dirty="0"/>
              <a:t>Increment PC (5) to read destination address</a:t>
            </a:r>
          </a:p>
          <a:p>
            <a:r>
              <a:rPr lang="en-GB" sz="1400" noProof="0" dirty="0"/>
              <a:t>result 11010011 set write to 1</a:t>
            </a:r>
          </a:p>
          <a:p>
            <a:r>
              <a:rPr lang="en-GB" sz="1400" noProof="0" dirty="0"/>
              <a:t>Output 1110 (E) to address bus to access Y</a:t>
            </a:r>
          </a:p>
          <a:p>
            <a:r>
              <a:rPr lang="en-GB" sz="1400" noProof="0" dirty="0"/>
              <a:t>Write 11010011 to Y (address E)</a:t>
            </a:r>
          </a:p>
          <a:p>
            <a:endParaRPr lang="en-GB" sz="1400" noProof="0" dirty="0"/>
          </a:p>
          <a:p>
            <a:endParaRPr lang="en-GB" sz="1400" noProof="0" dirty="0"/>
          </a:p>
          <a:p>
            <a:endParaRPr lang="en-GB" sz="1400" noProof="0" dirty="0"/>
          </a:p>
          <a:p>
            <a:endParaRPr lang="en-GB" sz="1400" noProof="0" dirty="0"/>
          </a:p>
        </p:txBody>
      </p:sp>
      <p:sp>
        <p:nvSpPr>
          <p:cNvPr id="4" name="Slide Number Placeholder 3">
            <a:extLst>
              <a:ext uri="{FF2B5EF4-FFF2-40B4-BE49-F238E27FC236}">
                <a16:creationId xmlns:a16="http://schemas.microsoft.com/office/drawing/2014/main" id="{71B1751B-A36F-234B-0277-2073AE37D6B3}"/>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5" name="Group 4">
            <a:extLst>
              <a:ext uri="{FF2B5EF4-FFF2-40B4-BE49-F238E27FC236}">
                <a16:creationId xmlns:a16="http://schemas.microsoft.com/office/drawing/2014/main" id="{D1CE8A36-BA2C-A822-A80C-3512A70E78FB}"/>
              </a:ext>
            </a:extLst>
          </p:cNvPr>
          <p:cNvGrpSpPr/>
          <p:nvPr/>
        </p:nvGrpSpPr>
        <p:grpSpPr>
          <a:xfrm>
            <a:off x="5860551" y="145578"/>
            <a:ext cx="5889835" cy="6479796"/>
            <a:chOff x="4511811" y="145578"/>
            <a:chExt cx="5889835" cy="6479796"/>
          </a:xfrm>
        </p:grpSpPr>
        <p:sp>
          <p:nvSpPr>
            <p:cNvPr id="6" name="Arrow: Bent 5">
              <a:extLst>
                <a:ext uri="{FF2B5EF4-FFF2-40B4-BE49-F238E27FC236}">
                  <a16:creationId xmlns:a16="http://schemas.microsoft.com/office/drawing/2014/main" id="{6A8E035D-C887-8DAA-254C-5E5E5AF38F48}"/>
                </a:ext>
              </a:extLst>
            </p:cNvPr>
            <p:cNvSpPr/>
            <p:nvPr/>
          </p:nvSpPr>
          <p:spPr>
            <a:xfrm rot="10800000">
              <a:off x="7621413" y="4983799"/>
              <a:ext cx="2273782" cy="1641575"/>
            </a:xfrm>
            <a:prstGeom prst="bentArrow">
              <a:avLst>
                <a:gd name="adj1" fmla="val 24287"/>
                <a:gd name="adj2" fmla="val 30479"/>
                <a:gd name="adj3" fmla="val 25464"/>
                <a:gd name="adj4" fmla="val 399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p:txBody>
        </p:sp>
        <p:sp>
          <p:nvSpPr>
            <p:cNvPr id="7" name="Rectangle 6">
              <a:extLst>
                <a:ext uri="{FF2B5EF4-FFF2-40B4-BE49-F238E27FC236}">
                  <a16:creationId xmlns:a16="http://schemas.microsoft.com/office/drawing/2014/main" id="{3A4942F0-C4D1-849C-268A-6281923DDFF9}"/>
                </a:ext>
              </a:extLst>
            </p:cNvPr>
            <p:cNvSpPr/>
            <p:nvPr/>
          </p:nvSpPr>
          <p:spPr>
            <a:xfrm>
              <a:off x="5950409" y="145578"/>
              <a:ext cx="1562911"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10110111</a:t>
              </a:r>
            </a:p>
          </p:txBody>
        </p:sp>
        <p:sp>
          <p:nvSpPr>
            <p:cNvPr id="8" name="Rectangle 7">
              <a:extLst>
                <a:ext uri="{FF2B5EF4-FFF2-40B4-BE49-F238E27FC236}">
                  <a16:creationId xmlns:a16="http://schemas.microsoft.com/office/drawing/2014/main" id="{3FB85B45-09C8-218B-F5B8-631BB442DBCF}"/>
                </a:ext>
              </a:extLst>
            </p:cNvPr>
            <p:cNvSpPr/>
            <p:nvPr/>
          </p:nvSpPr>
          <p:spPr>
            <a:xfrm>
              <a:off x="5950409" y="504629"/>
              <a:ext cx="1562911"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00011100</a:t>
              </a:r>
            </a:p>
          </p:txBody>
        </p:sp>
        <p:sp>
          <p:nvSpPr>
            <p:cNvPr id="9" name="Rectangle 8">
              <a:extLst>
                <a:ext uri="{FF2B5EF4-FFF2-40B4-BE49-F238E27FC236}">
                  <a16:creationId xmlns:a16="http://schemas.microsoft.com/office/drawing/2014/main" id="{0AC91D01-FE0D-9722-39FC-F297900E42D4}"/>
                </a:ext>
              </a:extLst>
            </p:cNvPr>
            <p:cNvSpPr/>
            <p:nvPr/>
          </p:nvSpPr>
          <p:spPr>
            <a:xfrm>
              <a:off x="5950409" y="872069"/>
              <a:ext cx="1562911"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00000000</a:t>
              </a:r>
            </a:p>
          </p:txBody>
        </p:sp>
        <p:sp>
          <p:nvSpPr>
            <p:cNvPr id="10" name="Rectangle 9">
              <a:extLst>
                <a:ext uri="{FF2B5EF4-FFF2-40B4-BE49-F238E27FC236}">
                  <a16:creationId xmlns:a16="http://schemas.microsoft.com/office/drawing/2014/main" id="{1EE17001-6BA0-4B51-860D-5F6E2ADDD96E}"/>
                </a:ext>
              </a:extLst>
            </p:cNvPr>
            <p:cNvSpPr/>
            <p:nvPr/>
          </p:nvSpPr>
          <p:spPr>
            <a:xfrm>
              <a:off x="5950409" y="1231120"/>
              <a:ext cx="1562911"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10101010</a:t>
              </a:r>
            </a:p>
          </p:txBody>
        </p:sp>
        <p:sp>
          <p:nvSpPr>
            <p:cNvPr id="11" name="Rectangle 10">
              <a:extLst>
                <a:ext uri="{FF2B5EF4-FFF2-40B4-BE49-F238E27FC236}">
                  <a16:creationId xmlns:a16="http://schemas.microsoft.com/office/drawing/2014/main" id="{DEE90816-AF48-BAB1-D20E-089182E88D5C}"/>
                </a:ext>
              </a:extLst>
            </p:cNvPr>
            <p:cNvSpPr/>
            <p:nvPr/>
          </p:nvSpPr>
          <p:spPr>
            <a:xfrm>
              <a:off x="5950409" y="1597192"/>
              <a:ext cx="1562911"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11111111</a:t>
              </a:r>
            </a:p>
          </p:txBody>
        </p:sp>
        <p:sp>
          <p:nvSpPr>
            <p:cNvPr id="12" name="Rectangle 11">
              <a:extLst>
                <a:ext uri="{FF2B5EF4-FFF2-40B4-BE49-F238E27FC236}">
                  <a16:creationId xmlns:a16="http://schemas.microsoft.com/office/drawing/2014/main" id="{C0F75275-4F35-E739-0DE2-E93DCC52947D}"/>
                </a:ext>
              </a:extLst>
            </p:cNvPr>
            <p:cNvSpPr/>
            <p:nvPr/>
          </p:nvSpPr>
          <p:spPr>
            <a:xfrm>
              <a:off x="5950409" y="1948390"/>
              <a:ext cx="1562911"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11001100</a:t>
              </a:r>
            </a:p>
          </p:txBody>
        </p:sp>
        <p:sp>
          <p:nvSpPr>
            <p:cNvPr id="13" name="Rectangle 12">
              <a:extLst>
                <a:ext uri="{FF2B5EF4-FFF2-40B4-BE49-F238E27FC236}">
                  <a16:creationId xmlns:a16="http://schemas.microsoft.com/office/drawing/2014/main" id="{2CDADAFB-09BC-B9C3-34B7-6E623E50609A}"/>
                </a:ext>
              </a:extLst>
            </p:cNvPr>
            <p:cNvSpPr/>
            <p:nvPr/>
          </p:nvSpPr>
          <p:spPr>
            <a:xfrm>
              <a:off x="5950409" y="2315830"/>
              <a:ext cx="1562911"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10101010</a:t>
              </a:r>
            </a:p>
          </p:txBody>
        </p:sp>
        <p:sp>
          <p:nvSpPr>
            <p:cNvPr id="14" name="Rectangle 13">
              <a:extLst>
                <a:ext uri="{FF2B5EF4-FFF2-40B4-BE49-F238E27FC236}">
                  <a16:creationId xmlns:a16="http://schemas.microsoft.com/office/drawing/2014/main" id="{0A59B743-6C3F-2504-4CBC-B12E663DCB90}"/>
                </a:ext>
              </a:extLst>
            </p:cNvPr>
            <p:cNvSpPr/>
            <p:nvPr/>
          </p:nvSpPr>
          <p:spPr>
            <a:xfrm>
              <a:off x="5950409" y="2674881"/>
              <a:ext cx="1562911"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11100011</a:t>
              </a:r>
            </a:p>
          </p:txBody>
        </p:sp>
        <p:sp>
          <p:nvSpPr>
            <p:cNvPr id="15" name="Rectangle 14">
              <a:extLst>
                <a:ext uri="{FF2B5EF4-FFF2-40B4-BE49-F238E27FC236}">
                  <a16:creationId xmlns:a16="http://schemas.microsoft.com/office/drawing/2014/main" id="{57387BD3-E116-E16C-36C3-84EBB8DFFA84}"/>
                </a:ext>
              </a:extLst>
            </p:cNvPr>
            <p:cNvSpPr/>
            <p:nvPr/>
          </p:nvSpPr>
          <p:spPr>
            <a:xfrm>
              <a:off x="5950409" y="3034804"/>
              <a:ext cx="1562911"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10000000</a:t>
              </a:r>
            </a:p>
          </p:txBody>
        </p:sp>
        <p:sp>
          <p:nvSpPr>
            <p:cNvPr id="16" name="Rectangle 15">
              <a:extLst>
                <a:ext uri="{FF2B5EF4-FFF2-40B4-BE49-F238E27FC236}">
                  <a16:creationId xmlns:a16="http://schemas.microsoft.com/office/drawing/2014/main" id="{C5673055-B1DE-DA8F-DA6C-E172C05E7E87}"/>
                </a:ext>
              </a:extLst>
            </p:cNvPr>
            <p:cNvSpPr/>
            <p:nvPr/>
          </p:nvSpPr>
          <p:spPr>
            <a:xfrm>
              <a:off x="5950409" y="3393855"/>
              <a:ext cx="1562911"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10101010</a:t>
              </a:r>
            </a:p>
          </p:txBody>
        </p:sp>
        <p:sp>
          <p:nvSpPr>
            <p:cNvPr id="17" name="Rectangle 16">
              <a:extLst>
                <a:ext uri="{FF2B5EF4-FFF2-40B4-BE49-F238E27FC236}">
                  <a16:creationId xmlns:a16="http://schemas.microsoft.com/office/drawing/2014/main" id="{D38F8B58-B814-2ADF-0BA6-749C150E07A2}"/>
                </a:ext>
              </a:extLst>
            </p:cNvPr>
            <p:cNvSpPr/>
            <p:nvPr/>
          </p:nvSpPr>
          <p:spPr>
            <a:xfrm>
              <a:off x="5950409" y="3761295"/>
              <a:ext cx="1562911"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00001110</a:t>
              </a:r>
            </a:p>
          </p:txBody>
        </p:sp>
        <p:sp>
          <p:nvSpPr>
            <p:cNvPr id="18" name="Rectangle 17">
              <a:extLst>
                <a:ext uri="{FF2B5EF4-FFF2-40B4-BE49-F238E27FC236}">
                  <a16:creationId xmlns:a16="http://schemas.microsoft.com/office/drawing/2014/main" id="{B2DC4CA8-2727-A555-9505-B03F62EC4AC4}"/>
                </a:ext>
              </a:extLst>
            </p:cNvPr>
            <p:cNvSpPr/>
            <p:nvPr/>
          </p:nvSpPr>
          <p:spPr>
            <a:xfrm>
              <a:off x="5950409" y="4120346"/>
              <a:ext cx="1562911"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11000110</a:t>
              </a:r>
            </a:p>
          </p:txBody>
        </p:sp>
        <p:sp>
          <p:nvSpPr>
            <p:cNvPr id="19" name="Rectangle 18">
              <a:extLst>
                <a:ext uri="{FF2B5EF4-FFF2-40B4-BE49-F238E27FC236}">
                  <a16:creationId xmlns:a16="http://schemas.microsoft.com/office/drawing/2014/main" id="{B2E0A5A9-CA3B-7E68-D0CB-E3209D8001E5}"/>
                </a:ext>
              </a:extLst>
            </p:cNvPr>
            <p:cNvSpPr/>
            <p:nvPr/>
          </p:nvSpPr>
          <p:spPr>
            <a:xfrm>
              <a:off x="5950409" y="4478565"/>
              <a:ext cx="1562911"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00001110</a:t>
              </a:r>
            </a:p>
          </p:txBody>
        </p:sp>
        <p:sp>
          <p:nvSpPr>
            <p:cNvPr id="20" name="Rectangle 19">
              <a:extLst>
                <a:ext uri="{FF2B5EF4-FFF2-40B4-BE49-F238E27FC236}">
                  <a16:creationId xmlns:a16="http://schemas.microsoft.com/office/drawing/2014/main" id="{DB458414-32FE-3928-C643-DDA82C31E279}"/>
                </a:ext>
              </a:extLst>
            </p:cNvPr>
            <p:cNvSpPr/>
            <p:nvPr/>
          </p:nvSpPr>
          <p:spPr>
            <a:xfrm>
              <a:off x="5950409" y="4837616"/>
              <a:ext cx="1562911"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00000011</a:t>
              </a:r>
            </a:p>
          </p:txBody>
        </p:sp>
        <p:sp>
          <p:nvSpPr>
            <p:cNvPr id="21" name="Rectangle 20">
              <a:extLst>
                <a:ext uri="{FF2B5EF4-FFF2-40B4-BE49-F238E27FC236}">
                  <a16:creationId xmlns:a16="http://schemas.microsoft.com/office/drawing/2014/main" id="{8ABD7B25-0168-E3A7-D137-13A45A98E017}"/>
                </a:ext>
              </a:extLst>
            </p:cNvPr>
            <p:cNvSpPr/>
            <p:nvPr/>
          </p:nvSpPr>
          <p:spPr>
            <a:xfrm>
              <a:off x="5950409" y="5205056"/>
              <a:ext cx="1562911"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00001111</a:t>
              </a:r>
            </a:p>
          </p:txBody>
        </p:sp>
        <p:sp>
          <p:nvSpPr>
            <p:cNvPr id="22" name="Rectangle 21">
              <a:extLst>
                <a:ext uri="{FF2B5EF4-FFF2-40B4-BE49-F238E27FC236}">
                  <a16:creationId xmlns:a16="http://schemas.microsoft.com/office/drawing/2014/main" id="{23DFE94D-A96C-6261-1AB5-E8161141CD98}"/>
                </a:ext>
              </a:extLst>
            </p:cNvPr>
            <p:cNvSpPr/>
            <p:nvPr/>
          </p:nvSpPr>
          <p:spPr>
            <a:xfrm>
              <a:off x="5950409" y="5564107"/>
              <a:ext cx="1562911"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11100011</a:t>
              </a:r>
            </a:p>
          </p:txBody>
        </p:sp>
        <p:sp>
          <p:nvSpPr>
            <p:cNvPr id="23" name="Rectangle 22">
              <a:extLst>
                <a:ext uri="{FF2B5EF4-FFF2-40B4-BE49-F238E27FC236}">
                  <a16:creationId xmlns:a16="http://schemas.microsoft.com/office/drawing/2014/main" id="{64DBE9F0-8F2B-D443-2284-79BE99D344D1}"/>
                </a:ext>
              </a:extLst>
            </p:cNvPr>
            <p:cNvSpPr/>
            <p:nvPr/>
          </p:nvSpPr>
          <p:spPr>
            <a:xfrm>
              <a:off x="5346404" y="145578"/>
              <a:ext cx="440183"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F</a:t>
              </a:r>
            </a:p>
          </p:txBody>
        </p:sp>
        <p:sp>
          <p:nvSpPr>
            <p:cNvPr id="24" name="Rectangle 23">
              <a:extLst>
                <a:ext uri="{FF2B5EF4-FFF2-40B4-BE49-F238E27FC236}">
                  <a16:creationId xmlns:a16="http://schemas.microsoft.com/office/drawing/2014/main" id="{3904EAA2-C305-70E8-04EC-F204E329F27B}"/>
                </a:ext>
              </a:extLst>
            </p:cNvPr>
            <p:cNvSpPr/>
            <p:nvPr/>
          </p:nvSpPr>
          <p:spPr>
            <a:xfrm>
              <a:off x="5346404" y="504629"/>
              <a:ext cx="440183"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E</a:t>
              </a:r>
            </a:p>
          </p:txBody>
        </p:sp>
        <p:sp>
          <p:nvSpPr>
            <p:cNvPr id="25" name="Rectangle 24">
              <a:extLst>
                <a:ext uri="{FF2B5EF4-FFF2-40B4-BE49-F238E27FC236}">
                  <a16:creationId xmlns:a16="http://schemas.microsoft.com/office/drawing/2014/main" id="{8E3D736D-51D6-69C8-BF2E-0DD1DBD36720}"/>
                </a:ext>
              </a:extLst>
            </p:cNvPr>
            <p:cNvSpPr/>
            <p:nvPr/>
          </p:nvSpPr>
          <p:spPr>
            <a:xfrm>
              <a:off x="5346404" y="872069"/>
              <a:ext cx="440183"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D</a:t>
              </a:r>
            </a:p>
          </p:txBody>
        </p:sp>
        <p:sp>
          <p:nvSpPr>
            <p:cNvPr id="26" name="Rectangle 25">
              <a:extLst>
                <a:ext uri="{FF2B5EF4-FFF2-40B4-BE49-F238E27FC236}">
                  <a16:creationId xmlns:a16="http://schemas.microsoft.com/office/drawing/2014/main" id="{9A5AA8F0-D544-95CC-FDE7-FE461D30042D}"/>
                </a:ext>
              </a:extLst>
            </p:cNvPr>
            <p:cNvSpPr/>
            <p:nvPr/>
          </p:nvSpPr>
          <p:spPr>
            <a:xfrm>
              <a:off x="5346404" y="1231120"/>
              <a:ext cx="440183"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C</a:t>
              </a:r>
            </a:p>
          </p:txBody>
        </p:sp>
        <p:sp>
          <p:nvSpPr>
            <p:cNvPr id="27" name="Rectangle 26">
              <a:extLst>
                <a:ext uri="{FF2B5EF4-FFF2-40B4-BE49-F238E27FC236}">
                  <a16:creationId xmlns:a16="http://schemas.microsoft.com/office/drawing/2014/main" id="{C207F642-EBA1-462D-508A-D4ACE53B9D81}"/>
                </a:ext>
              </a:extLst>
            </p:cNvPr>
            <p:cNvSpPr/>
            <p:nvPr/>
          </p:nvSpPr>
          <p:spPr>
            <a:xfrm>
              <a:off x="5346404" y="1589339"/>
              <a:ext cx="440183"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B</a:t>
              </a:r>
            </a:p>
          </p:txBody>
        </p:sp>
        <p:sp>
          <p:nvSpPr>
            <p:cNvPr id="28" name="Rectangle 27">
              <a:extLst>
                <a:ext uri="{FF2B5EF4-FFF2-40B4-BE49-F238E27FC236}">
                  <a16:creationId xmlns:a16="http://schemas.microsoft.com/office/drawing/2014/main" id="{195C2400-826D-893F-1816-680B76A73279}"/>
                </a:ext>
              </a:extLst>
            </p:cNvPr>
            <p:cNvSpPr/>
            <p:nvPr/>
          </p:nvSpPr>
          <p:spPr>
            <a:xfrm>
              <a:off x="5346404" y="1948390"/>
              <a:ext cx="440183"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A</a:t>
              </a:r>
            </a:p>
          </p:txBody>
        </p:sp>
        <p:sp>
          <p:nvSpPr>
            <p:cNvPr id="29" name="Rectangle 28">
              <a:extLst>
                <a:ext uri="{FF2B5EF4-FFF2-40B4-BE49-F238E27FC236}">
                  <a16:creationId xmlns:a16="http://schemas.microsoft.com/office/drawing/2014/main" id="{D7218460-09FD-1FDF-34AC-EC40E7D399B3}"/>
                </a:ext>
              </a:extLst>
            </p:cNvPr>
            <p:cNvSpPr/>
            <p:nvPr/>
          </p:nvSpPr>
          <p:spPr>
            <a:xfrm>
              <a:off x="5346404" y="2315830"/>
              <a:ext cx="440183"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9</a:t>
              </a:r>
            </a:p>
          </p:txBody>
        </p:sp>
        <p:sp>
          <p:nvSpPr>
            <p:cNvPr id="30" name="Rectangle 29">
              <a:extLst>
                <a:ext uri="{FF2B5EF4-FFF2-40B4-BE49-F238E27FC236}">
                  <a16:creationId xmlns:a16="http://schemas.microsoft.com/office/drawing/2014/main" id="{8B434DD0-0859-F7BB-2437-DA2A91700650}"/>
                </a:ext>
              </a:extLst>
            </p:cNvPr>
            <p:cNvSpPr/>
            <p:nvPr/>
          </p:nvSpPr>
          <p:spPr>
            <a:xfrm>
              <a:off x="5346404" y="2674881"/>
              <a:ext cx="440183"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8</a:t>
              </a:r>
            </a:p>
          </p:txBody>
        </p:sp>
        <p:sp>
          <p:nvSpPr>
            <p:cNvPr id="31" name="Rectangle 30">
              <a:extLst>
                <a:ext uri="{FF2B5EF4-FFF2-40B4-BE49-F238E27FC236}">
                  <a16:creationId xmlns:a16="http://schemas.microsoft.com/office/drawing/2014/main" id="{692BB098-6DD8-CCFE-4200-6C4C5B5EDE63}"/>
                </a:ext>
              </a:extLst>
            </p:cNvPr>
            <p:cNvSpPr/>
            <p:nvPr/>
          </p:nvSpPr>
          <p:spPr>
            <a:xfrm>
              <a:off x="5346404" y="3034804"/>
              <a:ext cx="440183"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7</a:t>
              </a:r>
            </a:p>
          </p:txBody>
        </p:sp>
        <p:sp>
          <p:nvSpPr>
            <p:cNvPr id="32" name="Rectangle 31">
              <a:extLst>
                <a:ext uri="{FF2B5EF4-FFF2-40B4-BE49-F238E27FC236}">
                  <a16:creationId xmlns:a16="http://schemas.microsoft.com/office/drawing/2014/main" id="{2DB1A10B-DEC2-3B4E-4241-B9A3109E83DB}"/>
                </a:ext>
              </a:extLst>
            </p:cNvPr>
            <p:cNvSpPr/>
            <p:nvPr/>
          </p:nvSpPr>
          <p:spPr>
            <a:xfrm>
              <a:off x="5346404" y="3393855"/>
              <a:ext cx="440183"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6</a:t>
              </a:r>
            </a:p>
          </p:txBody>
        </p:sp>
        <p:sp>
          <p:nvSpPr>
            <p:cNvPr id="33" name="Rectangle 32">
              <a:extLst>
                <a:ext uri="{FF2B5EF4-FFF2-40B4-BE49-F238E27FC236}">
                  <a16:creationId xmlns:a16="http://schemas.microsoft.com/office/drawing/2014/main" id="{CC07664E-7419-4B20-B417-7A1DA4A79A38}"/>
                </a:ext>
              </a:extLst>
            </p:cNvPr>
            <p:cNvSpPr/>
            <p:nvPr/>
          </p:nvSpPr>
          <p:spPr>
            <a:xfrm>
              <a:off x="5346404" y="3761295"/>
              <a:ext cx="440183"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5</a:t>
              </a:r>
            </a:p>
          </p:txBody>
        </p:sp>
        <p:sp>
          <p:nvSpPr>
            <p:cNvPr id="34" name="Rectangle 33">
              <a:extLst>
                <a:ext uri="{FF2B5EF4-FFF2-40B4-BE49-F238E27FC236}">
                  <a16:creationId xmlns:a16="http://schemas.microsoft.com/office/drawing/2014/main" id="{D97800C8-7B43-E1F0-584D-20B50C353E9E}"/>
                </a:ext>
              </a:extLst>
            </p:cNvPr>
            <p:cNvSpPr/>
            <p:nvPr/>
          </p:nvSpPr>
          <p:spPr>
            <a:xfrm>
              <a:off x="5346404" y="4120346"/>
              <a:ext cx="440183"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4</a:t>
              </a:r>
            </a:p>
          </p:txBody>
        </p:sp>
        <p:sp>
          <p:nvSpPr>
            <p:cNvPr id="35" name="Rectangle 34">
              <a:extLst>
                <a:ext uri="{FF2B5EF4-FFF2-40B4-BE49-F238E27FC236}">
                  <a16:creationId xmlns:a16="http://schemas.microsoft.com/office/drawing/2014/main" id="{8D21255C-F5FB-D97F-0533-6DFF7FFA88C7}"/>
                </a:ext>
              </a:extLst>
            </p:cNvPr>
            <p:cNvSpPr/>
            <p:nvPr/>
          </p:nvSpPr>
          <p:spPr>
            <a:xfrm>
              <a:off x="5346404" y="4478565"/>
              <a:ext cx="440183"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3</a:t>
              </a:r>
            </a:p>
          </p:txBody>
        </p:sp>
        <p:sp>
          <p:nvSpPr>
            <p:cNvPr id="36" name="Rectangle 35">
              <a:extLst>
                <a:ext uri="{FF2B5EF4-FFF2-40B4-BE49-F238E27FC236}">
                  <a16:creationId xmlns:a16="http://schemas.microsoft.com/office/drawing/2014/main" id="{B868256D-93AF-78A8-2524-AA425A1A7AA3}"/>
                </a:ext>
              </a:extLst>
            </p:cNvPr>
            <p:cNvSpPr/>
            <p:nvPr/>
          </p:nvSpPr>
          <p:spPr>
            <a:xfrm>
              <a:off x="5346404" y="4837616"/>
              <a:ext cx="440183"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2</a:t>
              </a:r>
            </a:p>
          </p:txBody>
        </p:sp>
        <p:sp>
          <p:nvSpPr>
            <p:cNvPr id="37" name="Rectangle 36">
              <a:extLst>
                <a:ext uri="{FF2B5EF4-FFF2-40B4-BE49-F238E27FC236}">
                  <a16:creationId xmlns:a16="http://schemas.microsoft.com/office/drawing/2014/main" id="{3FF70248-BE8F-89C8-9B66-5F4F7D4CC16A}"/>
                </a:ext>
              </a:extLst>
            </p:cNvPr>
            <p:cNvSpPr/>
            <p:nvPr/>
          </p:nvSpPr>
          <p:spPr>
            <a:xfrm>
              <a:off x="5346404" y="5205056"/>
              <a:ext cx="440183"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1</a:t>
              </a:r>
            </a:p>
          </p:txBody>
        </p:sp>
        <p:sp>
          <p:nvSpPr>
            <p:cNvPr id="38" name="Rectangle 37">
              <a:extLst>
                <a:ext uri="{FF2B5EF4-FFF2-40B4-BE49-F238E27FC236}">
                  <a16:creationId xmlns:a16="http://schemas.microsoft.com/office/drawing/2014/main" id="{940E8A33-A68A-31A6-7C36-B45516BB4268}"/>
                </a:ext>
              </a:extLst>
            </p:cNvPr>
            <p:cNvSpPr/>
            <p:nvPr/>
          </p:nvSpPr>
          <p:spPr>
            <a:xfrm>
              <a:off x="5346404" y="5564107"/>
              <a:ext cx="440183" cy="3599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0</a:t>
              </a:r>
            </a:p>
          </p:txBody>
        </p:sp>
        <p:cxnSp>
          <p:nvCxnSpPr>
            <p:cNvPr id="39" name="Straight Connector 38">
              <a:extLst>
                <a:ext uri="{FF2B5EF4-FFF2-40B4-BE49-F238E27FC236}">
                  <a16:creationId xmlns:a16="http://schemas.microsoft.com/office/drawing/2014/main" id="{ED49B75C-662B-8786-7352-82F12D5C8EEE}"/>
                </a:ext>
              </a:extLst>
            </p:cNvPr>
            <p:cNvCxnSpPr/>
            <p:nvPr/>
          </p:nvCxnSpPr>
          <p:spPr>
            <a:xfrm>
              <a:off x="6200743" y="5924030"/>
              <a:ext cx="0" cy="21215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1A2BB56-B7BD-A328-46F9-4DAA270142C1}"/>
                </a:ext>
              </a:extLst>
            </p:cNvPr>
            <p:cNvCxnSpPr/>
            <p:nvPr/>
          </p:nvCxnSpPr>
          <p:spPr>
            <a:xfrm>
              <a:off x="6567153" y="5924030"/>
              <a:ext cx="0" cy="21215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C864FE2-3075-BF56-A90B-0B7DC9B3BA28}"/>
                </a:ext>
              </a:extLst>
            </p:cNvPr>
            <p:cNvCxnSpPr/>
            <p:nvPr/>
          </p:nvCxnSpPr>
          <p:spPr>
            <a:xfrm>
              <a:off x="6892066" y="5924030"/>
              <a:ext cx="0" cy="21215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09CB077-A6B8-B5AC-7BBD-7FD942636054}"/>
                </a:ext>
              </a:extLst>
            </p:cNvPr>
            <p:cNvCxnSpPr/>
            <p:nvPr/>
          </p:nvCxnSpPr>
          <p:spPr>
            <a:xfrm>
              <a:off x="7222149" y="5924030"/>
              <a:ext cx="0" cy="21215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D21FF0B8-C786-17E9-27E0-98FD02D21760}"/>
                </a:ext>
              </a:extLst>
            </p:cNvPr>
            <p:cNvSpPr/>
            <p:nvPr/>
          </p:nvSpPr>
          <p:spPr>
            <a:xfrm>
              <a:off x="6067795" y="6167217"/>
              <a:ext cx="241770" cy="2121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1</a:t>
              </a:r>
            </a:p>
          </p:txBody>
        </p:sp>
        <p:sp>
          <p:nvSpPr>
            <p:cNvPr id="44" name="Rectangle 43">
              <a:extLst>
                <a:ext uri="{FF2B5EF4-FFF2-40B4-BE49-F238E27FC236}">
                  <a16:creationId xmlns:a16="http://schemas.microsoft.com/office/drawing/2014/main" id="{55AED6E0-2217-F077-7822-E0D1CAAEF2C0}"/>
                </a:ext>
              </a:extLst>
            </p:cNvPr>
            <p:cNvSpPr/>
            <p:nvPr/>
          </p:nvSpPr>
          <p:spPr>
            <a:xfrm>
              <a:off x="6420835" y="6166345"/>
              <a:ext cx="241770" cy="2121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1</a:t>
              </a:r>
            </a:p>
          </p:txBody>
        </p:sp>
        <p:sp>
          <p:nvSpPr>
            <p:cNvPr id="45" name="Rectangle 44">
              <a:extLst>
                <a:ext uri="{FF2B5EF4-FFF2-40B4-BE49-F238E27FC236}">
                  <a16:creationId xmlns:a16="http://schemas.microsoft.com/office/drawing/2014/main" id="{FDF66579-4E01-C3C1-4D40-3F36EE1CA0FF}"/>
                </a:ext>
              </a:extLst>
            </p:cNvPr>
            <p:cNvSpPr/>
            <p:nvPr/>
          </p:nvSpPr>
          <p:spPr>
            <a:xfrm>
              <a:off x="6770703" y="6166344"/>
              <a:ext cx="241770" cy="2121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0</a:t>
              </a:r>
            </a:p>
          </p:txBody>
        </p:sp>
        <p:sp>
          <p:nvSpPr>
            <p:cNvPr id="46" name="Rectangle 45">
              <a:extLst>
                <a:ext uri="{FF2B5EF4-FFF2-40B4-BE49-F238E27FC236}">
                  <a16:creationId xmlns:a16="http://schemas.microsoft.com/office/drawing/2014/main" id="{90857DC1-C43C-346A-33BA-6445B7196F58}"/>
                </a:ext>
              </a:extLst>
            </p:cNvPr>
            <p:cNvSpPr/>
            <p:nvPr/>
          </p:nvSpPr>
          <p:spPr>
            <a:xfrm>
              <a:off x="7120571" y="6166343"/>
              <a:ext cx="241770" cy="2121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1</a:t>
              </a:r>
            </a:p>
          </p:txBody>
        </p:sp>
        <p:cxnSp>
          <p:nvCxnSpPr>
            <p:cNvPr id="48" name="Straight Arrow Connector 47">
              <a:extLst>
                <a:ext uri="{FF2B5EF4-FFF2-40B4-BE49-F238E27FC236}">
                  <a16:creationId xmlns:a16="http://schemas.microsoft.com/office/drawing/2014/main" id="{DF3FBECF-CE73-5063-3B9A-618B2222F1DA}"/>
                </a:ext>
              </a:extLst>
            </p:cNvPr>
            <p:cNvCxnSpPr/>
            <p:nvPr/>
          </p:nvCxnSpPr>
          <p:spPr>
            <a:xfrm flipH="1">
              <a:off x="7513320" y="3753778"/>
              <a:ext cx="174449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9" name="Arrow: Left-Up 48">
              <a:extLst>
                <a:ext uri="{FF2B5EF4-FFF2-40B4-BE49-F238E27FC236}">
                  <a16:creationId xmlns:a16="http://schemas.microsoft.com/office/drawing/2014/main" id="{B39B5869-05BF-72EE-9F60-F70D9E9A6C45}"/>
                </a:ext>
              </a:extLst>
            </p:cNvPr>
            <p:cNvSpPr/>
            <p:nvPr/>
          </p:nvSpPr>
          <p:spPr>
            <a:xfrm flipV="1">
              <a:off x="7513321" y="1724305"/>
              <a:ext cx="2573080" cy="1668662"/>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50" name="TextBox 49">
              <a:extLst>
                <a:ext uri="{FF2B5EF4-FFF2-40B4-BE49-F238E27FC236}">
                  <a16:creationId xmlns:a16="http://schemas.microsoft.com/office/drawing/2014/main" id="{8AD3D336-D6FB-252B-6B8A-AE9A2E40E3FA}"/>
                </a:ext>
              </a:extLst>
            </p:cNvPr>
            <p:cNvSpPr txBox="1"/>
            <p:nvPr/>
          </p:nvSpPr>
          <p:spPr>
            <a:xfrm>
              <a:off x="8890212" y="1940686"/>
              <a:ext cx="67286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Data</a:t>
              </a:r>
            </a:p>
          </p:txBody>
        </p:sp>
        <p:sp>
          <p:nvSpPr>
            <p:cNvPr id="51" name="TextBox 50">
              <a:extLst>
                <a:ext uri="{FF2B5EF4-FFF2-40B4-BE49-F238E27FC236}">
                  <a16:creationId xmlns:a16="http://schemas.microsoft.com/office/drawing/2014/main" id="{BCDF24EA-5777-4CB4-97E4-AC8508661139}"/>
                </a:ext>
              </a:extLst>
            </p:cNvPr>
            <p:cNvSpPr txBox="1"/>
            <p:nvPr/>
          </p:nvSpPr>
          <p:spPr>
            <a:xfrm>
              <a:off x="8164022" y="5914275"/>
              <a:ext cx="107368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Address</a:t>
              </a:r>
            </a:p>
          </p:txBody>
        </p:sp>
        <p:sp>
          <p:nvSpPr>
            <p:cNvPr id="52" name="TextBox 51">
              <a:extLst>
                <a:ext uri="{FF2B5EF4-FFF2-40B4-BE49-F238E27FC236}">
                  <a16:creationId xmlns:a16="http://schemas.microsoft.com/office/drawing/2014/main" id="{1F9BEAFC-BC08-0665-8A2E-83DFC37B48E5}"/>
                </a:ext>
              </a:extLst>
            </p:cNvPr>
            <p:cNvSpPr txBox="1"/>
            <p:nvPr/>
          </p:nvSpPr>
          <p:spPr>
            <a:xfrm>
              <a:off x="8187731" y="3170322"/>
              <a:ext cx="97292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A3F50"/>
                  </a:solidFill>
                  <a:effectLst/>
                  <a:uLnTx/>
                  <a:uFillTx/>
                  <a:latin typeface="Arial"/>
                  <a:ea typeface="+mn-ea"/>
                  <a:cs typeface="+mn-cs"/>
                </a:rPr>
                <a:t>R/W</a:t>
              </a:r>
            </a:p>
          </p:txBody>
        </p:sp>
        <p:cxnSp>
          <p:nvCxnSpPr>
            <p:cNvPr id="53" name="Straight Connector 52">
              <a:extLst>
                <a:ext uri="{FF2B5EF4-FFF2-40B4-BE49-F238E27FC236}">
                  <a16:creationId xmlns:a16="http://schemas.microsoft.com/office/drawing/2014/main" id="{25EAB83F-0A7E-85C4-93C3-BB927C6FEFD5}"/>
                </a:ext>
              </a:extLst>
            </p:cNvPr>
            <p:cNvCxnSpPr>
              <a:cxnSpLocks/>
            </p:cNvCxnSpPr>
            <p:nvPr/>
          </p:nvCxnSpPr>
          <p:spPr>
            <a:xfrm>
              <a:off x="8501155" y="3528767"/>
              <a:ext cx="199707" cy="0"/>
            </a:xfrm>
            <a:prstGeom prst="line">
              <a:avLst/>
            </a:prstGeom>
            <a:ln/>
          </p:spPr>
          <p:style>
            <a:lnRef idx="3">
              <a:schemeClr val="dk1"/>
            </a:lnRef>
            <a:fillRef idx="0">
              <a:schemeClr val="dk1"/>
            </a:fillRef>
            <a:effectRef idx="2">
              <a:schemeClr val="dk1"/>
            </a:effectRef>
            <a:fontRef idx="minor">
              <a:schemeClr val="tx1"/>
            </a:fontRef>
          </p:style>
        </p:cxnSp>
        <p:sp>
          <p:nvSpPr>
            <p:cNvPr id="54" name="TextBox 53">
              <a:extLst>
                <a:ext uri="{FF2B5EF4-FFF2-40B4-BE49-F238E27FC236}">
                  <a16:creationId xmlns:a16="http://schemas.microsoft.com/office/drawing/2014/main" id="{5794A4E6-A2D7-C14D-CC2A-AC09082A2DAC}"/>
                </a:ext>
              </a:extLst>
            </p:cNvPr>
            <p:cNvSpPr txBox="1"/>
            <p:nvPr/>
          </p:nvSpPr>
          <p:spPr>
            <a:xfrm>
              <a:off x="4986899" y="145578"/>
              <a:ext cx="320922"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X</a:t>
              </a:r>
            </a:p>
          </p:txBody>
        </p:sp>
        <p:sp>
          <p:nvSpPr>
            <p:cNvPr id="55" name="TextBox 54">
              <a:extLst>
                <a:ext uri="{FF2B5EF4-FFF2-40B4-BE49-F238E27FC236}">
                  <a16:creationId xmlns:a16="http://schemas.microsoft.com/office/drawing/2014/main" id="{4D0F9395-2993-B43B-3217-66BADAC782C9}"/>
                </a:ext>
              </a:extLst>
            </p:cNvPr>
            <p:cNvSpPr txBox="1"/>
            <p:nvPr/>
          </p:nvSpPr>
          <p:spPr>
            <a:xfrm>
              <a:off x="4986899" y="514910"/>
              <a:ext cx="320922"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Y</a:t>
              </a:r>
            </a:p>
          </p:txBody>
        </p:sp>
        <p:sp>
          <p:nvSpPr>
            <p:cNvPr id="56" name="TextBox 55">
              <a:extLst>
                <a:ext uri="{FF2B5EF4-FFF2-40B4-BE49-F238E27FC236}">
                  <a16:creationId xmlns:a16="http://schemas.microsoft.com/office/drawing/2014/main" id="{07E58C82-4A75-C17E-4B79-137637CC3DDC}"/>
                </a:ext>
              </a:extLst>
            </p:cNvPr>
            <p:cNvSpPr txBox="1"/>
            <p:nvPr/>
          </p:nvSpPr>
          <p:spPr>
            <a:xfrm>
              <a:off x="4511811" y="5554698"/>
              <a:ext cx="86754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Read X</a:t>
              </a:r>
            </a:p>
          </p:txBody>
        </p:sp>
        <p:sp>
          <p:nvSpPr>
            <p:cNvPr id="57" name="TextBox 56">
              <a:extLst>
                <a:ext uri="{FF2B5EF4-FFF2-40B4-BE49-F238E27FC236}">
                  <a16:creationId xmlns:a16="http://schemas.microsoft.com/office/drawing/2014/main" id="{2C7AAD29-B8F4-ACD8-498E-D2AD5B1B984A}"/>
                </a:ext>
              </a:extLst>
            </p:cNvPr>
            <p:cNvSpPr txBox="1"/>
            <p:nvPr/>
          </p:nvSpPr>
          <p:spPr>
            <a:xfrm>
              <a:off x="4511811" y="5185366"/>
              <a:ext cx="811441"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srgbClr val="3A3F50"/>
                  </a:solidFill>
                  <a:effectLst/>
                  <a:uLnTx/>
                  <a:uFillTx/>
                  <a:latin typeface="Arial"/>
                  <a:ea typeface="+mn-ea"/>
                  <a:cs typeface="+mn-cs"/>
                </a:rPr>
                <a:t>Addr</a:t>
              </a:r>
              <a:r>
                <a:rPr kumimoji="0" lang="en-GB" sz="1600" b="0" i="0" u="none" strike="noStrike" kern="1200" cap="none" spc="0" normalizeH="0" baseline="0" noProof="0" dirty="0">
                  <a:ln>
                    <a:noFill/>
                  </a:ln>
                  <a:solidFill>
                    <a:srgbClr val="3A3F50"/>
                  </a:solidFill>
                  <a:effectLst/>
                  <a:uLnTx/>
                  <a:uFillTx/>
                  <a:latin typeface="Arial"/>
                  <a:ea typeface="+mn-ea"/>
                  <a:cs typeface="+mn-cs"/>
                </a:rPr>
                <a:t> X</a:t>
              </a:r>
            </a:p>
          </p:txBody>
        </p:sp>
        <p:sp>
          <p:nvSpPr>
            <p:cNvPr id="58" name="TextBox 57">
              <a:extLst>
                <a:ext uri="{FF2B5EF4-FFF2-40B4-BE49-F238E27FC236}">
                  <a16:creationId xmlns:a16="http://schemas.microsoft.com/office/drawing/2014/main" id="{E041864A-B169-CDCE-E036-B7568867B019}"/>
                </a:ext>
              </a:extLst>
            </p:cNvPr>
            <p:cNvSpPr txBox="1"/>
            <p:nvPr/>
          </p:nvSpPr>
          <p:spPr>
            <a:xfrm>
              <a:off x="4511811" y="4837616"/>
              <a:ext cx="863826"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Read Y</a:t>
              </a:r>
            </a:p>
          </p:txBody>
        </p:sp>
        <p:sp>
          <p:nvSpPr>
            <p:cNvPr id="59" name="TextBox 58">
              <a:extLst>
                <a:ext uri="{FF2B5EF4-FFF2-40B4-BE49-F238E27FC236}">
                  <a16:creationId xmlns:a16="http://schemas.microsoft.com/office/drawing/2014/main" id="{BE7473FF-C4A9-DED5-816C-513C290A13A3}"/>
                </a:ext>
              </a:extLst>
            </p:cNvPr>
            <p:cNvSpPr txBox="1"/>
            <p:nvPr/>
          </p:nvSpPr>
          <p:spPr>
            <a:xfrm>
              <a:off x="4511811" y="4468284"/>
              <a:ext cx="807722"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srgbClr val="3A3F50"/>
                  </a:solidFill>
                  <a:effectLst/>
                  <a:uLnTx/>
                  <a:uFillTx/>
                  <a:latin typeface="Arial"/>
                  <a:ea typeface="+mn-ea"/>
                  <a:cs typeface="+mn-cs"/>
                </a:rPr>
                <a:t>Addr</a:t>
              </a:r>
              <a:r>
                <a:rPr kumimoji="0" lang="en-GB" sz="1600" b="0" i="0" u="none" strike="noStrike" kern="1200" cap="none" spc="0" normalizeH="0" baseline="0" noProof="0" dirty="0">
                  <a:ln>
                    <a:noFill/>
                  </a:ln>
                  <a:solidFill>
                    <a:srgbClr val="3A3F50"/>
                  </a:solidFill>
                  <a:effectLst/>
                  <a:uLnTx/>
                  <a:uFillTx/>
                  <a:latin typeface="Arial"/>
                  <a:ea typeface="+mn-ea"/>
                  <a:cs typeface="+mn-cs"/>
                </a:rPr>
                <a:t> Y</a:t>
              </a:r>
            </a:p>
          </p:txBody>
        </p:sp>
        <p:sp>
          <p:nvSpPr>
            <p:cNvPr id="60" name="TextBox 59">
              <a:extLst>
                <a:ext uri="{FF2B5EF4-FFF2-40B4-BE49-F238E27FC236}">
                  <a16:creationId xmlns:a16="http://schemas.microsoft.com/office/drawing/2014/main" id="{24EB75FC-F721-A593-E947-4AA1AB66B2B2}"/>
                </a:ext>
              </a:extLst>
            </p:cNvPr>
            <p:cNvSpPr txBox="1"/>
            <p:nvPr/>
          </p:nvSpPr>
          <p:spPr>
            <a:xfrm>
              <a:off x="4511811" y="4115641"/>
              <a:ext cx="54854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Add</a:t>
              </a:r>
            </a:p>
          </p:txBody>
        </p:sp>
        <p:sp>
          <p:nvSpPr>
            <p:cNvPr id="61" name="TextBox 60">
              <a:extLst>
                <a:ext uri="{FF2B5EF4-FFF2-40B4-BE49-F238E27FC236}">
                  <a16:creationId xmlns:a16="http://schemas.microsoft.com/office/drawing/2014/main" id="{FF2A9390-E0F9-A433-DD42-B005A6DE55A6}"/>
                </a:ext>
              </a:extLst>
            </p:cNvPr>
            <p:cNvSpPr txBox="1"/>
            <p:nvPr/>
          </p:nvSpPr>
          <p:spPr>
            <a:xfrm>
              <a:off x="4511811" y="3777967"/>
              <a:ext cx="651140"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Save</a:t>
              </a:r>
            </a:p>
          </p:txBody>
        </p:sp>
        <p:sp>
          <p:nvSpPr>
            <p:cNvPr id="47" name="Rectangle 46">
              <a:extLst>
                <a:ext uri="{FF2B5EF4-FFF2-40B4-BE49-F238E27FC236}">
                  <a16:creationId xmlns:a16="http://schemas.microsoft.com/office/drawing/2014/main" id="{A1F33B3B-3A36-982E-330F-FF9A916560E2}"/>
                </a:ext>
              </a:extLst>
            </p:cNvPr>
            <p:cNvSpPr/>
            <p:nvPr/>
          </p:nvSpPr>
          <p:spPr>
            <a:xfrm>
              <a:off x="9014286" y="3407133"/>
              <a:ext cx="1387360" cy="15625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Arial"/>
                  <a:ea typeface="+mn-ea"/>
                  <a:cs typeface="+mn-cs"/>
                </a:rPr>
                <a:t>CPU</a:t>
              </a:r>
            </a:p>
          </p:txBody>
        </p:sp>
      </p:grpSp>
    </p:spTree>
    <p:extLst>
      <p:ext uri="{BB962C8B-B14F-4D97-AF65-F5344CB8AC3E}">
        <p14:creationId xmlns:p14="http://schemas.microsoft.com/office/powerpoint/2010/main" val="3386350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99498-FAD9-B4D5-2B97-960F3AFFD8FA}"/>
              </a:ext>
            </a:extLst>
          </p:cNvPr>
          <p:cNvSpPr>
            <a:spLocks noGrp="1"/>
          </p:cNvSpPr>
          <p:nvPr>
            <p:ph type="title"/>
          </p:nvPr>
        </p:nvSpPr>
        <p:spPr/>
        <p:txBody>
          <a:bodyPr/>
          <a:lstStyle/>
          <a:p>
            <a:r>
              <a:rPr lang="en-GB" noProof="0" dirty="0"/>
              <a:t>Real code for y=</a:t>
            </a:r>
            <a:r>
              <a:rPr lang="en-GB" noProof="0" dirty="0" err="1"/>
              <a:t>x+y</a:t>
            </a:r>
            <a:endParaRPr lang="en-GB" noProof="0" dirty="0"/>
          </a:p>
        </p:txBody>
      </p:sp>
      <p:sp>
        <p:nvSpPr>
          <p:cNvPr id="3" name="Text Placeholder 2">
            <a:extLst>
              <a:ext uri="{FF2B5EF4-FFF2-40B4-BE49-F238E27FC236}">
                <a16:creationId xmlns:a16="http://schemas.microsoft.com/office/drawing/2014/main" id="{6C8A6875-647C-51DD-15FB-A6C94EE20C31}"/>
              </a:ext>
            </a:extLst>
          </p:cNvPr>
          <p:cNvSpPr>
            <a:spLocks noGrp="1"/>
          </p:cNvSpPr>
          <p:nvPr>
            <p:ph type="body" idx="1"/>
          </p:nvPr>
        </p:nvSpPr>
        <p:spPr/>
        <p:txBody>
          <a:bodyPr/>
          <a:lstStyle/>
          <a:p>
            <a:r>
              <a:rPr lang="en-GB" noProof="0" dirty="0"/>
              <a:t>Real assembly language and machine code for the previous example: y=</a:t>
            </a:r>
            <a:r>
              <a:rPr lang="en-GB" noProof="0" dirty="0" err="1"/>
              <a:t>x+y</a:t>
            </a:r>
            <a:r>
              <a:rPr lang="en-GB" noProof="0" dirty="0"/>
              <a:t>  where x=7, y=5</a:t>
            </a:r>
          </a:p>
          <a:p>
            <a:r>
              <a:rPr lang="en-GB" sz="1600" noProof="0" dirty="0">
                <a:latin typeface="Courier New" panose="02070309020205020404" pitchFamily="49" charset="0"/>
                <a:cs typeface="Courier New" panose="02070309020205020404" pitchFamily="49" charset="0"/>
              </a:rPr>
              <a:t>00000000  07000000      x DWORD 7</a:t>
            </a:r>
            <a:br>
              <a:rPr lang="en-GB" sz="1600" noProof="0" dirty="0">
                <a:latin typeface="Courier New" panose="02070309020205020404" pitchFamily="49" charset="0"/>
                <a:cs typeface="Courier New" panose="02070309020205020404" pitchFamily="49" charset="0"/>
              </a:rPr>
            </a:br>
            <a:r>
              <a:rPr lang="en-GB" sz="1600" noProof="0" dirty="0">
                <a:latin typeface="Courier New" panose="02070309020205020404" pitchFamily="49" charset="0"/>
                <a:cs typeface="Courier New" panose="02070309020205020404" pitchFamily="49" charset="0"/>
              </a:rPr>
              <a:t>00000004  05000000      y DWORD 5</a:t>
            </a:r>
            <a:br>
              <a:rPr lang="en-GB" sz="1600" noProof="0" dirty="0">
                <a:latin typeface="Courier New" panose="02070309020205020404" pitchFamily="49" charset="0"/>
                <a:cs typeface="Courier New" panose="02070309020205020404" pitchFamily="49" charset="0"/>
              </a:rPr>
            </a:br>
            <a:br>
              <a:rPr lang="en-GB" sz="1600" noProof="0" dirty="0">
                <a:latin typeface="Courier New" panose="02070309020205020404" pitchFamily="49" charset="0"/>
                <a:cs typeface="Courier New" panose="02070309020205020404" pitchFamily="49" charset="0"/>
              </a:rPr>
            </a:br>
            <a:r>
              <a:rPr lang="en-GB" sz="1600" noProof="0" dirty="0">
                <a:latin typeface="Courier New" panose="02070309020205020404" pitchFamily="49" charset="0"/>
                <a:cs typeface="Courier New" panose="02070309020205020404" pitchFamily="49" charset="0"/>
              </a:rPr>
              <a:t>00000000  A100000000    mov  </a:t>
            </a:r>
            <a:r>
              <a:rPr lang="en-GB" sz="1600" noProof="0" dirty="0" err="1">
                <a:latin typeface="Courier New" panose="02070309020205020404" pitchFamily="49" charset="0"/>
                <a:cs typeface="Courier New" panose="02070309020205020404" pitchFamily="49" charset="0"/>
              </a:rPr>
              <a:t>eax</a:t>
            </a:r>
            <a:r>
              <a:rPr lang="en-GB" sz="1600" noProof="0" dirty="0">
                <a:latin typeface="Courier New" panose="02070309020205020404" pitchFamily="49" charset="0"/>
                <a:cs typeface="Courier New" panose="02070309020205020404" pitchFamily="49" charset="0"/>
              </a:rPr>
              <a:t>, [x]  ; </a:t>
            </a:r>
            <a:r>
              <a:rPr lang="en-GB" sz="1600" noProof="0" dirty="0" err="1">
                <a:latin typeface="Courier New" panose="02070309020205020404" pitchFamily="49" charset="0"/>
                <a:cs typeface="Courier New" panose="02070309020205020404" pitchFamily="49" charset="0"/>
              </a:rPr>
              <a:t>eax</a:t>
            </a:r>
            <a:r>
              <a:rPr lang="en-GB" sz="1600" noProof="0" dirty="0">
                <a:latin typeface="Courier New" panose="02070309020205020404" pitchFamily="49" charset="0"/>
                <a:cs typeface="Courier New" panose="02070309020205020404" pitchFamily="49" charset="0"/>
              </a:rPr>
              <a:t> = data at address 00000000 (0)</a:t>
            </a:r>
            <a:br>
              <a:rPr lang="en-GB" sz="1600" noProof="0" dirty="0">
                <a:latin typeface="Courier New" panose="02070309020205020404" pitchFamily="49" charset="0"/>
                <a:cs typeface="Courier New" panose="02070309020205020404" pitchFamily="49" charset="0"/>
              </a:rPr>
            </a:br>
            <a:r>
              <a:rPr lang="en-GB" sz="1600" noProof="0" dirty="0">
                <a:latin typeface="Courier New" panose="02070309020205020404" pitchFamily="49" charset="0"/>
                <a:cs typeface="Courier New" panose="02070309020205020404" pitchFamily="49" charset="0"/>
              </a:rPr>
              <a:t>00000005  030504000000  add  </a:t>
            </a:r>
            <a:r>
              <a:rPr lang="en-GB" sz="1600" noProof="0" dirty="0" err="1">
                <a:latin typeface="Courier New" panose="02070309020205020404" pitchFamily="49" charset="0"/>
                <a:cs typeface="Courier New" panose="02070309020205020404" pitchFamily="49" charset="0"/>
              </a:rPr>
              <a:t>eax</a:t>
            </a:r>
            <a:r>
              <a:rPr lang="en-GB" sz="1600" noProof="0" dirty="0">
                <a:latin typeface="Courier New" panose="02070309020205020404" pitchFamily="49" charset="0"/>
                <a:cs typeface="Courier New" panose="02070309020205020404" pitchFamily="49" charset="0"/>
              </a:rPr>
              <a:t>, [y]  ; </a:t>
            </a:r>
            <a:r>
              <a:rPr lang="en-GB" sz="1600" noProof="0" dirty="0" err="1">
                <a:latin typeface="Courier New" panose="02070309020205020404" pitchFamily="49" charset="0"/>
                <a:cs typeface="Courier New" panose="02070309020205020404" pitchFamily="49" charset="0"/>
              </a:rPr>
              <a:t>eax</a:t>
            </a:r>
            <a:r>
              <a:rPr lang="en-GB" sz="1600" noProof="0" dirty="0">
                <a:latin typeface="Courier New" panose="02070309020205020404" pitchFamily="49" charset="0"/>
                <a:cs typeface="Courier New" panose="02070309020205020404" pitchFamily="49" charset="0"/>
              </a:rPr>
              <a:t> = x + data at address 04000000 (4)</a:t>
            </a:r>
            <a:br>
              <a:rPr lang="en-GB" sz="1600" noProof="0" dirty="0">
                <a:latin typeface="Courier New" panose="02070309020205020404" pitchFamily="49" charset="0"/>
                <a:cs typeface="Courier New" panose="02070309020205020404" pitchFamily="49" charset="0"/>
              </a:rPr>
            </a:br>
            <a:r>
              <a:rPr lang="en-GB" sz="1600" noProof="0" dirty="0">
                <a:latin typeface="Courier New" panose="02070309020205020404" pitchFamily="49" charset="0"/>
                <a:cs typeface="Courier New" panose="02070309020205020404" pitchFamily="49" charset="0"/>
              </a:rPr>
              <a:t>0000000B  A304000000    mov  [y], </a:t>
            </a:r>
            <a:r>
              <a:rPr lang="en-GB" sz="1600" noProof="0" dirty="0" err="1">
                <a:latin typeface="Courier New" panose="02070309020205020404" pitchFamily="49" charset="0"/>
                <a:cs typeface="Courier New" panose="02070309020205020404" pitchFamily="49" charset="0"/>
              </a:rPr>
              <a:t>eax</a:t>
            </a:r>
            <a:r>
              <a:rPr lang="en-GB" sz="1600" noProof="0" dirty="0">
                <a:latin typeface="Courier New" panose="02070309020205020404" pitchFamily="49" charset="0"/>
                <a:cs typeface="Courier New" panose="02070309020205020404" pitchFamily="49" charset="0"/>
              </a:rPr>
              <a:t>  ; write to address 04000000 (4), x + y </a:t>
            </a:r>
          </a:p>
          <a:p>
            <a:r>
              <a:rPr lang="en-GB" sz="1600" noProof="0" dirty="0"/>
              <a:t>x86 architecture uses Little-endian byte order</a:t>
            </a:r>
          </a:p>
          <a:p>
            <a:r>
              <a:rPr lang="en-GB" sz="1600" noProof="0" dirty="0"/>
              <a:t>DWORD is 4 bytes or 32 bits</a:t>
            </a:r>
          </a:p>
          <a:p>
            <a:r>
              <a:rPr lang="en-GB" sz="1600" noProof="0" dirty="0"/>
              <a:t>Instructions are variable length. In this case the instructions are: </a:t>
            </a:r>
          </a:p>
          <a:p>
            <a:r>
              <a:rPr lang="en-GB" sz="1600" noProof="0" dirty="0"/>
              <a:t>A1 - mov into </a:t>
            </a:r>
            <a:r>
              <a:rPr lang="en-GB" sz="1600" noProof="0" dirty="0" err="1"/>
              <a:t>eax</a:t>
            </a:r>
            <a:r>
              <a:rPr lang="en-GB" sz="1600" noProof="0" dirty="0"/>
              <a:t> value from address</a:t>
            </a:r>
          </a:p>
          <a:p>
            <a:r>
              <a:rPr lang="en-GB" sz="1600" noProof="0" dirty="0"/>
              <a:t>03 - add to, 05 - </a:t>
            </a:r>
            <a:r>
              <a:rPr lang="en-GB" sz="1600" noProof="0" dirty="0" err="1"/>
              <a:t>eax</a:t>
            </a:r>
            <a:r>
              <a:rPr lang="en-GB" sz="1600" noProof="0" dirty="0"/>
              <a:t> register the value at the address, in this case 4 or y</a:t>
            </a:r>
          </a:p>
          <a:p>
            <a:r>
              <a:rPr lang="en-GB" sz="1600" noProof="0" dirty="0"/>
              <a:t>A3 - mov into memory location </a:t>
            </a:r>
            <a:r>
              <a:rPr lang="en-GB" sz="1600" noProof="0" dirty="0" err="1"/>
              <a:t>eax</a:t>
            </a:r>
            <a:endParaRPr lang="en-GB" sz="1600" noProof="0" dirty="0"/>
          </a:p>
          <a:p>
            <a:endParaRPr lang="en-GB" sz="1600" noProof="0" dirty="0"/>
          </a:p>
          <a:p>
            <a:r>
              <a:rPr lang="en-GB" sz="1600" noProof="0" dirty="0"/>
              <a:t>High level language such as C, C++, Java</a:t>
            </a:r>
          </a:p>
          <a:p>
            <a:r>
              <a:rPr lang="en-GB" sz="1600" noProof="0" dirty="0">
                <a:latin typeface="Courier New" panose="02070309020205020404" pitchFamily="49" charset="0"/>
                <a:cs typeface="Courier New" panose="02070309020205020404" pitchFamily="49" charset="0"/>
              </a:rPr>
              <a:t>int x=7, y=5;</a:t>
            </a:r>
            <a:br>
              <a:rPr lang="en-GB" sz="1600" noProof="0" dirty="0">
                <a:latin typeface="Courier New" panose="02070309020205020404" pitchFamily="49" charset="0"/>
                <a:cs typeface="Courier New" panose="02070309020205020404" pitchFamily="49" charset="0"/>
              </a:rPr>
            </a:br>
            <a:r>
              <a:rPr lang="en-GB" sz="1600" noProof="0" dirty="0">
                <a:latin typeface="Courier New" panose="02070309020205020404" pitchFamily="49" charset="0"/>
                <a:cs typeface="Courier New" panose="02070309020205020404" pitchFamily="49" charset="0"/>
              </a:rPr>
              <a:t>y=</a:t>
            </a:r>
            <a:r>
              <a:rPr lang="en-GB" sz="1600" noProof="0" dirty="0" err="1">
                <a:latin typeface="Courier New" panose="02070309020205020404" pitchFamily="49" charset="0"/>
                <a:cs typeface="Courier New" panose="02070309020205020404" pitchFamily="49" charset="0"/>
              </a:rPr>
              <a:t>x+y</a:t>
            </a:r>
            <a:r>
              <a:rPr lang="en-GB" sz="1600" noProof="0" dirty="0">
                <a:latin typeface="Courier New" panose="02070309020205020404" pitchFamily="49" charset="0"/>
                <a:cs typeface="Courier New" panose="02070309020205020404" pitchFamily="49" charset="0"/>
              </a:rPr>
              <a:t>;</a:t>
            </a:r>
          </a:p>
          <a:p>
            <a:endParaRPr lang="en-GB" noProof="0" dirty="0"/>
          </a:p>
          <a:p>
            <a:endParaRPr lang="en-GB" noProof="0" dirty="0"/>
          </a:p>
          <a:p>
            <a:endParaRPr lang="en-GB" noProof="0" dirty="0"/>
          </a:p>
          <a:p>
            <a:endParaRPr lang="en-GB" noProof="0" dirty="0"/>
          </a:p>
          <a:p>
            <a:endParaRPr lang="en-GB" sz="1600" noProof="0"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7FBDBFA9-365B-6015-7834-A57AB16EA55B}"/>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940451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5A0B-6048-2091-19B9-D48EDD98AC35}"/>
              </a:ext>
            </a:extLst>
          </p:cNvPr>
          <p:cNvSpPr>
            <a:spLocks noGrp="1"/>
          </p:cNvSpPr>
          <p:nvPr>
            <p:ph type="title"/>
          </p:nvPr>
        </p:nvSpPr>
        <p:spPr/>
        <p:txBody>
          <a:bodyPr/>
          <a:lstStyle/>
          <a:p>
            <a:endParaRPr lang="en-GB" noProof="0" dirty="0"/>
          </a:p>
        </p:txBody>
      </p:sp>
      <p:sp>
        <p:nvSpPr>
          <p:cNvPr id="3" name="Text Placeholder 2">
            <a:extLst>
              <a:ext uri="{FF2B5EF4-FFF2-40B4-BE49-F238E27FC236}">
                <a16:creationId xmlns:a16="http://schemas.microsoft.com/office/drawing/2014/main" id="{805A7C96-E9CF-AC76-06C1-11342877E0EC}"/>
              </a:ext>
            </a:extLst>
          </p:cNvPr>
          <p:cNvSpPr>
            <a:spLocks noGrp="1"/>
          </p:cNvSpPr>
          <p:nvPr>
            <p:ph type="body" idx="1"/>
          </p:nvPr>
        </p:nvSpPr>
        <p:spPr/>
        <p:txBody>
          <a:bodyPr/>
          <a:lstStyle/>
          <a:p>
            <a:r>
              <a:rPr lang="en-GB" b="1" noProof="0" dirty="0"/>
              <a:t>Parallel processing</a:t>
            </a:r>
            <a:r>
              <a:rPr lang="en-GB" noProof="0" dirty="0"/>
              <a:t>: When several programs can be run at the same time, independently</a:t>
            </a:r>
          </a:p>
          <a:p>
            <a:pPr lvl="1"/>
            <a:r>
              <a:rPr lang="en-GB" noProof="0" dirty="0"/>
              <a:t>Uses multiple CPUs. Like opening more checkouts when there is a queue </a:t>
            </a:r>
          </a:p>
          <a:p>
            <a:pPr lvl="1"/>
            <a:r>
              <a:rPr lang="en-GB" noProof="0" dirty="0"/>
              <a:t>A CPU used to have one processing core on the chip. Modern CPUs have multiple cores</a:t>
            </a:r>
          </a:p>
          <a:p>
            <a:pPr lvl="1"/>
            <a:r>
              <a:rPr lang="en-GB" noProof="0" dirty="0"/>
              <a:t>We can now parallel process within a single CPU</a:t>
            </a:r>
          </a:p>
          <a:p>
            <a:pPr lvl="1"/>
            <a:r>
              <a:rPr lang="en-GB" noProof="0" dirty="0"/>
              <a:t>Laptop 2-16 cores, server CPU up to 192 cores (Intel Diamond Rapids, AMD EPYC Turin Dense))</a:t>
            </a:r>
          </a:p>
          <a:p>
            <a:r>
              <a:rPr lang="en-GB" b="1" noProof="0" dirty="0"/>
              <a:t>Process</a:t>
            </a:r>
            <a:r>
              <a:rPr lang="en-GB" noProof="0" dirty="0"/>
              <a:t>: process is a running program. It is allocated memory and executing instructions</a:t>
            </a:r>
          </a:p>
          <a:p>
            <a:pPr lvl="1"/>
            <a:r>
              <a:rPr lang="en-GB" noProof="0" dirty="0"/>
              <a:t>OS keeps track by issuing each process with a process ID</a:t>
            </a:r>
          </a:p>
          <a:p>
            <a:r>
              <a:rPr lang="en-GB" b="1" noProof="0" dirty="0"/>
              <a:t>Multitasking</a:t>
            </a:r>
            <a:r>
              <a:rPr lang="en-GB" noProof="0" dirty="0"/>
              <a:t>: run multiple processes at the same time. Like a single fast checkout operator</a:t>
            </a:r>
          </a:p>
          <a:p>
            <a:pPr lvl="1"/>
            <a:r>
              <a:rPr lang="en-GB" noProof="0" dirty="0"/>
              <a:t>OS runs one process for a few millisecond, then another, then another etc, then back to the first</a:t>
            </a:r>
          </a:p>
          <a:p>
            <a:pPr lvl="1"/>
            <a:r>
              <a:rPr lang="en-GB" noProof="0" dirty="0"/>
              <a:t>User thinks all processes are running at the same time</a:t>
            </a:r>
          </a:p>
          <a:p>
            <a:pPr lvl="1"/>
            <a:r>
              <a:rPr lang="en-GB" noProof="0" dirty="0"/>
              <a:t>Chrome browser tabs are independent processes hence fast and stable but greedy on RAM</a:t>
            </a:r>
          </a:p>
          <a:p>
            <a:pPr lvl="1"/>
            <a:r>
              <a:rPr lang="en-GB" noProof="0" dirty="0"/>
              <a:t>If a CPU has 16 cores, Chrome (and other apps) can allocate each tab to a core to get parallel processing</a:t>
            </a:r>
          </a:p>
          <a:p>
            <a:endParaRPr lang="en-GB" noProof="0" dirty="0"/>
          </a:p>
        </p:txBody>
      </p:sp>
      <p:sp>
        <p:nvSpPr>
          <p:cNvPr id="4" name="Slide Number Placeholder 3">
            <a:extLst>
              <a:ext uri="{FF2B5EF4-FFF2-40B4-BE49-F238E27FC236}">
                <a16:creationId xmlns:a16="http://schemas.microsoft.com/office/drawing/2014/main" id="{CA56362A-4F84-AD21-3350-0735525C2AAD}"/>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190714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5A080-DC83-FD78-4C24-3F6D74D13D7C}"/>
              </a:ext>
            </a:extLst>
          </p:cNvPr>
          <p:cNvSpPr>
            <a:spLocks noGrp="1"/>
          </p:cNvSpPr>
          <p:nvPr>
            <p:ph type="title"/>
          </p:nvPr>
        </p:nvSpPr>
        <p:spPr/>
        <p:txBody>
          <a:bodyPr/>
          <a:lstStyle/>
          <a:p>
            <a:endParaRPr lang="en-GB" noProof="0" dirty="0"/>
          </a:p>
        </p:txBody>
      </p:sp>
      <p:sp>
        <p:nvSpPr>
          <p:cNvPr id="3" name="Text Placeholder 2">
            <a:extLst>
              <a:ext uri="{FF2B5EF4-FFF2-40B4-BE49-F238E27FC236}">
                <a16:creationId xmlns:a16="http://schemas.microsoft.com/office/drawing/2014/main" id="{3D8687D2-F7E5-AA9C-F22C-28613D2BEBF6}"/>
              </a:ext>
            </a:extLst>
          </p:cNvPr>
          <p:cNvSpPr>
            <a:spLocks noGrp="1"/>
          </p:cNvSpPr>
          <p:nvPr>
            <p:ph type="body" idx="1"/>
          </p:nvPr>
        </p:nvSpPr>
        <p:spPr/>
        <p:txBody>
          <a:bodyPr/>
          <a:lstStyle/>
          <a:p>
            <a:r>
              <a:rPr lang="en-GB" b="1" noProof="0" dirty="0"/>
              <a:t>Threading</a:t>
            </a:r>
            <a:r>
              <a:rPr lang="en-GB" noProof="0" dirty="0"/>
              <a:t>: the spawning of sub-processes. i.e. running different parts of the program at the same time</a:t>
            </a:r>
          </a:p>
          <a:p>
            <a:pPr lvl="1"/>
            <a:r>
              <a:rPr lang="en-GB" noProof="0" dirty="0"/>
              <a:t>e.g. Word is a process. Opening a second window on the doc is a thread - it looks like they are both running</a:t>
            </a:r>
          </a:p>
          <a:p>
            <a:pPr lvl="1"/>
            <a:r>
              <a:rPr lang="en-GB" noProof="0" dirty="0"/>
              <a:t>Multiple users accessing the same program at the same time</a:t>
            </a:r>
          </a:p>
          <a:p>
            <a:pPr lvl="1"/>
            <a:r>
              <a:rPr lang="en-GB" noProof="0" dirty="0"/>
              <a:t>It is executing different parts of the program concurrently</a:t>
            </a:r>
          </a:p>
          <a:p>
            <a:pPr lvl="1"/>
            <a:r>
              <a:rPr lang="en-GB" noProof="0" dirty="0"/>
              <a:t>e.g., A lengthy process in one thread and UI in another - user need to wait for or even notice lengthy process</a:t>
            </a:r>
          </a:p>
          <a:p>
            <a:pPr lvl="1"/>
            <a:r>
              <a:rPr lang="en-GB" noProof="0" dirty="0"/>
              <a:t>threads emulate parallel processing by multi-tasking within the same application (process)</a:t>
            </a:r>
          </a:p>
          <a:p>
            <a:r>
              <a:rPr lang="en-GB" b="1" noProof="0" dirty="0"/>
              <a:t>CPU multithreading</a:t>
            </a:r>
            <a:r>
              <a:rPr lang="en-GB" noProof="0" dirty="0"/>
              <a:t>:  e.g. 2 threads. CPU can fetch instructions from two areas of RAM </a:t>
            </a:r>
          </a:p>
          <a:p>
            <a:pPr lvl="1"/>
            <a:r>
              <a:rPr lang="en-GB" noProof="0" dirty="0"/>
              <a:t>The core is shared by the two pipelines providing the OS with what looks like 2 cores</a:t>
            </a:r>
          </a:p>
          <a:p>
            <a:pPr lvl="1"/>
            <a:r>
              <a:rPr lang="en-GB" noProof="0" dirty="0"/>
              <a:t>As the core has only one execution engine, the performance isn't doubled, more like 15-35% increase</a:t>
            </a:r>
          </a:p>
          <a:p>
            <a:pPr lvl="1"/>
            <a:r>
              <a:rPr lang="en-GB" noProof="0" dirty="0"/>
              <a:t>So, for an 8 core CPU with hardware multithreading, the OS sees 16 CPUs</a:t>
            </a:r>
          </a:p>
          <a:p>
            <a:pPr lvl="1"/>
            <a:r>
              <a:rPr lang="en-GB" noProof="0" dirty="0"/>
              <a:t>2 CPU threads is typical (AMD, Intel) as the returns diminish quickly with more </a:t>
            </a:r>
          </a:p>
          <a:p>
            <a:pPr lvl="1"/>
            <a:endParaRPr lang="en-GB" noProof="0" dirty="0"/>
          </a:p>
          <a:p>
            <a:pPr marL="152396" indent="0">
              <a:buNone/>
            </a:pPr>
            <a:endParaRPr lang="en-GB" noProof="0" dirty="0"/>
          </a:p>
        </p:txBody>
      </p:sp>
      <p:sp>
        <p:nvSpPr>
          <p:cNvPr id="4" name="Slide Number Placeholder 3">
            <a:extLst>
              <a:ext uri="{FF2B5EF4-FFF2-40B4-BE49-F238E27FC236}">
                <a16:creationId xmlns:a16="http://schemas.microsoft.com/office/drawing/2014/main" id="{78658FD7-BC93-103F-F132-8763A763B1E2}"/>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912045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72B4-B6A5-6A10-BB15-19F26021E889}"/>
              </a:ext>
            </a:extLst>
          </p:cNvPr>
          <p:cNvSpPr>
            <a:spLocks noGrp="1"/>
          </p:cNvSpPr>
          <p:nvPr>
            <p:ph type="title"/>
          </p:nvPr>
        </p:nvSpPr>
        <p:spPr/>
        <p:txBody>
          <a:bodyPr/>
          <a:lstStyle/>
          <a:p>
            <a:r>
              <a:rPr lang="en-GB" noProof="0" dirty="0"/>
              <a:t>Software overview</a:t>
            </a:r>
          </a:p>
        </p:txBody>
      </p:sp>
      <p:sp>
        <p:nvSpPr>
          <p:cNvPr id="3" name="Text Placeholder 2">
            <a:extLst>
              <a:ext uri="{FF2B5EF4-FFF2-40B4-BE49-F238E27FC236}">
                <a16:creationId xmlns:a16="http://schemas.microsoft.com/office/drawing/2014/main" id="{A1595924-AB27-A4DD-B656-E9A3E53C81DE}"/>
              </a:ext>
            </a:extLst>
          </p:cNvPr>
          <p:cNvSpPr>
            <a:spLocks noGrp="1"/>
          </p:cNvSpPr>
          <p:nvPr>
            <p:ph type="body" idx="1"/>
          </p:nvPr>
        </p:nvSpPr>
        <p:spPr/>
        <p:txBody>
          <a:bodyPr/>
          <a:lstStyle/>
          <a:p>
            <a:r>
              <a:rPr lang="en-GB" noProof="0" dirty="0"/>
              <a:t>Software is an intangible element of computing, unlike hardware which is tangible - i.e. you can touch it</a:t>
            </a:r>
          </a:p>
          <a:p>
            <a:r>
              <a:rPr lang="en-GB" noProof="0" dirty="0"/>
              <a:t>Software is made up of computer programs and data</a:t>
            </a:r>
          </a:p>
          <a:p>
            <a:r>
              <a:rPr lang="en-GB" noProof="0" dirty="0"/>
              <a:t>A computer program is a sequence of precise logical instructions</a:t>
            </a:r>
          </a:p>
          <a:p>
            <a:pPr lvl="1"/>
            <a:r>
              <a:rPr lang="en-GB" noProof="0" dirty="0"/>
              <a:t>It is written using a specific syntax, i.e. rules of the language</a:t>
            </a:r>
          </a:p>
          <a:p>
            <a:pPr lvl="1"/>
            <a:r>
              <a:rPr lang="en-GB" noProof="0" dirty="0"/>
              <a:t>Spoken &amp; written language has syntax: start with a capital, end with a full stop, put words in order of meaning</a:t>
            </a:r>
          </a:p>
          <a:p>
            <a:pPr lvl="1"/>
            <a:r>
              <a:rPr lang="en-GB" noProof="0" dirty="0"/>
              <a:t>Programming is more precise, break one syntax rule and your code probably won't run</a:t>
            </a:r>
          </a:p>
          <a:p>
            <a:pPr lvl="1"/>
            <a:endParaRPr lang="en-GB" noProof="0" dirty="0"/>
          </a:p>
          <a:p>
            <a:r>
              <a:rPr lang="en-GB" noProof="0" dirty="0"/>
              <a:t>Where does software live and what does it look like?</a:t>
            </a:r>
          </a:p>
          <a:p>
            <a:pPr lvl="1"/>
            <a:r>
              <a:rPr lang="en-GB" noProof="0" dirty="0"/>
              <a:t>Typically stored in files on a drive but could be in Flash memory such as firmware</a:t>
            </a:r>
          </a:p>
          <a:p>
            <a:pPr lvl="1"/>
            <a:r>
              <a:rPr lang="en-GB" noProof="0" dirty="0"/>
              <a:t>Program is read from disk into RAM for the CPU to execute</a:t>
            </a:r>
          </a:p>
          <a:p>
            <a:pPr lvl="1"/>
            <a:r>
              <a:rPr lang="en-GB" noProof="0" dirty="0"/>
              <a:t>CPU only executes machine code which is very granular and in binary</a:t>
            </a:r>
          </a:p>
          <a:p>
            <a:pPr lvl="1"/>
            <a:r>
              <a:rPr lang="en-GB" noProof="0" dirty="0"/>
              <a:t>We can write code in machine code, but it is a slow, tedious and error-prone process</a:t>
            </a:r>
          </a:p>
          <a:p>
            <a:pPr lvl="1"/>
            <a:r>
              <a:rPr lang="en-GB" noProof="0" dirty="0"/>
              <a:t>We generally write code in a high-level language, nearer English, then convert to machine code for execution</a:t>
            </a:r>
          </a:p>
          <a:p>
            <a:pPr lvl="1"/>
            <a:endParaRPr lang="en-GB" noProof="0" dirty="0"/>
          </a:p>
        </p:txBody>
      </p:sp>
      <p:sp>
        <p:nvSpPr>
          <p:cNvPr id="4" name="Slide Number Placeholder 3">
            <a:extLst>
              <a:ext uri="{FF2B5EF4-FFF2-40B4-BE49-F238E27FC236}">
                <a16:creationId xmlns:a16="http://schemas.microsoft.com/office/drawing/2014/main" id="{335D4D61-30E8-530E-A207-7FAF03EFBF4E}"/>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09167D-FCC9-444D-BA38-7DB2AAFEB7A1}"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930139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F302C-30F4-3EE9-25EF-EB5F7BDA8460}"/>
              </a:ext>
            </a:extLst>
          </p:cNvPr>
          <p:cNvSpPr>
            <a:spLocks noGrp="1"/>
          </p:cNvSpPr>
          <p:nvPr>
            <p:ph type="title"/>
          </p:nvPr>
        </p:nvSpPr>
        <p:spPr/>
        <p:txBody>
          <a:bodyPr/>
          <a:lstStyle/>
          <a:p>
            <a:r>
              <a:rPr lang="en-GB" noProof="0" dirty="0"/>
              <a:t>Code translation</a:t>
            </a:r>
          </a:p>
        </p:txBody>
      </p:sp>
      <p:sp>
        <p:nvSpPr>
          <p:cNvPr id="3" name="Text Placeholder 2">
            <a:extLst>
              <a:ext uri="{FF2B5EF4-FFF2-40B4-BE49-F238E27FC236}">
                <a16:creationId xmlns:a16="http://schemas.microsoft.com/office/drawing/2014/main" id="{E228DBC5-352A-B4A4-0DF5-FF8BA2F481D4}"/>
              </a:ext>
            </a:extLst>
          </p:cNvPr>
          <p:cNvSpPr>
            <a:spLocks noGrp="1"/>
          </p:cNvSpPr>
          <p:nvPr>
            <p:ph type="body" idx="1"/>
          </p:nvPr>
        </p:nvSpPr>
        <p:spPr>
          <a:xfrm>
            <a:off x="609600" y="885825"/>
            <a:ext cx="11163300" cy="5387632"/>
          </a:xfrm>
        </p:spPr>
        <p:txBody>
          <a:bodyPr/>
          <a:lstStyle/>
          <a:p>
            <a:pPr marL="152396" indent="0">
              <a:buNone/>
            </a:pPr>
            <a:r>
              <a:rPr lang="en-GB" sz="1600" b="1" noProof="0" dirty="0"/>
              <a:t>Interpreter</a:t>
            </a:r>
          </a:p>
          <a:p>
            <a:r>
              <a:rPr lang="en-GB" sz="1600" noProof="0" dirty="0"/>
              <a:t>The interpreter is a program that converts source code into machine code - like a language interpreter</a:t>
            </a:r>
          </a:p>
          <a:p>
            <a:r>
              <a:rPr lang="en-GB" sz="1600" noProof="0" dirty="0"/>
              <a:t>One line of source code is converted to machine code then executed</a:t>
            </a:r>
          </a:p>
          <a:p>
            <a:r>
              <a:rPr lang="en-GB" sz="1600" noProof="0" dirty="0"/>
              <a:t>Next line is converted and executed etc. </a:t>
            </a:r>
          </a:p>
          <a:p>
            <a:r>
              <a:rPr lang="en-GB" sz="1600" noProof="0" dirty="0"/>
              <a:t>Benefit is mainly that you can quickly test code as you write it. Add another line, run the program</a:t>
            </a:r>
          </a:p>
          <a:p>
            <a:r>
              <a:rPr lang="en-GB" sz="1600" noProof="0" dirty="0"/>
              <a:t>Runs on any system with the interpreter installed</a:t>
            </a:r>
          </a:p>
          <a:p>
            <a:r>
              <a:rPr lang="en-GB" sz="1600" noProof="0" dirty="0"/>
              <a:t>Generally slower execution than a compiled language</a:t>
            </a:r>
          </a:p>
          <a:p>
            <a:r>
              <a:rPr lang="en-GB" sz="1600" noProof="0" dirty="0"/>
              <a:t>Examples include Python, JavaScript, PHP, Ruby, Basic …</a:t>
            </a:r>
          </a:p>
          <a:p>
            <a:r>
              <a:rPr lang="en-GB" sz="1600" noProof="0" dirty="0"/>
              <a:t>Source code is distributed so everyone can see the detail of how your code works and maybe copy it</a:t>
            </a:r>
          </a:p>
          <a:p>
            <a:pPr marL="152396" indent="0">
              <a:buNone/>
            </a:pPr>
            <a:r>
              <a:rPr lang="en-GB" sz="1600" b="1" noProof="0" dirty="0"/>
              <a:t>Compiler</a:t>
            </a:r>
          </a:p>
          <a:p>
            <a:r>
              <a:rPr lang="en-GB" sz="1600" noProof="0" dirty="0"/>
              <a:t>Translates whole program into machine code and saves it in a file</a:t>
            </a:r>
          </a:p>
          <a:p>
            <a:r>
              <a:rPr lang="en-GB" sz="1600" noProof="0" dirty="0"/>
              <a:t>Tends to execute much faster as all the machine code is available, no need to continually translate during runtime</a:t>
            </a:r>
          </a:p>
          <a:p>
            <a:r>
              <a:rPr lang="en-GB" sz="1600" noProof="0" dirty="0"/>
              <a:t>Compiler has a holistic view of the whole program so can optimise the machine code better</a:t>
            </a:r>
          </a:p>
          <a:p>
            <a:r>
              <a:rPr lang="en-GB" sz="1600" noProof="0" dirty="0"/>
              <a:t>Deployed code is the machine code file (e.g. .exe) so source code (readable stuff) is not deployed</a:t>
            </a:r>
          </a:p>
          <a:p>
            <a:r>
              <a:rPr lang="en-GB" sz="1600" noProof="0" dirty="0"/>
              <a:t>Machine code will only execute on a machine that understands that particular code</a:t>
            </a:r>
          </a:p>
          <a:p>
            <a:r>
              <a:rPr lang="en-GB" sz="1600" noProof="0" dirty="0"/>
              <a:t>Examples include C, C++, Java, Rust …</a:t>
            </a:r>
          </a:p>
        </p:txBody>
      </p:sp>
      <p:sp>
        <p:nvSpPr>
          <p:cNvPr id="4" name="Slide Number Placeholder 3">
            <a:extLst>
              <a:ext uri="{FF2B5EF4-FFF2-40B4-BE49-F238E27FC236}">
                <a16:creationId xmlns:a16="http://schemas.microsoft.com/office/drawing/2014/main" id="{C2E13AD4-9C8C-83F4-5D89-58C5D10FFD8C}"/>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09167D-FCC9-444D-BA38-7DB2AAFEB7A1}"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82824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74B06-C0AE-CC78-FD55-089F1A78B9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DD1B6-B395-0BFE-9A61-C58D8FCBE257}"/>
              </a:ext>
            </a:extLst>
          </p:cNvPr>
          <p:cNvSpPr>
            <a:spLocks noGrp="1"/>
          </p:cNvSpPr>
          <p:nvPr>
            <p:ph type="ctrTitle"/>
          </p:nvPr>
        </p:nvSpPr>
        <p:spPr>
          <a:xfrm>
            <a:off x="1435099" y="2484800"/>
            <a:ext cx="9128049" cy="1888400"/>
          </a:xfrm>
        </p:spPr>
        <p:txBody>
          <a:bodyPr/>
          <a:lstStyle/>
          <a:p>
            <a:r>
              <a:rPr lang="en-GB" noProof="0" dirty="0"/>
              <a:t>Engineering Foundations</a:t>
            </a:r>
            <a:br>
              <a:rPr lang="en-GB" noProof="0" dirty="0"/>
            </a:br>
            <a:r>
              <a:rPr lang="en-GB" sz="2400" noProof="0" dirty="0"/>
              <a:t>Virtual Machine and Cloud Hosting Introduction</a:t>
            </a:r>
          </a:p>
        </p:txBody>
      </p:sp>
    </p:spTree>
    <p:extLst>
      <p:ext uri="{BB962C8B-B14F-4D97-AF65-F5344CB8AC3E}">
        <p14:creationId xmlns:p14="http://schemas.microsoft.com/office/powerpoint/2010/main" val="2561893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22069A70-1A20-828E-23D6-BBC91CD06D8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4C0559F-4BD5-2A92-6D85-2D85ADE5F785}"/>
              </a:ext>
            </a:extLst>
          </p:cNvPr>
          <p:cNvSpPr>
            <a:spLocks noGrp="1"/>
          </p:cNvSpPr>
          <p:nvPr>
            <p:ph type="title"/>
          </p:nvPr>
        </p:nvSpPr>
        <p:spPr/>
        <p:txBody>
          <a:bodyPr/>
          <a:lstStyle/>
          <a:p>
            <a:r>
              <a:rPr lang="en-GB" noProof="0" dirty="0"/>
              <a:t>Virtual Machines</a:t>
            </a:r>
          </a:p>
        </p:txBody>
      </p:sp>
      <p:sp>
        <p:nvSpPr>
          <p:cNvPr id="3" name="Text Placeholder 2">
            <a:extLst>
              <a:ext uri="{FF2B5EF4-FFF2-40B4-BE49-F238E27FC236}">
                <a16:creationId xmlns:a16="http://schemas.microsoft.com/office/drawing/2014/main" id="{2BE78D38-A58A-9D66-FEE5-91E77324E4FA}"/>
              </a:ext>
            </a:extLst>
          </p:cNvPr>
          <p:cNvSpPr>
            <a:spLocks noGrp="1"/>
          </p:cNvSpPr>
          <p:nvPr>
            <p:ph type="body" idx="1"/>
          </p:nvPr>
        </p:nvSpPr>
        <p:spPr>
          <a:xfrm>
            <a:off x="609599" y="1089367"/>
            <a:ext cx="10797153" cy="5304065"/>
          </a:xfrm>
        </p:spPr>
        <p:txBody>
          <a:bodyPr/>
          <a:lstStyle/>
          <a:p>
            <a:r>
              <a:rPr lang="en-GB" sz="1600" noProof="0" dirty="0"/>
              <a:t>A virtual machine is a software emulation of a physical machine hence the name virtual machine</a:t>
            </a:r>
          </a:p>
          <a:p>
            <a:r>
              <a:rPr lang="en-GB" sz="1600" noProof="0" dirty="0"/>
              <a:t>A hypervisor (software) allocate and ring-fence physical resources </a:t>
            </a:r>
          </a:p>
          <a:p>
            <a:r>
              <a:rPr lang="en-GB" sz="1600" noProof="0" dirty="0"/>
              <a:t>A physical machine can host multiple virtual machines which to the user, look just like multiple physical machine and although there is some performance overhead, virtual machines are now very mature and performant</a:t>
            </a:r>
          </a:p>
          <a:p>
            <a:r>
              <a:rPr lang="en-GB" sz="1600" noProof="0" dirty="0"/>
              <a:t>There is a type 1 hypervisor, typically used on a remote server in a data centre. The hypervisor runs directly on the hardware so is referred to as a "bare metal" hypervisor.</a:t>
            </a:r>
          </a:p>
          <a:p>
            <a:r>
              <a:rPr lang="en-GB" sz="1600" noProof="0" dirty="0"/>
              <a:t>A type 2 hypervisor is used when you already have an operating system installed - e.g. on a client machine</a:t>
            </a:r>
          </a:p>
          <a:p>
            <a:r>
              <a:rPr lang="en-GB" sz="1600" noProof="0" dirty="0"/>
              <a:t>The hypervisor runs on top of the OS and asks the OS to allocate resources</a:t>
            </a:r>
          </a:p>
          <a:p>
            <a:r>
              <a:rPr lang="en-GB" sz="1600" noProof="0" dirty="0"/>
              <a:t>e.g. A Win 11 laptop with a type 2 hypervisor such as Oracle VirtualBox or VMware. These need installing</a:t>
            </a:r>
          </a:p>
          <a:p>
            <a:r>
              <a:rPr lang="en-GB" sz="1600" noProof="0" dirty="0"/>
              <a:t>Win 11 also has a type 1 hypervisor called </a:t>
            </a:r>
            <a:r>
              <a:rPr lang="en-GB" sz="1600" noProof="0" dirty="0" err="1"/>
              <a:t>HyperV</a:t>
            </a:r>
            <a:r>
              <a:rPr lang="en-GB" sz="1600" noProof="0" dirty="0"/>
              <a:t>. When this is enabled, it becomes the bare metal hypervisor and Windows is relegated to being a VM</a:t>
            </a:r>
          </a:p>
          <a:p>
            <a:endParaRPr lang="en-GB" sz="1600" noProof="0" dirty="0"/>
          </a:p>
          <a:p>
            <a:endParaRPr lang="en-GB" noProof="0" dirty="0"/>
          </a:p>
        </p:txBody>
      </p:sp>
      <p:sp>
        <p:nvSpPr>
          <p:cNvPr id="4" name="Slide Number Placeholder 3">
            <a:extLst>
              <a:ext uri="{FF2B5EF4-FFF2-40B4-BE49-F238E27FC236}">
                <a16:creationId xmlns:a16="http://schemas.microsoft.com/office/drawing/2014/main" id="{7FF46E9B-BFCC-8B1F-4DAB-A9354FF950F3}"/>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41586053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3746D-B1B2-C145-470D-B5FF64605FAC}"/>
              </a:ext>
            </a:extLst>
          </p:cNvPr>
          <p:cNvSpPr>
            <a:spLocks noGrp="1"/>
          </p:cNvSpPr>
          <p:nvPr>
            <p:ph type="title"/>
          </p:nvPr>
        </p:nvSpPr>
        <p:spPr/>
        <p:txBody>
          <a:bodyPr/>
          <a:lstStyle/>
          <a:p>
            <a:endParaRPr lang="en-GB" noProof="0" dirty="0"/>
          </a:p>
        </p:txBody>
      </p:sp>
      <p:sp>
        <p:nvSpPr>
          <p:cNvPr id="3" name="Text Placeholder 2">
            <a:extLst>
              <a:ext uri="{FF2B5EF4-FFF2-40B4-BE49-F238E27FC236}">
                <a16:creationId xmlns:a16="http://schemas.microsoft.com/office/drawing/2014/main" id="{5B6B2C25-A9F0-D0D6-6FAC-DF48DF7829EE}"/>
              </a:ext>
            </a:extLst>
          </p:cNvPr>
          <p:cNvSpPr>
            <a:spLocks noGrp="1"/>
          </p:cNvSpPr>
          <p:nvPr>
            <p:ph type="body" idx="1"/>
          </p:nvPr>
        </p:nvSpPr>
        <p:spPr>
          <a:xfrm>
            <a:off x="612976" y="4114891"/>
            <a:ext cx="10966048" cy="1525291"/>
          </a:xfrm>
        </p:spPr>
        <p:txBody>
          <a:bodyPr/>
          <a:lstStyle/>
          <a:p>
            <a:r>
              <a:rPr lang="en-GB" sz="1600" noProof="0" dirty="0"/>
              <a:t>Key difference here is the hypervisor type and the presence of lack of a host operating system</a:t>
            </a:r>
          </a:p>
          <a:p>
            <a:r>
              <a:rPr lang="en-GB" sz="1600" noProof="0" dirty="0"/>
              <a:t>A VM is an isolated whole machine with its whole operating system and applications – like individual servers or PCs. They are isolated at the hypervisor level when using a type1 hypervisor or by the host OS for type 2</a:t>
            </a:r>
          </a:p>
          <a:p>
            <a:r>
              <a:rPr lang="en-GB" sz="1600" noProof="0" dirty="0"/>
              <a:t>Because of the size of some of the operating systems it can take minutes to load and start</a:t>
            </a:r>
          </a:p>
          <a:p>
            <a:r>
              <a:rPr lang="en-GB" sz="1600" noProof="0" dirty="0"/>
              <a:t>Because VMs are software, they can be cloned quickly</a:t>
            </a:r>
          </a:p>
          <a:p>
            <a:r>
              <a:rPr lang="en-GB" sz="1600" noProof="0" dirty="0"/>
              <a:t>For VMware workstation: .</a:t>
            </a:r>
            <a:r>
              <a:rPr lang="en-GB" sz="1600" noProof="0" dirty="0" err="1"/>
              <a:t>vmx</a:t>
            </a:r>
            <a:r>
              <a:rPr lang="en-GB" sz="1600" noProof="0" dirty="0"/>
              <a:t> is the </a:t>
            </a:r>
            <a:r>
              <a:rPr lang="en-GB" sz="1600" noProof="0" dirty="0" err="1"/>
              <a:t>vm</a:t>
            </a:r>
            <a:r>
              <a:rPr lang="en-GB" sz="1600" noProof="0" dirty="0"/>
              <a:t> </a:t>
            </a:r>
            <a:r>
              <a:rPr lang="en-GB" sz="1600" noProof="0" dirty="0" err="1"/>
              <a:t>confign</a:t>
            </a:r>
            <a:r>
              <a:rPr lang="en-GB" sz="1600" noProof="0" dirty="0"/>
              <a:t> (RAM, CPUs, NICs, display etc), </a:t>
            </a:r>
            <a:r>
              <a:rPr lang="en-GB" sz="1600" noProof="0" dirty="0" err="1"/>
              <a:t>vmdk</a:t>
            </a:r>
            <a:r>
              <a:rPr lang="en-GB" sz="1600" noProof="0" dirty="0"/>
              <a:t> is the disk, .</a:t>
            </a:r>
            <a:r>
              <a:rPr lang="en-GB" sz="1600" noProof="0" dirty="0" err="1"/>
              <a:t>nvram</a:t>
            </a:r>
            <a:r>
              <a:rPr lang="en-GB" sz="1600" noProof="0" dirty="0"/>
              <a:t> is the BIOS/UEFI virtual chip, </a:t>
            </a:r>
            <a:r>
              <a:rPr lang="en-GB" sz="1600" noProof="0" dirty="0" err="1"/>
              <a:t>autoinst.iso</a:t>
            </a:r>
            <a:r>
              <a:rPr lang="en-GB" sz="1600" noProof="0" dirty="0"/>
              <a:t>, like a cd - loads tools into the OS</a:t>
            </a:r>
          </a:p>
          <a:p>
            <a:endParaRPr lang="en-GB" noProof="0" dirty="0"/>
          </a:p>
        </p:txBody>
      </p:sp>
      <p:sp>
        <p:nvSpPr>
          <p:cNvPr id="4" name="Slide Number Placeholder 3">
            <a:extLst>
              <a:ext uri="{FF2B5EF4-FFF2-40B4-BE49-F238E27FC236}">
                <a16:creationId xmlns:a16="http://schemas.microsoft.com/office/drawing/2014/main" id="{5D1C83A4-BCB6-35FC-66EA-349D9F2A3A51}"/>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46" name="Group 45">
            <a:extLst>
              <a:ext uri="{FF2B5EF4-FFF2-40B4-BE49-F238E27FC236}">
                <a16:creationId xmlns:a16="http://schemas.microsoft.com/office/drawing/2014/main" id="{39EDEA66-9113-2801-D7E9-091C6317E0E4}"/>
              </a:ext>
            </a:extLst>
          </p:cNvPr>
          <p:cNvGrpSpPr/>
          <p:nvPr/>
        </p:nvGrpSpPr>
        <p:grpSpPr>
          <a:xfrm>
            <a:off x="1480467" y="336583"/>
            <a:ext cx="9224313" cy="3526247"/>
            <a:chOff x="2612320" y="908401"/>
            <a:chExt cx="9224313" cy="4792982"/>
          </a:xfrm>
        </p:grpSpPr>
        <p:grpSp>
          <p:nvGrpSpPr>
            <p:cNvPr id="5" name="Group 4">
              <a:extLst>
                <a:ext uri="{FF2B5EF4-FFF2-40B4-BE49-F238E27FC236}">
                  <a16:creationId xmlns:a16="http://schemas.microsoft.com/office/drawing/2014/main" id="{29031C59-FAF6-DEB3-263A-3B8FB1BD7F6A}"/>
                </a:ext>
              </a:extLst>
            </p:cNvPr>
            <p:cNvGrpSpPr/>
            <p:nvPr/>
          </p:nvGrpSpPr>
          <p:grpSpPr>
            <a:xfrm>
              <a:off x="7508473" y="961741"/>
              <a:ext cx="4328160" cy="4084322"/>
              <a:chOff x="708660" y="1287205"/>
              <a:chExt cx="4328160" cy="4084322"/>
            </a:xfrm>
          </p:grpSpPr>
          <p:sp>
            <p:nvSpPr>
              <p:cNvPr id="6" name="Rectangle 5">
                <a:extLst>
                  <a:ext uri="{FF2B5EF4-FFF2-40B4-BE49-F238E27FC236}">
                    <a16:creationId xmlns:a16="http://schemas.microsoft.com/office/drawing/2014/main" id="{6065E4B7-2880-AB68-D349-EDD4ADC01D15}"/>
                  </a:ext>
                </a:extLst>
              </p:cNvPr>
              <p:cNvSpPr/>
              <p:nvPr/>
            </p:nvSpPr>
            <p:spPr>
              <a:xfrm>
                <a:off x="708660" y="4662867"/>
                <a:ext cx="4328160" cy="7086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Physical machine</a:t>
                </a:r>
              </a:p>
            </p:txBody>
          </p:sp>
          <p:sp>
            <p:nvSpPr>
              <p:cNvPr id="7" name="Rectangle 6">
                <a:extLst>
                  <a:ext uri="{FF2B5EF4-FFF2-40B4-BE49-F238E27FC236}">
                    <a16:creationId xmlns:a16="http://schemas.microsoft.com/office/drawing/2014/main" id="{E03941B2-3915-AD23-7A00-D8A5521FAD88}"/>
                  </a:ext>
                </a:extLst>
              </p:cNvPr>
              <p:cNvSpPr/>
              <p:nvPr/>
            </p:nvSpPr>
            <p:spPr>
              <a:xfrm>
                <a:off x="708660" y="3938967"/>
                <a:ext cx="4328160" cy="7086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Hypervisor Type 1 (e.g. </a:t>
                </a:r>
                <a:r>
                  <a:rPr kumimoji="0" lang="en-GB" sz="1200" b="0" i="0" u="none" strike="noStrike" kern="1200" cap="none" spc="0" normalizeH="0" baseline="0" noProof="0" dirty="0" err="1">
                    <a:ln>
                      <a:noFill/>
                    </a:ln>
                    <a:solidFill>
                      <a:srgbClr val="FFFFFF"/>
                    </a:solidFill>
                    <a:effectLst/>
                    <a:uLnTx/>
                    <a:uFillTx/>
                    <a:latin typeface="Arial"/>
                    <a:ea typeface="+mn-ea"/>
                    <a:cs typeface="+mn-cs"/>
                  </a:rPr>
                  <a:t>ESXi</a:t>
                </a:r>
                <a:r>
                  <a:rPr kumimoji="0" lang="en-GB" sz="1200" b="0" i="0" u="none" strike="noStrike" kern="1200" cap="none" spc="0" normalizeH="0" baseline="0" noProof="0" dirty="0">
                    <a:ln>
                      <a:noFill/>
                    </a:ln>
                    <a:solidFill>
                      <a:srgbClr val="FFFFFF"/>
                    </a:solidFill>
                    <a:effectLst/>
                    <a:uLnTx/>
                    <a:uFillTx/>
                    <a:latin typeface="Arial"/>
                    <a:ea typeface="+mn-ea"/>
                    <a:cs typeface="+mn-cs"/>
                  </a:rPr>
                  <a:t>, Hyper-V, Xen)</a:t>
                </a:r>
              </a:p>
            </p:txBody>
          </p:sp>
          <p:sp>
            <p:nvSpPr>
              <p:cNvPr id="8" name="Rectangle 7">
                <a:extLst>
                  <a:ext uri="{FF2B5EF4-FFF2-40B4-BE49-F238E27FC236}">
                    <a16:creationId xmlns:a16="http://schemas.microsoft.com/office/drawing/2014/main" id="{01C91E24-DD36-01A0-7EFA-4B37F450AE8E}"/>
                  </a:ext>
                </a:extLst>
              </p:cNvPr>
              <p:cNvSpPr/>
              <p:nvPr/>
            </p:nvSpPr>
            <p:spPr>
              <a:xfrm>
                <a:off x="708660" y="2613086"/>
                <a:ext cx="897686"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VM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Linux</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Ubuntu</a:t>
                </a:r>
              </a:p>
            </p:txBody>
          </p:sp>
          <p:sp>
            <p:nvSpPr>
              <p:cNvPr id="9" name="Rectangle 8">
                <a:extLst>
                  <a:ext uri="{FF2B5EF4-FFF2-40B4-BE49-F238E27FC236}">
                    <a16:creationId xmlns:a16="http://schemas.microsoft.com/office/drawing/2014/main" id="{1F6BE0F5-CA69-F49A-3635-1254C4A2201A}"/>
                  </a:ext>
                </a:extLst>
              </p:cNvPr>
              <p:cNvSpPr/>
              <p:nvPr/>
            </p:nvSpPr>
            <p:spPr>
              <a:xfrm>
                <a:off x="708660" y="1287205"/>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App1</a:t>
                </a:r>
              </a:p>
            </p:txBody>
          </p:sp>
          <p:sp>
            <p:nvSpPr>
              <p:cNvPr id="10" name="Rectangle 9">
                <a:extLst>
                  <a:ext uri="{FF2B5EF4-FFF2-40B4-BE49-F238E27FC236}">
                    <a16:creationId xmlns:a16="http://schemas.microsoft.com/office/drawing/2014/main" id="{70541C42-04A4-3E5F-C213-FF7A544BECCA}"/>
                  </a:ext>
                </a:extLst>
              </p:cNvPr>
              <p:cNvSpPr/>
              <p:nvPr/>
            </p:nvSpPr>
            <p:spPr>
              <a:xfrm>
                <a:off x="1033644" y="1287205"/>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App2</a:t>
                </a:r>
              </a:p>
            </p:txBody>
          </p:sp>
          <p:sp>
            <p:nvSpPr>
              <p:cNvPr id="11" name="Rectangle 10">
                <a:extLst>
                  <a:ext uri="{FF2B5EF4-FFF2-40B4-BE49-F238E27FC236}">
                    <a16:creationId xmlns:a16="http://schemas.microsoft.com/office/drawing/2014/main" id="{9D7FACB3-4000-27B0-EC49-4D216F2FFBC1}"/>
                  </a:ext>
                </a:extLst>
              </p:cNvPr>
              <p:cNvSpPr/>
              <p:nvPr/>
            </p:nvSpPr>
            <p:spPr>
              <a:xfrm>
                <a:off x="1350390" y="1287205"/>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FFFFFF"/>
                    </a:solidFill>
                    <a:effectLst/>
                    <a:uLnTx/>
                    <a:uFillTx/>
                    <a:latin typeface="Arial"/>
                    <a:ea typeface="+mn-ea"/>
                    <a:cs typeface="+mn-cs"/>
                  </a:rPr>
                  <a:t>Appn</a:t>
                </a:r>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48398070-BA79-A487-0B57-9ABAD0A117A4}"/>
                  </a:ext>
                </a:extLst>
              </p:cNvPr>
              <p:cNvSpPr/>
              <p:nvPr/>
            </p:nvSpPr>
            <p:spPr>
              <a:xfrm>
                <a:off x="1733039" y="2613086"/>
                <a:ext cx="919191"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VM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Win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Server</a:t>
                </a:r>
              </a:p>
            </p:txBody>
          </p:sp>
          <p:sp>
            <p:nvSpPr>
              <p:cNvPr id="13" name="Rectangle 12">
                <a:extLst>
                  <a:ext uri="{FF2B5EF4-FFF2-40B4-BE49-F238E27FC236}">
                    <a16:creationId xmlns:a16="http://schemas.microsoft.com/office/drawing/2014/main" id="{E30471C6-2318-2AC6-86F7-51C4BB4C83BE}"/>
                  </a:ext>
                </a:extLst>
              </p:cNvPr>
              <p:cNvSpPr/>
              <p:nvPr/>
            </p:nvSpPr>
            <p:spPr>
              <a:xfrm>
                <a:off x="1733040" y="1287205"/>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App1</a:t>
                </a:r>
              </a:p>
            </p:txBody>
          </p:sp>
          <p:sp>
            <p:nvSpPr>
              <p:cNvPr id="14" name="Rectangle 13">
                <a:extLst>
                  <a:ext uri="{FF2B5EF4-FFF2-40B4-BE49-F238E27FC236}">
                    <a16:creationId xmlns:a16="http://schemas.microsoft.com/office/drawing/2014/main" id="{F0726742-188C-FFEB-A0F8-93058414EDA0}"/>
                  </a:ext>
                </a:extLst>
              </p:cNvPr>
              <p:cNvSpPr/>
              <p:nvPr/>
            </p:nvSpPr>
            <p:spPr>
              <a:xfrm>
                <a:off x="2066262" y="1287205"/>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App2</a:t>
                </a:r>
              </a:p>
            </p:txBody>
          </p:sp>
          <p:sp>
            <p:nvSpPr>
              <p:cNvPr id="15" name="Rectangle 14">
                <a:extLst>
                  <a:ext uri="{FF2B5EF4-FFF2-40B4-BE49-F238E27FC236}">
                    <a16:creationId xmlns:a16="http://schemas.microsoft.com/office/drawing/2014/main" id="{8DF5EB0A-7552-314C-8313-22997FC31953}"/>
                  </a:ext>
                </a:extLst>
              </p:cNvPr>
              <p:cNvSpPr/>
              <p:nvPr/>
            </p:nvSpPr>
            <p:spPr>
              <a:xfrm>
                <a:off x="2391246" y="1287205"/>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FFFFFF"/>
                    </a:solidFill>
                    <a:effectLst/>
                    <a:uLnTx/>
                    <a:uFillTx/>
                    <a:latin typeface="Arial"/>
                    <a:ea typeface="+mn-ea"/>
                    <a:cs typeface="+mn-cs"/>
                  </a:rPr>
                  <a:t>Appn</a:t>
                </a:r>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0AB85443-5C82-68BF-5ACB-873BF031BAC0}"/>
                  </a:ext>
                </a:extLst>
              </p:cNvPr>
              <p:cNvSpPr/>
              <p:nvPr/>
            </p:nvSpPr>
            <p:spPr>
              <a:xfrm>
                <a:off x="2819514" y="2613086"/>
                <a:ext cx="91919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VM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Linux</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Centos</a:t>
                </a:r>
              </a:p>
            </p:txBody>
          </p:sp>
          <p:sp>
            <p:nvSpPr>
              <p:cNvPr id="17" name="Rectangle 16">
                <a:extLst>
                  <a:ext uri="{FF2B5EF4-FFF2-40B4-BE49-F238E27FC236}">
                    <a16:creationId xmlns:a16="http://schemas.microsoft.com/office/drawing/2014/main" id="{04CD34F8-B901-EB15-FCFB-3712A80747EB}"/>
                  </a:ext>
                </a:extLst>
              </p:cNvPr>
              <p:cNvSpPr/>
              <p:nvPr/>
            </p:nvSpPr>
            <p:spPr>
              <a:xfrm>
                <a:off x="2819514" y="1287205"/>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App1</a:t>
                </a:r>
              </a:p>
            </p:txBody>
          </p:sp>
          <p:sp>
            <p:nvSpPr>
              <p:cNvPr id="18" name="Rectangle 17">
                <a:extLst>
                  <a:ext uri="{FF2B5EF4-FFF2-40B4-BE49-F238E27FC236}">
                    <a16:creationId xmlns:a16="http://schemas.microsoft.com/office/drawing/2014/main" id="{58FEC564-6A3A-BB51-0FB6-F92F3E6B3F69}"/>
                  </a:ext>
                </a:extLst>
              </p:cNvPr>
              <p:cNvSpPr/>
              <p:nvPr/>
            </p:nvSpPr>
            <p:spPr>
              <a:xfrm>
                <a:off x="3152736" y="1287205"/>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App2</a:t>
                </a:r>
              </a:p>
            </p:txBody>
          </p:sp>
          <p:sp>
            <p:nvSpPr>
              <p:cNvPr id="19" name="Rectangle 18">
                <a:extLst>
                  <a:ext uri="{FF2B5EF4-FFF2-40B4-BE49-F238E27FC236}">
                    <a16:creationId xmlns:a16="http://schemas.microsoft.com/office/drawing/2014/main" id="{7C038767-D90F-92AD-5A69-0B2E6CD6BB56}"/>
                  </a:ext>
                </a:extLst>
              </p:cNvPr>
              <p:cNvSpPr/>
              <p:nvPr/>
            </p:nvSpPr>
            <p:spPr>
              <a:xfrm>
                <a:off x="3477720" y="1287205"/>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FFFFFF"/>
                    </a:solidFill>
                    <a:effectLst/>
                    <a:uLnTx/>
                    <a:uFillTx/>
                    <a:latin typeface="Arial"/>
                    <a:ea typeface="+mn-ea"/>
                    <a:cs typeface="+mn-cs"/>
                  </a:rPr>
                  <a:t>Appn</a:t>
                </a:r>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20" name="Rectangle 19">
                <a:extLst>
                  <a:ext uri="{FF2B5EF4-FFF2-40B4-BE49-F238E27FC236}">
                    <a16:creationId xmlns:a16="http://schemas.microsoft.com/office/drawing/2014/main" id="{0B89F1C3-0758-B03A-03A0-B123E8DA7BC6}"/>
                  </a:ext>
                </a:extLst>
              </p:cNvPr>
              <p:cNvSpPr/>
              <p:nvPr/>
            </p:nvSpPr>
            <p:spPr>
              <a:xfrm>
                <a:off x="4137808" y="2613086"/>
                <a:ext cx="897107"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VM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Win 11</a:t>
                </a:r>
              </a:p>
            </p:txBody>
          </p:sp>
          <p:sp>
            <p:nvSpPr>
              <p:cNvPr id="21" name="Rectangle 20">
                <a:extLst>
                  <a:ext uri="{FF2B5EF4-FFF2-40B4-BE49-F238E27FC236}">
                    <a16:creationId xmlns:a16="http://schemas.microsoft.com/office/drawing/2014/main" id="{2AAE0C74-B5DF-019E-3098-F2598ABC713C}"/>
                  </a:ext>
                </a:extLst>
              </p:cNvPr>
              <p:cNvSpPr/>
              <p:nvPr/>
            </p:nvSpPr>
            <p:spPr>
              <a:xfrm>
                <a:off x="4134105" y="1287205"/>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App1</a:t>
                </a:r>
              </a:p>
            </p:txBody>
          </p:sp>
          <p:sp>
            <p:nvSpPr>
              <p:cNvPr id="22" name="Rectangle 21">
                <a:extLst>
                  <a:ext uri="{FF2B5EF4-FFF2-40B4-BE49-F238E27FC236}">
                    <a16:creationId xmlns:a16="http://schemas.microsoft.com/office/drawing/2014/main" id="{D890E4AD-D6C9-606A-8613-B726667C38E1}"/>
                  </a:ext>
                </a:extLst>
              </p:cNvPr>
              <p:cNvSpPr/>
              <p:nvPr/>
            </p:nvSpPr>
            <p:spPr>
              <a:xfrm>
                <a:off x="4450851" y="1287205"/>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App2</a:t>
                </a:r>
              </a:p>
            </p:txBody>
          </p:sp>
          <p:sp>
            <p:nvSpPr>
              <p:cNvPr id="23" name="Rectangle 22">
                <a:extLst>
                  <a:ext uri="{FF2B5EF4-FFF2-40B4-BE49-F238E27FC236}">
                    <a16:creationId xmlns:a16="http://schemas.microsoft.com/office/drawing/2014/main" id="{D31047C4-2E77-AAD4-3B4F-1B55AB2CC51E}"/>
                  </a:ext>
                </a:extLst>
              </p:cNvPr>
              <p:cNvSpPr/>
              <p:nvPr/>
            </p:nvSpPr>
            <p:spPr>
              <a:xfrm>
                <a:off x="4775835" y="1287205"/>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FFFFFF"/>
                    </a:solidFill>
                    <a:effectLst/>
                    <a:uLnTx/>
                    <a:uFillTx/>
                    <a:latin typeface="Arial"/>
                    <a:ea typeface="+mn-ea"/>
                    <a:cs typeface="+mn-cs"/>
                  </a:rPr>
                  <a:t>Appn</a:t>
                </a:r>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cxnSp>
            <p:nvCxnSpPr>
              <p:cNvPr id="24" name="Straight Connector 23">
                <a:extLst>
                  <a:ext uri="{FF2B5EF4-FFF2-40B4-BE49-F238E27FC236}">
                    <a16:creationId xmlns:a16="http://schemas.microsoft.com/office/drawing/2014/main" id="{5BAB0FEA-1A87-64C3-A627-D2153F166441}"/>
                  </a:ext>
                </a:extLst>
              </p:cNvPr>
              <p:cNvCxnSpPr/>
              <p:nvPr/>
            </p:nvCxnSpPr>
            <p:spPr>
              <a:xfrm>
                <a:off x="3162300" y="3161727"/>
                <a:ext cx="1036320" cy="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C5AC6A26-F02A-38A5-3019-1758D83F2508}"/>
                </a:ext>
              </a:extLst>
            </p:cNvPr>
            <p:cNvSpPr/>
            <p:nvPr/>
          </p:nvSpPr>
          <p:spPr>
            <a:xfrm>
              <a:off x="2614225" y="4284063"/>
              <a:ext cx="4328160" cy="7086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Host OS (e.g. Windows, Ubuntu, MacOS) </a:t>
              </a:r>
            </a:p>
          </p:txBody>
        </p:sp>
        <p:sp>
          <p:nvSpPr>
            <p:cNvPr id="27" name="Rectangle 26">
              <a:extLst>
                <a:ext uri="{FF2B5EF4-FFF2-40B4-BE49-F238E27FC236}">
                  <a16:creationId xmlns:a16="http://schemas.microsoft.com/office/drawing/2014/main" id="{94BACF83-03FA-D1E9-5404-F6809EE8818C}"/>
                </a:ext>
              </a:extLst>
            </p:cNvPr>
            <p:cNvSpPr/>
            <p:nvPr/>
          </p:nvSpPr>
          <p:spPr>
            <a:xfrm>
              <a:off x="2614225" y="3560163"/>
              <a:ext cx="4328160" cy="7086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Hypervisor Type 2 (e.g. Virtual Box, VMWare workstation)</a:t>
              </a:r>
            </a:p>
          </p:txBody>
        </p:sp>
        <p:sp>
          <p:nvSpPr>
            <p:cNvPr id="28" name="Rectangle 27">
              <a:extLst>
                <a:ext uri="{FF2B5EF4-FFF2-40B4-BE49-F238E27FC236}">
                  <a16:creationId xmlns:a16="http://schemas.microsoft.com/office/drawing/2014/main" id="{1169141D-475A-8370-4DD0-4DD9C034DAB5}"/>
                </a:ext>
              </a:extLst>
            </p:cNvPr>
            <p:cNvSpPr/>
            <p:nvPr/>
          </p:nvSpPr>
          <p:spPr>
            <a:xfrm>
              <a:off x="2614225" y="2234282"/>
              <a:ext cx="897686"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VM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Linux</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Ubuntu</a:t>
              </a:r>
            </a:p>
          </p:txBody>
        </p:sp>
        <p:sp>
          <p:nvSpPr>
            <p:cNvPr id="29" name="Rectangle 28">
              <a:extLst>
                <a:ext uri="{FF2B5EF4-FFF2-40B4-BE49-F238E27FC236}">
                  <a16:creationId xmlns:a16="http://schemas.microsoft.com/office/drawing/2014/main" id="{160C4D91-8BA5-C736-8C85-1BC8BEC83C42}"/>
                </a:ext>
              </a:extLst>
            </p:cNvPr>
            <p:cNvSpPr/>
            <p:nvPr/>
          </p:nvSpPr>
          <p:spPr>
            <a:xfrm>
              <a:off x="2614225" y="908401"/>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App1</a:t>
              </a:r>
            </a:p>
          </p:txBody>
        </p:sp>
        <p:sp>
          <p:nvSpPr>
            <p:cNvPr id="30" name="Rectangle 29">
              <a:extLst>
                <a:ext uri="{FF2B5EF4-FFF2-40B4-BE49-F238E27FC236}">
                  <a16:creationId xmlns:a16="http://schemas.microsoft.com/office/drawing/2014/main" id="{EE95FED1-EE80-24EC-9217-E971A0A51A00}"/>
                </a:ext>
              </a:extLst>
            </p:cNvPr>
            <p:cNvSpPr/>
            <p:nvPr/>
          </p:nvSpPr>
          <p:spPr>
            <a:xfrm>
              <a:off x="2939209" y="908401"/>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App2</a:t>
              </a:r>
            </a:p>
          </p:txBody>
        </p:sp>
        <p:sp>
          <p:nvSpPr>
            <p:cNvPr id="31" name="Rectangle 30">
              <a:extLst>
                <a:ext uri="{FF2B5EF4-FFF2-40B4-BE49-F238E27FC236}">
                  <a16:creationId xmlns:a16="http://schemas.microsoft.com/office/drawing/2014/main" id="{692A545E-8646-6D91-ED85-D0700624CBA8}"/>
                </a:ext>
              </a:extLst>
            </p:cNvPr>
            <p:cNvSpPr/>
            <p:nvPr/>
          </p:nvSpPr>
          <p:spPr>
            <a:xfrm>
              <a:off x="3255955" y="908401"/>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FFFFFF"/>
                  </a:solidFill>
                  <a:effectLst/>
                  <a:uLnTx/>
                  <a:uFillTx/>
                  <a:latin typeface="Arial"/>
                  <a:ea typeface="+mn-ea"/>
                  <a:cs typeface="+mn-cs"/>
                </a:rPr>
                <a:t>Appn</a:t>
              </a:r>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32" name="Rectangle 31">
              <a:extLst>
                <a:ext uri="{FF2B5EF4-FFF2-40B4-BE49-F238E27FC236}">
                  <a16:creationId xmlns:a16="http://schemas.microsoft.com/office/drawing/2014/main" id="{4B5C651E-3C4F-4952-88DC-534DD23FD89A}"/>
                </a:ext>
              </a:extLst>
            </p:cNvPr>
            <p:cNvSpPr/>
            <p:nvPr/>
          </p:nvSpPr>
          <p:spPr>
            <a:xfrm>
              <a:off x="3638604" y="2234282"/>
              <a:ext cx="919191"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VM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Win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Server</a:t>
              </a:r>
            </a:p>
          </p:txBody>
        </p:sp>
        <p:sp>
          <p:nvSpPr>
            <p:cNvPr id="33" name="Rectangle 32">
              <a:extLst>
                <a:ext uri="{FF2B5EF4-FFF2-40B4-BE49-F238E27FC236}">
                  <a16:creationId xmlns:a16="http://schemas.microsoft.com/office/drawing/2014/main" id="{D452039F-B54B-ACC0-4E9C-0D5D90C80926}"/>
                </a:ext>
              </a:extLst>
            </p:cNvPr>
            <p:cNvSpPr/>
            <p:nvPr/>
          </p:nvSpPr>
          <p:spPr>
            <a:xfrm>
              <a:off x="3638605" y="908401"/>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App1</a:t>
              </a:r>
            </a:p>
          </p:txBody>
        </p:sp>
        <p:sp>
          <p:nvSpPr>
            <p:cNvPr id="34" name="Rectangle 33">
              <a:extLst>
                <a:ext uri="{FF2B5EF4-FFF2-40B4-BE49-F238E27FC236}">
                  <a16:creationId xmlns:a16="http://schemas.microsoft.com/office/drawing/2014/main" id="{AEF9A10B-3483-700D-1EA3-75585AB14B07}"/>
                </a:ext>
              </a:extLst>
            </p:cNvPr>
            <p:cNvSpPr/>
            <p:nvPr/>
          </p:nvSpPr>
          <p:spPr>
            <a:xfrm>
              <a:off x="3971827" y="908401"/>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App2</a:t>
              </a:r>
            </a:p>
          </p:txBody>
        </p:sp>
        <p:sp>
          <p:nvSpPr>
            <p:cNvPr id="35" name="Rectangle 34">
              <a:extLst>
                <a:ext uri="{FF2B5EF4-FFF2-40B4-BE49-F238E27FC236}">
                  <a16:creationId xmlns:a16="http://schemas.microsoft.com/office/drawing/2014/main" id="{BF858F13-EC74-659A-2886-345594A86895}"/>
                </a:ext>
              </a:extLst>
            </p:cNvPr>
            <p:cNvSpPr/>
            <p:nvPr/>
          </p:nvSpPr>
          <p:spPr>
            <a:xfrm>
              <a:off x="4296811" y="908401"/>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FFFFFF"/>
                  </a:solidFill>
                  <a:effectLst/>
                  <a:uLnTx/>
                  <a:uFillTx/>
                  <a:latin typeface="Arial"/>
                  <a:ea typeface="+mn-ea"/>
                  <a:cs typeface="+mn-cs"/>
                </a:rPr>
                <a:t>Appn</a:t>
              </a:r>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36" name="Rectangle 35">
              <a:extLst>
                <a:ext uri="{FF2B5EF4-FFF2-40B4-BE49-F238E27FC236}">
                  <a16:creationId xmlns:a16="http://schemas.microsoft.com/office/drawing/2014/main" id="{D04E8EED-F17E-67FA-CD06-F55010888CB4}"/>
                </a:ext>
              </a:extLst>
            </p:cNvPr>
            <p:cNvSpPr/>
            <p:nvPr/>
          </p:nvSpPr>
          <p:spPr>
            <a:xfrm>
              <a:off x="4725079" y="2234282"/>
              <a:ext cx="91919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VM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Linux</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Centos</a:t>
              </a:r>
            </a:p>
          </p:txBody>
        </p:sp>
        <p:sp>
          <p:nvSpPr>
            <p:cNvPr id="37" name="Rectangle 36">
              <a:extLst>
                <a:ext uri="{FF2B5EF4-FFF2-40B4-BE49-F238E27FC236}">
                  <a16:creationId xmlns:a16="http://schemas.microsoft.com/office/drawing/2014/main" id="{C6D88C56-5173-E380-BDEA-905C00BBF602}"/>
                </a:ext>
              </a:extLst>
            </p:cNvPr>
            <p:cNvSpPr/>
            <p:nvPr/>
          </p:nvSpPr>
          <p:spPr>
            <a:xfrm>
              <a:off x="4725079" y="908401"/>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App1</a:t>
              </a:r>
            </a:p>
          </p:txBody>
        </p:sp>
        <p:sp>
          <p:nvSpPr>
            <p:cNvPr id="38" name="Rectangle 37">
              <a:extLst>
                <a:ext uri="{FF2B5EF4-FFF2-40B4-BE49-F238E27FC236}">
                  <a16:creationId xmlns:a16="http://schemas.microsoft.com/office/drawing/2014/main" id="{005856FF-1BC5-9209-09CE-162CFA636D7A}"/>
                </a:ext>
              </a:extLst>
            </p:cNvPr>
            <p:cNvSpPr/>
            <p:nvPr/>
          </p:nvSpPr>
          <p:spPr>
            <a:xfrm>
              <a:off x="5058301" y="908401"/>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App2</a:t>
              </a:r>
            </a:p>
          </p:txBody>
        </p:sp>
        <p:sp>
          <p:nvSpPr>
            <p:cNvPr id="39" name="Rectangle 38">
              <a:extLst>
                <a:ext uri="{FF2B5EF4-FFF2-40B4-BE49-F238E27FC236}">
                  <a16:creationId xmlns:a16="http://schemas.microsoft.com/office/drawing/2014/main" id="{41388EC4-34A0-6AC1-FAB7-44630366F382}"/>
                </a:ext>
              </a:extLst>
            </p:cNvPr>
            <p:cNvSpPr/>
            <p:nvPr/>
          </p:nvSpPr>
          <p:spPr>
            <a:xfrm>
              <a:off x="5383285" y="908401"/>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FFFFFF"/>
                  </a:solidFill>
                  <a:effectLst/>
                  <a:uLnTx/>
                  <a:uFillTx/>
                  <a:latin typeface="Arial"/>
                  <a:ea typeface="+mn-ea"/>
                  <a:cs typeface="+mn-cs"/>
                </a:rPr>
                <a:t>Appn</a:t>
              </a:r>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40" name="Rectangle 39">
              <a:extLst>
                <a:ext uri="{FF2B5EF4-FFF2-40B4-BE49-F238E27FC236}">
                  <a16:creationId xmlns:a16="http://schemas.microsoft.com/office/drawing/2014/main" id="{91B0D3C5-9C74-34E6-AA68-220E27B828CE}"/>
                </a:ext>
              </a:extLst>
            </p:cNvPr>
            <p:cNvSpPr/>
            <p:nvPr/>
          </p:nvSpPr>
          <p:spPr>
            <a:xfrm>
              <a:off x="6043373" y="2234282"/>
              <a:ext cx="897107"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VM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Win 11</a:t>
              </a:r>
            </a:p>
          </p:txBody>
        </p:sp>
        <p:sp>
          <p:nvSpPr>
            <p:cNvPr id="41" name="Rectangle 40">
              <a:extLst>
                <a:ext uri="{FF2B5EF4-FFF2-40B4-BE49-F238E27FC236}">
                  <a16:creationId xmlns:a16="http://schemas.microsoft.com/office/drawing/2014/main" id="{FAB7E311-9874-2162-1103-CF1DB7EDDDF3}"/>
                </a:ext>
              </a:extLst>
            </p:cNvPr>
            <p:cNvSpPr/>
            <p:nvPr/>
          </p:nvSpPr>
          <p:spPr>
            <a:xfrm>
              <a:off x="6039670" y="908401"/>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App1</a:t>
              </a:r>
            </a:p>
          </p:txBody>
        </p:sp>
        <p:sp>
          <p:nvSpPr>
            <p:cNvPr id="42" name="Rectangle 41">
              <a:extLst>
                <a:ext uri="{FF2B5EF4-FFF2-40B4-BE49-F238E27FC236}">
                  <a16:creationId xmlns:a16="http://schemas.microsoft.com/office/drawing/2014/main" id="{74B49744-EE68-45D1-270D-0FBCA3D22B42}"/>
                </a:ext>
              </a:extLst>
            </p:cNvPr>
            <p:cNvSpPr/>
            <p:nvPr/>
          </p:nvSpPr>
          <p:spPr>
            <a:xfrm>
              <a:off x="6356416" y="908401"/>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App2</a:t>
              </a:r>
            </a:p>
          </p:txBody>
        </p:sp>
        <p:sp>
          <p:nvSpPr>
            <p:cNvPr id="43" name="Rectangle 42">
              <a:extLst>
                <a:ext uri="{FF2B5EF4-FFF2-40B4-BE49-F238E27FC236}">
                  <a16:creationId xmlns:a16="http://schemas.microsoft.com/office/drawing/2014/main" id="{39D4E425-C6AC-ACE3-734F-D98190A156A6}"/>
                </a:ext>
              </a:extLst>
            </p:cNvPr>
            <p:cNvSpPr/>
            <p:nvPr/>
          </p:nvSpPr>
          <p:spPr>
            <a:xfrm>
              <a:off x="6681400" y="908401"/>
              <a:ext cx="259080" cy="132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vert="wordArtVert"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FFFFFF"/>
                  </a:solidFill>
                  <a:effectLst/>
                  <a:uLnTx/>
                  <a:uFillTx/>
                  <a:latin typeface="Arial"/>
                  <a:ea typeface="+mn-ea"/>
                  <a:cs typeface="+mn-cs"/>
                </a:rPr>
                <a:t>Appn</a:t>
              </a:r>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cxnSp>
          <p:nvCxnSpPr>
            <p:cNvPr id="44" name="Straight Connector 43">
              <a:extLst>
                <a:ext uri="{FF2B5EF4-FFF2-40B4-BE49-F238E27FC236}">
                  <a16:creationId xmlns:a16="http://schemas.microsoft.com/office/drawing/2014/main" id="{550C4A1E-A0B6-143A-9CBE-210FE4580B54}"/>
                </a:ext>
              </a:extLst>
            </p:cNvPr>
            <p:cNvCxnSpPr/>
            <p:nvPr/>
          </p:nvCxnSpPr>
          <p:spPr>
            <a:xfrm>
              <a:off x="5067865" y="2782923"/>
              <a:ext cx="1036320" cy="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E0C926D6-FFB5-4F2F-1BE9-256DF7C29CAD}"/>
                </a:ext>
              </a:extLst>
            </p:cNvPr>
            <p:cNvSpPr/>
            <p:nvPr/>
          </p:nvSpPr>
          <p:spPr>
            <a:xfrm>
              <a:off x="2612320" y="4992723"/>
              <a:ext cx="4328160" cy="7086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rial"/>
                  <a:ea typeface="+mn-ea"/>
                  <a:cs typeface="+mn-cs"/>
                </a:rPr>
                <a:t>Physical machine</a:t>
              </a:r>
            </a:p>
          </p:txBody>
        </p:sp>
      </p:grpSp>
      <p:sp>
        <p:nvSpPr>
          <p:cNvPr id="25" name="TextBox 24">
            <a:extLst>
              <a:ext uri="{FF2B5EF4-FFF2-40B4-BE49-F238E27FC236}">
                <a16:creationId xmlns:a16="http://schemas.microsoft.com/office/drawing/2014/main" id="{A38FBF2F-A38D-9C1E-F713-256A35367732}"/>
              </a:ext>
            </a:extLst>
          </p:cNvPr>
          <p:cNvSpPr txBox="1"/>
          <p:nvPr/>
        </p:nvSpPr>
        <p:spPr>
          <a:xfrm>
            <a:off x="10248351" y="6430499"/>
            <a:ext cx="1173719"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srgbClr val="FF0000"/>
                </a:solidFill>
                <a:effectLst/>
                <a:uLnTx/>
                <a:uFillTx/>
                <a:latin typeface="Arial"/>
                <a:ea typeface="+mn-ea"/>
                <a:cs typeface="+mn-cs"/>
              </a:rPr>
              <a:t>Vmware</a:t>
            </a:r>
            <a:r>
              <a:rPr kumimoji="0" lang="en-GB" sz="1200" b="0" i="0" u="none" strike="noStrike" kern="1200" cap="none" spc="0" normalizeH="0" baseline="0" noProof="0" dirty="0">
                <a:ln>
                  <a:noFill/>
                </a:ln>
                <a:solidFill>
                  <a:srgbClr val="FF0000"/>
                </a:solidFill>
                <a:effectLst/>
                <a:uLnTx/>
                <a:uFillTx/>
                <a:latin typeface="Arial"/>
                <a:ea typeface="+mn-ea"/>
                <a:cs typeface="+mn-cs"/>
              </a:rPr>
              <a:t> demo</a:t>
            </a:r>
          </a:p>
        </p:txBody>
      </p:sp>
    </p:spTree>
    <p:extLst>
      <p:ext uri="{BB962C8B-B14F-4D97-AF65-F5344CB8AC3E}">
        <p14:creationId xmlns:p14="http://schemas.microsoft.com/office/powerpoint/2010/main" val="39965713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1CCCBB2-14C2-120A-610F-06AAE718BD63}"/>
              </a:ext>
            </a:extLst>
          </p:cNvPr>
          <p:cNvSpPr>
            <a:spLocks noGrp="1"/>
          </p:cNvSpPr>
          <p:nvPr>
            <p:ph type="title"/>
          </p:nvPr>
        </p:nvSpPr>
        <p:spPr/>
        <p:txBody>
          <a:bodyPr/>
          <a:lstStyle/>
          <a:p>
            <a:r>
              <a:rPr lang="en-GB" noProof="0" dirty="0"/>
              <a:t>Client - server</a:t>
            </a:r>
          </a:p>
        </p:txBody>
      </p:sp>
      <p:sp>
        <p:nvSpPr>
          <p:cNvPr id="9" name="Text Placeholder 8">
            <a:extLst>
              <a:ext uri="{FF2B5EF4-FFF2-40B4-BE49-F238E27FC236}">
                <a16:creationId xmlns:a16="http://schemas.microsoft.com/office/drawing/2014/main" id="{4A8A1CD0-52EA-3B12-5FAC-71E157E199C8}"/>
              </a:ext>
            </a:extLst>
          </p:cNvPr>
          <p:cNvSpPr>
            <a:spLocks noGrp="1"/>
          </p:cNvSpPr>
          <p:nvPr>
            <p:ph type="body" idx="1"/>
          </p:nvPr>
        </p:nvSpPr>
        <p:spPr>
          <a:xfrm>
            <a:off x="609600" y="6180306"/>
            <a:ext cx="11163300" cy="296694"/>
          </a:xfrm>
        </p:spPr>
        <p:txBody>
          <a:bodyPr/>
          <a:lstStyle/>
          <a:p>
            <a:r>
              <a:rPr lang="en-GB" noProof="0" dirty="0"/>
              <a:t>We need our app to be deployed remotely so others around the world can access it</a:t>
            </a:r>
          </a:p>
        </p:txBody>
      </p:sp>
      <p:sp>
        <p:nvSpPr>
          <p:cNvPr id="38" name="Rectangle 37">
            <a:extLst>
              <a:ext uri="{FF2B5EF4-FFF2-40B4-BE49-F238E27FC236}">
                <a16:creationId xmlns:a16="http://schemas.microsoft.com/office/drawing/2014/main" id="{18AC7DD6-8ED5-A269-0AFE-6D9E12957556}"/>
              </a:ext>
            </a:extLst>
          </p:cNvPr>
          <p:cNvSpPr/>
          <p:nvPr/>
        </p:nvSpPr>
        <p:spPr>
          <a:xfrm>
            <a:off x="6099322" y="1920239"/>
            <a:ext cx="2428880" cy="2591411"/>
          </a:xfrm>
          <a:prstGeom prst="rect">
            <a:avLst/>
          </a:prstGeom>
          <a:solidFill>
            <a:schemeClr val="accent1">
              <a:lumMod val="60000"/>
              <a:lumOff val="40000"/>
              <a:alpha val="18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pic>
        <p:nvPicPr>
          <p:cNvPr id="39" name="Picture 38" descr="A computer with a blue screen&#10;&#10;Description automatically generated">
            <a:extLst>
              <a:ext uri="{FF2B5EF4-FFF2-40B4-BE49-F238E27FC236}">
                <a16:creationId xmlns:a16="http://schemas.microsoft.com/office/drawing/2014/main" id="{1CA28AA5-1E83-D32A-2200-241395F0CF89}"/>
              </a:ext>
            </a:extLst>
          </p:cNvPr>
          <p:cNvPicPr>
            <a:picLocks noChangeAspect="1"/>
          </p:cNvPicPr>
          <p:nvPr/>
        </p:nvPicPr>
        <p:blipFill>
          <a:blip r:embed="rId3" cstate="screen">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flipH="1">
            <a:off x="1737788" y="1344425"/>
            <a:ext cx="1160828" cy="1013911"/>
          </a:xfrm>
          <a:prstGeom prst="rect">
            <a:avLst/>
          </a:prstGeom>
        </p:spPr>
      </p:pic>
      <p:pic>
        <p:nvPicPr>
          <p:cNvPr id="40" name="Picture 39" descr="A white cloud with blue border&#10;&#10;Description automatically generated">
            <a:extLst>
              <a:ext uri="{FF2B5EF4-FFF2-40B4-BE49-F238E27FC236}">
                <a16:creationId xmlns:a16="http://schemas.microsoft.com/office/drawing/2014/main" id="{ECA0E4E6-4026-3FE0-4B7C-3EE6D32EEB6C}"/>
              </a:ext>
            </a:extLst>
          </p:cNvPr>
          <p:cNvPicPr>
            <a:picLocks noChangeAspect="1"/>
          </p:cNvPicPr>
          <p:nvPr/>
        </p:nvPicPr>
        <p:blipFill>
          <a:blip r:embed="rId5" cstate="screen">
            <a:clrChange>
              <a:clrFrom>
                <a:srgbClr val="000000">
                  <a:alpha val="0"/>
                </a:srgbClr>
              </a:clrFrom>
              <a:clrTo>
                <a:srgbClr val="000000">
                  <a:alpha val="0"/>
                </a:srgbClr>
              </a:clrTo>
            </a:clrChange>
            <a:extLst>
              <a:ext uri="{28A0092B-C50C-407E-A947-70E740481C1C}">
                <a14:useLocalDpi xmlns:a14="http://schemas.microsoft.com/office/drawing/2010/main"/>
              </a:ext>
              <a:ext uri="{837473B0-CC2E-450A-ABE3-18F120FF3D39}">
                <a1611:picAttrSrcUrl xmlns:a1611="http://schemas.microsoft.com/office/drawing/2016/11/main" r:id="rId6"/>
              </a:ext>
            </a:extLst>
          </a:blip>
          <a:stretch>
            <a:fillRect/>
          </a:stretch>
        </p:blipFill>
        <p:spPr>
          <a:xfrm>
            <a:off x="4489044" y="3063836"/>
            <a:ext cx="874295" cy="460371"/>
          </a:xfrm>
          <a:prstGeom prst="rect">
            <a:avLst/>
          </a:prstGeom>
        </p:spPr>
      </p:pic>
      <p:pic>
        <p:nvPicPr>
          <p:cNvPr id="41" name="Picture 40" descr="A computer server with colorful lights&#10;&#10;AI-generated content may be incorrect.">
            <a:extLst>
              <a:ext uri="{FF2B5EF4-FFF2-40B4-BE49-F238E27FC236}">
                <a16:creationId xmlns:a16="http://schemas.microsoft.com/office/drawing/2014/main" id="{634BAFE3-5D42-E5CE-7675-C40C0DAC91D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865380" y="2777925"/>
            <a:ext cx="854891" cy="1145583"/>
          </a:xfrm>
          <a:prstGeom prst="rect">
            <a:avLst/>
          </a:prstGeom>
        </p:spPr>
      </p:pic>
      <p:pic>
        <p:nvPicPr>
          <p:cNvPr id="43" name="Picture 42" descr="A computer with a blue screen&#10;&#10;Description automatically generated">
            <a:extLst>
              <a:ext uri="{FF2B5EF4-FFF2-40B4-BE49-F238E27FC236}">
                <a16:creationId xmlns:a16="http://schemas.microsoft.com/office/drawing/2014/main" id="{84ADF013-7236-7F51-63C9-87EAC3ED2935}"/>
              </a:ext>
            </a:extLst>
          </p:cNvPr>
          <p:cNvPicPr>
            <a:picLocks noChangeAspect="1"/>
          </p:cNvPicPr>
          <p:nvPr/>
        </p:nvPicPr>
        <p:blipFill>
          <a:blip r:embed="rId3" cstate="screen">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flipH="1">
            <a:off x="1700616" y="4456298"/>
            <a:ext cx="1160828" cy="1013911"/>
          </a:xfrm>
          <a:prstGeom prst="rect">
            <a:avLst/>
          </a:prstGeom>
        </p:spPr>
      </p:pic>
      <p:cxnSp>
        <p:nvCxnSpPr>
          <p:cNvPr id="44" name="Straight Connector 43">
            <a:extLst>
              <a:ext uri="{FF2B5EF4-FFF2-40B4-BE49-F238E27FC236}">
                <a16:creationId xmlns:a16="http://schemas.microsoft.com/office/drawing/2014/main" id="{3DBBD2D6-A9B2-1764-E98D-20B45D58D148}"/>
              </a:ext>
            </a:extLst>
          </p:cNvPr>
          <p:cNvCxnSpPr>
            <a:cxnSpLocks/>
            <a:stCxn id="39" idx="1"/>
          </p:cNvCxnSpPr>
          <p:nvPr/>
        </p:nvCxnSpPr>
        <p:spPr>
          <a:xfrm>
            <a:off x="2898616" y="1851381"/>
            <a:ext cx="1757690" cy="1313348"/>
          </a:xfrm>
          <a:prstGeom prst="line">
            <a:avLst/>
          </a:prstGeom>
          <a:ln>
            <a:solidFill>
              <a:srgbClr val="00B5DD"/>
            </a:solidFill>
          </a:ln>
        </p:spPr>
        <p:style>
          <a:lnRef idx="2">
            <a:schemeClr val="accent4"/>
          </a:lnRef>
          <a:fillRef idx="0">
            <a:schemeClr val="accent4"/>
          </a:fillRef>
          <a:effectRef idx="1">
            <a:schemeClr val="accent4"/>
          </a:effectRef>
          <a:fontRef idx="minor">
            <a:schemeClr val="tx1"/>
          </a:fontRef>
        </p:style>
      </p:cxnSp>
      <p:cxnSp>
        <p:nvCxnSpPr>
          <p:cNvPr id="45" name="Straight Connector 44">
            <a:extLst>
              <a:ext uri="{FF2B5EF4-FFF2-40B4-BE49-F238E27FC236}">
                <a16:creationId xmlns:a16="http://schemas.microsoft.com/office/drawing/2014/main" id="{A21A0C64-A2DF-0947-D956-16D1C1187E82}"/>
              </a:ext>
            </a:extLst>
          </p:cNvPr>
          <p:cNvCxnSpPr>
            <a:cxnSpLocks/>
            <a:stCxn id="42" idx="1"/>
          </p:cNvCxnSpPr>
          <p:nvPr/>
        </p:nvCxnSpPr>
        <p:spPr>
          <a:xfrm flipV="1">
            <a:off x="2847515" y="3422477"/>
            <a:ext cx="1588298" cy="2240"/>
          </a:xfrm>
          <a:prstGeom prst="line">
            <a:avLst/>
          </a:prstGeom>
          <a:ln>
            <a:solidFill>
              <a:srgbClr val="00B5DD"/>
            </a:solidFill>
          </a:ln>
        </p:spPr>
        <p:style>
          <a:lnRef idx="2">
            <a:schemeClr val="accent4"/>
          </a:lnRef>
          <a:fillRef idx="0">
            <a:schemeClr val="accent4"/>
          </a:fillRef>
          <a:effectRef idx="1">
            <a:schemeClr val="accent4"/>
          </a:effectRef>
          <a:fontRef idx="minor">
            <a:schemeClr val="tx1"/>
          </a:fontRef>
        </p:style>
      </p:cxnSp>
      <p:cxnSp>
        <p:nvCxnSpPr>
          <p:cNvPr id="46" name="Straight Connector 45">
            <a:extLst>
              <a:ext uri="{FF2B5EF4-FFF2-40B4-BE49-F238E27FC236}">
                <a16:creationId xmlns:a16="http://schemas.microsoft.com/office/drawing/2014/main" id="{FF3A3B32-BB2D-0C9E-DB89-26FEBD67F66F}"/>
              </a:ext>
            </a:extLst>
          </p:cNvPr>
          <p:cNvCxnSpPr>
            <a:cxnSpLocks/>
            <a:stCxn id="43" idx="1"/>
          </p:cNvCxnSpPr>
          <p:nvPr/>
        </p:nvCxnSpPr>
        <p:spPr>
          <a:xfrm flipV="1">
            <a:off x="2861444" y="3547775"/>
            <a:ext cx="1794862" cy="1415479"/>
          </a:xfrm>
          <a:prstGeom prst="line">
            <a:avLst/>
          </a:prstGeom>
          <a:ln>
            <a:solidFill>
              <a:srgbClr val="00B5DD"/>
            </a:solidFill>
          </a:ln>
        </p:spPr>
        <p:style>
          <a:lnRef idx="2">
            <a:schemeClr val="accent4"/>
          </a:lnRef>
          <a:fillRef idx="0">
            <a:schemeClr val="accent4"/>
          </a:fillRef>
          <a:effectRef idx="1">
            <a:schemeClr val="accent4"/>
          </a:effectRef>
          <a:fontRef idx="minor">
            <a:schemeClr val="tx1"/>
          </a:fontRef>
        </p:style>
      </p:cxnSp>
      <p:cxnSp>
        <p:nvCxnSpPr>
          <p:cNvPr id="47" name="Straight Connector 46">
            <a:extLst>
              <a:ext uri="{FF2B5EF4-FFF2-40B4-BE49-F238E27FC236}">
                <a16:creationId xmlns:a16="http://schemas.microsoft.com/office/drawing/2014/main" id="{3E486E67-A1D7-A9DB-6737-A92A0CAD729C}"/>
              </a:ext>
            </a:extLst>
          </p:cNvPr>
          <p:cNvCxnSpPr>
            <a:cxnSpLocks/>
          </p:cNvCxnSpPr>
          <p:nvPr/>
        </p:nvCxnSpPr>
        <p:spPr>
          <a:xfrm>
            <a:off x="5363339" y="3350717"/>
            <a:ext cx="1471963" cy="0"/>
          </a:xfrm>
          <a:prstGeom prst="line">
            <a:avLst/>
          </a:prstGeom>
          <a:ln>
            <a:solidFill>
              <a:srgbClr val="00B5DD"/>
            </a:solidFill>
          </a:ln>
        </p:spPr>
        <p:style>
          <a:lnRef idx="2">
            <a:schemeClr val="accent4"/>
          </a:lnRef>
          <a:fillRef idx="0">
            <a:schemeClr val="accent4"/>
          </a:fillRef>
          <a:effectRef idx="1">
            <a:schemeClr val="accent4"/>
          </a:effectRef>
          <a:fontRef idx="minor">
            <a:schemeClr val="tx1"/>
          </a:fontRef>
        </p:style>
      </p:cxnSp>
      <p:sp>
        <p:nvSpPr>
          <p:cNvPr id="48" name="TextBox 47">
            <a:extLst>
              <a:ext uri="{FF2B5EF4-FFF2-40B4-BE49-F238E27FC236}">
                <a16:creationId xmlns:a16="http://schemas.microsoft.com/office/drawing/2014/main" id="{47DCE49B-4AEB-BAAC-0A7F-2DF8FF21F85F}"/>
              </a:ext>
            </a:extLst>
          </p:cNvPr>
          <p:cNvSpPr txBox="1"/>
          <p:nvPr/>
        </p:nvSpPr>
        <p:spPr>
          <a:xfrm>
            <a:off x="6657849" y="3979556"/>
            <a:ext cx="1284052"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Physical or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Virtual Machine</a:t>
            </a:r>
          </a:p>
        </p:txBody>
      </p:sp>
      <p:sp>
        <p:nvSpPr>
          <p:cNvPr id="59" name="TextBox 58">
            <a:extLst>
              <a:ext uri="{FF2B5EF4-FFF2-40B4-BE49-F238E27FC236}">
                <a16:creationId xmlns:a16="http://schemas.microsoft.com/office/drawing/2014/main" id="{35B2008F-FA7A-CD5B-A9C0-A17FF0D70F6A}"/>
              </a:ext>
            </a:extLst>
          </p:cNvPr>
          <p:cNvSpPr txBox="1"/>
          <p:nvPr/>
        </p:nvSpPr>
        <p:spPr>
          <a:xfrm>
            <a:off x="6265538" y="2092816"/>
            <a:ext cx="220932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Azure, AWS, Google, Oracle Cloud Services, on-prem</a:t>
            </a:r>
          </a:p>
        </p:txBody>
      </p:sp>
      <p:grpSp>
        <p:nvGrpSpPr>
          <p:cNvPr id="2" name="Group 1">
            <a:extLst>
              <a:ext uri="{FF2B5EF4-FFF2-40B4-BE49-F238E27FC236}">
                <a16:creationId xmlns:a16="http://schemas.microsoft.com/office/drawing/2014/main" id="{87BCF4DA-B16A-A956-5648-D256EEE159DB}"/>
              </a:ext>
            </a:extLst>
          </p:cNvPr>
          <p:cNvGrpSpPr/>
          <p:nvPr/>
        </p:nvGrpSpPr>
        <p:grpSpPr>
          <a:xfrm>
            <a:off x="1063557" y="2886006"/>
            <a:ext cx="1783958" cy="1045666"/>
            <a:chOff x="1063557" y="2886006"/>
            <a:chExt cx="1783958" cy="1045666"/>
          </a:xfrm>
        </p:grpSpPr>
        <p:pic>
          <p:nvPicPr>
            <p:cNvPr id="42" name="Picture 41" descr="A computer with a blue screen&#10;&#10;Description automatically generated">
              <a:extLst>
                <a:ext uri="{FF2B5EF4-FFF2-40B4-BE49-F238E27FC236}">
                  <a16:creationId xmlns:a16="http://schemas.microsoft.com/office/drawing/2014/main" id="{869C9BD2-1A96-542D-16B7-7D0DE4BE5EC8}"/>
                </a:ext>
              </a:extLst>
            </p:cNvPr>
            <p:cNvPicPr>
              <a:picLocks noChangeAspect="1"/>
            </p:cNvPicPr>
            <p:nvPr/>
          </p:nvPicPr>
          <p:blipFill>
            <a:blip r:embed="rId3" cstate="screen">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flipH="1">
              <a:off x="1686687" y="2917761"/>
              <a:ext cx="1160828" cy="1013911"/>
            </a:xfrm>
            <a:prstGeom prst="rect">
              <a:avLst/>
            </a:prstGeom>
          </p:spPr>
        </p:pic>
        <p:sp>
          <p:nvSpPr>
            <p:cNvPr id="60" name="TextBox 59">
              <a:extLst>
                <a:ext uri="{FF2B5EF4-FFF2-40B4-BE49-F238E27FC236}">
                  <a16:creationId xmlns:a16="http://schemas.microsoft.com/office/drawing/2014/main" id="{21F6FE86-D459-2CE8-7C47-DD906C83F28B}"/>
                </a:ext>
              </a:extLst>
            </p:cNvPr>
            <p:cNvSpPr txBox="1"/>
            <p:nvPr/>
          </p:nvSpPr>
          <p:spPr>
            <a:xfrm>
              <a:off x="1063557" y="2886006"/>
              <a:ext cx="1002904"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Preston Agent</a:t>
              </a:r>
            </a:p>
          </p:txBody>
        </p:sp>
      </p:grpSp>
      <p:sp>
        <p:nvSpPr>
          <p:cNvPr id="61" name="TextBox 60">
            <a:extLst>
              <a:ext uri="{FF2B5EF4-FFF2-40B4-BE49-F238E27FC236}">
                <a16:creationId xmlns:a16="http://schemas.microsoft.com/office/drawing/2014/main" id="{5643C6C6-5DE6-B0E4-74A2-7679258260EC}"/>
              </a:ext>
            </a:extLst>
          </p:cNvPr>
          <p:cNvSpPr txBox="1"/>
          <p:nvPr/>
        </p:nvSpPr>
        <p:spPr>
          <a:xfrm>
            <a:off x="1333078" y="1332713"/>
            <a:ext cx="80941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Bolton Agent</a:t>
            </a:r>
          </a:p>
        </p:txBody>
      </p:sp>
      <p:sp>
        <p:nvSpPr>
          <p:cNvPr id="62" name="TextBox 61">
            <a:extLst>
              <a:ext uri="{FF2B5EF4-FFF2-40B4-BE49-F238E27FC236}">
                <a16:creationId xmlns:a16="http://schemas.microsoft.com/office/drawing/2014/main" id="{8BE2B6A6-73EF-BEEF-0769-ED7CBE546CBE}"/>
              </a:ext>
            </a:extLst>
          </p:cNvPr>
          <p:cNvSpPr txBox="1"/>
          <p:nvPr/>
        </p:nvSpPr>
        <p:spPr>
          <a:xfrm>
            <a:off x="1232169" y="4482296"/>
            <a:ext cx="784547"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London Agent</a:t>
            </a:r>
          </a:p>
        </p:txBody>
      </p:sp>
      <p:sp>
        <p:nvSpPr>
          <p:cNvPr id="63" name="Slide Number Placeholder 62">
            <a:extLst>
              <a:ext uri="{FF2B5EF4-FFF2-40B4-BE49-F238E27FC236}">
                <a16:creationId xmlns:a16="http://schemas.microsoft.com/office/drawing/2014/main" id="{FCF2A6AF-9B30-AA30-73CF-41C78F7DCA11}"/>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09167D-FCC9-444D-BA38-7DB2AAFEB7A1}"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609809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09740-EA41-AFB9-35B6-FBB185ACB119}"/>
              </a:ext>
            </a:extLst>
          </p:cNvPr>
          <p:cNvSpPr>
            <a:spLocks noGrp="1"/>
          </p:cNvSpPr>
          <p:nvPr>
            <p:ph type="title"/>
          </p:nvPr>
        </p:nvSpPr>
        <p:spPr>
          <a:xfrm>
            <a:off x="609600" y="318577"/>
            <a:ext cx="11163300" cy="421258"/>
          </a:xfrm>
        </p:spPr>
        <p:txBody>
          <a:bodyPr/>
          <a:lstStyle/>
          <a:p>
            <a:r>
              <a:rPr lang="en-GB" noProof="0" dirty="0"/>
              <a:t>What does "the cloud" &amp; "on-prem" look like?</a:t>
            </a:r>
          </a:p>
        </p:txBody>
      </p:sp>
      <p:sp>
        <p:nvSpPr>
          <p:cNvPr id="4" name="Slide Number Placeholder 3">
            <a:extLst>
              <a:ext uri="{FF2B5EF4-FFF2-40B4-BE49-F238E27FC236}">
                <a16:creationId xmlns:a16="http://schemas.microsoft.com/office/drawing/2014/main" id="{BBE42E61-6736-BB43-D4CD-476EBBF11A8E}"/>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09167D-FCC9-444D-BA38-7DB2AAFEB7A1}"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5" name="Picture 4">
            <a:extLst>
              <a:ext uri="{FF2B5EF4-FFF2-40B4-BE49-F238E27FC236}">
                <a16:creationId xmlns:a16="http://schemas.microsoft.com/office/drawing/2014/main" id="{7AEFA571-34F3-92A6-20CF-F7F28FD9025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09600" y="978145"/>
            <a:ext cx="4107659" cy="2458196"/>
          </a:xfrm>
          <a:prstGeom prst="rect">
            <a:avLst/>
          </a:prstGeom>
        </p:spPr>
      </p:pic>
      <p:pic>
        <p:nvPicPr>
          <p:cNvPr id="6" name="Picture 5">
            <a:extLst>
              <a:ext uri="{FF2B5EF4-FFF2-40B4-BE49-F238E27FC236}">
                <a16:creationId xmlns:a16="http://schemas.microsoft.com/office/drawing/2014/main" id="{B9D26004-52DB-268A-E9C5-192AFA7F970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801894" y="978145"/>
            <a:ext cx="4107659" cy="2458196"/>
          </a:xfrm>
          <a:prstGeom prst="rect">
            <a:avLst/>
          </a:prstGeom>
        </p:spPr>
      </p:pic>
      <p:pic>
        <p:nvPicPr>
          <p:cNvPr id="7" name="Picture 8" descr="http://cdn1.itpro.co.uk/sites/itpro/files/images/dir_202/it_photo_101314.jpg">
            <a:extLst>
              <a:ext uri="{FF2B5EF4-FFF2-40B4-BE49-F238E27FC236}">
                <a16:creationId xmlns:a16="http://schemas.microsoft.com/office/drawing/2014/main" id="{BDE56CAB-3917-5726-FFB3-CEA6E10620C3}"/>
              </a:ext>
            </a:extLst>
          </p:cNvPr>
          <p:cNvPicPr>
            <a:picLocks noChangeAspect="1" noChangeArrowheads="1"/>
          </p:cNvPicPr>
          <p:nvPr/>
        </p:nvPicPr>
        <p:blipFill>
          <a:blip r:embed="rId5" cstate="screen">
            <a:extLst>
              <a:ext uri="{BEBA8EAE-BF5A-486C-A8C5-ECC9F3942E4B}">
                <a14:imgProps xmlns:a14="http://schemas.microsoft.com/office/drawing/2010/main">
                  <a14:imgLayer r:embed="rId6">
                    <a14:imgEffect>
                      <a14:backgroundRemoval t="10000" b="90000" l="2083" r="90000">
                        <a14:foregroundMark x1="13460" y1="24870" x2="29153" y2="19726"/>
                        <a14:foregroundMark x1="40000" y1="19320" x2="52583" y2="20000"/>
                        <a14:foregroundMark x1="52583" y1="20000" x2="77000" y2="19375"/>
                        <a14:foregroundMark x1="77000" y1="19375" x2="96083" y2="36500"/>
                        <a14:foregroundMark x1="96083" y1="36500" x2="96083" y2="70125"/>
                        <a14:foregroundMark x1="96083" y1="70125" x2="64577" y2="78775"/>
                        <a14:foregroundMark x1="9100" y1="79423" x2="8829" y2="79405"/>
                        <a14:foregroundMark x1="3790" y1="41211" x2="8417" y2="26875"/>
                        <a14:foregroundMark x1="3330" y1="81009" x2="2500" y2="81000"/>
                        <a14:backgroundMark x1="13000" y1="81625" x2="35417" y2="81000"/>
                        <a14:backgroundMark x1="35417" y1="81000" x2="61083" y2="83375"/>
                        <a14:backgroundMark x1="61083" y1="83375" x2="66333" y2="81625"/>
                        <a14:backgroundMark x1="57083" y1="81000" x2="67167" y2="80375"/>
                        <a14:backgroundMark x1="5417" y1="81625" x2="15083" y2="80375"/>
                        <a14:backgroundMark x1="55000" y1="82875" x2="57917" y2="81000"/>
                        <a14:backgroundMark x1="2500" y1="41375" x2="5000" y2="85375"/>
                        <a14:backgroundMark x1="5833" y1="80375" x2="8417" y2="80375"/>
                        <a14:backgroundMark x1="3333" y1="82250" x2="3333" y2="82250"/>
                        <a14:backgroundMark x1="2500" y1="81625" x2="3750" y2="86000"/>
                        <a14:backgroundMark x1="8417" y1="27500" x2="13833" y2="23750"/>
                        <a14:backgroundMark x1="29833" y1="18125" x2="51167" y2="18125"/>
                        <a14:backgroundMark x1="31917" y1="18125" x2="40250" y2="18750"/>
                      </a14:backgroundRemoval>
                    </a14:imgEffect>
                  </a14:imgLayer>
                </a14:imgProps>
              </a:ext>
              <a:ext uri="{28A0092B-C50C-407E-A947-70E740481C1C}">
                <a14:useLocalDpi xmlns:a14="http://schemas.microsoft.com/office/drawing/2010/main"/>
              </a:ext>
            </a:extLst>
          </a:blip>
          <a:srcRect/>
          <a:stretch>
            <a:fillRect/>
          </a:stretch>
        </p:blipFill>
        <p:spPr bwMode="auto">
          <a:xfrm>
            <a:off x="9239590" y="3950163"/>
            <a:ext cx="2317897" cy="154526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DCE2A900-6CD2-55AD-4DE0-5A9239713691}"/>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9103309" y="978145"/>
            <a:ext cx="2590460" cy="2461462"/>
          </a:xfrm>
          <a:prstGeom prst="rect">
            <a:avLst/>
          </a:prstGeom>
        </p:spPr>
      </p:pic>
      <p:pic>
        <p:nvPicPr>
          <p:cNvPr id="9" name="Picture 8">
            <a:extLst>
              <a:ext uri="{FF2B5EF4-FFF2-40B4-BE49-F238E27FC236}">
                <a16:creationId xmlns:a16="http://schemas.microsoft.com/office/drawing/2014/main" id="{F9DFE631-4176-2FF0-E90D-1D77DBDF592A}"/>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072327" y="3594313"/>
            <a:ext cx="2718983" cy="2344891"/>
          </a:xfrm>
          <a:prstGeom prst="rect">
            <a:avLst/>
          </a:prstGeom>
        </p:spPr>
      </p:pic>
      <p:pic>
        <p:nvPicPr>
          <p:cNvPr id="10" name="Picture 9">
            <a:extLst>
              <a:ext uri="{FF2B5EF4-FFF2-40B4-BE49-F238E27FC236}">
                <a16:creationId xmlns:a16="http://schemas.microsoft.com/office/drawing/2014/main" id="{B136691A-7A96-2D67-A308-CDA4EB9B0159}"/>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096036" y="3827260"/>
            <a:ext cx="1996040" cy="2002610"/>
          </a:xfrm>
          <a:prstGeom prst="rect">
            <a:avLst/>
          </a:prstGeom>
        </p:spPr>
      </p:pic>
      <p:sp>
        <p:nvSpPr>
          <p:cNvPr id="13" name="Text Placeholder 12">
            <a:extLst>
              <a:ext uri="{FF2B5EF4-FFF2-40B4-BE49-F238E27FC236}">
                <a16:creationId xmlns:a16="http://schemas.microsoft.com/office/drawing/2014/main" id="{64FEE080-AE72-B219-289E-234D4CEFFC0F}"/>
              </a:ext>
            </a:extLst>
          </p:cNvPr>
          <p:cNvSpPr>
            <a:spLocks noGrp="1"/>
          </p:cNvSpPr>
          <p:nvPr>
            <p:ph type="body" idx="1"/>
          </p:nvPr>
        </p:nvSpPr>
        <p:spPr>
          <a:xfrm flipV="1">
            <a:off x="609600" y="6477000"/>
            <a:ext cx="11163300" cy="202688"/>
          </a:xfrm>
        </p:spPr>
        <p:txBody>
          <a:bodyPr/>
          <a:lstStyle/>
          <a:p>
            <a:endParaRPr lang="en-GB" noProof="0" dirty="0"/>
          </a:p>
        </p:txBody>
      </p:sp>
      <p:sp>
        <p:nvSpPr>
          <p:cNvPr id="14" name="TextBox 13">
            <a:extLst>
              <a:ext uri="{FF2B5EF4-FFF2-40B4-BE49-F238E27FC236}">
                <a16:creationId xmlns:a16="http://schemas.microsoft.com/office/drawing/2014/main" id="{4C09E6EF-5B8E-6115-B217-FAA0F00B5BB4}"/>
              </a:ext>
            </a:extLst>
          </p:cNvPr>
          <p:cNvSpPr txBox="1"/>
          <p:nvPr/>
        </p:nvSpPr>
        <p:spPr>
          <a:xfrm>
            <a:off x="3093720" y="6068180"/>
            <a:ext cx="681468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FF"/>
                </a:solidFill>
                <a:effectLst/>
                <a:uLnTx/>
                <a:uFillTx/>
                <a:latin typeface="Arial"/>
                <a:ea typeface="+mn-ea"/>
                <a:cs typeface="+mn-cs"/>
              </a:rPr>
              <a:t>Intel Xeon up to 56 CPU per chip, motherboard up to 448 vCPU  </a:t>
            </a:r>
          </a:p>
        </p:txBody>
      </p:sp>
      <p:pic>
        <p:nvPicPr>
          <p:cNvPr id="15" name="Picture 14">
            <a:extLst>
              <a:ext uri="{FF2B5EF4-FFF2-40B4-BE49-F238E27FC236}">
                <a16:creationId xmlns:a16="http://schemas.microsoft.com/office/drawing/2014/main" id="{E6A30050-9159-AE74-6C56-896068C89943}"/>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rot="731230">
            <a:off x="4007477" y="4015471"/>
            <a:ext cx="2041604" cy="1635938"/>
          </a:xfrm>
          <a:prstGeom prst="rect">
            <a:avLst/>
          </a:prstGeom>
        </p:spPr>
      </p:pic>
    </p:spTree>
    <p:extLst>
      <p:ext uri="{BB962C8B-B14F-4D97-AF65-F5344CB8AC3E}">
        <p14:creationId xmlns:p14="http://schemas.microsoft.com/office/powerpoint/2010/main" val="4119147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path" presetSubtype="0" accel="50000" decel="50000" fill="hold" nodeType="clickEffect">
                                  <p:stCondLst>
                                    <p:cond delay="0"/>
                                  </p:stCondLst>
                                  <p:childTnLst>
                                    <p:animMotion origin="layout" path="M 2.08333E-7 3.7037E-7 L 0.1151 -0.04583 " pathEditMode="relative" rAng="0" ptsTypes="AA">
                                      <p:cBhvr>
                                        <p:cTn id="42" dur="2000" fill="hold"/>
                                        <p:tgtEl>
                                          <p:spTgt spid="15"/>
                                        </p:tgtEl>
                                        <p:attrNameLst>
                                          <p:attrName>ppt_x</p:attrName>
                                          <p:attrName>ppt_y</p:attrName>
                                        </p:attrNameLst>
                                      </p:cBhvr>
                                      <p:rCtr x="5755" y="-2292"/>
                                    </p:animMotion>
                                  </p:childTnLst>
                                </p:cTn>
                              </p:par>
                              <p:par>
                                <p:cTn id="43" presetID="6" presetClass="emph" presetSubtype="0" fill="hold" nodeType="withEffect">
                                  <p:stCondLst>
                                    <p:cond delay="0"/>
                                  </p:stCondLst>
                                  <p:childTnLst>
                                    <p:animScale>
                                      <p:cBhvr>
                                        <p:cTn id="44" dur="2000" fill="hold"/>
                                        <p:tgtEl>
                                          <p:spTgt spid="15"/>
                                        </p:tgtEl>
                                      </p:cBhvr>
                                      <p:by x="35000" y="3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22069A70-1A20-828E-23D6-BBC91CD06D8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4C0559F-4BD5-2A92-6D85-2D85ADE5F785}"/>
              </a:ext>
            </a:extLst>
          </p:cNvPr>
          <p:cNvSpPr>
            <a:spLocks noGrp="1"/>
          </p:cNvSpPr>
          <p:nvPr>
            <p:ph type="title"/>
          </p:nvPr>
        </p:nvSpPr>
        <p:spPr/>
        <p:txBody>
          <a:bodyPr/>
          <a:lstStyle/>
          <a:p>
            <a:r>
              <a:rPr lang="en-GB" noProof="0" dirty="0"/>
              <a:t>Virtual Machines</a:t>
            </a:r>
          </a:p>
        </p:txBody>
      </p:sp>
      <p:sp>
        <p:nvSpPr>
          <p:cNvPr id="3" name="Text Placeholder 2">
            <a:extLst>
              <a:ext uri="{FF2B5EF4-FFF2-40B4-BE49-F238E27FC236}">
                <a16:creationId xmlns:a16="http://schemas.microsoft.com/office/drawing/2014/main" id="{2BE78D38-A58A-9D66-FEE5-91E77324E4FA}"/>
              </a:ext>
            </a:extLst>
          </p:cNvPr>
          <p:cNvSpPr>
            <a:spLocks noGrp="1"/>
          </p:cNvSpPr>
          <p:nvPr>
            <p:ph type="body" idx="1"/>
          </p:nvPr>
        </p:nvSpPr>
        <p:spPr/>
        <p:txBody>
          <a:bodyPr/>
          <a:lstStyle/>
          <a:p>
            <a:r>
              <a:rPr lang="en-GB" noProof="0" dirty="0"/>
              <a:t>It would be very inconvenient for the cloud provider if we wanted to rent 10 physical servers one day then reduce to 5 the next day. Having to re-route networking and security – pulling cables and plugging them in elsewhere is infeasible – but possible (and is one model)</a:t>
            </a:r>
          </a:p>
          <a:p>
            <a:r>
              <a:rPr lang="en-GB" noProof="0" dirty="0"/>
              <a:t>You may find that the extremely powerful physical machines are too big for your application and you can’t get the most out of them and a whole machine is expensive </a:t>
            </a:r>
          </a:p>
          <a:p>
            <a:r>
              <a:rPr lang="en-GB" noProof="0" dirty="0"/>
              <a:t>Businesses want to be able to scale their infrastructure regularly so a software approach to infrastructure architecture is required so the cloud providers can allocate machines that have been released, for immediate use for someone else</a:t>
            </a:r>
          </a:p>
          <a:p>
            <a:r>
              <a:rPr lang="en-GB" noProof="0" dirty="0"/>
              <a:t>A virtual machine is a software emulation of a physical machine hence the name virtual machine</a:t>
            </a:r>
          </a:p>
          <a:p>
            <a:r>
              <a:rPr lang="en-GB" noProof="0" dirty="0"/>
              <a:t>A physical machine can host multiple virtual machines which to the user, look just like a physical machine and although there is some performance overhead, virtual machines are now very mature and performant</a:t>
            </a:r>
          </a:p>
        </p:txBody>
      </p:sp>
      <p:sp>
        <p:nvSpPr>
          <p:cNvPr id="4" name="Slide Number Placeholder 3">
            <a:extLst>
              <a:ext uri="{FF2B5EF4-FFF2-40B4-BE49-F238E27FC236}">
                <a16:creationId xmlns:a16="http://schemas.microsoft.com/office/drawing/2014/main" id="{7FF46E9B-BFCC-8B1F-4DAB-A9354FF950F3}"/>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412479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771A6-91E6-8A7C-ADA9-6473230501E8}"/>
              </a:ext>
            </a:extLst>
          </p:cNvPr>
          <p:cNvSpPr>
            <a:spLocks noGrp="1"/>
          </p:cNvSpPr>
          <p:nvPr>
            <p:ph type="title"/>
          </p:nvPr>
        </p:nvSpPr>
        <p:spPr/>
        <p:txBody>
          <a:bodyPr/>
          <a:lstStyle/>
          <a:p>
            <a:r>
              <a:rPr lang="en-GB" noProof="0" dirty="0"/>
              <a:t>What are: Virtual Machine, Public Cloud, IaaS?</a:t>
            </a:r>
          </a:p>
        </p:txBody>
      </p:sp>
      <p:sp>
        <p:nvSpPr>
          <p:cNvPr id="3" name="Text Placeholder 2">
            <a:extLst>
              <a:ext uri="{FF2B5EF4-FFF2-40B4-BE49-F238E27FC236}">
                <a16:creationId xmlns:a16="http://schemas.microsoft.com/office/drawing/2014/main" id="{C9532E82-3A99-7334-E35B-86DB4733ED6D}"/>
              </a:ext>
            </a:extLst>
          </p:cNvPr>
          <p:cNvSpPr>
            <a:spLocks noGrp="1"/>
          </p:cNvSpPr>
          <p:nvPr>
            <p:ph type="body" idx="1"/>
          </p:nvPr>
        </p:nvSpPr>
        <p:spPr>
          <a:xfrm>
            <a:off x="1931068" y="6245156"/>
            <a:ext cx="5528603" cy="314613"/>
          </a:xfrm>
        </p:spPr>
        <p:txBody>
          <a:bodyPr/>
          <a:lstStyle/>
          <a:p>
            <a:endParaRPr lang="en-GB" noProof="0" dirty="0"/>
          </a:p>
        </p:txBody>
      </p:sp>
      <p:sp>
        <p:nvSpPr>
          <p:cNvPr id="4" name="Slide Number Placeholder 3">
            <a:extLst>
              <a:ext uri="{FF2B5EF4-FFF2-40B4-BE49-F238E27FC236}">
                <a16:creationId xmlns:a16="http://schemas.microsoft.com/office/drawing/2014/main" id="{7B363E5C-4672-B3BE-3191-F22110FD5718}"/>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09167D-FCC9-444D-BA38-7DB2AAFEB7A1}"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5" name="Picture 4">
            <a:extLst>
              <a:ext uri="{FF2B5EF4-FFF2-40B4-BE49-F238E27FC236}">
                <a16:creationId xmlns:a16="http://schemas.microsoft.com/office/drawing/2014/main" id="{E3DAD7F6-9518-2E4E-6C5A-2D4225A5B27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10800000">
            <a:off x="6958591" y="2358255"/>
            <a:ext cx="3625003" cy="3126256"/>
          </a:xfrm>
          <a:prstGeom prst="rect">
            <a:avLst/>
          </a:prstGeom>
        </p:spPr>
      </p:pic>
      <p:pic>
        <p:nvPicPr>
          <p:cNvPr id="7" name="Picture 6" descr="A white cloud with blue border&#10;&#10;Description automatically generated">
            <a:extLst>
              <a:ext uri="{FF2B5EF4-FFF2-40B4-BE49-F238E27FC236}">
                <a16:creationId xmlns:a16="http://schemas.microsoft.com/office/drawing/2014/main" id="{2F6BB125-CC42-3AA9-FCDA-DD876FDFE681}"/>
              </a:ext>
            </a:extLst>
          </p:cNvPr>
          <p:cNvPicPr>
            <a:picLocks noChangeAspect="1"/>
          </p:cNvPicPr>
          <p:nvPr/>
        </p:nvPicPr>
        <p:blipFill>
          <a:blip r:embed="rId4" cstate="screen">
            <a:clrChange>
              <a:clrFrom>
                <a:srgbClr val="000000">
                  <a:alpha val="0"/>
                </a:srgbClr>
              </a:clrFrom>
              <a:clrTo>
                <a:srgbClr val="000000">
                  <a:alpha val="0"/>
                </a:srgbClr>
              </a:clrTo>
            </a:clrChange>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4695370" y="1530949"/>
            <a:ext cx="874295" cy="460371"/>
          </a:xfrm>
          <a:prstGeom prst="rect">
            <a:avLst/>
          </a:prstGeom>
        </p:spPr>
      </p:pic>
      <p:cxnSp>
        <p:nvCxnSpPr>
          <p:cNvPr id="8" name="Straight Connector 7">
            <a:extLst>
              <a:ext uri="{FF2B5EF4-FFF2-40B4-BE49-F238E27FC236}">
                <a16:creationId xmlns:a16="http://schemas.microsoft.com/office/drawing/2014/main" id="{B4F2BE9D-2C16-7383-95C4-A024E8D4A1D4}"/>
              </a:ext>
            </a:extLst>
          </p:cNvPr>
          <p:cNvCxnSpPr>
            <a:cxnSpLocks/>
            <a:stCxn id="11" idx="1"/>
          </p:cNvCxnSpPr>
          <p:nvPr/>
        </p:nvCxnSpPr>
        <p:spPr>
          <a:xfrm flipV="1">
            <a:off x="3053841" y="1889590"/>
            <a:ext cx="1588298" cy="2240"/>
          </a:xfrm>
          <a:prstGeom prst="line">
            <a:avLst/>
          </a:prstGeom>
          <a:ln>
            <a:solidFill>
              <a:srgbClr val="7030A0"/>
            </a:solidFill>
          </a:ln>
        </p:spPr>
        <p:style>
          <a:lnRef idx="2">
            <a:schemeClr val="accent4"/>
          </a:lnRef>
          <a:fillRef idx="0">
            <a:schemeClr val="accent4"/>
          </a:fillRef>
          <a:effectRef idx="1">
            <a:schemeClr val="accent4"/>
          </a:effectRef>
          <a:fontRef idx="minor">
            <a:schemeClr val="tx1"/>
          </a:fontRef>
        </p:style>
      </p:cxnSp>
      <p:grpSp>
        <p:nvGrpSpPr>
          <p:cNvPr id="10" name="Group 9">
            <a:extLst>
              <a:ext uri="{FF2B5EF4-FFF2-40B4-BE49-F238E27FC236}">
                <a16:creationId xmlns:a16="http://schemas.microsoft.com/office/drawing/2014/main" id="{5D162C1E-92F3-192F-AF9F-7350636028EB}"/>
              </a:ext>
            </a:extLst>
          </p:cNvPr>
          <p:cNvGrpSpPr/>
          <p:nvPr/>
        </p:nvGrpSpPr>
        <p:grpSpPr>
          <a:xfrm>
            <a:off x="1269883" y="1353119"/>
            <a:ext cx="1783958" cy="1045666"/>
            <a:chOff x="1063557" y="2886006"/>
            <a:chExt cx="1783958" cy="1045666"/>
          </a:xfrm>
        </p:grpSpPr>
        <p:pic>
          <p:nvPicPr>
            <p:cNvPr id="11" name="Picture 10" descr="A computer with a blue screen&#10;&#10;Description automatically generated">
              <a:extLst>
                <a:ext uri="{FF2B5EF4-FFF2-40B4-BE49-F238E27FC236}">
                  <a16:creationId xmlns:a16="http://schemas.microsoft.com/office/drawing/2014/main" id="{C19242AE-103E-76EE-2E32-07B6DE1F8226}"/>
                </a:ext>
              </a:extLst>
            </p:cNvPr>
            <p:cNvPicPr>
              <a:picLocks noChangeAspect="1"/>
            </p:cNvPicPr>
            <p:nvPr/>
          </p:nvPicPr>
          <p:blipFill>
            <a:blip r:embed="rId6" cstate="screen">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flipH="1">
              <a:off x="1686687" y="2917761"/>
              <a:ext cx="1160828" cy="1013911"/>
            </a:xfrm>
            <a:prstGeom prst="rect">
              <a:avLst/>
            </a:prstGeom>
          </p:spPr>
        </p:pic>
        <p:sp>
          <p:nvSpPr>
            <p:cNvPr id="12" name="TextBox 11">
              <a:extLst>
                <a:ext uri="{FF2B5EF4-FFF2-40B4-BE49-F238E27FC236}">
                  <a16:creationId xmlns:a16="http://schemas.microsoft.com/office/drawing/2014/main" id="{1BA66D61-B405-22EA-7C77-F5D7DD69A492}"/>
                </a:ext>
              </a:extLst>
            </p:cNvPr>
            <p:cNvSpPr txBox="1"/>
            <p:nvPr/>
          </p:nvSpPr>
          <p:spPr>
            <a:xfrm>
              <a:off x="1063557" y="2886006"/>
              <a:ext cx="1002904"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7030A0"/>
                  </a:solidFill>
                  <a:effectLst/>
                  <a:uLnTx/>
                  <a:uFillTx/>
                  <a:latin typeface="Arial"/>
                  <a:ea typeface="+mn-ea"/>
                  <a:cs typeface="+mn-cs"/>
                </a:rPr>
                <a:t>Tesco</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7030A0"/>
                  </a:solidFill>
                  <a:effectLst/>
                  <a:uLnTx/>
                  <a:uFillTx/>
                  <a:latin typeface="Arial"/>
                  <a:ea typeface="+mn-ea"/>
                  <a:cs typeface="+mn-cs"/>
                </a:rPr>
                <a:t>Infra Eng</a:t>
              </a:r>
            </a:p>
          </p:txBody>
        </p:sp>
      </p:grpSp>
      <p:sp>
        <p:nvSpPr>
          <p:cNvPr id="13" name="Rectangle 12">
            <a:extLst>
              <a:ext uri="{FF2B5EF4-FFF2-40B4-BE49-F238E27FC236}">
                <a16:creationId xmlns:a16="http://schemas.microsoft.com/office/drawing/2014/main" id="{F4600895-D864-4005-363A-D5543878134E}"/>
              </a:ext>
            </a:extLst>
          </p:cNvPr>
          <p:cNvSpPr/>
          <p:nvPr/>
        </p:nvSpPr>
        <p:spPr>
          <a:xfrm>
            <a:off x="7261162" y="2240673"/>
            <a:ext cx="412314" cy="2316480"/>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6 CPU</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 128GB RAM</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endParaRPr>
          </a:p>
        </p:txBody>
      </p:sp>
      <p:sp>
        <p:nvSpPr>
          <p:cNvPr id="14" name="Rectangle 13">
            <a:extLst>
              <a:ext uri="{FF2B5EF4-FFF2-40B4-BE49-F238E27FC236}">
                <a16:creationId xmlns:a16="http://schemas.microsoft.com/office/drawing/2014/main" id="{39E192D2-6CD0-F720-2243-8972F6825C7F}"/>
              </a:ext>
            </a:extLst>
          </p:cNvPr>
          <p:cNvSpPr/>
          <p:nvPr/>
        </p:nvSpPr>
        <p:spPr>
          <a:xfrm>
            <a:off x="9153378" y="2246142"/>
            <a:ext cx="222642" cy="231648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2 CPU</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 32</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GB</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 RAM</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5" name="Rectangle 14">
            <a:extLst>
              <a:ext uri="{FF2B5EF4-FFF2-40B4-BE49-F238E27FC236}">
                <a16:creationId xmlns:a16="http://schemas.microsoft.com/office/drawing/2014/main" id="{42D79D5A-94C0-9798-9F83-79EA9E9BAA62}"/>
              </a:ext>
            </a:extLst>
          </p:cNvPr>
          <p:cNvSpPr/>
          <p:nvPr/>
        </p:nvSpPr>
        <p:spPr>
          <a:xfrm>
            <a:off x="8135197" y="2246142"/>
            <a:ext cx="141069" cy="231648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1CPU</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 16GB</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 RAM</a:t>
            </a:r>
          </a:p>
        </p:txBody>
      </p:sp>
      <p:sp>
        <p:nvSpPr>
          <p:cNvPr id="16" name="Rectangle 15">
            <a:extLst>
              <a:ext uri="{FF2B5EF4-FFF2-40B4-BE49-F238E27FC236}">
                <a16:creationId xmlns:a16="http://schemas.microsoft.com/office/drawing/2014/main" id="{59248CEE-4717-BF4A-0B29-34ED6009DCE6}"/>
              </a:ext>
            </a:extLst>
          </p:cNvPr>
          <p:cNvSpPr/>
          <p:nvPr/>
        </p:nvSpPr>
        <p:spPr>
          <a:xfrm>
            <a:off x="8311888" y="2246142"/>
            <a:ext cx="324474" cy="231648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3 CPU</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 64</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GB</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 RAM</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FFFFFF"/>
              </a:solidFill>
              <a:effectLst/>
              <a:uLnTx/>
              <a:uFillTx/>
              <a:latin typeface="Arial"/>
              <a:ea typeface="+mn-ea"/>
              <a:cs typeface="+mn-cs"/>
            </a:endParaRPr>
          </a:p>
        </p:txBody>
      </p:sp>
      <p:sp>
        <p:nvSpPr>
          <p:cNvPr id="17" name="TextBox 16">
            <a:extLst>
              <a:ext uri="{FF2B5EF4-FFF2-40B4-BE49-F238E27FC236}">
                <a16:creationId xmlns:a16="http://schemas.microsoft.com/office/drawing/2014/main" id="{A7653DCA-376C-73C4-3AD5-E83E5FD26A10}"/>
              </a:ext>
            </a:extLst>
          </p:cNvPr>
          <p:cNvSpPr txBox="1"/>
          <p:nvPr/>
        </p:nvSpPr>
        <p:spPr>
          <a:xfrm>
            <a:off x="732579" y="3417749"/>
            <a:ext cx="5922498" cy="3262432"/>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Infrastructure engineers send commands to allocate a portion of the physical server as a virtual server - this is IaaS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Choose how much RAM</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How many CPU</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3 different orgs, different size VM</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Hypervisor ensures isolation of each</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Install an operating system on each one</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DevOps Engineer deploy application to it</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Users can login and use the application</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3A3F50"/>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4D4D"/>
                </a:solidFill>
                <a:effectLst/>
                <a:uLnTx/>
                <a:uFillTx/>
                <a:latin typeface="Arial"/>
                <a:ea typeface="+mn-ea"/>
                <a:cs typeface="+mn-cs"/>
              </a:rPr>
              <a:t>Demo</a:t>
            </a:r>
            <a:r>
              <a:rPr kumimoji="0" lang="en-GB" sz="1600" b="0" i="0" u="none" strike="noStrike" kern="1200" cap="none" spc="0" normalizeH="0" baseline="0" noProof="0" dirty="0">
                <a:ln>
                  <a:noFill/>
                </a:ln>
                <a:solidFill>
                  <a:srgbClr val="3A3F50"/>
                </a:solidFill>
                <a:effectLst/>
                <a:uLnTx/>
                <a:uFillTx/>
                <a:latin typeface="Arial"/>
                <a:ea typeface="+mn-ea"/>
                <a:cs typeface="+mn-cs"/>
              </a:rPr>
              <a:t>: create a VM</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3A3F50"/>
                </a:solidFill>
                <a:effectLst/>
                <a:uLnTx/>
                <a:uFillTx/>
                <a:latin typeface="Arial"/>
                <a:ea typeface="+mn-ea"/>
                <a:cs typeface="+mn-cs"/>
              </a:rPr>
              <a:t>	</a:t>
            </a:r>
            <a:r>
              <a:rPr kumimoji="0" lang="en-GB" sz="1200" b="0" i="0" u="none" strike="noStrike" kern="1200" cap="none" spc="0" normalizeH="0" baseline="0" noProof="0" dirty="0">
                <a:ln>
                  <a:noFill/>
                </a:ln>
                <a:solidFill>
                  <a:srgbClr val="3A3F50"/>
                </a:solidFill>
                <a:effectLst/>
                <a:uLnTx/>
                <a:uFillTx/>
                <a:latin typeface="Arial"/>
                <a:ea typeface="+mn-ea"/>
                <a:cs typeface="+mn-cs"/>
                <a:hlinkClick r:id="rId8"/>
              </a:rPr>
              <a:t>https://azure.microsoft.com/en-us/Free</a:t>
            </a:r>
            <a:endParaRPr kumimoji="0" lang="en-GB" sz="1200" b="0" i="0" u="none" strike="noStrike" kern="1200" cap="none" spc="0" normalizeH="0" baseline="0" noProof="0" dirty="0">
              <a:ln>
                <a:noFill/>
              </a:ln>
              <a:solidFill>
                <a:srgbClr val="3A3F50"/>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3A3F50"/>
                </a:solidFill>
                <a:effectLst/>
                <a:uLnTx/>
                <a:uFillTx/>
                <a:latin typeface="Arial"/>
                <a:ea typeface="+mn-ea"/>
                <a:cs typeface="+mn-cs"/>
              </a:rPr>
              <a:t>	</a:t>
            </a:r>
            <a:r>
              <a:rPr kumimoji="0" lang="en-GB" sz="1200" b="0" i="0" u="none" strike="noStrike" kern="1200" cap="none" spc="0" normalizeH="0" baseline="0" noProof="0" dirty="0">
                <a:ln>
                  <a:noFill/>
                </a:ln>
                <a:solidFill>
                  <a:srgbClr val="3A3F50"/>
                </a:solidFill>
                <a:effectLst/>
                <a:uLnTx/>
                <a:uFillTx/>
                <a:latin typeface="Arial"/>
                <a:ea typeface="+mn-ea"/>
                <a:cs typeface="+mn-cs"/>
                <a:hlinkClick r:id="rId9"/>
              </a:rPr>
              <a:t>https://aws.amazon.com/free</a:t>
            </a:r>
            <a:endParaRPr kumimoji="0" lang="en-GB" sz="1200" b="0" i="0" u="none" strike="noStrike" kern="1200" cap="none" spc="0" normalizeH="0" baseline="0" noProof="0" dirty="0">
              <a:ln>
                <a:noFill/>
              </a:ln>
              <a:solidFill>
                <a:srgbClr val="3A3F50"/>
              </a:solidFill>
              <a:effectLst/>
              <a:uLnTx/>
              <a:uFillTx/>
              <a:latin typeface="Arial"/>
              <a:ea typeface="+mn-ea"/>
              <a:cs typeface="+mn-cs"/>
            </a:endParaRPr>
          </a:p>
        </p:txBody>
      </p:sp>
      <p:grpSp>
        <p:nvGrpSpPr>
          <p:cNvPr id="30" name="Group 29">
            <a:extLst>
              <a:ext uri="{FF2B5EF4-FFF2-40B4-BE49-F238E27FC236}">
                <a16:creationId xmlns:a16="http://schemas.microsoft.com/office/drawing/2014/main" id="{B910DC81-BAEE-0770-B426-3E12F2AB42A5}"/>
              </a:ext>
            </a:extLst>
          </p:cNvPr>
          <p:cNvGrpSpPr/>
          <p:nvPr/>
        </p:nvGrpSpPr>
        <p:grpSpPr>
          <a:xfrm>
            <a:off x="5569665" y="1501473"/>
            <a:ext cx="4920144" cy="744669"/>
            <a:chOff x="5569665" y="1501473"/>
            <a:chExt cx="4920144" cy="744669"/>
          </a:xfrm>
        </p:grpSpPr>
        <p:cxnSp>
          <p:nvCxnSpPr>
            <p:cNvPr id="9" name="Straight Connector 8">
              <a:extLst>
                <a:ext uri="{FF2B5EF4-FFF2-40B4-BE49-F238E27FC236}">
                  <a16:creationId xmlns:a16="http://schemas.microsoft.com/office/drawing/2014/main" id="{AE97DD99-453A-3E73-DDAE-3D3DBE5B1420}"/>
                </a:ext>
              </a:extLst>
            </p:cNvPr>
            <p:cNvCxnSpPr>
              <a:cxnSpLocks/>
            </p:cNvCxnSpPr>
            <p:nvPr/>
          </p:nvCxnSpPr>
          <p:spPr>
            <a:xfrm>
              <a:off x="5569665" y="1817830"/>
              <a:ext cx="1471963" cy="0"/>
            </a:xfrm>
            <a:prstGeom prst="line">
              <a:avLst/>
            </a:prstGeom>
            <a:ln>
              <a:solidFill>
                <a:srgbClr val="00B5DD"/>
              </a:solidFill>
            </a:ln>
          </p:spPr>
          <p:style>
            <a:lnRef idx="2">
              <a:schemeClr val="accent4"/>
            </a:lnRef>
            <a:fillRef idx="0">
              <a:schemeClr val="accent4"/>
            </a:fillRef>
            <a:effectRef idx="1">
              <a:schemeClr val="accent4"/>
            </a:effectRef>
            <a:fontRef idx="minor">
              <a:schemeClr val="tx1"/>
            </a:fontRef>
          </p:style>
        </p:cxnSp>
        <p:sp>
          <p:nvSpPr>
            <p:cNvPr id="6" name="Rectangle 5">
              <a:extLst>
                <a:ext uri="{FF2B5EF4-FFF2-40B4-BE49-F238E27FC236}">
                  <a16:creationId xmlns:a16="http://schemas.microsoft.com/office/drawing/2014/main" id="{7458CF27-BC59-2800-E75D-9B841C91AC7C}"/>
                </a:ext>
              </a:extLst>
            </p:cNvPr>
            <p:cNvSpPr/>
            <p:nvPr/>
          </p:nvSpPr>
          <p:spPr>
            <a:xfrm>
              <a:off x="7035443" y="1501473"/>
              <a:ext cx="3454366" cy="744669"/>
            </a:xfrm>
            <a:prstGeom prst="rect">
              <a:avLst/>
            </a:prstGeom>
            <a:solidFill>
              <a:srgbClr val="00B5DD"/>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Arial"/>
                  <a:ea typeface="+mn-ea"/>
                  <a:cs typeface="+mn-cs"/>
                </a:rPr>
                <a:t>Hypervisor</a:t>
              </a:r>
            </a:p>
          </p:txBody>
        </p:sp>
      </p:grpSp>
      <p:grpSp>
        <p:nvGrpSpPr>
          <p:cNvPr id="27" name="Group 26">
            <a:extLst>
              <a:ext uri="{FF2B5EF4-FFF2-40B4-BE49-F238E27FC236}">
                <a16:creationId xmlns:a16="http://schemas.microsoft.com/office/drawing/2014/main" id="{2B82608A-F306-FA53-EB14-550A39DC8DB3}"/>
              </a:ext>
            </a:extLst>
          </p:cNvPr>
          <p:cNvGrpSpPr/>
          <p:nvPr/>
        </p:nvGrpSpPr>
        <p:grpSpPr>
          <a:xfrm>
            <a:off x="2911412" y="2041990"/>
            <a:ext cx="1883127" cy="1180839"/>
            <a:chOff x="2911412" y="2041990"/>
            <a:chExt cx="1883127" cy="1180839"/>
          </a:xfrm>
        </p:grpSpPr>
        <p:grpSp>
          <p:nvGrpSpPr>
            <p:cNvPr id="18" name="Group 17">
              <a:extLst>
                <a:ext uri="{FF2B5EF4-FFF2-40B4-BE49-F238E27FC236}">
                  <a16:creationId xmlns:a16="http://schemas.microsoft.com/office/drawing/2014/main" id="{60E2F41E-EE3C-BFAF-55E0-95D9C039FA01}"/>
                </a:ext>
              </a:extLst>
            </p:cNvPr>
            <p:cNvGrpSpPr/>
            <p:nvPr/>
          </p:nvGrpSpPr>
          <p:grpSpPr>
            <a:xfrm>
              <a:off x="2911412" y="2177163"/>
              <a:ext cx="1783958" cy="1045666"/>
              <a:chOff x="1063557" y="2886006"/>
              <a:chExt cx="1783958" cy="1045666"/>
            </a:xfrm>
          </p:grpSpPr>
          <p:pic>
            <p:nvPicPr>
              <p:cNvPr id="19" name="Picture 18" descr="A computer with a blue screen&#10;&#10;Description automatically generated">
                <a:extLst>
                  <a:ext uri="{FF2B5EF4-FFF2-40B4-BE49-F238E27FC236}">
                    <a16:creationId xmlns:a16="http://schemas.microsoft.com/office/drawing/2014/main" id="{A48FF6C5-A357-E883-F00E-F9476665BA37}"/>
                  </a:ext>
                </a:extLst>
              </p:cNvPr>
              <p:cNvPicPr>
                <a:picLocks noChangeAspect="1"/>
              </p:cNvPicPr>
              <p:nvPr/>
            </p:nvPicPr>
            <p:blipFill>
              <a:blip r:embed="rId6" cstate="screen">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flipH="1">
                <a:off x="1686687" y="2917761"/>
                <a:ext cx="1160828" cy="1013911"/>
              </a:xfrm>
              <a:prstGeom prst="rect">
                <a:avLst/>
              </a:prstGeom>
            </p:spPr>
          </p:pic>
          <p:sp>
            <p:nvSpPr>
              <p:cNvPr id="20" name="TextBox 19">
                <a:extLst>
                  <a:ext uri="{FF2B5EF4-FFF2-40B4-BE49-F238E27FC236}">
                    <a16:creationId xmlns:a16="http://schemas.microsoft.com/office/drawing/2014/main" id="{9D921AF4-FA9B-1BC0-C95F-7E3AD863A36D}"/>
                  </a:ext>
                </a:extLst>
              </p:cNvPr>
              <p:cNvSpPr txBox="1"/>
              <p:nvPr/>
            </p:nvSpPr>
            <p:spPr>
              <a:xfrm>
                <a:off x="1063557" y="2886006"/>
                <a:ext cx="1002904"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Asda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Infra Eng</a:t>
                </a:r>
              </a:p>
            </p:txBody>
          </p:sp>
        </p:grpSp>
        <p:cxnSp>
          <p:nvCxnSpPr>
            <p:cNvPr id="21" name="Straight Connector 20">
              <a:extLst>
                <a:ext uri="{FF2B5EF4-FFF2-40B4-BE49-F238E27FC236}">
                  <a16:creationId xmlns:a16="http://schemas.microsoft.com/office/drawing/2014/main" id="{E1007F15-509F-1D6C-C14E-FF2675E09F53}"/>
                </a:ext>
              </a:extLst>
            </p:cNvPr>
            <p:cNvCxnSpPr>
              <a:cxnSpLocks/>
            </p:cNvCxnSpPr>
            <p:nvPr/>
          </p:nvCxnSpPr>
          <p:spPr>
            <a:xfrm flipV="1">
              <a:off x="4519619" y="2041990"/>
              <a:ext cx="274920" cy="225842"/>
            </a:xfrm>
            <a:prstGeom prst="line">
              <a:avLst/>
            </a:prstGeom>
            <a:ln>
              <a:solidFill>
                <a:schemeClr val="accent4"/>
              </a:solidFill>
            </a:ln>
          </p:spPr>
          <p:style>
            <a:lnRef idx="2">
              <a:schemeClr val="accent4"/>
            </a:lnRef>
            <a:fillRef idx="0">
              <a:schemeClr val="accent4"/>
            </a:fillRef>
            <a:effectRef idx="1">
              <a:schemeClr val="accent4"/>
            </a:effectRef>
            <a:fontRef idx="minor">
              <a:schemeClr val="tx1"/>
            </a:fontRef>
          </p:style>
        </p:cxnSp>
      </p:grpSp>
      <p:grpSp>
        <p:nvGrpSpPr>
          <p:cNvPr id="29" name="Group 28">
            <a:extLst>
              <a:ext uri="{FF2B5EF4-FFF2-40B4-BE49-F238E27FC236}">
                <a16:creationId xmlns:a16="http://schemas.microsoft.com/office/drawing/2014/main" id="{C7DC60E1-220F-93F0-76D1-B3C6EA22605B}"/>
              </a:ext>
            </a:extLst>
          </p:cNvPr>
          <p:cNvGrpSpPr/>
          <p:nvPr/>
        </p:nvGrpSpPr>
        <p:grpSpPr>
          <a:xfrm>
            <a:off x="4891389" y="1957741"/>
            <a:ext cx="1783958" cy="1296843"/>
            <a:chOff x="4891389" y="1957741"/>
            <a:chExt cx="1783958" cy="1296843"/>
          </a:xfrm>
        </p:grpSpPr>
        <p:grpSp>
          <p:nvGrpSpPr>
            <p:cNvPr id="23" name="Group 22">
              <a:extLst>
                <a:ext uri="{FF2B5EF4-FFF2-40B4-BE49-F238E27FC236}">
                  <a16:creationId xmlns:a16="http://schemas.microsoft.com/office/drawing/2014/main" id="{81B661F8-DC4F-75A2-37A6-AE7D667C9213}"/>
                </a:ext>
              </a:extLst>
            </p:cNvPr>
            <p:cNvGrpSpPr/>
            <p:nvPr/>
          </p:nvGrpSpPr>
          <p:grpSpPr>
            <a:xfrm>
              <a:off x="4891389" y="2208918"/>
              <a:ext cx="1783958" cy="1045666"/>
              <a:chOff x="1063557" y="2886006"/>
              <a:chExt cx="1783958" cy="1045666"/>
            </a:xfrm>
          </p:grpSpPr>
          <p:pic>
            <p:nvPicPr>
              <p:cNvPr id="24" name="Picture 23" descr="A computer with a blue screen&#10;&#10;Description automatically generated">
                <a:extLst>
                  <a:ext uri="{FF2B5EF4-FFF2-40B4-BE49-F238E27FC236}">
                    <a16:creationId xmlns:a16="http://schemas.microsoft.com/office/drawing/2014/main" id="{FCF68C5E-1344-F820-0BA0-FEF815DDF068}"/>
                  </a:ext>
                </a:extLst>
              </p:cNvPr>
              <p:cNvPicPr>
                <a:picLocks noChangeAspect="1"/>
              </p:cNvPicPr>
              <p:nvPr/>
            </p:nvPicPr>
            <p:blipFill>
              <a:blip r:embed="rId6" cstate="screen">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flipH="1">
                <a:off x="1686687" y="2917761"/>
                <a:ext cx="1160828" cy="1013911"/>
              </a:xfrm>
              <a:prstGeom prst="rect">
                <a:avLst/>
              </a:prstGeom>
            </p:spPr>
          </p:pic>
          <p:sp>
            <p:nvSpPr>
              <p:cNvPr id="25" name="TextBox 24">
                <a:extLst>
                  <a:ext uri="{FF2B5EF4-FFF2-40B4-BE49-F238E27FC236}">
                    <a16:creationId xmlns:a16="http://schemas.microsoft.com/office/drawing/2014/main" id="{A2D34D5F-F7D1-ADE1-F31E-AE2866E9E0EE}"/>
                  </a:ext>
                </a:extLst>
              </p:cNvPr>
              <p:cNvSpPr txBox="1"/>
              <p:nvPr/>
            </p:nvSpPr>
            <p:spPr>
              <a:xfrm>
                <a:off x="1063557" y="2886006"/>
                <a:ext cx="1002904"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B050"/>
                    </a:solidFill>
                    <a:effectLst/>
                    <a:uLnTx/>
                    <a:uFillTx/>
                    <a:latin typeface="Arial"/>
                    <a:ea typeface="+mn-ea"/>
                    <a:cs typeface="+mn-cs"/>
                  </a:rPr>
                  <a:t>HSBC</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B050"/>
                    </a:solidFill>
                    <a:effectLst/>
                    <a:uLnTx/>
                    <a:uFillTx/>
                    <a:latin typeface="Arial"/>
                    <a:ea typeface="+mn-ea"/>
                    <a:cs typeface="+mn-cs"/>
                  </a:rPr>
                  <a:t>Infra Eng</a:t>
                </a:r>
              </a:p>
            </p:txBody>
          </p:sp>
        </p:grpSp>
        <p:cxnSp>
          <p:nvCxnSpPr>
            <p:cNvPr id="26" name="Straight Connector 25">
              <a:extLst>
                <a:ext uri="{FF2B5EF4-FFF2-40B4-BE49-F238E27FC236}">
                  <a16:creationId xmlns:a16="http://schemas.microsoft.com/office/drawing/2014/main" id="{E5DBEFAF-BC1B-5538-44D0-ED084C9464B8}"/>
                </a:ext>
              </a:extLst>
            </p:cNvPr>
            <p:cNvCxnSpPr>
              <a:cxnSpLocks/>
            </p:cNvCxnSpPr>
            <p:nvPr/>
          </p:nvCxnSpPr>
          <p:spPr>
            <a:xfrm flipH="1" flipV="1">
              <a:off x="5569665" y="1957741"/>
              <a:ext cx="284794" cy="244423"/>
            </a:xfrm>
            <a:prstGeom prst="line">
              <a:avLst/>
            </a:prstGeom>
            <a:ln>
              <a:solidFill>
                <a:srgbClr val="00B050"/>
              </a:solidFill>
            </a:ln>
          </p:spPr>
          <p:style>
            <a:lnRef idx="2">
              <a:schemeClr val="accent4"/>
            </a:lnRef>
            <a:fillRef idx="0">
              <a:schemeClr val="accent4"/>
            </a:fillRef>
            <a:effectRef idx="1">
              <a:schemeClr val="accent4"/>
            </a:effectRef>
            <a:fontRef idx="minor">
              <a:schemeClr val="tx1"/>
            </a:fontRef>
          </p:style>
        </p:cxnSp>
      </p:grpSp>
    </p:spTree>
    <p:extLst>
      <p:ext uri="{BB962C8B-B14F-4D97-AF65-F5344CB8AC3E}">
        <p14:creationId xmlns:p14="http://schemas.microsoft.com/office/powerpoint/2010/main" val="2591263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7">
                                            <p:txEl>
                                              <p:pRg st="9" end="9"/>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7">
                                            <p:txEl>
                                              <p:pRg st="10" end="10"/>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A4D529C-5BC1-B1EF-9813-AB2B34304619}"/>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8044E9C-5E8E-763C-A347-AC1BDDD9E5A4}"/>
              </a:ext>
            </a:extLst>
          </p:cNvPr>
          <p:cNvSpPr>
            <a:spLocks noGrp="1"/>
          </p:cNvSpPr>
          <p:nvPr>
            <p:ph type="title"/>
          </p:nvPr>
        </p:nvSpPr>
        <p:spPr/>
        <p:txBody>
          <a:bodyPr/>
          <a:lstStyle/>
          <a:p>
            <a:r>
              <a:rPr lang="en-GB" noProof="0" dirty="0"/>
              <a:t>Cloud Business Model</a:t>
            </a:r>
          </a:p>
        </p:txBody>
      </p:sp>
      <p:sp>
        <p:nvSpPr>
          <p:cNvPr id="3" name="Text Placeholder 2">
            <a:extLst>
              <a:ext uri="{FF2B5EF4-FFF2-40B4-BE49-F238E27FC236}">
                <a16:creationId xmlns:a16="http://schemas.microsoft.com/office/drawing/2014/main" id="{85485596-726B-AE85-E1D4-5A3DE2955325}"/>
              </a:ext>
            </a:extLst>
          </p:cNvPr>
          <p:cNvSpPr>
            <a:spLocks noGrp="1"/>
          </p:cNvSpPr>
          <p:nvPr>
            <p:ph type="body" idx="1"/>
          </p:nvPr>
        </p:nvSpPr>
        <p:spPr/>
        <p:txBody>
          <a:bodyPr/>
          <a:lstStyle/>
          <a:p>
            <a:r>
              <a:rPr lang="en-GB" noProof="0" dirty="0"/>
              <a:t>For an enterprise, you need a lot of compute and storage. You need premises with strong physical security, redundant power, high speed networking, racks of servers with redundant power and network cards, lots of storage for files and databases, infrastructure security and the list goes on. All this comes as a sunk cost referred to as Capital Expenditure. You pay for it then the assets depreciate over time, about 5 years. You need specialised staff to install, protect and maintain all this equipment</a:t>
            </a:r>
          </a:p>
          <a:p>
            <a:r>
              <a:rPr lang="en-GB" noProof="0" dirty="0"/>
              <a:t>If you want to scale your application, i.e. give it more CPU or Storage, you need to buy and install more stuff which can take a long time. Once you have scaled up, if the traffic for your service reduces, you are stuck with a load of kit that’s hardly being used</a:t>
            </a:r>
          </a:p>
          <a:p>
            <a:r>
              <a:rPr lang="en-GB" noProof="0" dirty="0"/>
              <a:t>Amazon found themselves in this position and at times had a lot of spare capacity so why not rent it out? At least until you need it back. That idea grew into what we have today where the data centres are specifically used to rent these services</a:t>
            </a:r>
          </a:p>
          <a:p>
            <a:r>
              <a:rPr lang="en-GB" noProof="0" dirty="0"/>
              <a:t>This means businesses can replace </a:t>
            </a:r>
            <a:r>
              <a:rPr lang="en-GB" noProof="0" dirty="0" err="1"/>
              <a:t>CapEx</a:t>
            </a:r>
            <a:r>
              <a:rPr lang="en-GB" noProof="0" dirty="0"/>
              <a:t> with </a:t>
            </a:r>
            <a:r>
              <a:rPr lang="en-GB" noProof="0" dirty="0" err="1"/>
              <a:t>OpEx</a:t>
            </a:r>
            <a:r>
              <a:rPr lang="en-GB" noProof="0" dirty="0"/>
              <a:t> – i.e. operating costs which are service costs rather than depreciable asset costs. The rental model is basically pay for what you use. If you want more then pay more. If you want to scale down then do so and pay less</a:t>
            </a:r>
          </a:p>
          <a:p>
            <a:r>
              <a:rPr lang="en-GB" noProof="0" dirty="0"/>
              <a:t>The cost and hiring difficulties and permeant salary costs of many specialist staff required to maintain and operate the infrastructure moves to cloud service provider so this is seen as a good business model</a:t>
            </a:r>
          </a:p>
          <a:p>
            <a:r>
              <a:rPr lang="en-GB" noProof="0" dirty="0"/>
              <a:t>Businesses are able to capitalise on economies of scale</a:t>
            </a:r>
          </a:p>
        </p:txBody>
      </p:sp>
      <p:sp>
        <p:nvSpPr>
          <p:cNvPr id="4" name="Slide Number Placeholder 3">
            <a:extLst>
              <a:ext uri="{FF2B5EF4-FFF2-40B4-BE49-F238E27FC236}">
                <a16:creationId xmlns:a16="http://schemas.microsoft.com/office/drawing/2014/main" id="{C05EE4B4-49E7-4089-C4A7-5E5A9FADA591}"/>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6714938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C51EAB58-5DA1-45BF-46D6-3E35B412690B}"/>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51B248E-D236-DEF5-4D0C-11264D2F5CD0}"/>
              </a:ext>
            </a:extLst>
          </p:cNvPr>
          <p:cNvSpPr>
            <a:spLocks noGrp="1"/>
          </p:cNvSpPr>
          <p:nvPr>
            <p:ph type="title"/>
          </p:nvPr>
        </p:nvSpPr>
        <p:spPr/>
        <p:txBody>
          <a:bodyPr/>
          <a:lstStyle/>
          <a:p>
            <a:endParaRPr lang="en-GB" noProof="0" dirty="0"/>
          </a:p>
        </p:txBody>
      </p:sp>
      <p:sp>
        <p:nvSpPr>
          <p:cNvPr id="3" name="Text Placeholder 2">
            <a:extLst>
              <a:ext uri="{FF2B5EF4-FFF2-40B4-BE49-F238E27FC236}">
                <a16:creationId xmlns:a16="http://schemas.microsoft.com/office/drawing/2014/main" id="{DA8E8D12-E0EC-2484-248A-7C9A42D568A1}"/>
              </a:ext>
            </a:extLst>
          </p:cNvPr>
          <p:cNvSpPr>
            <a:spLocks noGrp="1"/>
          </p:cNvSpPr>
          <p:nvPr>
            <p:ph type="body" idx="1"/>
          </p:nvPr>
        </p:nvSpPr>
        <p:spPr/>
        <p:txBody>
          <a:bodyPr/>
          <a:lstStyle/>
          <a:p>
            <a:r>
              <a:rPr lang="en-GB" noProof="0" dirty="0"/>
              <a:t>Virtual machines are just files. You use the hypervisor to allocate resources then install the OS as if it was a new machine. You then use it to write and run your programs like you would on a physical machine. You install tools and apps into it – e.g. Visual Studio, MS Office or whatever. It all gets lumped into on file</a:t>
            </a:r>
          </a:p>
          <a:p>
            <a:r>
              <a:rPr lang="en-GB" noProof="0" dirty="0"/>
              <a:t>As the </a:t>
            </a:r>
            <a:r>
              <a:rPr lang="en-GB" noProof="0" dirty="0" err="1"/>
              <a:t>vm</a:t>
            </a:r>
            <a:r>
              <a:rPr lang="en-GB" noProof="0" dirty="0"/>
              <a:t> is effectively just a file, it can be copied. You may want to create one with just the OS and core apps then clone it. If you have problems with virus or whatever, you can delete the </a:t>
            </a:r>
            <a:r>
              <a:rPr lang="en-GB" noProof="0" dirty="0" err="1"/>
              <a:t>vm</a:t>
            </a:r>
            <a:r>
              <a:rPr lang="en-GB" noProof="0" dirty="0"/>
              <a:t> and start the clone up in a couple of minutes with the OS and apps already installed</a:t>
            </a:r>
          </a:p>
          <a:p>
            <a:r>
              <a:rPr lang="en-GB" noProof="0" dirty="0"/>
              <a:t>If you use the </a:t>
            </a:r>
            <a:r>
              <a:rPr lang="en-GB" noProof="0" dirty="0" err="1"/>
              <a:t>vm</a:t>
            </a:r>
            <a:r>
              <a:rPr lang="en-GB" noProof="0" dirty="0"/>
              <a:t> approach in your back-end, in a data centre or on the cloud, then if you need to scale, you just clone what you have, start the new </a:t>
            </a:r>
            <a:r>
              <a:rPr lang="en-GB" noProof="0" dirty="0" err="1"/>
              <a:t>vm</a:t>
            </a:r>
            <a:r>
              <a:rPr lang="en-GB" noProof="0" dirty="0"/>
              <a:t> and use both to handle traffic – use 10 or whatever. We will get scaling later</a:t>
            </a:r>
          </a:p>
          <a:p>
            <a:r>
              <a:rPr lang="en-GB" noProof="0" dirty="0"/>
              <a:t>To take this a step further, if the hardware monitoring of the physical machine indicates that a failure is likely, the </a:t>
            </a:r>
            <a:r>
              <a:rPr lang="en-GB" noProof="0" dirty="0" err="1"/>
              <a:t>vms</a:t>
            </a:r>
            <a:r>
              <a:rPr lang="en-GB" noProof="0" dirty="0"/>
              <a:t> can be automatically moved to a different physical server – by copying as they are only files, then restarted on the new hardware</a:t>
            </a:r>
          </a:p>
          <a:p>
            <a:endParaRPr lang="en-GB" noProof="0" dirty="0"/>
          </a:p>
          <a:p>
            <a:endParaRPr lang="en-GB" noProof="0" dirty="0"/>
          </a:p>
        </p:txBody>
      </p:sp>
      <p:sp>
        <p:nvSpPr>
          <p:cNvPr id="4" name="Slide Number Placeholder 3">
            <a:extLst>
              <a:ext uri="{FF2B5EF4-FFF2-40B4-BE49-F238E27FC236}">
                <a16:creationId xmlns:a16="http://schemas.microsoft.com/office/drawing/2014/main" id="{C63B5791-03F2-B2EE-2733-B0A36861A378}"/>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943558F9-181A-ADFF-DDF7-D58E26E742BC}"/>
              </a:ext>
            </a:extLst>
          </p:cNvPr>
          <p:cNvSpPr txBox="1"/>
          <p:nvPr/>
        </p:nvSpPr>
        <p:spPr>
          <a:xfrm>
            <a:off x="8721100" y="5905334"/>
            <a:ext cx="2810933"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a:ea typeface="+mn-ea"/>
                <a:cs typeface="+mn-cs"/>
              </a:rPr>
              <a:t>Demo: </a:t>
            </a:r>
            <a:r>
              <a:rPr kumimoji="0" lang="en-GB" sz="1200" b="0" i="0" u="none" strike="noStrike" kern="1200" cap="none" spc="0" normalizeH="0" baseline="0" noProof="0" dirty="0" err="1">
                <a:ln>
                  <a:noFill/>
                </a:ln>
                <a:solidFill>
                  <a:srgbClr val="FF0000"/>
                </a:solidFill>
                <a:effectLst/>
                <a:uLnTx/>
                <a:uFillTx/>
                <a:latin typeface="Arial"/>
                <a:ea typeface="+mn-ea"/>
                <a:cs typeface="+mn-cs"/>
              </a:rPr>
              <a:t>vm</a:t>
            </a:r>
            <a:r>
              <a:rPr kumimoji="0" lang="en-GB" sz="1200" b="0" i="0" u="none" strike="noStrike" kern="1200" cap="none" spc="0" normalizeH="0" baseline="0" noProof="0" dirty="0">
                <a:ln>
                  <a:noFill/>
                </a:ln>
                <a:solidFill>
                  <a:srgbClr val="FF0000"/>
                </a:solidFill>
                <a:effectLst/>
                <a:uLnTx/>
                <a:uFillTx/>
                <a:latin typeface="Arial"/>
                <a:ea typeface="+mn-ea"/>
                <a:cs typeface="+mn-cs"/>
              </a:rPr>
              <a:t> on azure</a:t>
            </a:r>
          </a:p>
        </p:txBody>
      </p:sp>
    </p:spTree>
    <p:extLst>
      <p:ext uri="{BB962C8B-B14F-4D97-AF65-F5344CB8AC3E}">
        <p14:creationId xmlns:p14="http://schemas.microsoft.com/office/powerpoint/2010/main" val="31466737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A3CC3AF-CC8A-46B3-03EB-AC5D542DA3A5}"/>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F7ED472-AE6C-F573-7431-606B2D6615C0}"/>
              </a:ext>
            </a:extLst>
          </p:cNvPr>
          <p:cNvSpPr>
            <a:spLocks noGrp="1"/>
          </p:cNvSpPr>
          <p:nvPr>
            <p:ph type="title"/>
          </p:nvPr>
        </p:nvSpPr>
        <p:spPr/>
        <p:txBody>
          <a:bodyPr/>
          <a:lstStyle/>
          <a:p>
            <a:r>
              <a:rPr lang="en-GB" noProof="0" dirty="0"/>
              <a:t>Main Cloud Computing Types</a:t>
            </a:r>
          </a:p>
        </p:txBody>
      </p:sp>
      <p:sp>
        <p:nvSpPr>
          <p:cNvPr id="3" name="Text Placeholder 2">
            <a:extLst>
              <a:ext uri="{FF2B5EF4-FFF2-40B4-BE49-F238E27FC236}">
                <a16:creationId xmlns:a16="http://schemas.microsoft.com/office/drawing/2014/main" id="{48871C2B-B8EB-D3AF-73D3-910236772F94}"/>
              </a:ext>
            </a:extLst>
          </p:cNvPr>
          <p:cNvSpPr>
            <a:spLocks noGrp="1"/>
          </p:cNvSpPr>
          <p:nvPr>
            <p:ph type="body" idx="1"/>
          </p:nvPr>
        </p:nvSpPr>
        <p:spPr/>
        <p:txBody>
          <a:bodyPr/>
          <a:lstStyle/>
          <a:p>
            <a:pPr marL="152396" indent="0">
              <a:buNone/>
            </a:pPr>
            <a:r>
              <a:rPr lang="en-GB" sz="1600" b="1" noProof="0" dirty="0"/>
              <a:t>Private cloud</a:t>
            </a:r>
          </a:p>
          <a:p>
            <a:r>
              <a:rPr lang="en-GB" sz="1600" noProof="0" dirty="0"/>
              <a:t>Can be on-prem to provide complete control of infrastructure</a:t>
            </a:r>
          </a:p>
          <a:p>
            <a:r>
              <a:rPr lang="en-GB" sz="1600" noProof="0" dirty="0"/>
              <a:t>Can be in the cloud but completely private from others. No one else shares your physical servers</a:t>
            </a:r>
          </a:p>
          <a:p>
            <a:r>
              <a:rPr lang="en-GB" sz="1600" noProof="0" dirty="0"/>
              <a:t>Better security and privacy. Hosted in your own data centre or private managed servers so you maintain control of sensitive data and maintain data sovereignty</a:t>
            </a:r>
          </a:p>
          <a:p>
            <a:r>
              <a:rPr lang="en-GB" sz="1600" noProof="0" dirty="0"/>
              <a:t>Downside: all admin is provided by the customer</a:t>
            </a:r>
          </a:p>
          <a:p>
            <a:pPr marL="152396" indent="0">
              <a:buNone/>
            </a:pPr>
            <a:r>
              <a:rPr lang="en-GB" sz="1600" b="1" noProof="0" dirty="0"/>
              <a:t>Public cloud</a:t>
            </a:r>
          </a:p>
          <a:p>
            <a:r>
              <a:rPr lang="en-GB" sz="1600" noProof="0" dirty="0"/>
              <a:t>Share infrastructure with unknown others – relies on good security configuration for segregation</a:t>
            </a:r>
          </a:p>
          <a:p>
            <a:r>
              <a:rPr lang="en-GB" sz="1600" noProof="0" dirty="0"/>
              <a:t>Costs less as when you switch something off, someone else can use that resource</a:t>
            </a:r>
          </a:p>
          <a:p>
            <a:r>
              <a:rPr lang="en-GB" sz="1600" noProof="0" dirty="0"/>
              <a:t>Access from anywhere in the world</a:t>
            </a:r>
          </a:p>
          <a:p>
            <a:r>
              <a:rPr lang="en-GB" sz="1600" noProof="0" dirty="0"/>
              <a:t>Security and privacy is more complex and important to get right</a:t>
            </a:r>
          </a:p>
          <a:p>
            <a:pPr marL="152396" indent="0">
              <a:buNone/>
            </a:pPr>
            <a:r>
              <a:rPr lang="en-GB" sz="1600" b="1" noProof="0" dirty="0"/>
              <a:t>Hybrid</a:t>
            </a:r>
          </a:p>
          <a:p>
            <a:r>
              <a:rPr lang="en-GB" sz="1600" noProof="0" dirty="0"/>
              <a:t>Some systems on prem and some in the cloud</a:t>
            </a:r>
          </a:p>
          <a:p>
            <a:r>
              <a:rPr lang="en-GB" sz="1600" noProof="0" dirty="0"/>
              <a:t>Maybe for security - or as part of a phased migration – or to keep sensitive data on prem</a:t>
            </a:r>
          </a:p>
          <a:p>
            <a:r>
              <a:rPr lang="en-GB" sz="1600" noProof="0" dirty="0"/>
              <a:t>Applications and data can span both</a:t>
            </a:r>
          </a:p>
          <a:p>
            <a:r>
              <a:rPr lang="en-GB" sz="1600" noProof="0" dirty="0"/>
              <a:t>Much more complex</a:t>
            </a:r>
          </a:p>
        </p:txBody>
      </p:sp>
      <p:sp>
        <p:nvSpPr>
          <p:cNvPr id="4" name="Slide Number Placeholder 3">
            <a:extLst>
              <a:ext uri="{FF2B5EF4-FFF2-40B4-BE49-F238E27FC236}">
                <a16:creationId xmlns:a16="http://schemas.microsoft.com/office/drawing/2014/main" id="{E72AB3D9-0A55-76D2-9209-46A582149B6E}"/>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484360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29D13C29-DF4E-0037-985B-A1F7BE4D6EE8}"/>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3E8D51C-9A03-EE77-1996-A9028ED8CCEF}"/>
              </a:ext>
            </a:extLst>
          </p:cNvPr>
          <p:cNvSpPr>
            <a:spLocks noGrp="1"/>
          </p:cNvSpPr>
          <p:nvPr>
            <p:ph type="title"/>
          </p:nvPr>
        </p:nvSpPr>
        <p:spPr/>
        <p:txBody>
          <a:bodyPr/>
          <a:lstStyle/>
          <a:p>
            <a:r>
              <a:rPr lang="en-GB" noProof="0" dirty="0"/>
              <a:t>Cloud Service Models</a:t>
            </a:r>
          </a:p>
        </p:txBody>
      </p:sp>
      <p:sp>
        <p:nvSpPr>
          <p:cNvPr id="3" name="Text Placeholder 2">
            <a:extLst>
              <a:ext uri="{FF2B5EF4-FFF2-40B4-BE49-F238E27FC236}">
                <a16:creationId xmlns:a16="http://schemas.microsoft.com/office/drawing/2014/main" id="{38B41D8E-C477-85CC-0EC5-F4ACA5B20635}"/>
              </a:ext>
            </a:extLst>
          </p:cNvPr>
          <p:cNvSpPr>
            <a:spLocks noGrp="1"/>
          </p:cNvSpPr>
          <p:nvPr>
            <p:ph type="body" idx="1"/>
          </p:nvPr>
        </p:nvSpPr>
        <p:spPr>
          <a:xfrm>
            <a:off x="609600" y="1112393"/>
            <a:ext cx="11163300" cy="5387632"/>
          </a:xfrm>
        </p:spPr>
        <p:txBody>
          <a:bodyPr/>
          <a:lstStyle/>
          <a:p>
            <a:pPr>
              <a:spcBef>
                <a:spcPts val="300"/>
              </a:spcBef>
            </a:pPr>
            <a:r>
              <a:rPr lang="en-GB" sz="1600" b="1" noProof="0" dirty="0"/>
              <a:t>IaaS</a:t>
            </a:r>
            <a:r>
              <a:rPr lang="en-GB" sz="1600" noProof="0" dirty="0"/>
              <a:t>: Infrastructure as a service – you deploy and manage architecture, operating system, apps, databases etc</a:t>
            </a:r>
          </a:p>
          <a:p>
            <a:pPr>
              <a:spcBef>
                <a:spcPts val="300"/>
              </a:spcBef>
            </a:pPr>
            <a:r>
              <a:rPr lang="en-GB" sz="1600" noProof="0" dirty="0"/>
              <a:t>Basically rent servers / memory / disk and related power, networking etc</a:t>
            </a:r>
          </a:p>
          <a:p>
            <a:pPr>
              <a:spcBef>
                <a:spcPts val="300"/>
              </a:spcBef>
            </a:pPr>
            <a:r>
              <a:rPr lang="en-GB" sz="1600" noProof="0" dirty="0"/>
              <a:t>Fast server scaling</a:t>
            </a:r>
          </a:p>
          <a:p>
            <a:pPr>
              <a:spcBef>
                <a:spcPts val="300"/>
              </a:spcBef>
            </a:pPr>
            <a:r>
              <a:rPr lang="en-GB" sz="1600" noProof="0" dirty="0"/>
              <a:t>No ownership of hardware</a:t>
            </a:r>
          </a:p>
          <a:p>
            <a:pPr>
              <a:spcBef>
                <a:spcPts val="300"/>
              </a:spcBef>
            </a:pPr>
            <a:r>
              <a:rPr lang="en-GB" sz="1600" noProof="0" dirty="0"/>
              <a:t>Most control but also need more skilled staff such as architects, network specialists, dev-ops, maintenance team</a:t>
            </a:r>
          </a:p>
          <a:p>
            <a:endParaRPr lang="en-GB" sz="1600" noProof="0" dirty="0"/>
          </a:p>
          <a:p>
            <a:pPr>
              <a:spcBef>
                <a:spcPts val="300"/>
              </a:spcBef>
            </a:pPr>
            <a:r>
              <a:rPr lang="en-GB" sz="1600" b="1" noProof="0" dirty="0"/>
              <a:t>PaaS</a:t>
            </a:r>
            <a:r>
              <a:rPr lang="en-GB" sz="1600" noProof="0" dirty="0"/>
              <a:t>: Platform as a Service</a:t>
            </a:r>
          </a:p>
          <a:p>
            <a:pPr>
              <a:spcBef>
                <a:spcPts val="300"/>
              </a:spcBef>
            </a:pPr>
            <a:r>
              <a:rPr lang="en-GB" sz="1600" noProof="0" dirty="0"/>
              <a:t>IaaS plus OS, tools, database etc.  You just need to create and deploy the apps onto it and it will scale for you</a:t>
            </a:r>
          </a:p>
          <a:p>
            <a:pPr>
              <a:spcBef>
                <a:spcPts val="300"/>
              </a:spcBef>
            </a:pPr>
            <a:r>
              <a:rPr lang="en-GB" sz="1600" noProof="0" dirty="0"/>
              <a:t>No need to worry about OS licenses, patching, upgrades etc.</a:t>
            </a:r>
          </a:p>
          <a:p>
            <a:pPr>
              <a:spcBef>
                <a:spcPts val="300"/>
              </a:spcBef>
            </a:pPr>
            <a:r>
              <a:rPr lang="en-GB" sz="1600" noProof="0" dirty="0"/>
              <a:t>Less skilled resources needed – once architected, only need mainly developers. All patching etc is part of the service</a:t>
            </a:r>
          </a:p>
          <a:p>
            <a:endParaRPr lang="en-GB" sz="1600" noProof="0" dirty="0"/>
          </a:p>
          <a:p>
            <a:pPr>
              <a:spcBef>
                <a:spcPts val="300"/>
              </a:spcBef>
            </a:pPr>
            <a:r>
              <a:rPr lang="en-GB" sz="1600" b="1" noProof="0" dirty="0"/>
              <a:t>SaaS</a:t>
            </a:r>
            <a:r>
              <a:rPr lang="en-GB" sz="1600" noProof="0" dirty="0"/>
              <a:t>: Software as a Service</a:t>
            </a:r>
          </a:p>
          <a:p>
            <a:pPr>
              <a:spcBef>
                <a:spcPts val="300"/>
              </a:spcBef>
            </a:pPr>
            <a:r>
              <a:rPr lang="en-GB" sz="1600" noProof="0" dirty="0"/>
              <a:t>Infrastructure, resilience, scaling, DR, elasticity etc is a managed service and so is the software and licenses</a:t>
            </a:r>
          </a:p>
          <a:p>
            <a:pPr>
              <a:spcBef>
                <a:spcPts val="300"/>
              </a:spcBef>
            </a:pPr>
            <a:r>
              <a:rPr lang="en-GB" sz="1600" noProof="0" dirty="0"/>
              <a:t>Examples include: O365, SAP applications, Seibel CRM etc</a:t>
            </a:r>
          </a:p>
          <a:p>
            <a:pPr>
              <a:spcBef>
                <a:spcPts val="300"/>
              </a:spcBef>
            </a:pPr>
            <a:r>
              <a:rPr lang="en-GB" sz="1600" noProof="0" dirty="0"/>
              <a:t>Unlike desktop apps, you can access SaaS applications from anywhere with any device that can access the internet</a:t>
            </a:r>
          </a:p>
          <a:p>
            <a:endParaRPr lang="en-GB" sz="1600" noProof="0" dirty="0"/>
          </a:p>
          <a:p>
            <a:pPr>
              <a:spcBef>
                <a:spcPts val="300"/>
              </a:spcBef>
            </a:pPr>
            <a:r>
              <a:rPr lang="en-GB" sz="1600" b="1" noProof="0" dirty="0"/>
              <a:t>DBaaS</a:t>
            </a:r>
            <a:r>
              <a:rPr lang="en-GB" sz="1600" noProof="0" dirty="0"/>
              <a:t>: Database as a service - full service between PaaS and SaaS in the cloud - e.g. MongoDB Atlas</a:t>
            </a:r>
          </a:p>
        </p:txBody>
      </p:sp>
      <p:sp>
        <p:nvSpPr>
          <p:cNvPr id="4" name="Slide Number Placeholder 3">
            <a:extLst>
              <a:ext uri="{FF2B5EF4-FFF2-40B4-BE49-F238E27FC236}">
                <a16:creationId xmlns:a16="http://schemas.microsoft.com/office/drawing/2014/main" id="{D45894A4-3B0B-3787-7451-68EB84FA6B9A}"/>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7899369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61CF961-F6AF-10B1-E0D3-4B12397B5D7A}"/>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C0C4932-69EF-CBCA-DFA6-3D2EEE17C95A}"/>
              </a:ext>
            </a:extLst>
          </p:cNvPr>
          <p:cNvSpPr>
            <a:spLocks noGrp="1"/>
          </p:cNvSpPr>
          <p:nvPr>
            <p:ph type="title"/>
          </p:nvPr>
        </p:nvSpPr>
        <p:spPr/>
        <p:txBody>
          <a:bodyPr/>
          <a:lstStyle/>
          <a:p>
            <a:r>
              <a:rPr lang="en-GB" noProof="0" dirty="0"/>
              <a:t>Cloud Model Responsibilities</a:t>
            </a:r>
          </a:p>
        </p:txBody>
      </p:sp>
      <p:sp>
        <p:nvSpPr>
          <p:cNvPr id="4" name="Slide Number Placeholder 3">
            <a:extLst>
              <a:ext uri="{FF2B5EF4-FFF2-40B4-BE49-F238E27FC236}">
                <a16:creationId xmlns:a16="http://schemas.microsoft.com/office/drawing/2014/main" id="{65A40B91-F32A-F3D2-95FD-628844C7FD5A}"/>
              </a:ext>
            </a:extLst>
          </p:cNvPr>
          <p:cNvSpPr>
            <a:spLocks noGrp="1"/>
          </p:cNvSpPr>
          <p:nvPr>
            <p:ph type="sldNum"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D7F6AC-1EEB-4ABB-AD80-109EC6FDCCF3}" type="slidenum">
              <a:rPr kumimoji="0" lang="en-GB" sz="12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dirty="0">
              <a:ln>
                <a:noFill/>
              </a:ln>
              <a:solidFill>
                <a:srgbClr val="FFFFFF"/>
              </a:solidFill>
              <a:effectLst/>
              <a:uLnTx/>
              <a:uFillTx/>
              <a:latin typeface="Arial"/>
              <a:ea typeface="+mn-ea"/>
              <a:cs typeface="+mn-cs"/>
            </a:endParaRPr>
          </a:p>
        </p:txBody>
      </p:sp>
      <p:pic>
        <p:nvPicPr>
          <p:cNvPr id="5" name="Picture 4">
            <a:extLst>
              <a:ext uri="{FF2B5EF4-FFF2-40B4-BE49-F238E27FC236}">
                <a16:creationId xmlns:a16="http://schemas.microsoft.com/office/drawing/2014/main" id="{CAC37174-8693-7901-0A74-76B0DBD1F5FB}"/>
              </a:ext>
            </a:extLst>
          </p:cNvPr>
          <p:cNvPicPr>
            <a:picLocks noChangeAspect="1"/>
          </p:cNvPicPr>
          <p:nvPr/>
        </p:nvPicPr>
        <p:blipFill>
          <a:blip r:embed="rId3"/>
          <a:stretch>
            <a:fillRect/>
          </a:stretch>
        </p:blipFill>
        <p:spPr>
          <a:xfrm>
            <a:off x="204636" y="1176023"/>
            <a:ext cx="11631997" cy="5006310"/>
          </a:xfrm>
          <a:prstGeom prst="rect">
            <a:avLst/>
          </a:prstGeom>
        </p:spPr>
      </p:pic>
    </p:spTree>
    <p:extLst>
      <p:ext uri="{BB962C8B-B14F-4D97-AF65-F5344CB8AC3E}">
        <p14:creationId xmlns:p14="http://schemas.microsoft.com/office/powerpoint/2010/main" val="4836973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4559</Words>
  <Application>Microsoft Office PowerPoint</Application>
  <PresentationFormat>Widescreen</PresentationFormat>
  <Paragraphs>535</Paragraphs>
  <Slides>33</Slides>
  <Notes>16</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33</vt:i4>
      </vt:variant>
    </vt:vector>
  </HeadingPairs>
  <TitlesOfParts>
    <vt:vector size="42" baseType="lpstr">
      <vt:lpstr>Aptos</vt:lpstr>
      <vt:lpstr>Aptos Display</vt:lpstr>
      <vt:lpstr>Arial</vt:lpstr>
      <vt:lpstr>Calibri</vt:lpstr>
      <vt:lpstr>Courier New</vt:lpstr>
      <vt:lpstr>Raleway Thin</vt:lpstr>
      <vt:lpstr>Office Theme</vt:lpstr>
      <vt:lpstr>Gaoler template</vt:lpstr>
      <vt:lpstr>MSDraw</vt:lpstr>
      <vt:lpstr>PowerPoint Presentation</vt:lpstr>
      <vt:lpstr>Engineering Foundations  An overview</vt:lpstr>
      <vt:lpstr>Engineering Foundations Hardware overview</vt:lpstr>
      <vt:lpstr>Web-based systems</vt:lpstr>
      <vt:lpstr>Hardware: Basic Architecture</vt:lpstr>
      <vt:lpstr>Basic Primary Storage</vt:lpstr>
      <vt:lpstr>Basic Secondary Storage</vt:lpstr>
      <vt:lpstr>Central Processing Unit</vt:lpstr>
      <vt:lpstr>Engineering Foundations Number Systems</vt:lpstr>
      <vt:lpstr>Number Systems</vt:lpstr>
      <vt:lpstr>PowerPoint Presentation</vt:lpstr>
      <vt:lpstr>Engineering Foundations Operating System Basics</vt:lpstr>
      <vt:lpstr>Operating System Basics</vt:lpstr>
      <vt:lpstr>PowerPoint Presentation</vt:lpstr>
      <vt:lpstr>PowerPoint Presentation</vt:lpstr>
      <vt:lpstr>Fetch / Execute</vt:lpstr>
      <vt:lpstr>Real code for y=x+y</vt:lpstr>
      <vt:lpstr>PowerPoint Presentation</vt:lpstr>
      <vt:lpstr>PowerPoint Presentation</vt:lpstr>
      <vt:lpstr>Software overview</vt:lpstr>
      <vt:lpstr>Code translation</vt:lpstr>
      <vt:lpstr>Engineering Foundations Virtual Machine and Cloud Hosting Introduction</vt:lpstr>
      <vt:lpstr>Virtual Machines</vt:lpstr>
      <vt:lpstr>PowerPoint Presentation</vt:lpstr>
      <vt:lpstr>Client - server</vt:lpstr>
      <vt:lpstr>What does "the cloud" &amp; "on-prem" look like?</vt:lpstr>
      <vt:lpstr>Virtual Machines</vt:lpstr>
      <vt:lpstr>What are: Virtual Machine, Public Cloud, IaaS?</vt:lpstr>
      <vt:lpstr>Cloud Business Model</vt:lpstr>
      <vt:lpstr>PowerPoint Presentation</vt:lpstr>
      <vt:lpstr>Main Cloud Computing Types</vt:lpstr>
      <vt:lpstr>Cloud Service Models</vt:lpstr>
      <vt:lpstr>Cloud Model Responsibilities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Antony John Nicol (School of Engineering and Computing)</dc:creator>
  <cp:lastModifiedBy>Antony John Nicol (School of Engineering and Computing)</cp:lastModifiedBy>
  <cp:revision>1</cp:revision>
  <dcterms:created xsi:type="dcterms:W3CDTF">2026-03-08T16:28:43Z</dcterms:created>
  <dcterms:modified xsi:type="dcterms:W3CDTF">2026-03-08T16:31:41Z</dcterms:modified>
</cp:coreProperties>
</file>